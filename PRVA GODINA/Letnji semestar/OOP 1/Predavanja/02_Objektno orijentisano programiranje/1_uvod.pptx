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3"/>
  </p:notesMasterIdLst>
  <p:sldIdLst>
    <p:sldId id="256" r:id="rId2"/>
    <p:sldId id="354" r:id="rId3"/>
    <p:sldId id="362" r:id="rId4"/>
    <p:sldId id="365" r:id="rId5"/>
    <p:sldId id="304" r:id="rId6"/>
    <p:sldId id="298" r:id="rId7"/>
    <p:sldId id="303" r:id="rId8"/>
    <p:sldId id="305" r:id="rId9"/>
    <p:sldId id="307" r:id="rId10"/>
    <p:sldId id="306" r:id="rId11"/>
    <p:sldId id="308" r:id="rId12"/>
    <p:sldId id="309" r:id="rId13"/>
    <p:sldId id="310" r:id="rId14"/>
    <p:sldId id="311" r:id="rId15"/>
    <p:sldId id="312" r:id="rId16"/>
    <p:sldId id="257" r:id="rId17"/>
    <p:sldId id="346" r:id="rId18"/>
    <p:sldId id="296" r:id="rId19"/>
    <p:sldId id="258" r:id="rId20"/>
    <p:sldId id="287" r:id="rId21"/>
    <p:sldId id="260" r:id="rId22"/>
    <p:sldId id="366" r:id="rId23"/>
    <p:sldId id="261" r:id="rId24"/>
    <p:sldId id="262" r:id="rId25"/>
    <p:sldId id="313" r:id="rId26"/>
    <p:sldId id="314" r:id="rId27"/>
    <p:sldId id="315" r:id="rId28"/>
    <p:sldId id="316" r:id="rId29"/>
    <p:sldId id="266" r:id="rId30"/>
    <p:sldId id="320" r:id="rId31"/>
    <p:sldId id="321" r:id="rId32"/>
    <p:sldId id="322" r:id="rId33"/>
    <p:sldId id="323" r:id="rId34"/>
    <p:sldId id="324" r:id="rId35"/>
    <p:sldId id="325" r:id="rId36"/>
    <p:sldId id="326" r:id="rId37"/>
    <p:sldId id="327" r:id="rId38"/>
    <p:sldId id="328" r:id="rId39"/>
    <p:sldId id="367" r:id="rId40"/>
    <p:sldId id="329" r:id="rId41"/>
    <p:sldId id="330" r:id="rId42"/>
    <p:sldId id="331" r:id="rId43"/>
    <p:sldId id="332" r:id="rId44"/>
    <p:sldId id="333" r:id="rId45"/>
    <p:sldId id="334" r:id="rId46"/>
    <p:sldId id="335" r:id="rId47"/>
    <p:sldId id="336" r:id="rId48"/>
    <p:sldId id="347" r:id="rId49"/>
    <p:sldId id="337" r:id="rId50"/>
    <p:sldId id="348" r:id="rId51"/>
    <p:sldId id="368" r:id="rId52"/>
    <p:sldId id="288" r:id="rId53"/>
    <p:sldId id="297" r:id="rId54"/>
    <p:sldId id="267" r:id="rId55"/>
    <p:sldId id="295" r:id="rId56"/>
    <p:sldId id="338" r:id="rId57"/>
    <p:sldId id="353" r:id="rId58"/>
    <p:sldId id="339" r:id="rId59"/>
    <p:sldId id="340" r:id="rId60"/>
    <p:sldId id="341" r:id="rId61"/>
    <p:sldId id="342" r:id="rId62"/>
    <p:sldId id="369" r:id="rId63"/>
    <p:sldId id="268" r:id="rId64"/>
    <p:sldId id="269" r:id="rId65"/>
    <p:sldId id="343" r:id="rId66"/>
    <p:sldId id="370" r:id="rId67"/>
    <p:sldId id="318" r:id="rId68"/>
    <p:sldId id="317" r:id="rId69"/>
    <p:sldId id="352" r:id="rId70"/>
    <p:sldId id="351" r:id="rId71"/>
    <p:sldId id="349" r:id="rId72"/>
    <p:sldId id="350" r:id="rId73"/>
    <p:sldId id="371" r:id="rId74"/>
    <p:sldId id="290" r:id="rId75"/>
    <p:sldId id="276" r:id="rId76"/>
    <p:sldId id="277" r:id="rId77"/>
    <p:sldId id="345" r:id="rId78"/>
    <p:sldId id="344" r:id="rId79"/>
    <p:sldId id="372" r:id="rId80"/>
    <p:sldId id="319" r:id="rId81"/>
    <p:sldId id="363" r:id="rId8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87767" autoAdjust="0"/>
  </p:normalViewPr>
  <p:slideViewPr>
    <p:cSldViewPr snapToGrid="0">
      <p:cViewPr varScale="1">
        <p:scale>
          <a:sx n="117" d="100"/>
          <a:sy n="117" d="100"/>
        </p:scale>
        <p:origin x="857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AA2F7-605E-4CF5-B620-793E90D5D821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DAEE3B-5729-4B92-8CE9-9885B5D1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970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AEE3B-5729-4B92-8CE9-9885B5D190B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13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F71EA-252A-B9F8-E32B-99E9BAA34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02DFB-730B-8B60-3FE4-9FE476A08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6C8DE-B934-43C1-FC6E-606BABCA6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ED20D-F6CB-CF36-BDEF-38FE9BC60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64074-BD5C-B5C1-2F6F-825000F40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50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AB6F-2F42-D911-CCB3-2C92868E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EC9AA-DA4A-A942-3923-6C1610846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5915C-33EA-0588-EC20-10F9964C1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02774-1202-B3D4-0FF4-CE88F1D99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09FCBD-4958-8BA0-8DC7-2F0ACE8B6DEA}"/>
              </a:ext>
            </a:extLst>
          </p:cNvPr>
          <p:cNvSpPr txBox="1"/>
          <p:nvPr userDrawn="1"/>
        </p:nvSpPr>
        <p:spPr>
          <a:xfrm>
            <a:off x="8783053" y="6356350"/>
            <a:ext cx="2570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0023264-E2ED-4660-96E1-8F6FCDAEC5AB}" type="slidenum">
              <a:rPr lang="en-US" smtClean="0"/>
              <a:t>‹#›</a:t>
            </a:fld>
            <a:r>
              <a:rPr lang="sr-Latn-RS"/>
              <a:t>/81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99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AB6F-2F42-D911-CCB3-2C92868E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EC9AA-DA4A-A942-3923-6C1610846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5915C-33EA-0588-EC20-10F9964C1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02774-1202-B3D4-0FF4-CE88F1D99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09FCBD-4958-8BA0-8DC7-2F0ACE8B6DEA}"/>
              </a:ext>
            </a:extLst>
          </p:cNvPr>
          <p:cNvSpPr txBox="1"/>
          <p:nvPr userDrawn="1"/>
        </p:nvSpPr>
        <p:spPr>
          <a:xfrm>
            <a:off x="8783053" y="6356350"/>
            <a:ext cx="2570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0023264-E2ED-4660-96E1-8F6FCDAEC5AB}" type="slidenum">
              <a:rPr lang="en-US" smtClean="0"/>
              <a:t>‹#›</a:t>
            </a:fld>
            <a:r>
              <a:rPr lang="sr-Latn-RS"/>
              <a:t>/10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2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AE04A-526B-2FAE-DF3A-692E36730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3D7F4-05AC-C927-FA13-05B219AD6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33F76-8B02-27FA-A4AC-2370F1B74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BA8E5-0F73-A233-2CA1-FA78392B5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E75DD-21DD-4E10-3C7A-584739A2C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35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32034-5501-038E-8052-290E8A705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0FF63-EAF1-96AA-E549-63970C2011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6E5CE-D72A-BF8D-9569-80A8AB040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9DBE52-0BDB-6404-630B-2A581F01E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33767-F0BA-AA81-FAB4-6BF762A7C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72A14-12DE-B7D1-527F-0E60D6078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347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C1FED-B9EB-E2E4-E2B7-6E01752F4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703AD-582B-F2BE-3DBA-84F703C59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4BE7B-AB06-819E-FC01-8B7669E78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90185A-B951-2053-8108-296F64CA5D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B9AC96-A571-489F-8636-3ADF8073B4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887BEB-F829-1D00-7EDF-1E18F4875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4340CD-A839-8A19-10E9-BD89A711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0C6181-99EB-A136-76BA-3B17A79ED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57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BFFC0-DAC9-AFE1-0932-C4128CAB1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D120E5-34EC-8930-4D44-79F7A72FD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ADC8F-EA5C-2DDA-77CF-EFD22FC55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7BF2EE-769E-ACFE-4E6F-95C54CEDD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28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B4CED2-7605-1476-548B-C48DE08F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91BDCC-D75D-3B0A-2C26-EB1119CAC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1B038-EF8A-A84C-07EF-3C049DFD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94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3DD74-0832-E18C-825A-B050141A4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03500-98D3-6876-584B-4F418B1D0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671E63-7231-22C7-35FE-8E7920283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818BD-6652-35EE-7CEF-CF8AA99EB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3BF24-1928-5B57-40A7-7290018CD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8AF96-0896-F9D6-DD18-A3A633FE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96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3BFE1-F12C-2A7B-4D22-CB2BF96EC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1F13D3-5717-1DE3-C638-1E8DCB08CB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0863D-F4B3-BE1D-D6BE-205F32488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2B1E6-A274-C8AB-2BED-D184A1E1A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C98F8-C0C7-6CCE-5D28-0CD9C75B5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F3131-1DA3-D8C4-C4DB-BC13F12D5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35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8FDB5-948B-8FAE-6475-2C16A188F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3EE27-EF7F-D20F-D417-56055EDC7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14988-70BD-22BE-5581-DB3427A4C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83036-5ECB-F0E1-4FCB-C43F16588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998AD-C2DF-6D0B-61E0-D50338D82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483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8CE7E6-DA4F-7CD4-E903-82887969C3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C7286A-FB86-5AE0-C6F1-DA88B0E9F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BE38A-B4B0-FD05-EED4-C749FAA3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ACC4D-25C3-D507-A5F1-E326DC7D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51190-3356-F6D3-9789-063C4E404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2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C09CC-7A7D-C592-22AC-2303DA7EE2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0D817-285B-B2C2-B73A-FCEADBC8DA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091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1A07583-960C-AC9B-801D-601F864192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2812C9D-E296-688E-3C29-E848ADE271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94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9E7E85-213A-B927-E0C6-89AB0A146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BB172-392E-34D0-47F2-FE86232A5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69B73-7734-E86A-4970-E6426F8BE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8CC9C-BFE4-4386-8C54-B81E4330E6DB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64EE7-6507-A848-DC63-8009062A30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65272-511B-9FD4-D996-383466C9E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29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E1A1E7D-7E80-963C-C58A-7952BD92D15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1676400"/>
            <a:ext cx="8153400" cy="1981200"/>
          </a:xfrm>
        </p:spPr>
        <p:txBody>
          <a:bodyPr/>
          <a:lstStyle/>
          <a:p>
            <a:pPr eaLnBrk="1" hangingPunct="1"/>
            <a:r>
              <a:rPr lang="sr-Latn-RS" altLang="sr-Latn-RS"/>
              <a:t>Objektno Orijentisano Programiranje 1</a:t>
            </a:r>
            <a:endParaRPr lang="en-US" altLang="sr-Latn-RS"/>
          </a:p>
        </p:txBody>
      </p:sp>
      <p:sp>
        <p:nvSpPr>
          <p:cNvPr id="15363" name="Text Box 3">
            <a:extLst>
              <a:ext uri="{FF2B5EF4-FFF2-40B4-BE49-F238E27FC236}">
                <a16:creationId xmlns:a16="http://schemas.microsoft.com/office/drawing/2014/main" id="{15F387DD-B861-B77D-D858-2D4C66908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6" y="4005263"/>
            <a:ext cx="5688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ahoma" panose="020B0604030504040204" pitchFamily="34" charset="0"/>
              </a:rPr>
              <a:t>Objektno orijentisano programiranje</a:t>
            </a:r>
            <a:endParaRPr lang="en-US" altLang="sr-Latn-RS" sz="2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D2251-CBF2-C673-E647-0D138186B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Tema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CFB19-5D2D-C2C1-A0F8-B2C8764A8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Šta je klasa?</a:t>
            </a:r>
          </a:p>
          <a:p>
            <a:r>
              <a:rPr lang="sr-Latn-RS"/>
              <a:t>Šta je objekat?</a:t>
            </a:r>
          </a:p>
          <a:p>
            <a:r>
              <a:rPr lang="sr-Latn-RS"/>
              <a:t>Šta je referenca na objekat neke klase?</a:t>
            </a:r>
          </a:p>
          <a:p>
            <a:r>
              <a:rPr lang="sr-Latn-RS"/>
              <a:t>Atributi i metode</a:t>
            </a:r>
          </a:p>
          <a:p>
            <a:r>
              <a:rPr lang="sr-Latn-RS"/>
              <a:t>Konstruktori</a:t>
            </a:r>
          </a:p>
          <a:p>
            <a:r>
              <a:rPr lang="sr-Latn-RS"/>
              <a:t>Uništavanje objekata</a:t>
            </a:r>
          </a:p>
          <a:p>
            <a:r>
              <a:rPr lang="sr-Latn-RS"/>
              <a:t>Static ključna reč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890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82F83-0EB0-818C-5E38-09E95E88A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Šta nam treba od prethodnog znanja?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84595-A130-9405-FA46-195989A7C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Tipovi podataka</a:t>
            </a:r>
          </a:p>
          <a:p>
            <a:r>
              <a:rPr lang="sr-Latn-RS"/>
              <a:t>Funkcije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1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84F97-7619-427F-F225-B6791094B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Objekti i Klase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FF7F5-601C-2D1E-7D47-02A1A0808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488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6873D48F-AECD-5A3F-B574-A0C0081193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Objektno orijentisano programiranje</a:t>
            </a:r>
            <a:endParaRPr lang="en-US" altLang="sr-Latn-RS"/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4C6CBD15-711D-C637-853D-D9241AF99E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/>
              <a:t>U objektno</a:t>
            </a:r>
            <a:r>
              <a:rPr lang="sr-Latn-RS" altLang="sr-Latn-RS"/>
              <a:t> </a:t>
            </a:r>
            <a:r>
              <a:rPr lang="en-US" altLang="sr-Latn-RS"/>
              <a:t>orijentisanom programiranju, u sklopu opisa problema, potrebno je uočiti</a:t>
            </a:r>
            <a:r>
              <a:rPr lang="sr-Latn-RS" altLang="sr-Latn-RS"/>
              <a:t> </a:t>
            </a:r>
            <a:r>
              <a:rPr lang="en-US" altLang="sr-Latn-RS">
                <a:solidFill>
                  <a:srgbClr val="FF0000"/>
                </a:solidFill>
              </a:rPr>
              <a:t>entitete</a:t>
            </a:r>
            <a:r>
              <a:rPr lang="en-US" altLang="sr-Latn-RS"/>
              <a:t> (</a:t>
            </a:r>
            <a:r>
              <a:rPr lang="en-US" altLang="sr-Latn-RS">
                <a:solidFill>
                  <a:srgbClr val="FF0000"/>
                </a:solidFill>
              </a:rPr>
              <a:t>jedinice posmatranja</a:t>
            </a:r>
            <a:r>
              <a:rPr lang="en-US" altLang="sr-Latn-RS"/>
              <a:t>) koji se nalaze u </a:t>
            </a:r>
            <a:r>
              <a:rPr lang="en-US" altLang="sr-Latn-RS">
                <a:solidFill>
                  <a:srgbClr val="FF0000"/>
                </a:solidFill>
              </a:rPr>
              <a:t>svetu</a:t>
            </a:r>
            <a:r>
              <a:rPr lang="en-US" altLang="sr-Latn-RS"/>
              <a:t> (</a:t>
            </a:r>
            <a:r>
              <a:rPr lang="en-US" altLang="sr-Latn-RS">
                <a:solidFill>
                  <a:srgbClr val="FF0000"/>
                </a:solidFill>
              </a:rPr>
              <a:t>domen</a:t>
            </a:r>
            <a:r>
              <a:rPr lang="en-US" altLang="sr-Latn-RS"/>
              <a:t>) u kojem se</a:t>
            </a:r>
            <a:r>
              <a:rPr lang="sr-Latn-RS" altLang="sr-Latn-RS"/>
              <a:t> </a:t>
            </a:r>
            <a:r>
              <a:rPr lang="en-US" altLang="sr-Latn-RS"/>
              <a:t>nalaz</a:t>
            </a:r>
            <a:r>
              <a:rPr lang="sr-Latn-RS" altLang="sr-Latn-RS"/>
              <a:t>e, kao </a:t>
            </a:r>
            <a:r>
              <a:rPr lang="en-US" altLang="sr-Latn-RS"/>
              <a:t>i problem koji se rešava. </a:t>
            </a:r>
            <a:endParaRPr lang="sr-Latn-RS" altLang="sr-Latn-RS"/>
          </a:p>
          <a:p>
            <a:r>
              <a:rPr lang="sr-Latn-RS" altLang="sr-Latn-RS"/>
              <a:t>P</a:t>
            </a:r>
            <a:r>
              <a:rPr lang="en-US" altLang="sr-Latn-RS"/>
              <a:t>otrebno </a:t>
            </a:r>
            <a:r>
              <a:rPr lang="sr-Latn-RS" altLang="sr-Latn-RS"/>
              <a:t>je </a:t>
            </a:r>
            <a:r>
              <a:rPr lang="en-US" altLang="sr-Latn-RS"/>
              <a:t>uočiti koji entiteti se</a:t>
            </a:r>
            <a:r>
              <a:rPr lang="sr-Latn-RS" altLang="sr-Latn-RS"/>
              <a:t> </a:t>
            </a:r>
            <a:r>
              <a:rPr lang="pl-PL" altLang="sr-Latn-RS"/>
              <a:t>nalaze u svetu, opisati ih i navesti operacije nad njima</a:t>
            </a:r>
          </a:p>
          <a:p>
            <a:pPr lvl="1"/>
            <a:r>
              <a:rPr lang="pl-PL" altLang="sr-Latn-RS"/>
              <a:t>Uz pomoć operacija problem se </a:t>
            </a:r>
            <a:r>
              <a:rPr lang="en-US" altLang="sr-Latn-RS"/>
              <a:t>rešava.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61FDA091-D289-125E-06DC-818B55EBEB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Kako grupisati podatke o nekom entitetu?</a:t>
            </a:r>
            <a:endParaRPr lang="en-US" altLang="sr-Latn-RS"/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F5691537-4D79-00B7-3C54-26A11E9637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81539"/>
            <a:ext cx="10515600" cy="4595424"/>
          </a:xfrm>
        </p:spPr>
        <p:txBody>
          <a:bodyPr>
            <a:normAutofit/>
          </a:bodyPr>
          <a:lstStyle/>
          <a:p>
            <a:r>
              <a:rPr lang="sr-Latn-RS" altLang="sr-Latn-RS" sz="2400"/>
              <a:t>Jednu osobu:</a:t>
            </a:r>
          </a:p>
          <a:p>
            <a:pPr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String ime, prezime;</a:t>
            </a:r>
          </a:p>
          <a:p>
            <a:r>
              <a:rPr lang="sr-Latn-RS" altLang="sr-Latn-RS" sz="2400"/>
              <a:t>Više osoba - nizovima?</a:t>
            </a:r>
          </a:p>
          <a:p>
            <a:pPr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String[][] osoba = new String[2][2]();</a:t>
            </a:r>
          </a:p>
          <a:p>
            <a:pPr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osoba[0][0] = "Pera"; osoba[0][1]="Perić";</a:t>
            </a:r>
          </a:p>
          <a:p>
            <a:pPr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osoba[1][0] = "Đura"; osoba[1][1]="Đurić";</a:t>
            </a:r>
          </a:p>
          <a:p>
            <a:r>
              <a:rPr lang="sr-Latn-RS" altLang="sr-Latn-RS" sz="2000">
                <a:cs typeface="Courier New" panose="02070309020205020404" pitchFamily="49" charset="0"/>
              </a:rPr>
              <a:t>Ili krug?</a:t>
            </a:r>
          </a:p>
          <a:p>
            <a:pPr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double x, y, r;</a:t>
            </a:r>
          </a:p>
          <a:p>
            <a:pPr>
              <a:buFontTx/>
              <a:buNone/>
            </a:pPr>
            <a:r>
              <a:rPr lang="fr-FR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površina</a:t>
            </a:r>
            <a:r>
              <a:rPr lang="fr-FR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(double x, double y, double 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fr-FR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sr-Latn-RS" altLang="sr-Latn-RS" sz="2000">
              <a:cs typeface="Courier New" panose="02070309020205020404" pitchFamily="49" charset="0"/>
            </a:endParaRPr>
          </a:p>
          <a:p>
            <a:pPr>
              <a:buFontTx/>
              <a:buNone/>
            </a:pPr>
            <a:endParaRPr lang="sr-Latn-RS" alt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sr-Latn-RS" altLang="sr-Latn-RS" sz="2400"/>
              <a:t>Klasama?</a:t>
            </a:r>
            <a:endParaRPr lang="en-US" altLang="sr-Latn-R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BF3354C3-02EF-48B7-A90E-B13A1CB519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Objektno orijentisano programiranje</a:t>
            </a:r>
            <a:endParaRPr lang="en-US" altLang="sr-Latn-RS"/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093361CF-AC9C-0C37-8943-8D4B92C690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>
                <a:latin typeface="Arial" panose="020B0604020202020204" pitchFamily="34" charset="0"/>
                <a:cs typeface="Arial" panose="020B0604020202020204" pitchFamily="34" charset="0"/>
              </a:rPr>
              <a:t>Objektno orijentisano programiranje se</a:t>
            </a:r>
            <a:r>
              <a:rPr lang="sr-Latn-RS" altLang="sr-Latn-R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sr-Latn-RS">
                <a:latin typeface="Arial" panose="020B0604020202020204" pitchFamily="34" charset="0"/>
                <a:cs typeface="Arial" panose="020B0604020202020204" pitchFamily="34" charset="0"/>
              </a:rPr>
              <a:t>svodi na identifikaciju</a:t>
            </a:r>
            <a:r>
              <a:rPr lang="sr-Latn-RS" altLang="sr-Latn-R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sr-Latn-RS" b="1">
                <a:latin typeface="Arial" panose="020B0604020202020204" pitchFamily="34" charset="0"/>
                <a:cs typeface="Arial" panose="020B0604020202020204" pitchFamily="34" charset="0"/>
              </a:rPr>
              <a:t>entiteta</a:t>
            </a:r>
            <a:r>
              <a:rPr lang="vi-VN" altLang="sr-Latn-RS">
                <a:latin typeface="Arial" panose="020B0604020202020204" pitchFamily="34" charset="0"/>
                <a:cs typeface="Arial" panose="020B0604020202020204" pitchFamily="34" charset="0"/>
              </a:rPr>
              <a:t> u nekom </a:t>
            </a:r>
            <a:r>
              <a:rPr lang="vi-VN" altLang="sr-Latn-RS" b="1">
                <a:latin typeface="Arial" panose="020B0604020202020204" pitchFamily="34" charset="0"/>
                <a:cs typeface="Arial" panose="020B0604020202020204" pitchFamily="34" charset="0"/>
              </a:rPr>
              <a:t>domenu</a:t>
            </a:r>
            <a:r>
              <a:rPr lang="vi-VN" altLang="sr-Latn-RS">
                <a:latin typeface="Arial" panose="020B0604020202020204" pitchFamily="34" charset="0"/>
                <a:cs typeface="Arial" panose="020B0604020202020204" pitchFamily="34" charset="0"/>
              </a:rPr>
              <a:t>, navođenje njihovih </a:t>
            </a:r>
            <a:r>
              <a:rPr lang="vi-VN" altLang="sr-Latn-RS" b="1">
                <a:latin typeface="Arial" panose="020B0604020202020204" pitchFamily="34" charset="0"/>
                <a:cs typeface="Arial" panose="020B0604020202020204" pitchFamily="34" charset="0"/>
              </a:rPr>
              <a:t>osobina</a:t>
            </a:r>
            <a:r>
              <a:rPr lang="vi-VN" altLang="sr-Latn-RS">
                <a:latin typeface="Arial" panose="020B0604020202020204" pitchFamily="34" charset="0"/>
                <a:cs typeface="Arial" panose="020B0604020202020204" pitchFamily="34" charset="0"/>
              </a:rPr>
              <a:t> i pisanje </a:t>
            </a:r>
            <a:r>
              <a:rPr lang="vi-VN" altLang="sr-Latn-RS" b="1">
                <a:latin typeface="Arial" panose="020B0604020202020204" pitchFamily="34" charset="0"/>
                <a:cs typeface="Arial" panose="020B0604020202020204" pitchFamily="34" charset="0"/>
              </a:rPr>
              <a:t>operacija</a:t>
            </a:r>
            <a:r>
              <a:rPr lang="sr-Latn-RS" altLang="sr-Latn-R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sr-Latn-RS">
                <a:latin typeface="Arial" panose="020B0604020202020204" pitchFamily="34" charset="0"/>
                <a:cs typeface="Arial" panose="020B0604020202020204" pitchFamily="34" charset="0"/>
              </a:rPr>
              <a:t>nad tim osobinama. </a:t>
            </a:r>
            <a:endParaRPr lang="sr-Latn-RS" altLang="sr-Latn-R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sr-Latn-RS">
                <a:latin typeface="Arial" panose="020B0604020202020204" pitchFamily="34" charset="0"/>
                <a:cs typeface="Arial" panose="020B0604020202020204" pitchFamily="34" charset="0"/>
              </a:rPr>
              <a:t>U objektno orijentisanoj terminologiji, </a:t>
            </a:r>
            <a:r>
              <a:rPr lang="en-US" altLang="sr-Latn-R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entiteti</a:t>
            </a:r>
            <a:r>
              <a:rPr lang="en-US" altLang="sr-Latn-RS">
                <a:latin typeface="Arial" panose="020B0604020202020204" pitchFamily="34" charset="0"/>
                <a:cs typeface="Arial" panose="020B0604020202020204" pitchFamily="34" charset="0"/>
              </a:rPr>
              <a:t> su opisani</a:t>
            </a:r>
            <a:r>
              <a:rPr lang="sr-Latn-RS" altLang="sr-Latn-R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sr-Latn-R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klasama</a:t>
            </a:r>
            <a:r>
              <a:rPr lang="en-US" altLang="sr-Latn-RS">
                <a:latin typeface="Arial" panose="020B0604020202020204" pitchFamily="34" charset="0"/>
                <a:cs typeface="Arial" panose="020B0604020202020204" pitchFamily="34" charset="0"/>
              </a:rPr>
              <a:t>, osobine su </a:t>
            </a:r>
            <a:r>
              <a:rPr lang="en-US" altLang="sr-Latn-R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atributi</a:t>
            </a:r>
            <a:r>
              <a:rPr lang="en-US" altLang="sr-Latn-RS">
                <a:latin typeface="Arial" panose="020B0604020202020204" pitchFamily="34" charset="0"/>
                <a:cs typeface="Arial" panose="020B0604020202020204" pitchFamily="34" charset="0"/>
              </a:rPr>
              <a:t>, a operacije su </a:t>
            </a:r>
            <a:r>
              <a:rPr lang="en-US" altLang="sr-Latn-R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metode</a:t>
            </a:r>
            <a:r>
              <a:rPr lang="en-US" altLang="sr-Latn-RS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84945D08-4CF0-FE29-2DD9-1A3B229358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Primer</a:t>
            </a:r>
            <a:endParaRPr lang="en-US" altLang="sr-Latn-RS"/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56A8CD9B-F7D2-9A62-ED82-E311B99225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sr-Latn-RS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sr-Latn-RS">
                <a:latin typeface="Arial" panose="020B0604020202020204" pitchFamily="34" charset="0"/>
                <a:cs typeface="Arial" panose="020B0604020202020204" pitchFamily="34" charset="0"/>
              </a:rPr>
              <a:t>ko pišemo program koji računa površinu kruga, svet u kojem</a:t>
            </a:r>
            <a:r>
              <a:rPr lang="sr-Latn-RS" altLang="sr-Latn-R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sr-Latn-RS">
                <a:latin typeface="Arial" panose="020B0604020202020204" pitchFamily="34" charset="0"/>
                <a:cs typeface="Arial" panose="020B0604020202020204" pitchFamily="34" charset="0"/>
              </a:rPr>
              <a:t>se nalazi krug je Dekartov pravougaoni koordinatni sistem, a opis kruga se</a:t>
            </a:r>
            <a:r>
              <a:rPr lang="sr-Latn-RS" altLang="sr-Latn-R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sr-Latn-RS">
                <a:latin typeface="Arial" panose="020B0604020202020204" pitchFamily="34" charset="0"/>
                <a:cs typeface="Arial" panose="020B0604020202020204" pitchFamily="34" charset="0"/>
              </a:rPr>
              <a:t>sastoji iz navođenja njegovog poluprečnika. </a:t>
            </a:r>
            <a:endParaRPr lang="sr-Latn-RS" altLang="sr-Latn-R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vi-VN" altLang="sr-Latn-RS"/>
              <a:t>Postupak rešavanja površine</a:t>
            </a:r>
            <a:r>
              <a:rPr lang="sr-Latn-RS" altLang="sr-Latn-RS"/>
              <a:t> </a:t>
            </a:r>
            <a:r>
              <a:rPr lang="en-US" altLang="sr-Latn-RS">
                <a:latin typeface="Arial" panose="020B0604020202020204" pitchFamily="34" charset="0"/>
                <a:cs typeface="Arial" panose="020B0604020202020204" pitchFamily="34" charset="0"/>
              </a:rPr>
              <a:t>kruga se tada svodi na računanje prema odgovarajućoj formuli: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9C2D07-1722-7808-256B-6B1D284D8E23}"/>
                  </a:ext>
                </a:extLst>
              </p:cNvPr>
              <p:cNvSpPr txBox="1"/>
              <p:nvPr/>
            </p:nvSpPr>
            <p:spPr>
              <a:xfrm>
                <a:off x="1787134" y="4335531"/>
                <a:ext cx="7068582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40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40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400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4000" i="1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sz="40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9C2D07-1722-7808-256B-6B1D284D8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134" y="4335531"/>
                <a:ext cx="7068582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07488110-CCD6-0684-2E70-CB928705AC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Primer</a:t>
            </a:r>
            <a:endParaRPr lang="en-US" altLang="sr-Latn-RS"/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75F30D42-649F-FD18-4289-471906A2FA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class Krug {</a:t>
            </a:r>
          </a:p>
          <a:p>
            <a:pPr marL="0" indent="0">
              <a:buNone/>
            </a:pPr>
            <a:r>
              <a:rPr lang="sr-Latn-RS" altLang="sr-Latn-RS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 Polupre</a:t>
            </a:r>
            <a:r>
              <a:rPr lang="sr-Latn-RS" altLang="sr-Latn-RS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č</a:t>
            </a:r>
            <a:r>
              <a:rPr lang="en-US" altLang="sr-Latn-RS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nik kruga */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altLang="sr-Latn-RS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sr-Latn-RS" altLang="sr-Latn-RS" b="1" i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 Ra</a:t>
            </a:r>
            <a:r>
              <a:rPr lang="sr-Latn-RS" altLang="sr-Latn-RS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č</a:t>
            </a:r>
            <a:r>
              <a:rPr lang="en-US" altLang="sr-Latn-RS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una povr</a:t>
            </a:r>
            <a:r>
              <a:rPr lang="sr-Latn-RS" altLang="sr-Latn-RS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š</a:t>
            </a:r>
            <a:r>
              <a:rPr lang="en-US" altLang="sr-Latn-RS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inu kruga */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altLang="sr-Latn-RS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povrsina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None/>
            </a:pPr>
            <a:r>
              <a:rPr lang="pt-BR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pt-BR" altLang="sr-Latn-RS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pt-BR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pt-BR" altLang="sr-Latn-RS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pt-BR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* Math.PI;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BE5EED78-F125-39A9-C587-5B3D73B33C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Primer</a:t>
            </a:r>
            <a:endParaRPr lang="en-US" altLang="sr-Latn-RS"/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69AE1D66-7392-A2B6-3A9E-07EE66016A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altLang="sr-Latn-RS" sz="3200"/>
              <a:t>Sa druge strane, ako je potrebno napisati program koji proverava da li</a:t>
            </a:r>
            <a:r>
              <a:rPr lang="sr-Latn-RS" altLang="sr-Latn-RS" sz="3200"/>
              <a:t> </a:t>
            </a:r>
            <a:r>
              <a:rPr lang="en-US" altLang="sr-Latn-RS" sz="3200"/>
              <a:t>je neka zadata tačka unutar, na ili izvan kruga, tada imamo dva entiteta u</a:t>
            </a:r>
            <a:r>
              <a:rPr lang="sr-Latn-RS" altLang="sr-Latn-RS" sz="3200"/>
              <a:t> </a:t>
            </a:r>
            <a:r>
              <a:rPr lang="en-US" altLang="sr-Latn-RS" sz="3200"/>
              <a:t>domenu: </a:t>
            </a:r>
            <a:endParaRPr lang="sr-Latn-RS" altLang="sr-Latn-RS" sz="3200"/>
          </a:p>
          <a:p>
            <a:pPr lvl="1"/>
            <a:r>
              <a:rPr lang="en-US" altLang="sr-Latn-RS" sz="2800"/>
              <a:t>krug i </a:t>
            </a:r>
            <a:endParaRPr lang="sr-Latn-RS" altLang="sr-Latn-RS" sz="2800"/>
          </a:p>
          <a:p>
            <a:pPr lvl="1"/>
            <a:r>
              <a:rPr lang="en-US" altLang="sr-Latn-RS" sz="2800"/>
              <a:t>zadatu tačku. </a:t>
            </a:r>
            <a:endParaRPr lang="sr-Latn-RS" altLang="sr-Latn-RS" sz="2800"/>
          </a:p>
          <a:p>
            <a:r>
              <a:rPr lang="en-US" altLang="sr-Latn-RS" sz="3200"/>
              <a:t>Krug je tada potrebno opisati njegovim koordinatama</a:t>
            </a:r>
            <a:r>
              <a:rPr lang="sr-Latn-RS" altLang="sr-Latn-RS" sz="3200"/>
              <a:t> </a:t>
            </a:r>
            <a:r>
              <a:rPr lang="en-US" altLang="sr-Latn-RS" sz="3200"/>
              <a:t>i poluprečnikom, a tačku njenim koordinatama.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F2493678-4B76-4EBB-E57B-AE494FBD6A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Primer</a:t>
            </a:r>
            <a:endParaRPr lang="en-US" altLang="sr-Latn-RS"/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B00020FB-958D-805C-2075-C351DFB317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class Tacka {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24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 x koordinata */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double </a:t>
            </a:r>
            <a:r>
              <a:rPr lang="en-US" altLang="sr-Latn-RS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24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 y koordinata */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altLang="sr-Latn-RS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class Krug {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24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 Centar kruga */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Tacka </a:t>
            </a:r>
            <a:r>
              <a:rPr lang="en-US" altLang="sr-Latn-RS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centar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24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 Poluprečnik kruga */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double </a:t>
            </a:r>
            <a:r>
              <a:rPr lang="en-US" altLang="sr-Latn-RS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F3D7BB22-9880-7540-644D-DF7451A03D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29105"/>
            <a:ext cx="10515600" cy="558278"/>
          </a:xfrm>
        </p:spPr>
        <p:txBody>
          <a:bodyPr>
            <a:normAutofit fontScale="90000"/>
          </a:bodyPr>
          <a:lstStyle/>
          <a:p>
            <a:r>
              <a:rPr lang="sr-Latn-RS" altLang="sr-Latn-RS" sz="3600"/>
              <a:t>Primer</a:t>
            </a:r>
            <a:endParaRPr lang="en-US" altLang="sr-Latn-RS" sz="3600"/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A8E7D5B4-3858-6164-7B80-597C93AA8A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054358"/>
            <a:ext cx="9981449" cy="558099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class Dekart {</a:t>
            </a:r>
          </a:p>
          <a:p>
            <a:pPr marL="0" indent="0">
              <a:buNone/>
            </a:pPr>
            <a:r>
              <a:rPr lang="sr-Latn-RS" altLang="sr-Latn-R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18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 Ra</a:t>
            </a:r>
            <a:r>
              <a:rPr lang="sr-Latn-RS" altLang="sr-Latn-RS" sz="18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č</a:t>
            </a:r>
            <a:r>
              <a:rPr lang="en-US" altLang="sr-Latn-RS" sz="18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una udaljenost dve zadate ta</a:t>
            </a:r>
            <a:r>
              <a:rPr lang="sr-Latn-RS" altLang="sr-Latn-RS" sz="18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č</a:t>
            </a:r>
            <a:r>
              <a:rPr lang="en-US" altLang="sr-Latn-RS" sz="18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 */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v-SE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sv-SE" altLang="sr-Latn-RS" sz="1800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udaljenost</a:t>
            </a:r>
            <a:r>
              <a:rPr lang="sv-SE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(Tacka </a:t>
            </a:r>
            <a:r>
              <a:rPr lang="sv-SE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sv-SE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, Tacka </a:t>
            </a:r>
            <a:r>
              <a:rPr lang="sv-SE" altLang="sr-Latn-RS" sz="1800" b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sv-SE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return Math.sqrt((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1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altLang="sr-Latn-RS" sz="1800" b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1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)*(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1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US" altLang="sr-Latn-RS" sz="1800" b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1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) + </a:t>
            </a:r>
            <a:endParaRPr lang="sr-Latn-RS" altLang="sr-Latn-R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1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altLang="sr-Latn-RS" sz="1800" b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1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)*(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1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altLang="sr-Latn-RS" sz="1800" b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1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0" indent="0">
              <a:buNone/>
            </a:pPr>
            <a:r>
              <a:rPr lang="pl-PL" altLang="sr-Latn-R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l-PL" altLang="sr-Latn-RS" sz="18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 Ispisuje da li je neka tačka unutar, izvan ili </a:t>
            </a:r>
            <a:endParaRPr lang="pl-PL" altLang="sr-Latn-RS" sz="18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l-PL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l-PL" altLang="sr-Latn-RS" sz="18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na krugu, na osnovu udaljenosti od centra kruga.</a:t>
            </a:r>
          </a:p>
          <a:p>
            <a:pPr marL="0" indent="0">
              <a:buNone/>
            </a:pPr>
            <a:r>
              <a:rPr lang="sr-Latn-R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r-Latn-R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18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v-SE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void proveri(Krug </a:t>
            </a:r>
            <a:r>
              <a:rPr lang="sv-SE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sv-SE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, Tacka </a:t>
            </a:r>
            <a:r>
              <a:rPr lang="sv-SE" altLang="sr-Latn-RS" sz="1800" b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sv-SE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fr-FR" altLang="sr-Latn-RS" sz="1800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fr-FR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altLang="sr-Latn-RS" sz="1800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udaljenost</a:t>
            </a:r>
            <a:r>
              <a:rPr lang="fr-FR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fr-FR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FR" altLang="sr-Latn-RS" sz="1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centar</a:t>
            </a:r>
            <a:r>
              <a:rPr lang="fr-FR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altLang="sr-Latn-RS" sz="1800" b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fr-FR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if (</a:t>
            </a:r>
            <a:r>
              <a:rPr lang="en-US" altLang="sr-Latn-RS" sz="1800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1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System.out.println("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nutar kruga.");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else if (</a:t>
            </a:r>
            <a:r>
              <a:rPr lang="en-US" altLang="sr-Latn-RS" sz="1800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1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System.out.println("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a krugu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System.out.println("Izvan kruga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0" indent="0">
              <a:buNone/>
            </a:pP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35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355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355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55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1C461730-D1AA-29F4-B4FE-017DBC6A81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756479"/>
          </a:xfrm>
        </p:spPr>
        <p:txBody>
          <a:bodyPr/>
          <a:lstStyle/>
          <a:p>
            <a:r>
              <a:rPr lang="sr-Latn-RS" altLang="sr-Latn-RS" sz="3600"/>
              <a:t>Primer</a:t>
            </a:r>
            <a:endParaRPr lang="en-US" altLang="sr-Latn-RS" sz="3600"/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AC013B63-E19C-7989-1CD7-A4DBD6098B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77454"/>
            <a:ext cx="10515600" cy="529270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class Test {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main(String[] args) {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v-SE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Tacka</a:t>
            </a:r>
            <a:r>
              <a:rPr lang="sv-SE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t = new </a:t>
            </a:r>
            <a:r>
              <a:rPr lang="sv-SE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Tacka</a:t>
            </a:r>
            <a:r>
              <a:rPr lang="sv-SE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t.x = 5;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t.y = 5;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v-SE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Tacka</a:t>
            </a:r>
            <a:r>
              <a:rPr lang="sv-SE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v-SE" altLang="sr-Latn-RS" sz="1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centarKruga</a:t>
            </a:r>
            <a:r>
              <a:rPr lang="sv-SE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sv-SE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Tacka</a:t>
            </a:r>
            <a:r>
              <a:rPr lang="sv-SE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1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centarKruga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.x = 0;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1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centarKruga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.y = 0;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18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Krug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18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altLang="sr-Latn-RS" sz="18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Krug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18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.centar = </a:t>
            </a:r>
            <a:r>
              <a:rPr lang="en-US" altLang="sr-Latn-RS" sz="1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centarKruga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18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.r = 5;</a:t>
            </a:r>
          </a:p>
          <a:p>
            <a:pPr marL="0" indent="0">
              <a:buNone/>
            </a:pPr>
            <a:endParaRPr lang="en-US" altLang="sr-Latn-R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l-PL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l-PL" altLang="sr-Latn-RS" sz="1800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Dekart</a:t>
            </a:r>
            <a:r>
              <a:rPr lang="pl-PL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pomoc = new </a:t>
            </a:r>
            <a:r>
              <a:rPr lang="pl-PL" altLang="sr-Latn-RS" sz="1800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Dekart</a:t>
            </a:r>
            <a:r>
              <a:rPr lang="pl-PL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pomoc.proveri(</a:t>
            </a:r>
            <a:r>
              <a:rPr lang="en-US" altLang="sr-Latn-RS" sz="18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, t);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0" indent="0">
              <a:buNone/>
            </a:pP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57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57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57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457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7B75740B-9A2E-17B0-0D12-83EEF22878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Tacka t = new Tacka();</a:t>
            </a:r>
          </a:p>
        </p:txBody>
      </p:sp>
      <p:pic>
        <p:nvPicPr>
          <p:cNvPr id="25604" name="Picture 2">
            <a:extLst>
              <a:ext uri="{FF2B5EF4-FFF2-40B4-BE49-F238E27FC236}">
                <a16:creationId xmlns:a16="http://schemas.microsoft.com/office/drawing/2014/main" id="{4E1AA175-303B-76D9-EDFC-827317958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0" y="1628775"/>
            <a:ext cx="8928100" cy="421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88F472E9-038A-D0E0-800B-919E63E8CA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Memorija</a:t>
            </a:r>
            <a:endParaRPr lang="en-US" altLang="sr-Latn-RS"/>
          </a:p>
        </p:txBody>
      </p:sp>
      <p:pic>
        <p:nvPicPr>
          <p:cNvPr id="26628" name="Picture 2">
            <a:extLst>
              <a:ext uri="{FF2B5EF4-FFF2-40B4-BE49-F238E27FC236}">
                <a16:creationId xmlns:a16="http://schemas.microsoft.com/office/drawing/2014/main" id="{B1A39EDF-6302-996B-00B0-C8F3F7DE5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484314"/>
            <a:ext cx="9128125" cy="445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D121F22-322D-DF87-44CB-3966D58079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altLang="sr-Latn-RS" sz="4000"/>
              <a:t>Ponavljanje</a:t>
            </a:r>
            <a:endParaRPr lang="en-US" altLang="sr-Latn-RS" sz="4000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444D1B58-D668-1F72-3499-E099096581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RS" altLang="sr-Latn-RS"/>
              <a:t>K</a:t>
            </a:r>
            <a:r>
              <a:rPr lang="en-US" altLang="sr-Latn-RS"/>
              <a:t>lasa</a:t>
            </a:r>
            <a:r>
              <a:rPr lang="sr-Latn-CS" altLang="sr-Latn-RS"/>
              <a:t>: model objekta</a:t>
            </a:r>
            <a:endParaRPr lang="en-US" altLang="sr-Latn-RS"/>
          </a:p>
          <a:p>
            <a:pPr lvl="1" eaLnBrk="1" hangingPunct="1"/>
            <a:r>
              <a:rPr lang="en-US" altLang="sr-Latn-RS"/>
              <a:t>uključuje:</a:t>
            </a:r>
          </a:p>
          <a:p>
            <a:pPr lvl="2" eaLnBrk="1" hangingPunct="1"/>
            <a:r>
              <a:rPr lang="en-US" altLang="sr-Latn-RS"/>
              <a:t>atribute</a:t>
            </a:r>
          </a:p>
          <a:p>
            <a:pPr lvl="2" eaLnBrk="1" hangingPunct="1"/>
            <a:r>
              <a:rPr lang="en-US" altLang="sr-Latn-RS"/>
              <a:t>metode</a:t>
            </a:r>
            <a:endParaRPr lang="sr-Latn-CS" altLang="sr-Latn-RS"/>
          </a:p>
          <a:p>
            <a:pPr lvl="2" eaLnBrk="1" hangingPunct="1">
              <a:buFontTx/>
              <a:buNone/>
            </a:pPr>
            <a:endParaRPr lang="sr-Latn-CS" altLang="sr-Latn-RS"/>
          </a:p>
          <a:p>
            <a:pPr eaLnBrk="1" hangingPunct="1"/>
            <a:r>
              <a:rPr lang="sr-Latn-CS" altLang="sr-Latn-RS"/>
              <a:t>Objekat: instanca klase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51A5DD8E-15B2-AD98-CC4F-1728910E2B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Sve je objekat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6094CF85-E4C7-E6E4-D661-D54238971D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sr-Latn-CS" altLang="sr-Latn-RS"/>
              <a:t>Nije moguće definisati funkcije i promenljive izvan neke klase</a:t>
            </a:r>
          </a:p>
          <a:p>
            <a:pPr lvl="1" eaLnBrk="1" hangingPunct="1">
              <a:lnSpc>
                <a:spcPct val="120000"/>
              </a:lnSpc>
            </a:pPr>
            <a:r>
              <a:rPr lang="sr-Latn-CS" altLang="sr-Latn-RS"/>
              <a:t>zato listing počinje ključnom reči </a:t>
            </a:r>
            <a:r>
              <a:rPr lang="sr-Latn-CS" altLang="sr-Latn-RS" b="1" i="1"/>
              <a:t>class</a:t>
            </a:r>
          </a:p>
          <a:p>
            <a:pPr eaLnBrk="1" hangingPunct="1">
              <a:lnSpc>
                <a:spcPct val="120000"/>
              </a:lnSpc>
            </a:pPr>
            <a:r>
              <a:rPr lang="sr-Latn-CS" altLang="sr-Latn-RS"/>
              <a:t>Instance neke klase se zovu objekti</a:t>
            </a:r>
          </a:p>
          <a:p>
            <a:pPr eaLnBrk="1" hangingPunct="1">
              <a:lnSpc>
                <a:spcPct val="120000"/>
              </a:lnSpc>
            </a:pPr>
            <a:r>
              <a:rPr lang="sr-Latn-CS" altLang="sr-Latn-RS"/>
              <a:t>Objekti se kreiraju upotrebom ključne reči </a:t>
            </a:r>
            <a:r>
              <a:rPr lang="sr-Latn-CS" altLang="sr-Latn-RS" b="1" i="1"/>
              <a:t>new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28E8449-325E-F3AF-A7FC-B36463F6B8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Primer</a:t>
            </a:r>
            <a:endParaRPr lang="en-US" altLang="sr-Latn-RS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4AF88464-DA84-C178-96C8-E58D6A939B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4"/>
            <a:ext cx="10515600" cy="4530131"/>
          </a:xfrm>
        </p:spPr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class Osoba {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String JMBG;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String ime;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String prezime;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Datum datRodj;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…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Osoba pera = new Osoba();</a:t>
            </a:r>
          </a:p>
          <a:p>
            <a:pPr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pera.ime = "Pera";</a:t>
            </a:r>
            <a:endParaRPr lang="en-US" altLang="sr-Latn-RS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2F7DF9F1-FF9D-5F6E-FFA6-09A26C2A0D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Primer klase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F8C26CA0-01C7-56DC-5866-67E4153200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300" b="1">
                <a:latin typeface="Courier New" panose="02070309020205020404" pitchFamily="49" charset="0"/>
              </a:rPr>
              <a:t> class Automobil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300" b="1">
                <a:latin typeface="Courier New" panose="02070309020205020404" pitchFamily="49" charset="0"/>
              </a:rPr>
              <a:t>   boolean radi;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300" b="1">
                <a:latin typeface="Courier New" panose="02070309020205020404" pitchFamily="49" charset="0"/>
              </a:rPr>
              <a:t>   void upali() {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300" b="1">
                <a:latin typeface="Courier New" panose="02070309020205020404" pitchFamily="49" charset="0"/>
              </a:rPr>
              <a:t>      radi = true;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300" b="1">
                <a:latin typeface="Courier New" panose="02070309020205020404" pitchFamily="49" charset="0"/>
              </a:rPr>
              <a:t>   }</a:t>
            </a:r>
            <a:br>
              <a:rPr lang="sr-Latn-CS" altLang="sr-Latn-RS" sz="2300" b="1">
                <a:latin typeface="Courier New" panose="02070309020205020404" pitchFamily="49" charset="0"/>
              </a:rPr>
            </a:br>
            <a:r>
              <a:rPr lang="sr-Latn-CS" altLang="sr-Latn-RS" sz="2300" b="1">
                <a:latin typeface="Courier New" panose="02070309020205020404" pitchFamily="49" charset="0"/>
              </a:rPr>
              <a:t>  void ugasi()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300" b="1">
                <a:latin typeface="Courier New" panose="02070309020205020404" pitchFamily="49" charset="0"/>
              </a:rPr>
              <a:t>      radi = false;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300" b="1">
                <a:latin typeface="Courier New" panose="02070309020205020404" pitchFamily="49" charset="0"/>
              </a:rPr>
              <a:t> 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300" b="1">
                <a:latin typeface="Courier New" panose="02070309020205020404" pitchFamily="49" charset="0"/>
              </a:rPr>
              <a:t> }</a:t>
            </a:r>
            <a:br>
              <a:rPr lang="sr-Latn-CS" altLang="sr-Latn-RS" sz="2300" b="1">
                <a:latin typeface="Courier New" panose="02070309020205020404" pitchFamily="49" charset="0"/>
              </a:rPr>
            </a:br>
            <a:endParaRPr lang="en-US" altLang="sr-Latn-RS" sz="2300" b="1">
              <a:latin typeface="Courier New" panose="02070309020205020404" pitchFamily="49" charset="0"/>
            </a:endParaRPr>
          </a:p>
        </p:txBody>
      </p:sp>
      <p:pic>
        <p:nvPicPr>
          <p:cNvPr id="30724" name="Picture 5">
            <a:extLst>
              <a:ext uri="{FF2B5EF4-FFF2-40B4-BE49-F238E27FC236}">
                <a16:creationId xmlns:a16="http://schemas.microsoft.com/office/drawing/2014/main" id="{24B2A86A-C5CC-AA90-D7BF-AD91AFB3F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9528" y="2425129"/>
            <a:ext cx="2160587" cy="149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6CE13DB5-D955-705D-BCCA-EE6ECCD7F4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Kako se instancira i koristi?</a:t>
            </a:r>
            <a:endParaRPr lang="en-US" altLang="sr-Latn-RS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2DC4C1D-924E-7687-9625-EC087EB7C9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Automobil a = new Automobil();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Automobil b = new Automobil();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a.upali();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b.ugasi();</a:t>
            </a:r>
            <a:endParaRPr lang="en-US" altLang="sr-Latn-RS" b="1">
              <a:latin typeface="Courier New" panose="02070309020205020404" pitchFamily="49" charset="0"/>
            </a:endParaRPr>
          </a:p>
        </p:txBody>
      </p:sp>
      <p:pic>
        <p:nvPicPr>
          <p:cNvPr id="31748" name="Picture 4">
            <a:extLst>
              <a:ext uri="{FF2B5EF4-FFF2-40B4-BE49-F238E27FC236}">
                <a16:creationId xmlns:a16="http://schemas.microsoft.com/office/drawing/2014/main" id="{D3CF712D-733B-B3E2-6C08-0280A8647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5529" y="2604987"/>
            <a:ext cx="1728788" cy="123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9AB3AD69-3CB2-2013-7F37-9BC65D1A3B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Program sa dve klase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034B76CB-565B-3957-AED1-241D9A5A48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750848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 u="sng">
                <a:latin typeface="Courier New" panose="02070309020205020404" pitchFamily="49" charset="0"/>
              </a:rPr>
              <a:t>Automobil.java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class Automobil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boolean radi;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void upali() { radi = true;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void ugasi() { radi = false;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}</a:t>
            </a:r>
            <a:endParaRPr lang="en-US" altLang="sr-Latn-R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sr-Latn-CS" altLang="sr-Latn-R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 u="sng">
                <a:latin typeface="Courier New" panose="02070309020205020404" pitchFamily="49" charset="0"/>
              </a:rPr>
              <a:t>Test.java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class Test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public static void main(String args[])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  Automobil a;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  a = new Automobil();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  a.upali();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  }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}</a:t>
            </a:r>
            <a:endParaRPr lang="en-US" altLang="sr-Latn-RS" sz="2000" b="1"/>
          </a:p>
        </p:txBody>
      </p:sp>
      <p:pic>
        <p:nvPicPr>
          <p:cNvPr id="32772" name="Picture 4">
            <a:extLst>
              <a:ext uri="{FF2B5EF4-FFF2-40B4-BE49-F238E27FC236}">
                <a16:creationId xmlns:a16="http://schemas.microsoft.com/office/drawing/2014/main" id="{A340D602-940C-0DE2-843D-7C19A0C96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674" y="2015837"/>
            <a:ext cx="1414462" cy="302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7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7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BA76A-FC3F-3542-EF69-8E02914C1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Reference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1907F-775E-1E3F-C19F-8AACA2E75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09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938E8ACB-6FA1-EFAC-096B-0A2FF5DB73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Reference na objekte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7D22AA12-7EC7-FB14-D94A-B883619D3B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Automobil a;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a = new Automobil();</a:t>
            </a:r>
          </a:p>
          <a:p>
            <a:pPr eaLnBrk="1" hangingPunct="1">
              <a:buFontTx/>
              <a:buNone/>
            </a:pPr>
            <a:endParaRPr lang="en-US" altLang="sr-Latn-RS"/>
          </a:p>
          <a:p>
            <a:pPr eaLnBrk="1" hangingPunct="1">
              <a:buFontTx/>
              <a:buNone/>
            </a:pPr>
            <a:r>
              <a:rPr lang="en-US" altLang="sr-Latn-RS"/>
              <a:t>lokalna promenljiva </a:t>
            </a:r>
            <a:r>
              <a:rPr lang="en-US" altLang="sr-Latn-RS" b="1">
                <a:latin typeface="Courier New" panose="02070309020205020404" pitchFamily="49" charset="0"/>
              </a:rPr>
              <a:t>a</a:t>
            </a:r>
            <a:r>
              <a:rPr lang="en-US" altLang="sr-Latn-RS"/>
              <a:t> nije objekat, već referenca na objekat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88BC1A38-D783-C8C6-4B6A-22D0C7D782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Reference na objekte</a:t>
            </a:r>
            <a:endParaRPr lang="en-US" altLang="sr-Latn-RS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70A9A8B2-52DF-5B71-E433-9F376B396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4508501"/>
            <a:ext cx="647700" cy="35877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34820" name="Line 4">
            <a:extLst>
              <a:ext uri="{FF2B5EF4-FFF2-40B4-BE49-F238E27FC236}">
                <a16:creationId xmlns:a16="http://schemas.microsoft.com/office/drawing/2014/main" id="{D80FA209-F413-4534-A956-1A6A69B305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003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1" name="Line 5">
            <a:extLst>
              <a:ext uri="{FF2B5EF4-FFF2-40B4-BE49-F238E27FC236}">
                <a16:creationId xmlns:a16="http://schemas.microsoft.com/office/drawing/2014/main" id="{13436CAE-94E4-262D-DC56-D82C78C831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2" name="AutoShape 6">
            <a:extLst>
              <a:ext uri="{FF2B5EF4-FFF2-40B4-BE49-F238E27FC236}">
                <a16:creationId xmlns:a16="http://schemas.microsoft.com/office/drawing/2014/main" id="{47312243-1B70-E2AA-8C40-D1630688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6" y="2276475"/>
            <a:ext cx="4537075" cy="2952750"/>
          </a:xfrm>
          <a:prstGeom prst="roundRect">
            <a:avLst>
              <a:gd name="adj" fmla="val 16667"/>
            </a:avLst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34823" name="Freeform 7">
            <a:extLst>
              <a:ext uri="{FF2B5EF4-FFF2-40B4-BE49-F238E27FC236}">
                <a16:creationId xmlns:a16="http://schemas.microsoft.com/office/drawing/2014/main" id="{93134DDA-8037-5E3B-4F82-39BC6CAE8A1E}"/>
              </a:ext>
            </a:extLst>
          </p:cNvPr>
          <p:cNvSpPr>
            <a:spLocks/>
          </p:cNvSpPr>
          <p:nvPr/>
        </p:nvSpPr>
        <p:spPr bwMode="auto">
          <a:xfrm>
            <a:off x="6148389" y="2965451"/>
            <a:ext cx="3260725" cy="1831975"/>
          </a:xfrm>
          <a:custGeom>
            <a:avLst/>
            <a:gdLst>
              <a:gd name="T0" fmla="*/ 2147483646 w 1353"/>
              <a:gd name="T1" fmla="*/ 2147483646 h 790"/>
              <a:gd name="T2" fmla="*/ 2147483646 w 1353"/>
              <a:gd name="T3" fmla="*/ 2147483646 h 790"/>
              <a:gd name="T4" fmla="*/ 2147483646 w 1353"/>
              <a:gd name="T5" fmla="*/ 2147483646 h 790"/>
              <a:gd name="T6" fmla="*/ 2147483646 w 1353"/>
              <a:gd name="T7" fmla="*/ 2147483646 h 790"/>
              <a:gd name="T8" fmla="*/ 2147483646 w 1353"/>
              <a:gd name="T9" fmla="*/ 2147483646 h 790"/>
              <a:gd name="T10" fmla="*/ 2147483646 w 1353"/>
              <a:gd name="T11" fmla="*/ 2147483646 h 790"/>
              <a:gd name="T12" fmla="*/ 2147483646 w 1353"/>
              <a:gd name="T13" fmla="*/ 2147483646 h 790"/>
              <a:gd name="T14" fmla="*/ 2147483646 w 1353"/>
              <a:gd name="T15" fmla="*/ 2147483646 h 790"/>
              <a:gd name="T16" fmla="*/ 2147483646 w 1353"/>
              <a:gd name="T17" fmla="*/ 2147483646 h 790"/>
              <a:gd name="T18" fmla="*/ 2147483646 w 1353"/>
              <a:gd name="T19" fmla="*/ 2147483646 h 790"/>
              <a:gd name="T20" fmla="*/ 2147483646 w 1353"/>
              <a:gd name="T21" fmla="*/ 2147483646 h 790"/>
              <a:gd name="T22" fmla="*/ 2147483646 w 1353"/>
              <a:gd name="T23" fmla="*/ 2147483646 h 790"/>
              <a:gd name="T24" fmla="*/ 2147483646 w 1353"/>
              <a:gd name="T25" fmla="*/ 2147483646 h 790"/>
              <a:gd name="T26" fmla="*/ 2147483646 w 1353"/>
              <a:gd name="T27" fmla="*/ 2147483646 h 790"/>
              <a:gd name="T28" fmla="*/ 2147483646 w 1353"/>
              <a:gd name="T29" fmla="*/ 2147483646 h 790"/>
              <a:gd name="T30" fmla="*/ 2147483646 w 1353"/>
              <a:gd name="T31" fmla="*/ 2147483646 h 790"/>
              <a:gd name="T32" fmla="*/ 2147483646 w 1353"/>
              <a:gd name="T33" fmla="*/ 2147483646 h 790"/>
              <a:gd name="T34" fmla="*/ 2147483646 w 1353"/>
              <a:gd name="T35" fmla="*/ 2147483646 h 790"/>
              <a:gd name="T36" fmla="*/ 2147483646 w 1353"/>
              <a:gd name="T37" fmla="*/ 2147483646 h 790"/>
              <a:gd name="T38" fmla="*/ 2147483646 w 1353"/>
              <a:gd name="T39" fmla="*/ 2147483646 h 790"/>
              <a:gd name="T40" fmla="*/ 2147483646 w 1353"/>
              <a:gd name="T41" fmla="*/ 2147483646 h 790"/>
              <a:gd name="T42" fmla="*/ 2147483646 w 1353"/>
              <a:gd name="T43" fmla="*/ 2147483646 h 790"/>
              <a:gd name="T44" fmla="*/ 2147483646 w 1353"/>
              <a:gd name="T45" fmla="*/ 2147483646 h 790"/>
              <a:gd name="T46" fmla="*/ 2147483646 w 1353"/>
              <a:gd name="T47" fmla="*/ 2147483646 h 790"/>
              <a:gd name="T48" fmla="*/ 2147483646 w 1353"/>
              <a:gd name="T49" fmla="*/ 2147483646 h 790"/>
              <a:gd name="T50" fmla="*/ 2147483646 w 1353"/>
              <a:gd name="T51" fmla="*/ 2147483646 h 790"/>
              <a:gd name="T52" fmla="*/ 2147483646 w 1353"/>
              <a:gd name="T53" fmla="*/ 2147483646 h 790"/>
              <a:gd name="T54" fmla="*/ 2147483646 w 1353"/>
              <a:gd name="T55" fmla="*/ 2147483646 h 790"/>
              <a:gd name="T56" fmla="*/ 2147483646 w 1353"/>
              <a:gd name="T57" fmla="*/ 2147483646 h 790"/>
              <a:gd name="T58" fmla="*/ 0 w 1353"/>
              <a:gd name="T59" fmla="*/ 2147483646 h 790"/>
              <a:gd name="T60" fmla="*/ 2147483646 w 1353"/>
              <a:gd name="T61" fmla="*/ 2147483646 h 790"/>
              <a:gd name="T62" fmla="*/ 2147483646 w 1353"/>
              <a:gd name="T63" fmla="*/ 2147483646 h 790"/>
              <a:gd name="T64" fmla="*/ 2147483646 w 1353"/>
              <a:gd name="T65" fmla="*/ 2147483646 h 790"/>
              <a:gd name="T66" fmla="*/ 2147483646 w 1353"/>
              <a:gd name="T67" fmla="*/ 2147483646 h 790"/>
              <a:gd name="T68" fmla="*/ 2147483646 w 1353"/>
              <a:gd name="T69" fmla="*/ 2147483646 h 790"/>
              <a:gd name="T70" fmla="*/ 2147483646 w 1353"/>
              <a:gd name="T71" fmla="*/ 2147483646 h 790"/>
              <a:gd name="T72" fmla="*/ 2147483646 w 1353"/>
              <a:gd name="T73" fmla="*/ 2147483646 h 790"/>
              <a:gd name="T74" fmla="*/ 2147483646 w 1353"/>
              <a:gd name="T75" fmla="*/ 2147483646 h 790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1353"/>
              <a:gd name="T115" fmla="*/ 0 h 790"/>
              <a:gd name="T116" fmla="*/ 1353 w 1353"/>
              <a:gd name="T117" fmla="*/ 790 h 790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1353" h="790">
                <a:moveTo>
                  <a:pt x="242" y="141"/>
                </a:moveTo>
                <a:cubicBezTo>
                  <a:pt x="255" y="96"/>
                  <a:pt x="306" y="65"/>
                  <a:pt x="349" y="54"/>
                </a:cubicBezTo>
                <a:cubicBezTo>
                  <a:pt x="444" y="63"/>
                  <a:pt x="407" y="49"/>
                  <a:pt x="443" y="101"/>
                </a:cubicBezTo>
                <a:cubicBezTo>
                  <a:pt x="445" y="114"/>
                  <a:pt x="436" y="139"/>
                  <a:pt x="449" y="141"/>
                </a:cubicBezTo>
                <a:cubicBezTo>
                  <a:pt x="473" y="145"/>
                  <a:pt x="482" y="105"/>
                  <a:pt x="503" y="94"/>
                </a:cubicBezTo>
                <a:cubicBezTo>
                  <a:pt x="572" y="59"/>
                  <a:pt x="655" y="38"/>
                  <a:pt x="731" y="27"/>
                </a:cubicBezTo>
                <a:cubicBezTo>
                  <a:pt x="856" y="33"/>
                  <a:pt x="870" y="0"/>
                  <a:pt x="918" y="74"/>
                </a:cubicBezTo>
                <a:cubicBezTo>
                  <a:pt x="926" y="114"/>
                  <a:pt x="936" y="142"/>
                  <a:pt x="952" y="181"/>
                </a:cubicBezTo>
                <a:cubicBezTo>
                  <a:pt x="995" y="168"/>
                  <a:pt x="1036" y="152"/>
                  <a:pt x="1079" y="141"/>
                </a:cubicBezTo>
                <a:cubicBezTo>
                  <a:pt x="1189" y="145"/>
                  <a:pt x="1245" y="119"/>
                  <a:pt x="1320" y="168"/>
                </a:cubicBezTo>
                <a:cubicBezTo>
                  <a:pt x="1338" y="196"/>
                  <a:pt x="1341" y="221"/>
                  <a:pt x="1347" y="255"/>
                </a:cubicBezTo>
                <a:cubicBezTo>
                  <a:pt x="1344" y="300"/>
                  <a:pt x="1353" y="392"/>
                  <a:pt x="1313" y="429"/>
                </a:cubicBezTo>
                <a:cubicBezTo>
                  <a:pt x="1295" y="466"/>
                  <a:pt x="1273" y="482"/>
                  <a:pt x="1233" y="490"/>
                </a:cubicBezTo>
                <a:cubicBezTo>
                  <a:pt x="1248" y="513"/>
                  <a:pt x="1253" y="530"/>
                  <a:pt x="1273" y="550"/>
                </a:cubicBezTo>
                <a:cubicBezTo>
                  <a:pt x="1270" y="586"/>
                  <a:pt x="1276" y="625"/>
                  <a:pt x="1260" y="657"/>
                </a:cubicBezTo>
                <a:cubicBezTo>
                  <a:pt x="1249" y="679"/>
                  <a:pt x="1219" y="684"/>
                  <a:pt x="1199" y="691"/>
                </a:cubicBezTo>
                <a:cubicBezTo>
                  <a:pt x="1182" y="697"/>
                  <a:pt x="1169" y="711"/>
                  <a:pt x="1152" y="717"/>
                </a:cubicBezTo>
                <a:cubicBezTo>
                  <a:pt x="1133" y="724"/>
                  <a:pt x="1112" y="726"/>
                  <a:pt x="1092" y="731"/>
                </a:cubicBezTo>
                <a:cubicBezTo>
                  <a:pt x="1011" y="727"/>
                  <a:pt x="930" y="729"/>
                  <a:pt x="851" y="711"/>
                </a:cubicBezTo>
                <a:cubicBezTo>
                  <a:pt x="835" y="694"/>
                  <a:pt x="825" y="687"/>
                  <a:pt x="818" y="664"/>
                </a:cubicBezTo>
                <a:cubicBezTo>
                  <a:pt x="798" y="683"/>
                  <a:pt x="785" y="714"/>
                  <a:pt x="764" y="731"/>
                </a:cubicBezTo>
                <a:cubicBezTo>
                  <a:pt x="756" y="737"/>
                  <a:pt x="745" y="739"/>
                  <a:pt x="737" y="744"/>
                </a:cubicBezTo>
                <a:cubicBezTo>
                  <a:pt x="670" y="786"/>
                  <a:pt x="714" y="771"/>
                  <a:pt x="670" y="784"/>
                </a:cubicBezTo>
                <a:cubicBezTo>
                  <a:pt x="429" y="777"/>
                  <a:pt x="513" y="790"/>
                  <a:pt x="362" y="737"/>
                </a:cubicBezTo>
                <a:cubicBezTo>
                  <a:pt x="354" y="714"/>
                  <a:pt x="343" y="693"/>
                  <a:pt x="335" y="670"/>
                </a:cubicBezTo>
                <a:cubicBezTo>
                  <a:pt x="333" y="657"/>
                  <a:pt x="342" y="632"/>
                  <a:pt x="329" y="630"/>
                </a:cubicBezTo>
                <a:cubicBezTo>
                  <a:pt x="313" y="628"/>
                  <a:pt x="306" y="653"/>
                  <a:pt x="295" y="664"/>
                </a:cubicBezTo>
                <a:cubicBezTo>
                  <a:pt x="285" y="674"/>
                  <a:pt x="268" y="672"/>
                  <a:pt x="255" y="677"/>
                </a:cubicBezTo>
                <a:cubicBezTo>
                  <a:pt x="47" y="668"/>
                  <a:pt x="152" y="677"/>
                  <a:pt x="41" y="644"/>
                </a:cubicBezTo>
                <a:cubicBezTo>
                  <a:pt x="16" y="619"/>
                  <a:pt x="9" y="596"/>
                  <a:pt x="0" y="563"/>
                </a:cubicBezTo>
                <a:cubicBezTo>
                  <a:pt x="2" y="536"/>
                  <a:pt x="0" y="509"/>
                  <a:pt x="7" y="483"/>
                </a:cubicBezTo>
                <a:cubicBezTo>
                  <a:pt x="13" y="462"/>
                  <a:pt x="77" y="447"/>
                  <a:pt x="94" y="443"/>
                </a:cubicBezTo>
                <a:cubicBezTo>
                  <a:pt x="105" y="436"/>
                  <a:pt x="116" y="428"/>
                  <a:pt x="128" y="423"/>
                </a:cubicBezTo>
                <a:cubicBezTo>
                  <a:pt x="137" y="419"/>
                  <a:pt x="149" y="423"/>
                  <a:pt x="155" y="416"/>
                </a:cubicBezTo>
                <a:cubicBezTo>
                  <a:pt x="160" y="409"/>
                  <a:pt x="135" y="378"/>
                  <a:pt x="134" y="376"/>
                </a:cubicBezTo>
                <a:cubicBezTo>
                  <a:pt x="124" y="343"/>
                  <a:pt x="115" y="348"/>
                  <a:pt x="108" y="309"/>
                </a:cubicBezTo>
                <a:cubicBezTo>
                  <a:pt x="110" y="271"/>
                  <a:pt x="108" y="233"/>
                  <a:pt x="114" y="195"/>
                </a:cubicBezTo>
                <a:cubicBezTo>
                  <a:pt x="120" y="156"/>
                  <a:pt x="217" y="154"/>
                  <a:pt x="242" y="141"/>
                </a:cubicBezTo>
                <a:close/>
              </a:path>
            </a:pathLst>
          </a:custGeom>
          <a:noFill/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4" name="Text Box 8">
            <a:extLst>
              <a:ext uri="{FF2B5EF4-FFF2-40B4-BE49-F238E27FC236}">
                <a16:creationId xmlns:a16="http://schemas.microsoft.com/office/drawing/2014/main" id="{1034CD07-71D1-3F27-9FE6-E51064311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9" y="5373688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heap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34825" name="Text Box 9">
            <a:extLst>
              <a:ext uri="{FF2B5EF4-FFF2-40B4-BE49-F238E27FC236}">
                <a16:creationId xmlns:a16="http://schemas.microsoft.com/office/drawing/2014/main" id="{670C76AA-6E1D-B50F-369A-926D3501C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4" y="3429001"/>
            <a:ext cx="22320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objekat klase Automobil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34826" name="Text Box 10">
            <a:extLst>
              <a:ext uri="{FF2B5EF4-FFF2-40B4-BE49-F238E27FC236}">
                <a16:creationId xmlns:a16="http://schemas.microsoft.com/office/drawing/2014/main" id="{D7488796-7858-12C7-2C2C-A7D853947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5013325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stek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34827" name="Text Box 11">
            <a:extLst>
              <a:ext uri="{FF2B5EF4-FFF2-40B4-BE49-F238E27FC236}">
                <a16:creationId xmlns:a16="http://schemas.microsoft.com/office/drawing/2014/main" id="{C2B7F2B9-3A91-EAB5-0345-D3B9619C7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4437063"/>
            <a:ext cx="431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a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34828" name="Line 12">
            <a:extLst>
              <a:ext uri="{FF2B5EF4-FFF2-40B4-BE49-F238E27FC236}">
                <a16:creationId xmlns:a16="http://schemas.microsoft.com/office/drawing/2014/main" id="{D6034E0E-BC8F-C9AD-6F69-BE0415A1A1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6" y="4221163"/>
            <a:ext cx="2519363" cy="431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CBE23A95-F85A-851D-DFD2-56394D93D8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Ključna reč </a:t>
            </a: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endParaRPr lang="en-US" alt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168A8933-D9C6-DDB1-E6FF-D73D3A9D15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l-PL" altLang="sr-Latn-RS"/>
              <a:t>Ako je klasa Tacka zadužena </a:t>
            </a:r>
            <a:r>
              <a:rPr lang="it-IT" altLang="sr-Latn-RS"/>
              <a:t>za rad sa svim što ima veze sa tačkama, da li možemo da joj prepustimo i</a:t>
            </a:r>
            <a:r>
              <a:rPr lang="sr-Latn-RS" altLang="sr-Latn-RS"/>
              <a:t> </a:t>
            </a:r>
            <a:r>
              <a:rPr lang="en-US" altLang="sr-Latn-RS"/>
              <a:t>posao računanja udaljenosti neke druge tačke od nje same?</a:t>
            </a:r>
            <a:endParaRPr lang="sr-Latn-RS" altLang="sr-Latn-RS"/>
          </a:p>
          <a:p>
            <a:endParaRPr lang="en-US" altLang="sr-Latn-R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F68DE664-FEA8-96BC-6EDD-58453F1AEE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Ključna reč </a:t>
            </a: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sr-Latn-RS" altLang="sr-Latn-RS">
                <a:latin typeface="Calibri Light (Headings)"/>
                <a:cs typeface="Courier New" panose="02070309020205020404" pitchFamily="49" charset="0"/>
              </a:rPr>
              <a:t> (još je nema)</a:t>
            </a:r>
            <a:endParaRPr lang="en-US" altLang="sr-Latn-RS">
              <a:latin typeface="Calibri Light (Headings)"/>
              <a:cs typeface="Courier New" panose="02070309020205020404" pitchFamily="49" charset="0"/>
            </a:endParaRP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77C50299-EF08-4A9C-D376-9CC9AA146D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Tacka </a:t>
            </a:r>
            <a:r>
              <a:rPr lang="en-US" altLang="sr-Latn-RS" sz="2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= new Tacka();</a:t>
            </a:r>
          </a:p>
          <a:p>
            <a:pPr marL="0" indent="0">
              <a:buNone/>
            </a:pPr>
            <a:r>
              <a:rPr lang="en-US" altLang="sr-Latn-RS" sz="2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>
              <a:buNone/>
            </a:pPr>
            <a:r>
              <a:rPr lang="en-US" altLang="sr-Latn-RS" sz="2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Tacka </a:t>
            </a:r>
            <a:r>
              <a:rPr lang="en-US" altLang="sr-Latn-RS" sz="24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= new Tacka();</a:t>
            </a:r>
          </a:p>
          <a:p>
            <a:pPr marL="0" indent="0">
              <a:buNone/>
            </a:pPr>
            <a:r>
              <a:rPr lang="en-US" altLang="sr-Latn-RS" sz="24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= 5;</a:t>
            </a:r>
          </a:p>
          <a:p>
            <a:pPr marL="0" indent="0">
              <a:buNone/>
            </a:pPr>
            <a:r>
              <a:rPr lang="en-US" altLang="sr-Latn-RS" sz="24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= 5;</a:t>
            </a:r>
          </a:p>
          <a:p>
            <a:pPr marL="0" indent="0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double d;</a:t>
            </a:r>
          </a:p>
          <a:p>
            <a:pPr marL="0" indent="0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d = </a:t>
            </a:r>
            <a:r>
              <a:rPr lang="en-US" altLang="sr-Latn-RS" sz="2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udaljenost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sr-Latn-RS" sz="24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sr-Latn-RS" sz="24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isti rezultat dobijamo i ovako</a:t>
            </a:r>
          </a:p>
          <a:p>
            <a:pPr marL="0" indent="0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d = </a:t>
            </a:r>
            <a:r>
              <a:rPr lang="en-US" altLang="sr-Latn-RS" sz="24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udaljenost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sr-Latn-RS" sz="2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3A2E9490-E65D-8551-23D3-6F45E71A6C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altLang="sr-Latn-RS"/>
              <a:t>Ključna reč </a:t>
            </a: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endParaRPr lang="en-US" alt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A0719A3F-14F6-2371-270B-7EB3052281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class Tacka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20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 x koordinata */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double </a:t>
            </a:r>
            <a:r>
              <a:rPr lang="en-U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alt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altLang="sr-Latn-RS" sz="20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20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20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 y koordinata */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double </a:t>
            </a:r>
            <a:r>
              <a:rPr lang="en-U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20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 Računa udaljenost od ove tačke do</a:t>
            </a:r>
            <a:r>
              <a:rPr lang="sr-Latn-RS" altLang="sr-Latn-RS" sz="20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20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prosle</a:t>
            </a:r>
            <a:r>
              <a:rPr lang="sr-Latn-RS" altLang="sr-Latn-RS" sz="20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đ</a:t>
            </a:r>
            <a:r>
              <a:rPr lang="en-US" altLang="sr-Latn-RS" sz="20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ene ta</a:t>
            </a:r>
            <a:r>
              <a:rPr lang="sr-Latn-RS" altLang="sr-Latn-RS" sz="20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čk</a:t>
            </a:r>
            <a:r>
              <a:rPr lang="en-US" altLang="sr-Latn-RS" sz="20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 */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double udaljenost(Tacka </a:t>
            </a:r>
            <a:r>
              <a:rPr lang="en-US" altLang="sr-Latn-RS" sz="20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return Math.sqrt((</a:t>
            </a: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altLang="sr-Latn-RS" sz="20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)*(</a:t>
            </a: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altLang="sr-Latn-RS" sz="20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) +</a:t>
            </a:r>
            <a:endParaRPr lang="sr-Latn-RS" alt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altLang="sr-Latn-RS" sz="20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)*(</a:t>
            </a: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altLang="sr-Latn-RS" sz="20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7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8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F933BE53-E439-936A-E58D-ABF142CBA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Ključna reč </a:t>
            </a: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endParaRPr lang="en-US" alt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C3500D05-6D39-1071-78E2-81CEEF2688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sr-Latn-RS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 Atribut koji opisuje visinu */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altLang="sr-Latn-RS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visina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sr-Latn-RS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 Postavlja vrednost atributa */</a:t>
            </a:r>
          </a:p>
          <a:p>
            <a:pPr marL="0" indent="0">
              <a:buNone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void setVisina(double </a:t>
            </a:r>
            <a:r>
              <a:rPr lang="en-US" altLang="sr-Latn-RS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visina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visina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sr-Latn-RS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visina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sr-Latn-RS" alt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double getVisina() {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sr-Latn-RS" altLang="sr-Latn-RS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sr-Latn-RS" altLang="sr-Latn-RS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visina</a:t>
            </a: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95F0AB6-188C-89CE-8955-263AA7DB86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Default vrednosti atributa</a:t>
            </a:r>
            <a:endParaRPr lang="en-US" altLang="sr-Latn-R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478B6ADA-E477-F241-5D8E-92AC2F6DA9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03578"/>
            <a:ext cx="10515600" cy="5053975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sr-Latn-CS" altLang="sr-Latn-RS" sz="2400"/>
              <a:t>Primitivni tipovi kao atributi klase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sr-Latn-CS" altLang="sr-Latn-RS" sz="2000" u="sng"/>
              <a:t>	 Primitivni tip 	               Default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sr-Latn-CS" altLang="sr-Latn-RS" sz="2000" b="1"/>
              <a:t>boolean		false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sr-Latn-CS" altLang="sr-Latn-RS" sz="2000" b="1"/>
              <a:t>char	 	 </a:t>
            </a:r>
            <a:r>
              <a:rPr lang="sr-Latn-CS" altLang="sr-Latn-RS" sz="2000"/>
              <a:t>‘\u0000’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sr-Latn-CS" altLang="sr-Latn-RS" sz="2000" b="1"/>
              <a:t>byte 		 (byte)0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sr-Latn-CS" altLang="sr-Latn-RS" sz="2000" b="1"/>
              <a:t>short 		(short)0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sr-Latn-CS" altLang="sr-Latn-RS" sz="2000" b="1"/>
              <a:t>int 			0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sr-Latn-CS" altLang="sr-Latn-RS" sz="2000" b="1"/>
              <a:t>long 		0L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sr-Latn-CS" altLang="sr-Latn-RS" sz="2000" b="1"/>
              <a:t>float 		0.0f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sr-Latn-CS" altLang="sr-Latn-RS" sz="2000" b="1"/>
              <a:t>double 		0.0d</a:t>
            </a:r>
            <a:endParaRPr lang="sr-Latn-CS" altLang="sr-Latn-RS" sz="2000"/>
          </a:p>
          <a:p>
            <a:pPr marL="0" indent="0" eaLnBrk="1" hangingPunct="1">
              <a:lnSpc>
                <a:spcPct val="80000"/>
              </a:lnSpc>
              <a:buNone/>
            </a:pPr>
            <a:endParaRPr lang="sr-Latn-CS" altLang="sr-Latn-RS" sz="2000"/>
          </a:p>
          <a:p>
            <a:pPr>
              <a:lnSpc>
                <a:spcPct val="80000"/>
              </a:lnSpc>
            </a:pPr>
            <a:r>
              <a:rPr lang="sr-Latn-CS" altLang="sr-Latn-RS" sz="2400"/>
              <a:t>Reference kao atributi klase</a:t>
            </a:r>
          </a:p>
          <a:p>
            <a:pPr lvl="1">
              <a:lnSpc>
                <a:spcPct val="80000"/>
              </a:lnSpc>
            </a:pPr>
            <a:r>
              <a:rPr lang="sr-Latn-CS" altLang="sr-Latn-RS" sz="2000"/>
              <a:t>null</a:t>
            </a:r>
          </a:p>
          <a:p>
            <a:pPr>
              <a:lnSpc>
                <a:spcPct val="80000"/>
              </a:lnSpc>
            </a:pPr>
            <a:r>
              <a:rPr lang="sr-Latn-RS" altLang="sr-Latn-RS" sz="2400"/>
              <a:t>L</a:t>
            </a:r>
            <a:r>
              <a:rPr lang="en-US" altLang="sr-Latn-RS" sz="2400"/>
              <a:t>o</a:t>
            </a:r>
            <a:r>
              <a:rPr lang="sr-Latn-CS" altLang="sr-Latn-RS" sz="2400"/>
              <a:t>k</a:t>
            </a:r>
            <a:r>
              <a:rPr lang="en-US" altLang="sr-Latn-RS" sz="2400"/>
              <a:t>alne promenljive</a:t>
            </a:r>
            <a:endParaRPr lang="sr-Latn-CS" altLang="sr-Latn-RS" sz="2400"/>
          </a:p>
          <a:p>
            <a:pPr lvl="1">
              <a:lnSpc>
                <a:spcPct val="80000"/>
              </a:lnSpc>
            </a:pPr>
            <a:r>
              <a:rPr lang="sr-Latn-CS" altLang="sr-Latn-RS" sz="2000"/>
              <a:t>nemaju default vrednost – </a:t>
            </a:r>
            <a:r>
              <a:rPr lang="en-US" altLang="sr-Latn-RS" sz="2000"/>
              <a:t>upotreba pre inicijalizacije izaziva gre</a:t>
            </a:r>
            <a:r>
              <a:rPr lang="sr-Latn-CS" altLang="sr-Latn-RS" sz="2000"/>
              <a:t>š</a:t>
            </a:r>
            <a:r>
              <a:rPr lang="en-US" altLang="sr-Latn-RS" sz="2000"/>
              <a:t>ku kod kompajliranja</a:t>
            </a:r>
            <a:r>
              <a:rPr lang="sr-Latn-CS" altLang="sr-Latn-RS" sz="2000"/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99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99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9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9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A3973991-CC35-662A-9DE1-A76E0DDC51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sr-Latn-RS" sz="4000"/>
              <a:t>Referenca na objekat kao parametar metode</a:t>
            </a:r>
            <a:endParaRPr lang="en-GB" altLang="sr-Latn-RS" sz="4000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9D00AE12-8AD9-D480-E343-EA2FD07DC6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void test(Automobil a) </a:t>
            </a:r>
            <a:r>
              <a:rPr lang="en-US" altLang="sr-Latn-RS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  a.</a:t>
            </a:r>
            <a:r>
              <a:rPr lang="sr-Latn-CS" altLang="sr-Latn-RS" b="1">
                <a:latin typeface="Courier New" panose="02070309020205020404" pitchFamily="49" charset="0"/>
              </a:rPr>
              <a:t>radi = true</a:t>
            </a:r>
            <a:r>
              <a:rPr lang="en-US" altLang="sr-Latn-RS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buFontTx/>
              <a:buNone/>
            </a:pPr>
            <a:endParaRPr lang="en-US" altLang="sr-Latn-RS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Automobil x = new Automobil();</a:t>
            </a: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x.</a:t>
            </a:r>
            <a:r>
              <a:rPr lang="sr-Latn-CS" altLang="sr-Latn-RS" b="1">
                <a:latin typeface="Courier New" panose="02070309020205020404" pitchFamily="49" charset="0"/>
              </a:rPr>
              <a:t>radi = false</a:t>
            </a:r>
            <a:r>
              <a:rPr lang="en-US" altLang="sr-Latn-RS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test(x);</a:t>
            </a:r>
            <a:endParaRPr lang="en-GB" altLang="sr-Latn-RS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8F64A4C6-145F-BA3C-276F-6B34EAFA85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Referenca na objekat kao parametar metode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1D13A191-CC7C-BC29-BB07-B7DC65DBC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4508501"/>
            <a:ext cx="647700" cy="35877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sr-Latn-RS" sz="1400"/>
              <a:t>x</a:t>
            </a:r>
            <a:endParaRPr lang="en-US" altLang="sr-Latn-RS" sz="1400"/>
          </a:p>
        </p:txBody>
      </p:sp>
      <p:sp>
        <p:nvSpPr>
          <p:cNvPr id="41988" name="Line 4">
            <a:extLst>
              <a:ext uri="{FF2B5EF4-FFF2-40B4-BE49-F238E27FC236}">
                <a16:creationId xmlns:a16="http://schemas.microsoft.com/office/drawing/2014/main" id="{92EA2F16-3280-A6C1-3AB7-1E604AD9CB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003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89" name="Line 5">
            <a:extLst>
              <a:ext uri="{FF2B5EF4-FFF2-40B4-BE49-F238E27FC236}">
                <a16:creationId xmlns:a16="http://schemas.microsoft.com/office/drawing/2014/main" id="{1E9D02B1-57AC-E746-04A1-7BA1F764DF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0" name="AutoShape 6">
            <a:extLst>
              <a:ext uri="{FF2B5EF4-FFF2-40B4-BE49-F238E27FC236}">
                <a16:creationId xmlns:a16="http://schemas.microsoft.com/office/drawing/2014/main" id="{F7834F93-1B5F-1990-3D23-773E3565D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6" y="2276475"/>
            <a:ext cx="4537075" cy="2952750"/>
          </a:xfrm>
          <a:prstGeom prst="roundRect">
            <a:avLst>
              <a:gd name="adj" fmla="val 16667"/>
            </a:avLst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41991" name="Freeform 7">
            <a:extLst>
              <a:ext uri="{FF2B5EF4-FFF2-40B4-BE49-F238E27FC236}">
                <a16:creationId xmlns:a16="http://schemas.microsoft.com/office/drawing/2014/main" id="{8A152B19-FB7F-4E3E-4A37-65A15E448770}"/>
              </a:ext>
            </a:extLst>
          </p:cNvPr>
          <p:cNvSpPr>
            <a:spLocks/>
          </p:cNvSpPr>
          <p:nvPr/>
        </p:nvSpPr>
        <p:spPr bwMode="auto">
          <a:xfrm>
            <a:off x="6148389" y="2965451"/>
            <a:ext cx="3260725" cy="1831975"/>
          </a:xfrm>
          <a:custGeom>
            <a:avLst/>
            <a:gdLst>
              <a:gd name="T0" fmla="*/ 2147483646 w 1353"/>
              <a:gd name="T1" fmla="*/ 2147483646 h 790"/>
              <a:gd name="T2" fmla="*/ 2147483646 w 1353"/>
              <a:gd name="T3" fmla="*/ 2147483646 h 790"/>
              <a:gd name="T4" fmla="*/ 2147483646 w 1353"/>
              <a:gd name="T5" fmla="*/ 2147483646 h 790"/>
              <a:gd name="T6" fmla="*/ 2147483646 w 1353"/>
              <a:gd name="T7" fmla="*/ 2147483646 h 790"/>
              <a:gd name="T8" fmla="*/ 2147483646 w 1353"/>
              <a:gd name="T9" fmla="*/ 2147483646 h 790"/>
              <a:gd name="T10" fmla="*/ 2147483646 w 1353"/>
              <a:gd name="T11" fmla="*/ 2147483646 h 790"/>
              <a:gd name="T12" fmla="*/ 2147483646 w 1353"/>
              <a:gd name="T13" fmla="*/ 2147483646 h 790"/>
              <a:gd name="T14" fmla="*/ 2147483646 w 1353"/>
              <a:gd name="T15" fmla="*/ 2147483646 h 790"/>
              <a:gd name="T16" fmla="*/ 2147483646 w 1353"/>
              <a:gd name="T17" fmla="*/ 2147483646 h 790"/>
              <a:gd name="T18" fmla="*/ 2147483646 w 1353"/>
              <a:gd name="T19" fmla="*/ 2147483646 h 790"/>
              <a:gd name="T20" fmla="*/ 2147483646 w 1353"/>
              <a:gd name="T21" fmla="*/ 2147483646 h 790"/>
              <a:gd name="T22" fmla="*/ 2147483646 w 1353"/>
              <a:gd name="T23" fmla="*/ 2147483646 h 790"/>
              <a:gd name="T24" fmla="*/ 2147483646 w 1353"/>
              <a:gd name="T25" fmla="*/ 2147483646 h 790"/>
              <a:gd name="T26" fmla="*/ 2147483646 w 1353"/>
              <a:gd name="T27" fmla="*/ 2147483646 h 790"/>
              <a:gd name="T28" fmla="*/ 2147483646 w 1353"/>
              <a:gd name="T29" fmla="*/ 2147483646 h 790"/>
              <a:gd name="T30" fmla="*/ 2147483646 w 1353"/>
              <a:gd name="T31" fmla="*/ 2147483646 h 790"/>
              <a:gd name="T32" fmla="*/ 2147483646 w 1353"/>
              <a:gd name="T33" fmla="*/ 2147483646 h 790"/>
              <a:gd name="T34" fmla="*/ 2147483646 w 1353"/>
              <a:gd name="T35" fmla="*/ 2147483646 h 790"/>
              <a:gd name="T36" fmla="*/ 2147483646 w 1353"/>
              <a:gd name="T37" fmla="*/ 2147483646 h 790"/>
              <a:gd name="T38" fmla="*/ 2147483646 w 1353"/>
              <a:gd name="T39" fmla="*/ 2147483646 h 790"/>
              <a:gd name="T40" fmla="*/ 2147483646 w 1353"/>
              <a:gd name="T41" fmla="*/ 2147483646 h 790"/>
              <a:gd name="T42" fmla="*/ 2147483646 w 1353"/>
              <a:gd name="T43" fmla="*/ 2147483646 h 790"/>
              <a:gd name="T44" fmla="*/ 2147483646 w 1353"/>
              <a:gd name="T45" fmla="*/ 2147483646 h 790"/>
              <a:gd name="T46" fmla="*/ 2147483646 w 1353"/>
              <a:gd name="T47" fmla="*/ 2147483646 h 790"/>
              <a:gd name="T48" fmla="*/ 2147483646 w 1353"/>
              <a:gd name="T49" fmla="*/ 2147483646 h 790"/>
              <a:gd name="T50" fmla="*/ 2147483646 w 1353"/>
              <a:gd name="T51" fmla="*/ 2147483646 h 790"/>
              <a:gd name="T52" fmla="*/ 2147483646 w 1353"/>
              <a:gd name="T53" fmla="*/ 2147483646 h 790"/>
              <a:gd name="T54" fmla="*/ 2147483646 w 1353"/>
              <a:gd name="T55" fmla="*/ 2147483646 h 790"/>
              <a:gd name="T56" fmla="*/ 2147483646 w 1353"/>
              <a:gd name="T57" fmla="*/ 2147483646 h 790"/>
              <a:gd name="T58" fmla="*/ 0 w 1353"/>
              <a:gd name="T59" fmla="*/ 2147483646 h 790"/>
              <a:gd name="T60" fmla="*/ 2147483646 w 1353"/>
              <a:gd name="T61" fmla="*/ 2147483646 h 790"/>
              <a:gd name="T62" fmla="*/ 2147483646 w 1353"/>
              <a:gd name="T63" fmla="*/ 2147483646 h 790"/>
              <a:gd name="T64" fmla="*/ 2147483646 w 1353"/>
              <a:gd name="T65" fmla="*/ 2147483646 h 790"/>
              <a:gd name="T66" fmla="*/ 2147483646 w 1353"/>
              <a:gd name="T67" fmla="*/ 2147483646 h 790"/>
              <a:gd name="T68" fmla="*/ 2147483646 w 1353"/>
              <a:gd name="T69" fmla="*/ 2147483646 h 790"/>
              <a:gd name="T70" fmla="*/ 2147483646 w 1353"/>
              <a:gd name="T71" fmla="*/ 2147483646 h 790"/>
              <a:gd name="T72" fmla="*/ 2147483646 w 1353"/>
              <a:gd name="T73" fmla="*/ 2147483646 h 790"/>
              <a:gd name="T74" fmla="*/ 2147483646 w 1353"/>
              <a:gd name="T75" fmla="*/ 2147483646 h 790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1353"/>
              <a:gd name="T115" fmla="*/ 0 h 790"/>
              <a:gd name="T116" fmla="*/ 1353 w 1353"/>
              <a:gd name="T117" fmla="*/ 790 h 790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1353" h="790">
                <a:moveTo>
                  <a:pt x="242" y="141"/>
                </a:moveTo>
                <a:cubicBezTo>
                  <a:pt x="255" y="96"/>
                  <a:pt x="306" y="65"/>
                  <a:pt x="349" y="54"/>
                </a:cubicBezTo>
                <a:cubicBezTo>
                  <a:pt x="444" y="63"/>
                  <a:pt x="407" y="49"/>
                  <a:pt x="443" y="101"/>
                </a:cubicBezTo>
                <a:cubicBezTo>
                  <a:pt x="445" y="114"/>
                  <a:pt x="436" y="139"/>
                  <a:pt x="449" y="141"/>
                </a:cubicBezTo>
                <a:cubicBezTo>
                  <a:pt x="473" y="145"/>
                  <a:pt x="482" y="105"/>
                  <a:pt x="503" y="94"/>
                </a:cubicBezTo>
                <a:cubicBezTo>
                  <a:pt x="572" y="59"/>
                  <a:pt x="655" y="38"/>
                  <a:pt x="731" y="27"/>
                </a:cubicBezTo>
                <a:cubicBezTo>
                  <a:pt x="856" y="33"/>
                  <a:pt x="870" y="0"/>
                  <a:pt x="918" y="74"/>
                </a:cubicBezTo>
                <a:cubicBezTo>
                  <a:pt x="926" y="114"/>
                  <a:pt x="936" y="142"/>
                  <a:pt x="952" y="181"/>
                </a:cubicBezTo>
                <a:cubicBezTo>
                  <a:pt x="995" y="168"/>
                  <a:pt x="1036" y="152"/>
                  <a:pt x="1079" y="141"/>
                </a:cubicBezTo>
                <a:cubicBezTo>
                  <a:pt x="1189" y="145"/>
                  <a:pt x="1245" y="119"/>
                  <a:pt x="1320" y="168"/>
                </a:cubicBezTo>
                <a:cubicBezTo>
                  <a:pt x="1338" y="196"/>
                  <a:pt x="1341" y="221"/>
                  <a:pt x="1347" y="255"/>
                </a:cubicBezTo>
                <a:cubicBezTo>
                  <a:pt x="1344" y="300"/>
                  <a:pt x="1353" y="392"/>
                  <a:pt x="1313" y="429"/>
                </a:cubicBezTo>
                <a:cubicBezTo>
                  <a:pt x="1295" y="466"/>
                  <a:pt x="1273" y="482"/>
                  <a:pt x="1233" y="490"/>
                </a:cubicBezTo>
                <a:cubicBezTo>
                  <a:pt x="1248" y="513"/>
                  <a:pt x="1253" y="530"/>
                  <a:pt x="1273" y="550"/>
                </a:cubicBezTo>
                <a:cubicBezTo>
                  <a:pt x="1270" y="586"/>
                  <a:pt x="1276" y="625"/>
                  <a:pt x="1260" y="657"/>
                </a:cubicBezTo>
                <a:cubicBezTo>
                  <a:pt x="1249" y="679"/>
                  <a:pt x="1219" y="684"/>
                  <a:pt x="1199" y="691"/>
                </a:cubicBezTo>
                <a:cubicBezTo>
                  <a:pt x="1182" y="697"/>
                  <a:pt x="1169" y="711"/>
                  <a:pt x="1152" y="717"/>
                </a:cubicBezTo>
                <a:cubicBezTo>
                  <a:pt x="1133" y="724"/>
                  <a:pt x="1112" y="726"/>
                  <a:pt x="1092" y="731"/>
                </a:cubicBezTo>
                <a:cubicBezTo>
                  <a:pt x="1011" y="727"/>
                  <a:pt x="930" y="729"/>
                  <a:pt x="851" y="711"/>
                </a:cubicBezTo>
                <a:cubicBezTo>
                  <a:pt x="835" y="694"/>
                  <a:pt x="825" y="687"/>
                  <a:pt x="818" y="664"/>
                </a:cubicBezTo>
                <a:cubicBezTo>
                  <a:pt x="798" y="683"/>
                  <a:pt x="785" y="714"/>
                  <a:pt x="764" y="731"/>
                </a:cubicBezTo>
                <a:cubicBezTo>
                  <a:pt x="756" y="737"/>
                  <a:pt x="745" y="739"/>
                  <a:pt x="737" y="744"/>
                </a:cubicBezTo>
                <a:cubicBezTo>
                  <a:pt x="670" y="786"/>
                  <a:pt x="714" y="771"/>
                  <a:pt x="670" y="784"/>
                </a:cubicBezTo>
                <a:cubicBezTo>
                  <a:pt x="429" y="777"/>
                  <a:pt x="513" y="790"/>
                  <a:pt x="362" y="737"/>
                </a:cubicBezTo>
                <a:cubicBezTo>
                  <a:pt x="354" y="714"/>
                  <a:pt x="343" y="693"/>
                  <a:pt x="335" y="670"/>
                </a:cubicBezTo>
                <a:cubicBezTo>
                  <a:pt x="333" y="657"/>
                  <a:pt x="342" y="632"/>
                  <a:pt x="329" y="630"/>
                </a:cubicBezTo>
                <a:cubicBezTo>
                  <a:pt x="313" y="628"/>
                  <a:pt x="306" y="653"/>
                  <a:pt x="295" y="664"/>
                </a:cubicBezTo>
                <a:cubicBezTo>
                  <a:pt x="285" y="674"/>
                  <a:pt x="268" y="672"/>
                  <a:pt x="255" y="677"/>
                </a:cubicBezTo>
                <a:cubicBezTo>
                  <a:pt x="47" y="668"/>
                  <a:pt x="152" y="677"/>
                  <a:pt x="41" y="644"/>
                </a:cubicBezTo>
                <a:cubicBezTo>
                  <a:pt x="16" y="619"/>
                  <a:pt x="9" y="596"/>
                  <a:pt x="0" y="563"/>
                </a:cubicBezTo>
                <a:cubicBezTo>
                  <a:pt x="2" y="536"/>
                  <a:pt x="0" y="509"/>
                  <a:pt x="7" y="483"/>
                </a:cubicBezTo>
                <a:cubicBezTo>
                  <a:pt x="13" y="462"/>
                  <a:pt x="77" y="447"/>
                  <a:pt x="94" y="443"/>
                </a:cubicBezTo>
                <a:cubicBezTo>
                  <a:pt x="105" y="436"/>
                  <a:pt x="116" y="428"/>
                  <a:pt x="128" y="423"/>
                </a:cubicBezTo>
                <a:cubicBezTo>
                  <a:pt x="137" y="419"/>
                  <a:pt x="149" y="423"/>
                  <a:pt x="155" y="416"/>
                </a:cubicBezTo>
                <a:cubicBezTo>
                  <a:pt x="160" y="409"/>
                  <a:pt x="135" y="378"/>
                  <a:pt x="134" y="376"/>
                </a:cubicBezTo>
                <a:cubicBezTo>
                  <a:pt x="124" y="343"/>
                  <a:pt x="115" y="348"/>
                  <a:pt x="108" y="309"/>
                </a:cubicBezTo>
                <a:cubicBezTo>
                  <a:pt x="110" y="271"/>
                  <a:pt x="108" y="233"/>
                  <a:pt x="114" y="195"/>
                </a:cubicBezTo>
                <a:cubicBezTo>
                  <a:pt x="120" y="156"/>
                  <a:pt x="217" y="154"/>
                  <a:pt x="242" y="141"/>
                </a:cubicBezTo>
                <a:close/>
              </a:path>
            </a:pathLst>
          </a:custGeom>
          <a:noFill/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2" name="Text Box 8">
            <a:extLst>
              <a:ext uri="{FF2B5EF4-FFF2-40B4-BE49-F238E27FC236}">
                <a16:creationId xmlns:a16="http://schemas.microsoft.com/office/drawing/2014/main" id="{C4B67BC8-BBC2-7D0C-328C-8590A6C94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9" y="5373688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heap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41993" name="Text Box 9">
            <a:extLst>
              <a:ext uri="{FF2B5EF4-FFF2-40B4-BE49-F238E27FC236}">
                <a16:creationId xmlns:a16="http://schemas.microsoft.com/office/drawing/2014/main" id="{831CDD08-56C0-30BF-E4ED-4C6CE1738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4" y="3429001"/>
            <a:ext cx="22320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objekat klase Automobil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41994" name="Text Box 10">
            <a:extLst>
              <a:ext uri="{FF2B5EF4-FFF2-40B4-BE49-F238E27FC236}">
                <a16:creationId xmlns:a16="http://schemas.microsoft.com/office/drawing/2014/main" id="{927F7031-8D2E-48A2-C6E9-BC60761A4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5013325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stek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41995" name="Line 12">
            <a:extLst>
              <a:ext uri="{FF2B5EF4-FFF2-40B4-BE49-F238E27FC236}">
                <a16:creationId xmlns:a16="http://schemas.microsoft.com/office/drawing/2014/main" id="{FE411740-C132-1F0D-8E43-4CB1AB3E8A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6" y="4221163"/>
            <a:ext cx="2519363" cy="431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6" name="Rectangle 3">
            <a:extLst>
              <a:ext uri="{FF2B5EF4-FFF2-40B4-BE49-F238E27FC236}">
                <a16:creationId xmlns:a16="http://schemas.microsoft.com/office/drawing/2014/main" id="{94800850-CE98-4113-E5E0-9D65A7FC7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2488" y="3789364"/>
            <a:ext cx="647700" cy="35877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sr-Latn-RS" sz="1400"/>
              <a:t>false</a:t>
            </a:r>
            <a:endParaRPr lang="en-US" altLang="sr-Latn-RS" sz="1800"/>
          </a:p>
        </p:txBody>
      </p:sp>
      <p:sp>
        <p:nvSpPr>
          <p:cNvPr id="41997" name="Text Box 8">
            <a:extLst>
              <a:ext uri="{FF2B5EF4-FFF2-40B4-BE49-F238E27FC236}">
                <a16:creationId xmlns:a16="http://schemas.microsoft.com/office/drawing/2014/main" id="{22ECF299-EDA6-B93F-F08E-E19AF040B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3925" y="3500439"/>
            <a:ext cx="6477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radi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41998" name="Text Box 22">
            <a:extLst>
              <a:ext uri="{FF2B5EF4-FFF2-40B4-BE49-F238E27FC236}">
                <a16:creationId xmlns:a16="http://schemas.microsoft.com/office/drawing/2014/main" id="{D9C138A1-7837-13C4-97B8-F8A40CB1C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950" y="5972176"/>
            <a:ext cx="7848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Automobil x = new Automobil();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x.</a:t>
            </a:r>
            <a:r>
              <a:rPr lang="sr-Latn-CS" altLang="sr-Latn-RS" sz="2000" b="1">
                <a:latin typeface="Courier New" panose="02070309020205020404" pitchFamily="49" charset="0"/>
              </a:rPr>
              <a:t>radi = false</a:t>
            </a:r>
            <a:r>
              <a:rPr lang="en-US" altLang="sr-Latn-RS" sz="2000" b="1">
                <a:latin typeface="Courier New" panose="02070309020205020404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3E22DC63-7C0D-C4E5-23F6-4C08F02DFA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Referenca na objekat kao parametar metode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D24361F4-9E7E-6605-BFB0-4D3334D48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4508501"/>
            <a:ext cx="647700" cy="35877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sr-Latn-RS" sz="1400"/>
              <a:t>x</a:t>
            </a:r>
            <a:endParaRPr lang="en-US" altLang="sr-Latn-RS" sz="1400"/>
          </a:p>
        </p:txBody>
      </p:sp>
      <p:sp>
        <p:nvSpPr>
          <p:cNvPr id="43012" name="Line 4">
            <a:extLst>
              <a:ext uri="{FF2B5EF4-FFF2-40B4-BE49-F238E27FC236}">
                <a16:creationId xmlns:a16="http://schemas.microsoft.com/office/drawing/2014/main" id="{F30B3B1A-B9F5-374A-23D9-D4680B6444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003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3" name="Line 5">
            <a:extLst>
              <a:ext uri="{FF2B5EF4-FFF2-40B4-BE49-F238E27FC236}">
                <a16:creationId xmlns:a16="http://schemas.microsoft.com/office/drawing/2014/main" id="{69693B88-8CE3-B452-0DB8-CFB2CF70EF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4" name="AutoShape 6">
            <a:extLst>
              <a:ext uri="{FF2B5EF4-FFF2-40B4-BE49-F238E27FC236}">
                <a16:creationId xmlns:a16="http://schemas.microsoft.com/office/drawing/2014/main" id="{5052E12E-FDAA-4A13-9212-E6DB03A3B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6" y="2276475"/>
            <a:ext cx="4537075" cy="2952750"/>
          </a:xfrm>
          <a:prstGeom prst="roundRect">
            <a:avLst>
              <a:gd name="adj" fmla="val 16667"/>
            </a:avLst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43015" name="Freeform 7">
            <a:extLst>
              <a:ext uri="{FF2B5EF4-FFF2-40B4-BE49-F238E27FC236}">
                <a16:creationId xmlns:a16="http://schemas.microsoft.com/office/drawing/2014/main" id="{775039AF-433D-7598-562F-523428EE6D06}"/>
              </a:ext>
            </a:extLst>
          </p:cNvPr>
          <p:cNvSpPr>
            <a:spLocks/>
          </p:cNvSpPr>
          <p:nvPr/>
        </p:nvSpPr>
        <p:spPr bwMode="auto">
          <a:xfrm>
            <a:off x="6148389" y="2965451"/>
            <a:ext cx="3260725" cy="1831975"/>
          </a:xfrm>
          <a:custGeom>
            <a:avLst/>
            <a:gdLst>
              <a:gd name="T0" fmla="*/ 2147483646 w 1353"/>
              <a:gd name="T1" fmla="*/ 2147483646 h 790"/>
              <a:gd name="T2" fmla="*/ 2147483646 w 1353"/>
              <a:gd name="T3" fmla="*/ 2147483646 h 790"/>
              <a:gd name="T4" fmla="*/ 2147483646 w 1353"/>
              <a:gd name="T5" fmla="*/ 2147483646 h 790"/>
              <a:gd name="T6" fmla="*/ 2147483646 w 1353"/>
              <a:gd name="T7" fmla="*/ 2147483646 h 790"/>
              <a:gd name="T8" fmla="*/ 2147483646 w 1353"/>
              <a:gd name="T9" fmla="*/ 2147483646 h 790"/>
              <a:gd name="T10" fmla="*/ 2147483646 w 1353"/>
              <a:gd name="T11" fmla="*/ 2147483646 h 790"/>
              <a:gd name="T12" fmla="*/ 2147483646 w 1353"/>
              <a:gd name="T13" fmla="*/ 2147483646 h 790"/>
              <a:gd name="T14" fmla="*/ 2147483646 w 1353"/>
              <a:gd name="T15" fmla="*/ 2147483646 h 790"/>
              <a:gd name="T16" fmla="*/ 2147483646 w 1353"/>
              <a:gd name="T17" fmla="*/ 2147483646 h 790"/>
              <a:gd name="T18" fmla="*/ 2147483646 w 1353"/>
              <a:gd name="T19" fmla="*/ 2147483646 h 790"/>
              <a:gd name="T20" fmla="*/ 2147483646 w 1353"/>
              <a:gd name="T21" fmla="*/ 2147483646 h 790"/>
              <a:gd name="T22" fmla="*/ 2147483646 w 1353"/>
              <a:gd name="T23" fmla="*/ 2147483646 h 790"/>
              <a:gd name="T24" fmla="*/ 2147483646 w 1353"/>
              <a:gd name="T25" fmla="*/ 2147483646 h 790"/>
              <a:gd name="T26" fmla="*/ 2147483646 w 1353"/>
              <a:gd name="T27" fmla="*/ 2147483646 h 790"/>
              <a:gd name="T28" fmla="*/ 2147483646 w 1353"/>
              <a:gd name="T29" fmla="*/ 2147483646 h 790"/>
              <a:gd name="T30" fmla="*/ 2147483646 w 1353"/>
              <a:gd name="T31" fmla="*/ 2147483646 h 790"/>
              <a:gd name="T32" fmla="*/ 2147483646 w 1353"/>
              <a:gd name="T33" fmla="*/ 2147483646 h 790"/>
              <a:gd name="T34" fmla="*/ 2147483646 w 1353"/>
              <a:gd name="T35" fmla="*/ 2147483646 h 790"/>
              <a:gd name="T36" fmla="*/ 2147483646 w 1353"/>
              <a:gd name="T37" fmla="*/ 2147483646 h 790"/>
              <a:gd name="T38" fmla="*/ 2147483646 w 1353"/>
              <a:gd name="T39" fmla="*/ 2147483646 h 790"/>
              <a:gd name="T40" fmla="*/ 2147483646 w 1353"/>
              <a:gd name="T41" fmla="*/ 2147483646 h 790"/>
              <a:gd name="T42" fmla="*/ 2147483646 w 1353"/>
              <a:gd name="T43" fmla="*/ 2147483646 h 790"/>
              <a:gd name="T44" fmla="*/ 2147483646 w 1353"/>
              <a:gd name="T45" fmla="*/ 2147483646 h 790"/>
              <a:gd name="T46" fmla="*/ 2147483646 w 1353"/>
              <a:gd name="T47" fmla="*/ 2147483646 h 790"/>
              <a:gd name="T48" fmla="*/ 2147483646 w 1353"/>
              <a:gd name="T49" fmla="*/ 2147483646 h 790"/>
              <a:gd name="T50" fmla="*/ 2147483646 w 1353"/>
              <a:gd name="T51" fmla="*/ 2147483646 h 790"/>
              <a:gd name="T52" fmla="*/ 2147483646 w 1353"/>
              <a:gd name="T53" fmla="*/ 2147483646 h 790"/>
              <a:gd name="T54" fmla="*/ 2147483646 w 1353"/>
              <a:gd name="T55" fmla="*/ 2147483646 h 790"/>
              <a:gd name="T56" fmla="*/ 2147483646 w 1353"/>
              <a:gd name="T57" fmla="*/ 2147483646 h 790"/>
              <a:gd name="T58" fmla="*/ 0 w 1353"/>
              <a:gd name="T59" fmla="*/ 2147483646 h 790"/>
              <a:gd name="T60" fmla="*/ 2147483646 w 1353"/>
              <a:gd name="T61" fmla="*/ 2147483646 h 790"/>
              <a:gd name="T62" fmla="*/ 2147483646 w 1353"/>
              <a:gd name="T63" fmla="*/ 2147483646 h 790"/>
              <a:gd name="T64" fmla="*/ 2147483646 w 1353"/>
              <a:gd name="T65" fmla="*/ 2147483646 h 790"/>
              <a:gd name="T66" fmla="*/ 2147483646 w 1353"/>
              <a:gd name="T67" fmla="*/ 2147483646 h 790"/>
              <a:gd name="T68" fmla="*/ 2147483646 w 1353"/>
              <a:gd name="T69" fmla="*/ 2147483646 h 790"/>
              <a:gd name="T70" fmla="*/ 2147483646 w 1353"/>
              <a:gd name="T71" fmla="*/ 2147483646 h 790"/>
              <a:gd name="T72" fmla="*/ 2147483646 w 1353"/>
              <a:gd name="T73" fmla="*/ 2147483646 h 790"/>
              <a:gd name="T74" fmla="*/ 2147483646 w 1353"/>
              <a:gd name="T75" fmla="*/ 2147483646 h 790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1353"/>
              <a:gd name="T115" fmla="*/ 0 h 790"/>
              <a:gd name="T116" fmla="*/ 1353 w 1353"/>
              <a:gd name="T117" fmla="*/ 790 h 790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1353" h="790">
                <a:moveTo>
                  <a:pt x="242" y="141"/>
                </a:moveTo>
                <a:cubicBezTo>
                  <a:pt x="255" y="96"/>
                  <a:pt x="306" y="65"/>
                  <a:pt x="349" y="54"/>
                </a:cubicBezTo>
                <a:cubicBezTo>
                  <a:pt x="444" y="63"/>
                  <a:pt x="407" y="49"/>
                  <a:pt x="443" y="101"/>
                </a:cubicBezTo>
                <a:cubicBezTo>
                  <a:pt x="445" y="114"/>
                  <a:pt x="436" y="139"/>
                  <a:pt x="449" y="141"/>
                </a:cubicBezTo>
                <a:cubicBezTo>
                  <a:pt x="473" y="145"/>
                  <a:pt x="482" y="105"/>
                  <a:pt x="503" y="94"/>
                </a:cubicBezTo>
                <a:cubicBezTo>
                  <a:pt x="572" y="59"/>
                  <a:pt x="655" y="38"/>
                  <a:pt x="731" y="27"/>
                </a:cubicBezTo>
                <a:cubicBezTo>
                  <a:pt x="856" y="33"/>
                  <a:pt x="870" y="0"/>
                  <a:pt x="918" y="74"/>
                </a:cubicBezTo>
                <a:cubicBezTo>
                  <a:pt x="926" y="114"/>
                  <a:pt x="936" y="142"/>
                  <a:pt x="952" y="181"/>
                </a:cubicBezTo>
                <a:cubicBezTo>
                  <a:pt x="995" y="168"/>
                  <a:pt x="1036" y="152"/>
                  <a:pt x="1079" y="141"/>
                </a:cubicBezTo>
                <a:cubicBezTo>
                  <a:pt x="1189" y="145"/>
                  <a:pt x="1245" y="119"/>
                  <a:pt x="1320" y="168"/>
                </a:cubicBezTo>
                <a:cubicBezTo>
                  <a:pt x="1338" y="196"/>
                  <a:pt x="1341" y="221"/>
                  <a:pt x="1347" y="255"/>
                </a:cubicBezTo>
                <a:cubicBezTo>
                  <a:pt x="1344" y="300"/>
                  <a:pt x="1353" y="392"/>
                  <a:pt x="1313" y="429"/>
                </a:cubicBezTo>
                <a:cubicBezTo>
                  <a:pt x="1295" y="466"/>
                  <a:pt x="1273" y="482"/>
                  <a:pt x="1233" y="490"/>
                </a:cubicBezTo>
                <a:cubicBezTo>
                  <a:pt x="1248" y="513"/>
                  <a:pt x="1253" y="530"/>
                  <a:pt x="1273" y="550"/>
                </a:cubicBezTo>
                <a:cubicBezTo>
                  <a:pt x="1270" y="586"/>
                  <a:pt x="1276" y="625"/>
                  <a:pt x="1260" y="657"/>
                </a:cubicBezTo>
                <a:cubicBezTo>
                  <a:pt x="1249" y="679"/>
                  <a:pt x="1219" y="684"/>
                  <a:pt x="1199" y="691"/>
                </a:cubicBezTo>
                <a:cubicBezTo>
                  <a:pt x="1182" y="697"/>
                  <a:pt x="1169" y="711"/>
                  <a:pt x="1152" y="717"/>
                </a:cubicBezTo>
                <a:cubicBezTo>
                  <a:pt x="1133" y="724"/>
                  <a:pt x="1112" y="726"/>
                  <a:pt x="1092" y="731"/>
                </a:cubicBezTo>
                <a:cubicBezTo>
                  <a:pt x="1011" y="727"/>
                  <a:pt x="930" y="729"/>
                  <a:pt x="851" y="711"/>
                </a:cubicBezTo>
                <a:cubicBezTo>
                  <a:pt x="835" y="694"/>
                  <a:pt x="825" y="687"/>
                  <a:pt x="818" y="664"/>
                </a:cubicBezTo>
                <a:cubicBezTo>
                  <a:pt x="798" y="683"/>
                  <a:pt x="785" y="714"/>
                  <a:pt x="764" y="731"/>
                </a:cubicBezTo>
                <a:cubicBezTo>
                  <a:pt x="756" y="737"/>
                  <a:pt x="745" y="739"/>
                  <a:pt x="737" y="744"/>
                </a:cubicBezTo>
                <a:cubicBezTo>
                  <a:pt x="670" y="786"/>
                  <a:pt x="714" y="771"/>
                  <a:pt x="670" y="784"/>
                </a:cubicBezTo>
                <a:cubicBezTo>
                  <a:pt x="429" y="777"/>
                  <a:pt x="513" y="790"/>
                  <a:pt x="362" y="737"/>
                </a:cubicBezTo>
                <a:cubicBezTo>
                  <a:pt x="354" y="714"/>
                  <a:pt x="343" y="693"/>
                  <a:pt x="335" y="670"/>
                </a:cubicBezTo>
                <a:cubicBezTo>
                  <a:pt x="333" y="657"/>
                  <a:pt x="342" y="632"/>
                  <a:pt x="329" y="630"/>
                </a:cubicBezTo>
                <a:cubicBezTo>
                  <a:pt x="313" y="628"/>
                  <a:pt x="306" y="653"/>
                  <a:pt x="295" y="664"/>
                </a:cubicBezTo>
                <a:cubicBezTo>
                  <a:pt x="285" y="674"/>
                  <a:pt x="268" y="672"/>
                  <a:pt x="255" y="677"/>
                </a:cubicBezTo>
                <a:cubicBezTo>
                  <a:pt x="47" y="668"/>
                  <a:pt x="152" y="677"/>
                  <a:pt x="41" y="644"/>
                </a:cubicBezTo>
                <a:cubicBezTo>
                  <a:pt x="16" y="619"/>
                  <a:pt x="9" y="596"/>
                  <a:pt x="0" y="563"/>
                </a:cubicBezTo>
                <a:cubicBezTo>
                  <a:pt x="2" y="536"/>
                  <a:pt x="0" y="509"/>
                  <a:pt x="7" y="483"/>
                </a:cubicBezTo>
                <a:cubicBezTo>
                  <a:pt x="13" y="462"/>
                  <a:pt x="77" y="447"/>
                  <a:pt x="94" y="443"/>
                </a:cubicBezTo>
                <a:cubicBezTo>
                  <a:pt x="105" y="436"/>
                  <a:pt x="116" y="428"/>
                  <a:pt x="128" y="423"/>
                </a:cubicBezTo>
                <a:cubicBezTo>
                  <a:pt x="137" y="419"/>
                  <a:pt x="149" y="423"/>
                  <a:pt x="155" y="416"/>
                </a:cubicBezTo>
                <a:cubicBezTo>
                  <a:pt x="160" y="409"/>
                  <a:pt x="135" y="378"/>
                  <a:pt x="134" y="376"/>
                </a:cubicBezTo>
                <a:cubicBezTo>
                  <a:pt x="124" y="343"/>
                  <a:pt x="115" y="348"/>
                  <a:pt x="108" y="309"/>
                </a:cubicBezTo>
                <a:cubicBezTo>
                  <a:pt x="110" y="271"/>
                  <a:pt x="108" y="233"/>
                  <a:pt x="114" y="195"/>
                </a:cubicBezTo>
                <a:cubicBezTo>
                  <a:pt x="120" y="156"/>
                  <a:pt x="217" y="154"/>
                  <a:pt x="242" y="141"/>
                </a:cubicBezTo>
                <a:close/>
              </a:path>
            </a:pathLst>
          </a:custGeom>
          <a:noFill/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6" name="Text Box 8">
            <a:extLst>
              <a:ext uri="{FF2B5EF4-FFF2-40B4-BE49-F238E27FC236}">
                <a16:creationId xmlns:a16="http://schemas.microsoft.com/office/drawing/2014/main" id="{8486188C-C9E7-8AA8-57E1-D5DFD74E67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9" y="5373688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heap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43017" name="Text Box 9">
            <a:extLst>
              <a:ext uri="{FF2B5EF4-FFF2-40B4-BE49-F238E27FC236}">
                <a16:creationId xmlns:a16="http://schemas.microsoft.com/office/drawing/2014/main" id="{542F8769-140F-DD81-61E1-371ACA2D4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4" y="3429001"/>
            <a:ext cx="22320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objekat klase Automobil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43018" name="Text Box 10">
            <a:extLst>
              <a:ext uri="{FF2B5EF4-FFF2-40B4-BE49-F238E27FC236}">
                <a16:creationId xmlns:a16="http://schemas.microsoft.com/office/drawing/2014/main" id="{7A6CA7B2-EC81-D041-39EA-DD327EDEF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5013325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stek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43019" name="Line 12">
            <a:extLst>
              <a:ext uri="{FF2B5EF4-FFF2-40B4-BE49-F238E27FC236}">
                <a16:creationId xmlns:a16="http://schemas.microsoft.com/office/drawing/2014/main" id="{AB0FC005-063F-FF3D-8BF2-C32F44A651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6" y="4221163"/>
            <a:ext cx="2519363" cy="431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0" name="Rectangle 3">
            <a:extLst>
              <a:ext uri="{FF2B5EF4-FFF2-40B4-BE49-F238E27FC236}">
                <a16:creationId xmlns:a16="http://schemas.microsoft.com/office/drawing/2014/main" id="{C6D3C4BB-C2D9-3A5A-949E-DF4424086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4149726"/>
            <a:ext cx="647700" cy="35877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sr-Latn-RS" sz="1400"/>
              <a:t>a</a:t>
            </a:r>
            <a:endParaRPr lang="en-US" altLang="sr-Latn-RS" sz="1800"/>
          </a:p>
        </p:txBody>
      </p:sp>
      <p:sp>
        <p:nvSpPr>
          <p:cNvPr id="43021" name="Line 12">
            <a:extLst>
              <a:ext uri="{FF2B5EF4-FFF2-40B4-BE49-F238E27FC236}">
                <a16:creationId xmlns:a16="http://schemas.microsoft.com/office/drawing/2014/main" id="{45CC44D0-684C-35C3-9503-54B4ECCF79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6" y="4076701"/>
            <a:ext cx="2519363" cy="2889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2" name="Rectangle 3">
            <a:extLst>
              <a:ext uri="{FF2B5EF4-FFF2-40B4-BE49-F238E27FC236}">
                <a16:creationId xmlns:a16="http://schemas.microsoft.com/office/drawing/2014/main" id="{776EE9A5-EFAB-893A-D6FC-CABEF240A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2488" y="3789364"/>
            <a:ext cx="647700" cy="35877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sr-Latn-RS" sz="1400"/>
              <a:t>true</a:t>
            </a:r>
            <a:endParaRPr lang="en-US" altLang="sr-Latn-RS" sz="1800"/>
          </a:p>
        </p:txBody>
      </p:sp>
      <p:sp>
        <p:nvSpPr>
          <p:cNvPr id="43023" name="Text Box 8">
            <a:extLst>
              <a:ext uri="{FF2B5EF4-FFF2-40B4-BE49-F238E27FC236}">
                <a16:creationId xmlns:a16="http://schemas.microsoft.com/office/drawing/2014/main" id="{C041C5E3-1957-6C9D-4B2F-53AB81D4E7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3925" y="3500439"/>
            <a:ext cx="6477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radi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43024" name="Text Box 22">
            <a:extLst>
              <a:ext uri="{FF2B5EF4-FFF2-40B4-BE49-F238E27FC236}">
                <a16:creationId xmlns:a16="http://schemas.microsoft.com/office/drawing/2014/main" id="{22441B4B-454F-313D-635F-C5261850E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300664"/>
            <a:ext cx="78486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test(x);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void test(Automobil a) </a:t>
            </a:r>
            <a:r>
              <a:rPr lang="en-US" altLang="sr-Latn-RS" sz="16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a.</a:t>
            </a:r>
            <a:r>
              <a:rPr lang="sr-Latn-CS" altLang="sr-Latn-RS" sz="1600" b="1">
                <a:latin typeface="Courier New" panose="02070309020205020404" pitchFamily="49" charset="0"/>
              </a:rPr>
              <a:t>radi = true</a:t>
            </a:r>
            <a:r>
              <a:rPr lang="en-US" altLang="sr-Latn-RS" sz="16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462FB61B-8F2E-F746-8531-B75F1AC20F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Method overloading</a:t>
            </a:r>
            <a:endParaRPr lang="en-US" altLang="sr-Latn-R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0DDEA5B7-5761-3D34-9F5C-8CB067C333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U klasi može da postoji više metoda sa istim imenom</a:t>
            </a:r>
          </a:p>
          <a:p>
            <a:pPr eaLnBrk="1" hangingPunct="1"/>
            <a:r>
              <a:rPr lang="sr-Latn-CS" altLang="sr-Latn-RS"/>
              <a:t>Razlikuju se po parametrima</a:t>
            </a:r>
          </a:p>
          <a:p>
            <a:pPr eaLnBrk="1" hangingPunct="1"/>
            <a:r>
              <a:rPr lang="sr-Latn-CS" altLang="sr-Latn-RS"/>
              <a:t>Metode se nikada ne razlikuju po povratnoj vrednosti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CCB587E8-707F-7091-E422-C1D137E7DA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Method overloading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49B9D894-2225-4E35-846D-AED8F95CDD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class A {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int metoda() { ... }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int metoda(int i) { ... }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int metoda(String s) { ... }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/>
            <a:r>
              <a:rPr lang="sr-Latn-CS" altLang="sr-Latn-RS" b="1"/>
              <a:t>Metode se nikada ne razlikuju po povratnoj vrednosti!</a:t>
            </a:r>
            <a:endParaRPr lang="en-US" altLang="sr-Latn-R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1D3BF4C5-8004-F0F9-3DBB-F734E485B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sr-Latn-RS" altLang="sr-Latn-RS"/>
              <a:t> literal</a:t>
            </a:r>
            <a:endParaRPr lang="en-US" altLang="sr-Latn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34D40-B16A-6361-E68B-39F03FC60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pl-PL"/>
              <a:t>Ako želimo da inicijalizujemo referencu tako da ona ne ukazuje ni na jedan </a:t>
            </a:r>
            <a:r>
              <a:rPr lang="en-US"/>
              <a:t>objekat, onda takvoj promenljivoj dodeljujemo 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null</a:t>
            </a:r>
            <a:r>
              <a:rPr lang="en-US"/>
              <a:t> vrednost, odn. 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null</a:t>
            </a:r>
            <a:r>
              <a:rPr lang="sr-Latn-RS"/>
              <a:t> </a:t>
            </a:r>
            <a:r>
              <a:rPr lang="en-US"/>
              <a:t>literal</a:t>
            </a:r>
            <a:r>
              <a:rPr lang="sr-Latn-RS"/>
              <a:t>:</a:t>
            </a:r>
          </a:p>
          <a:p>
            <a:pPr marL="0" indent="0">
              <a:buNone/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Automobil a = null;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446BADDE-3E4C-9827-8ED3-B4F096DFC2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Operator dodele vrednosti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11AA9EC2-B3ED-2187-ABD0-2AA76CB15D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Automobil a = new Automobil();</a:t>
            </a:r>
          </a:p>
          <a:p>
            <a:pPr eaLnBrk="1" hangingPunct="1"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Automobil b = new Automobil();</a:t>
            </a:r>
          </a:p>
          <a:p>
            <a:pPr eaLnBrk="1" hangingPunct="1"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b = a;</a:t>
            </a:r>
          </a:p>
          <a:p>
            <a:pPr eaLnBrk="1" hangingPunct="1"/>
            <a:endParaRPr lang="en-US" altLang="sr-Latn-RS"/>
          </a:p>
        </p:txBody>
      </p:sp>
      <p:sp>
        <p:nvSpPr>
          <p:cNvPr id="47108" name="AutoShape 4">
            <a:extLst>
              <a:ext uri="{FF2B5EF4-FFF2-40B4-BE49-F238E27FC236}">
                <a16:creationId xmlns:a16="http://schemas.microsoft.com/office/drawing/2014/main" id="{8F48D452-7BCA-A0A7-8A2A-1E451E5EB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8189" y="3315494"/>
            <a:ext cx="2667000" cy="685800"/>
          </a:xfrm>
          <a:prstGeom prst="wedgeRoundRectCallout">
            <a:avLst>
              <a:gd name="adj1" fmla="val -65477"/>
              <a:gd name="adj2" fmla="val -95139"/>
              <a:gd name="adj3" fmla="val 16667"/>
            </a:avLst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r-Latn-CS" altLang="sr-Latn-RS" sz="1800">
                <a:latin typeface="Tahoma" panose="020B0604030504040204" pitchFamily="34" charset="0"/>
              </a:rPr>
              <a:t>Vrši se kopiranje vrednosti reference!</a:t>
            </a:r>
            <a:endParaRPr lang="en-GB" altLang="sr-Latn-RS" sz="18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/>
      <p:bldP spid="4710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64EF359D-7758-EBB1-6E1B-A781B822B6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Reference na objekte</a:t>
            </a:r>
            <a:endParaRPr lang="en-US" altLang="sr-Latn-R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E1B2C1E5-94B5-7B40-C72F-F7DF4F0BF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4508501"/>
            <a:ext cx="647700" cy="35877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48132" name="Line 4">
            <a:extLst>
              <a:ext uri="{FF2B5EF4-FFF2-40B4-BE49-F238E27FC236}">
                <a16:creationId xmlns:a16="http://schemas.microsoft.com/office/drawing/2014/main" id="{552E7F4C-3717-7D25-241B-D6E3E1FFC7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003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3" name="Line 5">
            <a:extLst>
              <a:ext uri="{FF2B5EF4-FFF2-40B4-BE49-F238E27FC236}">
                <a16:creationId xmlns:a16="http://schemas.microsoft.com/office/drawing/2014/main" id="{BC642CE4-99E9-EC4A-9BFF-A4357EBCDC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4" name="AutoShape 6">
            <a:extLst>
              <a:ext uri="{FF2B5EF4-FFF2-40B4-BE49-F238E27FC236}">
                <a16:creationId xmlns:a16="http://schemas.microsoft.com/office/drawing/2014/main" id="{EDE1A7A4-2B1A-4B30-9359-D661464E5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6" y="2276475"/>
            <a:ext cx="4537075" cy="2952750"/>
          </a:xfrm>
          <a:prstGeom prst="roundRect">
            <a:avLst>
              <a:gd name="adj" fmla="val 16667"/>
            </a:avLst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48135" name="Freeform 7">
            <a:extLst>
              <a:ext uri="{FF2B5EF4-FFF2-40B4-BE49-F238E27FC236}">
                <a16:creationId xmlns:a16="http://schemas.microsoft.com/office/drawing/2014/main" id="{2A790C74-0589-A800-C611-615B99DBC024}"/>
              </a:ext>
            </a:extLst>
          </p:cNvPr>
          <p:cNvSpPr>
            <a:spLocks/>
          </p:cNvSpPr>
          <p:nvPr/>
        </p:nvSpPr>
        <p:spPr bwMode="auto">
          <a:xfrm>
            <a:off x="5880100" y="2420938"/>
            <a:ext cx="1963738" cy="1255712"/>
          </a:xfrm>
          <a:custGeom>
            <a:avLst/>
            <a:gdLst>
              <a:gd name="T0" fmla="*/ 2147483646 w 1353"/>
              <a:gd name="T1" fmla="*/ 2147483646 h 790"/>
              <a:gd name="T2" fmla="*/ 2147483646 w 1353"/>
              <a:gd name="T3" fmla="*/ 2147483646 h 790"/>
              <a:gd name="T4" fmla="*/ 2147483646 w 1353"/>
              <a:gd name="T5" fmla="*/ 2147483646 h 790"/>
              <a:gd name="T6" fmla="*/ 2147483646 w 1353"/>
              <a:gd name="T7" fmla="*/ 2147483646 h 790"/>
              <a:gd name="T8" fmla="*/ 2147483646 w 1353"/>
              <a:gd name="T9" fmla="*/ 2147483646 h 790"/>
              <a:gd name="T10" fmla="*/ 2147483646 w 1353"/>
              <a:gd name="T11" fmla="*/ 2147483646 h 790"/>
              <a:gd name="T12" fmla="*/ 2147483646 w 1353"/>
              <a:gd name="T13" fmla="*/ 2147483646 h 790"/>
              <a:gd name="T14" fmla="*/ 2147483646 w 1353"/>
              <a:gd name="T15" fmla="*/ 2147483646 h 790"/>
              <a:gd name="T16" fmla="*/ 2147483646 w 1353"/>
              <a:gd name="T17" fmla="*/ 2147483646 h 790"/>
              <a:gd name="T18" fmla="*/ 2147483646 w 1353"/>
              <a:gd name="T19" fmla="*/ 2147483646 h 790"/>
              <a:gd name="T20" fmla="*/ 2147483646 w 1353"/>
              <a:gd name="T21" fmla="*/ 2147483646 h 790"/>
              <a:gd name="T22" fmla="*/ 2147483646 w 1353"/>
              <a:gd name="T23" fmla="*/ 2147483646 h 790"/>
              <a:gd name="T24" fmla="*/ 2147483646 w 1353"/>
              <a:gd name="T25" fmla="*/ 2147483646 h 790"/>
              <a:gd name="T26" fmla="*/ 2147483646 w 1353"/>
              <a:gd name="T27" fmla="*/ 2147483646 h 790"/>
              <a:gd name="T28" fmla="*/ 2147483646 w 1353"/>
              <a:gd name="T29" fmla="*/ 2147483646 h 790"/>
              <a:gd name="T30" fmla="*/ 2147483646 w 1353"/>
              <a:gd name="T31" fmla="*/ 2147483646 h 790"/>
              <a:gd name="T32" fmla="*/ 2147483646 w 1353"/>
              <a:gd name="T33" fmla="*/ 2147483646 h 790"/>
              <a:gd name="T34" fmla="*/ 2147483646 w 1353"/>
              <a:gd name="T35" fmla="*/ 2147483646 h 790"/>
              <a:gd name="T36" fmla="*/ 2147483646 w 1353"/>
              <a:gd name="T37" fmla="*/ 2147483646 h 790"/>
              <a:gd name="T38" fmla="*/ 2147483646 w 1353"/>
              <a:gd name="T39" fmla="*/ 2147483646 h 790"/>
              <a:gd name="T40" fmla="*/ 2147483646 w 1353"/>
              <a:gd name="T41" fmla="*/ 2147483646 h 790"/>
              <a:gd name="T42" fmla="*/ 2147483646 w 1353"/>
              <a:gd name="T43" fmla="*/ 2147483646 h 790"/>
              <a:gd name="T44" fmla="*/ 2147483646 w 1353"/>
              <a:gd name="T45" fmla="*/ 2147483646 h 790"/>
              <a:gd name="T46" fmla="*/ 2147483646 w 1353"/>
              <a:gd name="T47" fmla="*/ 2147483646 h 790"/>
              <a:gd name="T48" fmla="*/ 2147483646 w 1353"/>
              <a:gd name="T49" fmla="*/ 2147483646 h 790"/>
              <a:gd name="T50" fmla="*/ 2147483646 w 1353"/>
              <a:gd name="T51" fmla="*/ 2147483646 h 790"/>
              <a:gd name="T52" fmla="*/ 2147483646 w 1353"/>
              <a:gd name="T53" fmla="*/ 2147483646 h 790"/>
              <a:gd name="T54" fmla="*/ 2147483646 w 1353"/>
              <a:gd name="T55" fmla="*/ 2147483646 h 790"/>
              <a:gd name="T56" fmla="*/ 2147483646 w 1353"/>
              <a:gd name="T57" fmla="*/ 2147483646 h 790"/>
              <a:gd name="T58" fmla="*/ 0 w 1353"/>
              <a:gd name="T59" fmla="*/ 2147483646 h 790"/>
              <a:gd name="T60" fmla="*/ 2147483646 w 1353"/>
              <a:gd name="T61" fmla="*/ 2147483646 h 790"/>
              <a:gd name="T62" fmla="*/ 2147483646 w 1353"/>
              <a:gd name="T63" fmla="*/ 2147483646 h 790"/>
              <a:gd name="T64" fmla="*/ 2147483646 w 1353"/>
              <a:gd name="T65" fmla="*/ 2147483646 h 790"/>
              <a:gd name="T66" fmla="*/ 2147483646 w 1353"/>
              <a:gd name="T67" fmla="*/ 2147483646 h 790"/>
              <a:gd name="T68" fmla="*/ 2147483646 w 1353"/>
              <a:gd name="T69" fmla="*/ 2147483646 h 790"/>
              <a:gd name="T70" fmla="*/ 2147483646 w 1353"/>
              <a:gd name="T71" fmla="*/ 2147483646 h 790"/>
              <a:gd name="T72" fmla="*/ 2147483646 w 1353"/>
              <a:gd name="T73" fmla="*/ 2147483646 h 790"/>
              <a:gd name="T74" fmla="*/ 2147483646 w 1353"/>
              <a:gd name="T75" fmla="*/ 2147483646 h 790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1353"/>
              <a:gd name="T115" fmla="*/ 0 h 790"/>
              <a:gd name="T116" fmla="*/ 1353 w 1353"/>
              <a:gd name="T117" fmla="*/ 790 h 790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1353" h="790">
                <a:moveTo>
                  <a:pt x="242" y="141"/>
                </a:moveTo>
                <a:cubicBezTo>
                  <a:pt x="255" y="96"/>
                  <a:pt x="306" y="65"/>
                  <a:pt x="349" y="54"/>
                </a:cubicBezTo>
                <a:cubicBezTo>
                  <a:pt x="444" y="63"/>
                  <a:pt x="407" y="49"/>
                  <a:pt x="443" y="101"/>
                </a:cubicBezTo>
                <a:cubicBezTo>
                  <a:pt x="445" y="114"/>
                  <a:pt x="436" y="139"/>
                  <a:pt x="449" y="141"/>
                </a:cubicBezTo>
                <a:cubicBezTo>
                  <a:pt x="473" y="145"/>
                  <a:pt x="482" y="105"/>
                  <a:pt x="503" y="94"/>
                </a:cubicBezTo>
                <a:cubicBezTo>
                  <a:pt x="572" y="59"/>
                  <a:pt x="655" y="38"/>
                  <a:pt x="731" y="27"/>
                </a:cubicBezTo>
                <a:cubicBezTo>
                  <a:pt x="856" y="33"/>
                  <a:pt x="870" y="0"/>
                  <a:pt x="918" y="74"/>
                </a:cubicBezTo>
                <a:cubicBezTo>
                  <a:pt x="926" y="114"/>
                  <a:pt x="936" y="142"/>
                  <a:pt x="952" y="181"/>
                </a:cubicBezTo>
                <a:cubicBezTo>
                  <a:pt x="995" y="168"/>
                  <a:pt x="1036" y="152"/>
                  <a:pt x="1079" y="141"/>
                </a:cubicBezTo>
                <a:cubicBezTo>
                  <a:pt x="1189" y="145"/>
                  <a:pt x="1245" y="119"/>
                  <a:pt x="1320" y="168"/>
                </a:cubicBezTo>
                <a:cubicBezTo>
                  <a:pt x="1338" y="196"/>
                  <a:pt x="1341" y="221"/>
                  <a:pt x="1347" y="255"/>
                </a:cubicBezTo>
                <a:cubicBezTo>
                  <a:pt x="1344" y="300"/>
                  <a:pt x="1353" y="392"/>
                  <a:pt x="1313" y="429"/>
                </a:cubicBezTo>
                <a:cubicBezTo>
                  <a:pt x="1295" y="466"/>
                  <a:pt x="1273" y="482"/>
                  <a:pt x="1233" y="490"/>
                </a:cubicBezTo>
                <a:cubicBezTo>
                  <a:pt x="1248" y="513"/>
                  <a:pt x="1253" y="530"/>
                  <a:pt x="1273" y="550"/>
                </a:cubicBezTo>
                <a:cubicBezTo>
                  <a:pt x="1270" y="586"/>
                  <a:pt x="1276" y="625"/>
                  <a:pt x="1260" y="657"/>
                </a:cubicBezTo>
                <a:cubicBezTo>
                  <a:pt x="1249" y="679"/>
                  <a:pt x="1219" y="684"/>
                  <a:pt x="1199" y="691"/>
                </a:cubicBezTo>
                <a:cubicBezTo>
                  <a:pt x="1182" y="697"/>
                  <a:pt x="1169" y="711"/>
                  <a:pt x="1152" y="717"/>
                </a:cubicBezTo>
                <a:cubicBezTo>
                  <a:pt x="1133" y="724"/>
                  <a:pt x="1112" y="726"/>
                  <a:pt x="1092" y="731"/>
                </a:cubicBezTo>
                <a:cubicBezTo>
                  <a:pt x="1011" y="727"/>
                  <a:pt x="930" y="729"/>
                  <a:pt x="851" y="711"/>
                </a:cubicBezTo>
                <a:cubicBezTo>
                  <a:pt x="835" y="694"/>
                  <a:pt x="825" y="687"/>
                  <a:pt x="818" y="664"/>
                </a:cubicBezTo>
                <a:cubicBezTo>
                  <a:pt x="798" y="683"/>
                  <a:pt x="785" y="714"/>
                  <a:pt x="764" y="731"/>
                </a:cubicBezTo>
                <a:cubicBezTo>
                  <a:pt x="756" y="737"/>
                  <a:pt x="745" y="739"/>
                  <a:pt x="737" y="744"/>
                </a:cubicBezTo>
                <a:cubicBezTo>
                  <a:pt x="670" y="786"/>
                  <a:pt x="714" y="771"/>
                  <a:pt x="670" y="784"/>
                </a:cubicBezTo>
                <a:cubicBezTo>
                  <a:pt x="429" y="777"/>
                  <a:pt x="513" y="790"/>
                  <a:pt x="362" y="737"/>
                </a:cubicBezTo>
                <a:cubicBezTo>
                  <a:pt x="354" y="714"/>
                  <a:pt x="343" y="693"/>
                  <a:pt x="335" y="670"/>
                </a:cubicBezTo>
                <a:cubicBezTo>
                  <a:pt x="333" y="657"/>
                  <a:pt x="342" y="632"/>
                  <a:pt x="329" y="630"/>
                </a:cubicBezTo>
                <a:cubicBezTo>
                  <a:pt x="313" y="628"/>
                  <a:pt x="306" y="653"/>
                  <a:pt x="295" y="664"/>
                </a:cubicBezTo>
                <a:cubicBezTo>
                  <a:pt x="285" y="674"/>
                  <a:pt x="268" y="672"/>
                  <a:pt x="255" y="677"/>
                </a:cubicBezTo>
                <a:cubicBezTo>
                  <a:pt x="47" y="668"/>
                  <a:pt x="152" y="677"/>
                  <a:pt x="41" y="644"/>
                </a:cubicBezTo>
                <a:cubicBezTo>
                  <a:pt x="16" y="619"/>
                  <a:pt x="9" y="596"/>
                  <a:pt x="0" y="563"/>
                </a:cubicBezTo>
                <a:cubicBezTo>
                  <a:pt x="2" y="536"/>
                  <a:pt x="0" y="509"/>
                  <a:pt x="7" y="483"/>
                </a:cubicBezTo>
                <a:cubicBezTo>
                  <a:pt x="13" y="462"/>
                  <a:pt x="77" y="447"/>
                  <a:pt x="94" y="443"/>
                </a:cubicBezTo>
                <a:cubicBezTo>
                  <a:pt x="105" y="436"/>
                  <a:pt x="116" y="428"/>
                  <a:pt x="128" y="423"/>
                </a:cubicBezTo>
                <a:cubicBezTo>
                  <a:pt x="137" y="419"/>
                  <a:pt x="149" y="423"/>
                  <a:pt x="155" y="416"/>
                </a:cubicBezTo>
                <a:cubicBezTo>
                  <a:pt x="160" y="409"/>
                  <a:pt x="135" y="378"/>
                  <a:pt x="134" y="376"/>
                </a:cubicBezTo>
                <a:cubicBezTo>
                  <a:pt x="124" y="343"/>
                  <a:pt x="115" y="348"/>
                  <a:pt x="108" y="309"/>
                </a:cubicBezTo>
                <a:cubicBezTo>
                  <a:pt x="110" y="271"/>
                  <a:pt x="108" y="233"/>
                  <a:pt x="114" y="195"/>
                </a:cubicBezTo>
                <a:cubicBezTo>
                  <a:pt x="120" y="156"/>
                  <a:pt x="217" y="154"/>
                  <a:pt x="242" y="141"/>
                </a:cubicBezTo>
                <a:close/>
              </a:path>
            </a:pathLst>
          </a:custGeom>
          <a:noFill/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6" name="Text Box 8">
            <a:extLst>
              <a:ext uri="{FF2B5EF4-FFF2-40B4-BE49-F238E27FC236}">
                <a16:creationId xmlns:a16="http://schemas.microsoft.com/office/drawing/2014/main" id="{D664B795-CEE0-FB64-B4B1-F56601060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9" y="5373688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heap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48137" name="Text Box 9">
            <a:extLst>
              <a:ext uri="{FF2B5EF4-FFF2-40B4-BE49-F238E27FC236}">
                <a16:creationId xmlns:a16="http://schemas.microsoft.com/office/drawing/2014/main" id="{A3438D41-11D6-5173-793B-AC515889AF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7438" y="2781301"/>
            <a:ext cx="1295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objekat klase Automobil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48138" name="Text Box 10">
            <a:extLst>
              <a:ext uri="{FF2B5EF4-FFF2-40B4-BE49-F238E27FC236}">
                <a16:creationId xmlns:a16="http://schemas.microsoft.com/office/drawing/2014/main" id="{B6EB46AD-29A8-5248-E3F4-58FF06E59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5013325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stek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48139" name="Text Box 11">
            <a:extLst>
              <a:ext uri="{FF2B5EF4-FFF2-40B4-BE49-F238E27FC236}">
                <a16:creationId xmlns:a16="http://schemas.microsoft.com/office/drawing/2014/main" id="{E9E6BEC8-41DF-68B7-23C0-FEDC2BFBF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4437063"/>
            <a:ext cx="431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a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48140" name="Line 12">
            <a:extLst>
              <a:ext uri="{FF2B5EF4-FFF2-40B4-BE49-F238E27FC236}">
                <a16:creationId xmlns:a16="http://schemas.microsoft.com/office/drawing/2014/main" id="{B7408528-F7AA-1AD9-C588-A8583FCBFA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4581525"/>
            <a:ext cx="2376488" cy="7143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41" name="Rectangle 13">
            <a:extLst>
              <a:ext uri="{FF2B5EF4-FFF2-40B4-BE49-F238E27FC236}">
                <a16:creationId xmlns:a16="http://schemas.microsoft.com/office/drawing/2014/main" id="{0695BBDD-1C69-7A37-DEEF-A25F1F782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4149726"/>
            <a:ext cx="647700" cy="35877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48142" name="Text Box 14">
            <a:extLst>
              <a:ext uri="{FF2B5EF4-FFF2-40B4-BE49-F238E27FC236}">
                <a16:creationId xmlns:a16="http://schemas.microsoft.com/office/drawing/2014/main" id="{86F2A18F-7AAA-0491-5EC9-59EC5069C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4149725"/>
            <a:ext cx="431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b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48143" name="Freeform 15">
            <a:extLst>
              <a:ext uri="{FF2B5EF4-FFF2-40B4-BE49-F238E27FC236}">
                <a16:creationId xmlns:a16="http://schemas.microsoft.com/office/drawing/2014/main" id="{2C20EFA0-25DA-E30E-0640-27F00E93173D}"/>
              </a:ext>
            </a:extLst>
          </p:cNvPr>
          <p:cNvSpPr>
            <a:spLocks/>
          </p:cNvSpPr>
          <p:nvPr/>
        </p:nvSpPr>
        <p:spPr bwMode="auto">
          <a:xfrm>
            <a:off x="5953125" y="3860801"/>
            <a:ext cx="1963738" cy="1255713"/>
          </a:xfrm>
          <a:custGeom>
            <a:avLst/>
            <a:gdLst>
              <a:gd name="T0" fmla="*/ 2147483646 w 1353"/>
              <a:gd name="T1" fmla="*/ 2147483646 h 790"/>
              <a:gd name="T2" fmla="*/ 2147483646 w 1353"/>
              <a:gd name="T3" fmla="*/ 2147483646 h 790"/>
              <a:gd name="T4" fmla="*/ 2147483646 w 1353"/>
              <a:gd name="T5" fmla="*/ 2147483646 h 790"/>
              <a:gd name="T6" fmla="*/ 2147483646 w 1353"/>
              <a:gd name="T7" fmla="*/ 2147483646 h 790"/>
              <a:gd name="T8" fmla="*/ 2147483646 w 1353"/>
              <a:gd name="T9" fmla="*/ 2147483646 h 790"/>
              <a:gd name="T10" fmla="*/ 2147483646 w 1353"/>
              <a:gd name="T11" fmla="*/ 2147483646 h 790"/>
              <a:gd name="T12" fmla="*/ 2147483646 w 1353"/>
              <a:gd name="T13" fmla="*/ 2147483646 h 790"/>
              <a:gd name="T14" fmla="*/ 2147483646 w 1353"/>
              <a:gd name="T15" fmla="*/ 2147483646 h 790"/>
              <a:gd name="T16" fmla="*/ 2147483646 w 1353"/>
              <a:gd name="T17" fmla="*/ 2147483646 h 790"/>
              <a:gd name="T18" fmla="*/ 2147483646 w 1353"/>
              <a:gd name="T19" fmla="*/ 2147483646 h 790"/>
              <a:gd name="T20" fmla="*/ 2147483646 w 1353"/>
              <a:gd name="T21" fmla="*/ 2147483646 h 790"/>
              <a:gd name="T22" fmla="*/ 2147483646 w 1353"/>
              <a:gd name="T23" fmla="*/ 2147483646 h 790"/>
              <a:gd name="T24" fmla="*/ 2147483646 w 1353"/>
              <a:gd name="T25" fmla="*/ 2147483646 h 790"/>
              <a:gd name="T26" fmla="*/ 2147483646 w 1353"/>
              <a:gd name="T27" fmla="*/ 2147483646 h 790"/>
              <a:gd name="T28" fmla="*/ 2147483646 w 1353"/>
              <a:gd name="T29" fmla="*/ 2147483646 h 790"/>
              <a:gd name="T30" fmla="*/ 2147483646 w 1353"/>
              <a:gd name="T31" fmla="*/ 2147483646 h 790"/>
              <a:gd name="T32" fmla="*/ 2147483646 w 1353"/>
              <a:gd name="T33" fmla="*/ 2147483646 h 790"/>
              <a:gd name="T34" fmla="*/ 2147483646 w 1353"/>
              <a:gd name="T35" fmla="*/ 2147483646 h 790"/>
              <a:gd name="T36" fmla="*/ 2147483646 w 1353"/>
              <a:gd name="T37" fmla="*/ 2147483646 h 790"/>
              <a:gd name="T38" fmla="*/ 2147483646 w 1353"/>
              <a:gd name="T39" fmla="*/ 2147483646 h 790"/>
              <a:gd name="T40" fmla="*/ 2147483646 w 1353"/>
              <a:gd name="T41" fmla="*/ 2147483646 h 790"/>
              <a:gd name="T42" fmla="*/ 2147483646 w 1353"/>
              <a:gd name="T43" fmla="*/ 2147483646 h 790"/>
              <a:gd name="T44" fmla="*/ 2147483646 w 1353"/>
              <a:gd name="T45" fmla="*/ 2147483646 h 790"/>
              <a:gd name="T46" fmla="*/ 2147483646 w 1353"/>
              <a:gd name="T47" fmla="*/ 2147483646 h 790"/>
              <a:gd name="T48" fmla="*/ 2147483646 w 1353"/>
              <a:gd name="T49" fmla="*/ 2147483646 h 790"/>
              <a:gd name="T50" fmla="*/ 2147483646 w 1353"/>
              <a:gd name="T51" fmla="*/ 2147483646 h 790"/>
              <a:gd name="T52" fmla="*/ 2147483646 w 1353"/>
              <a:gd name="T53" fmla="*/ 2147483646 h 790"/>
              <a:gd name="T54" fmla="*/ 2147483646 w 1353"/>
              <a:gd name="T55" fmla="*/ 2147483646 h 790"/>
              <a:gd name="T56" fmla="*/ 2147483646 w 1353"/>
              <a:gd name="T57" fmla="*/ 2147483646 h 790"/>
              <a:gd name="T58" fmla="*/ 0 w 1353"/>
              <a:gd name="T59" fmla="*/ 2147483646 h 790"/>
              <a:gd name="T60" fmla="*/ 2147483646 w 1353"/>
              <a:gd name="T61" fmla="*/ 2147483646 h 790"/>
              <a:gd name="T62" fmla="*/ 2147483646 w 1353"/>
              <a:gd name="T63" fmla="*/ 2147483646 h 790"/>
              <a:gd name="T64" fmla="*/ 2147483646 w 1353"/>
              <a:gd name="T65" fmla="*/ 2147483646 h 790"/>
              <a:gd name="T66" fmla="*/ 2147483646 w 1353"/>
              <a:gd name="T67" fmla="*/ 2147483646 h 790"/>
              <a:gd name="T68" fmla="*/ 2147483646 w 1353"/>
              <a:gd name="T69" fmla="*/ 2147483646 h 790"/>
              <a:gd name="T70" fmla="*/ 2147483646 w 1353"/>
              <a:gd name="T71" fmla="*/ 2147483646 h 790"/>
              <a:gd name="T72" fmla="*/ 2147483646 w 1353"/>
              <a:gd name="T73" fmla="*/ 2147483646 h 790"/>
              <a:gd name="T74" fmla="*/ 2147483646 w 1353"/>
              <a:gd name="T75" fmla="*/ 2147483646 h 790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1353"/>
              <a:gd name="T115" fmla="*/ 0 h 790"/>
              <a:gd name="T116" fmla="*/ 1353 w 1353"/>
              <a:gd name="T117" fmla="*/ 790 h 790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1353" h="790">
                <a:moveTo>
                  <a:pt x="242" y="141"/>
                </a:moveTo>
                <a:cubicBezTo>
                  <a:pt x="255" y="96"/>
                  <a:pt x="306" y="65"/>
                  <a:pt x="349" y="54"/>
                </a:cubicBezTo>
                <a:cubicBezTo>
                  <a:pt x="444" y="63"/>
                  <a:pt x="407" y="49"/>
                  <a:pt x="443" y="101"/>
                </a:cubicBezTo>
                <a:cubicBezTo>
                  <a:pt x="445" y="114"/>
                  <a:pt x="436" y="139"/>
                  <a:pt x="449" y="141"/>
                </a:cubicBezTo>
                <a:cubicBezTo>
                  <a:pt x="473" y="145"/>
                  <a:pt x="482" y="105"/>
                  <a:pt x="503" y="94"/>
                </a:cubicBezTo>
                <a:cubicBezTo>
                  <a:pt x="572" y="59"/>
                  <a:pt x="655" y="38"/>
                  <a:pt x="731" y="27"/>
                </a:cubicBezTo>
                <a:cubicBezTo>
                  <a:pt x="856" y="33"/>
                  <a:pt x="870" y="0"/>
                  <a:pt x="918" y="74"/>
                </a:cubicBezTo>
                <a:cubicBezTo>
                  <a:pt x="926" y="114"/>
                  <a:pt x="936" y="142"/>
                  <a:pt x="952" y="181"/>
                </a:cubicBezTo>
                <a:cubicBezTo>
                  <a:pt x="995" y="168"/>
                  <a:pt x="1036" y="152"/>
                  <a:pt x="1079" y="141"/>
                </a:cubicBezTo>
                <a:cubicBezTo>
                  <a:pt x="1189" y="145"/>
                  <a:pt x="1245" y="119"/>
                  <a:pt x="1320" y="168"/>
                </a:cubicBezTo>
                <a:cubicBezTo>
                  <a:pt x="1338" y="196"/>
                  <a:pt x="1341" y="221"/>
                  <a:pt x="1347" y="255"/>
                </a:cubicBezTo>
                <a:cubicBezTo>
                  <a:pt x="1344" y="300"/>
                  <a:pt x="1353" y="392"/>
                  <a:pt x="1313" y="429"/>
                </a:cubicBezTo>
                <a:cubicBezTo>
                  <a:pt x="1295" y="466"/>
                  <a:pt x="1273" y="482"/>
                  <a:pt x="1233" y="490"/>
                </a:cubicBezTo>
                <a:cubicBezTo>
                  <a:pt x="1248" y="513"/>
                  <a:pt x="1253" y="530"/>
                  <a:pt x="1273" y="550"/>
                </a:cubicBezTo>
                <a:cubicBezTo>
                  <a:pt x="1270" y="586"/>
                  <a:pt x="1276" y="625"/>
                  <a:pt x="1260" y="657"/>
                </a:cubicBezTo>
                <a:cubicBezTo>
                  <a:pt x="1249" y="679"/>
                  <a:pt x="1219" y="684"/>
                  <a:pt x="1199" y="691"/>
                </a:cubicBezTo>
                <a:cubicBezTo>
                  <a:pt x="1182" y="697"/>
                  <a:pt x="1169" y="711"/>
                  <a:pt x="1152" y="717"/>
                </a:cubicBezTo>
                <a:cubicBezTo>
                  <a:pt x="1133" y="724"/>
                  <a:pt x="1112" y="726"/>
                  <a:pt x="1092" y="731"/>
                </a:cubicBezTo>
                <a:cubicBezTo>
                  <a:pt x="1011" y="727"/>
                  <a:pt x="930" y="729"/>
                  <a:pt x="851" y="711"/>
                </a:cubicBezTo>
                <a:cubicBezTo>
                  <a:pt x="835" y="694"/>
                  <a:pt x="825" y="687"/>
                  <a:pt x="818" y="664"/>
                </a:cubicBezTo>
                <a:cubicBezTo>
                  <a:pt x="798" y="683"/>
                  <a:pt x="785" y="714"/>
                  <a:pt x="764" y="731"/>
                </a:cubicBezTo>
                <a:cubicBezTo>
                  <a:pt x="756" y="737"/>
                  <a:pt x="745" y="739"/>
                  <a:pt x="737" y="744"/>
                </a:cubicBezTo>
                <a:cubicBezTo>
                  <a:pt x="670" y="786"/>
                  <a:pt x="714" y="771"/>
                  <a:pt x="670" y="784"/>
                </a:cubicBezTo>
                <a:cubicBezTo>
                  <a:pt x="429" y="777"/>
                  <a:pt x="513" y="790"/>
                  <a:pt x="362" y="737"/>
                </a:cubicBezTo>
                <a:cubicBezTo>
                  <a:pt x="354" y="714"/>
                  <a:pt x="343" y="693"/>
                  <a:pt x="335" y="670"/>
                </a:cubicBezTo>
                <a:cubicBezTo>
                  <a:pt x="333" y="657"/>
                  <a:pt x="342" y="632"/>
                  <a:pt x="329" y="630"/>
                </a:cubicBezTo>
                <a:cubicBezTo>
                  <a:pt x="313" y="628"/>
                  <a:pt x="306" y="653"/>
                  <a:pt x="295" y="664"/>
                </a:cubicBezTo>
                <a:cubicBezTo>
                  <a:pt x="285" y="674"/>
                  <a:pt x="268" y="672"/>
                  <a:pt x="255" y="677"/>
                </a:cubicBezTo>
                <a:cubicBezTo>
                  <a:pt x="47" y="668"/>
                  <a:pt x="152" y="677"/>
                  <a:pt x="41" y="644"/>
                </a:cubicBezTo>
                <a:cubicBezTo>
                  <a:pt x="16" y="619"/>
                  <a:pt x="9" y="596"/>
                  <a:pt x="0" y="563"/>
                </a:cubicBezTo>
                <a:cubicBezTo>
                  <a:pt x="2" y="536"/>
                  <a:pt x="0" y="509"/>
                  <a:pt x="7" y="483"/>
                </a:cubicBezTo>
                <a:cubicBezTo>
                  <a:pt x="13" y="462"/>
                  <a:pt x="77" y="447"/>
                  <a:pt x="94" y="443"/>
                </a:cubicBezTo>
                <a:cubicBezTo>
                  <a:pt x="105" y="436"/>
                  <a:pt x="116" y="428"/>
                  <a:pt x="128" y="423"/>
                </a:cubicBezTo>
                <a:cubicBezTo>
                  <a:pt x="137" y="419"/>
                  <a:pt x="149" y="423"/>
                  <a:pt x="155" y="416"/>
                </a:cubicBezTo>
                <a:cubicBezTo>
                  <a:pt x="160" y="409"/>
                  <a:pt x="135" y="378"/>
                  <a:pt x="134" y="376"/>
                </a:cubicBezTo>
                <a:cubicBezTo>
                  <a:pt x="124" y="343"/>
                  <a:pt x="115" y="348"/>
                  <a:pt x="108" y="309"/>
                </a:cubicBezTo>
                <a:cubicBezTo>
                  <a:pt x="110" y="271"/>
                  <a:pt x="108" y="233"/>
                  <a:pt x="114" y="195"/>
                </a:cubicBezTo>
                <a:cubicBezTo>
                  <a:pt x="120" y="156"/>
                  <a:pt x="217" y="154"/>
                  <a:pt x="242" y="141"/>
                </a:cubicBezTo>
                <a:close/>
              </a:path>
            </a:pathLst>
          </a:custGeom>
          <a:noFill/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44" name="Text Box 16">
            <a:extLst>
              <a:ext uri="{FF2B5EF4-FFF2-40B4-BE49-F238E27FC236}">
                <a16:creationId xmlns:a16="http://schemas.microsoft.com/office/drawing/2014/main" id="{05AF318E-D92B-AB7D-FD5E-6A0B2E46A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463" y="4221164"/>
            <a:ext cx="1295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objekat klase Automobil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48145" name="Line 17">
            <a:extLst>
              <a:ext uri="{FF2B5EF4-FFF2-40B4-BE49-F238E27FC236}">
                <a16:creationId xmlns:a16="http://schemas.microsoft.com/office/drawing/2014/main" id="{D48C5DD0-6B18-02AB-5A2C-3DDD9887E8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6" y="3357564"/>
            <a:ext cx="2232025" cy="10064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5268A7A7-0EB7-ACC9-3197-EF7EEF28B4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4000"/>
              <a:t>Reference na objekte</a:t>
            </a:r>
            <a:br>
              <a:rPr lang="sr-Latn-CS" altLang="sr-Latn-RS" sz="4000"/>
            </a:br>
            <a:r>
              <a:rPr lang="sr-Latn-CS" altLang="sr-Latn-RS" sz="4000"/>
              <a:t>b = a</a:t>
            </a:r>
            <a:endParaRPr lang="en-US" altLang="sr-Latn-RS" sz="4000"/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BB42E491-95E2-23D9-E1C7-42B77B674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4508501"/>
            <a:ext cx="647700" cy="35877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49156" name="Line 4">
            <a:extLst>
              <a:ext uri="{FF2B5EF4-FFF2-40B4-BE49-F238E27FC236}">
                <a16:creationId xmlns:a16="http://schemas.microsoft.com/office/drawing/2014/main" id="{E1399BE9-866F-F039-C480-344DFB2F62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003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57" name="Line 5">
            <a:extLst>
              <a:ext uri="{FF2B5EF4-FFF2-40B4-BE49-F238E27FC236}">
                <a16:creationId xmlns:a16="http://schemas.microsoft.com/office/drawing/2014/main" id="{43B566B9-323D-9383-80E9-46FE40B976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58" name="AutoShape 6">
            <a:extLst>
              <a:ext uri="{FF2B5EF4-FFF2-40B4-BE49-F238E27FC236}">
                <a16:creationId xmlns:a16="http://schemas.microsoft.com/office/drawing/2014/main" id="{B5477FB1-72A2-01EA-6E76-BB6F0D04B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6" y="2276475"/>
            <a:ext cx="4537075" cy="2952750"/>
          </a:xfrm>
          <a:prstGeom prst="roundRect">
            <a:avLst>
              <a:gd name="adj" fmla="val 16667"/>
            </a:avLst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49159" name="Freeform 7">
            <a:extLst>
              <a:ext uri="{FF2B5EF4-FFF2-40B4-BE49-F238E27FC236}">
                <a16:creationId xmlns:a16="http://schemas.microsoft.com/office/drawing/2014/main" id="{6B54D43C-11FB-6A1A-0FCB-79D1877E6015}"/>
              </a:ext>
            </a:extLst>
          </p:cNvPr>
          <p:cNvSpPr>
            <a:spLocks/>
          </p:cNvSpPr>
          <p:nvPr/>
        </p:nvSpPr>
        <p:spPr bwMode="auto">
          <a:xfrm>
            <a:off x="5880100" y="2420938"/>
            <a:ext cx="1963738" cy="1255712"/>
          </a:xfrm>
          <a:custGeom>
            <a:avLst/>
            <a:gdLst>
              <a:gd name="T0" fmla="*/ 2147483646 w 1353"/>
              <a:gd name="T1" fmla="*/ 2147483646 h 790"/>
              <a:gd name="T2" fmla="*/ 2147483646 w 1353"/>
              <a:gd name="T3" fmla="*/ 2147483646 h 790"/>
              <a:gd name="T4" fmla="*/ 2147483646 w 1353"/>
              <a:gd name="T5" fmla="*/ 2147483646 h 790"/>
              <a:gd name="T6" fmla="*/ 2147483646 w 1353"/>
              <a:gd name="T7" fmla="*/ 2147483646 h 790"/>
              <a:gd name="T8" fmla="*/ 2147483646 w 1353"/>
              <a:gd name="T9" fmla="*/ 2147483646 h 790"/>
              <a:gd name="T10" fmla="*/ 2147483646 w 1353"/>
              <a:gd name="T11" fmla="*/ 2147483646 h 790"/>
              <a:gd name="T12" fmla="*/ 2147483646 w 1353"/>
              <a:gd name="T13" fmla="*/ 2147483646 h 790"/>
              <a:gd name="T14" fmla="*/ 2147483646 w 1353"/>
              <a:gd name="T15" fmla="*/ 2147483646 h 790"/>
              <a:gd name="T16" fmla="*/ 2147483646 w 1353"/>
              <a:gd name="T17" fmla="*/ 2147483646 h 790"/>
              <a:gd name="T18" fmla="*/ 2147483646 w 1353"/>
              <a:gd name="T19" fmla="*/ 2147483646 h 790"/>
              <a:gd name="T20" fmla="*/ 2147483646 w 1353"/>
              <a:gd name="T21" fmla="*/ 2147483646 h 790"/>
              <a:gd name="T22" fmla="*/ 2147483646 w 1353"/>
              <a:gd name="T23" fmla="*/ 2147483646 h 790"/>
              <a:gd name="T24" fmla="*/ 2147483646 w 1353"/>
              <a:gd name="T25" fmla="*/ 2147483646 h 790"/>
              <a:gd name="T26" fmla="*/ 2147483646 w 1353"/>
              <a:gd name="T27" fmla="*/ 2147483646 h 790"/>
              <a:gd name="T28" fmla="*/ 2147483646 w 1353"/>
              <a:gd name="T29" fmla="*/ 2147483646 h 790"/>
              <a:gd name="T30" fmla="*/ 2147483646 w 1353"/>
              <a:gd name="T31" fmla="*/ 2147483646 h 790"/>
              <a:gd name="T32" fmla="*/ 2147483646 w 1353"/>
              <a:gd name="T33" fmla="*/ 2147483646 h 790"/>
              <a:gd name="T34" fmla="*/ 2147483646 w 1353"/>
              <a:gd name="T35" fmla="*/ 2147483646 h 790"/>
              <a:gd name="T36" fmla="*/ 2147483646 w 1353"/>
              <a:gd name="T37" fmla="*/ 2147483646 h 790"/>
              <a:gd name="T38" fmla="*/ 2147483646 w 1353"/>
              <a:gd name="T39" fmla="*/ 2147483646 h 790"/>
              <a:gd name="T40" fmla="*/ 2147483646 w 1353"/>
              <a:gd name="T41" fmla="*/ 2147483646 h 790"/>
              <a:gd name="T42" fmla="*/ 2147483646 w 1353"/>
              <a:gd name="T43" fmla="*/ 2147483646 h 790"/>
              <a:gd name="T44" fmla="*/ 2147483646 w 1353"/>
              <a:gd name="T45" fmla="*/ 2147483646 h 790"/>
              <a:gd name="T46" fmla="*/ 2147483646 w 1353"/>
              <a:gd name="T47" fmla="*/ 2147483646 h 790"/>
              <a:gd name="T48" fmla="*/ 2147483646 w 1353"/>
              <a:gd name="T49" fmla="*/ 2147483646 h 790"/>
              <a:gd name="T50" fmla="*/ 2147483646 w 1353"/>
              <a:gd name="T51" fmla="*/ 2147483646 h 790"/>
              <a:gd name="T52" fmla="*/ 2147483646 w 1353"/>
              <a:gd name="T53" fmla="*/ 2147483646 h 790"/>
              <a:gd name="T54" fmla="*/ 2147483646 w 1353"/>
              <a:gd name="T55" fmla="*/ 2147483646 h 790"/>
              <a:gd name="T56" fmla="*/ 2147483646 w 1353"/>
              <a:gd name="T57" fmla="*/ 2147483646 h 790"/>
              <a:gd name="T58" fmla="*/ 0 w 1353"/>
              <a:gd name="T59" fmla="*/ 2147483646 h 790"/>
              <a:gd name="T60" fmla="*/ 2147483646 w 1353"/>
              <a:gd name="T61" fmla="*/ 2147483646 h 790"/>
              <a:gd name="T62" fmla="*/ 2147483646 w 1353"/>
              <a:gd name="T63" fmla="*/ 2147483646 h 790"/>
              <a:gd name="T64" fmla="*/ 2147483646 w 1353"/>
              <a:gd name="T65" fmla="*/ 2147483646 h 790"/>
              <a:gd name="T66" fmla="*/ 2147483646 w 1353"/>
              <a:gd name="T67" fmla="*/ 2147483646 h 790"/>
              <a:gd name="T68" fmla="*/ 2147483646 w 1353"/>
              <a:gd name="T69" fmla="*/ 2147483646 h 790"/>
              <a:gd name="T70" fmla="*/ 2147483646 w 1353"/>
              <a:gd name="T71" fmla="*/ 2147483646 h 790"/>
              <a:gd name="T72" fmla="*/ 2147483646 w 1353"/>
              <a:gd name="T73" fmla="*/ 2147483646 h 790"/>
              <a:gd name="T74" fmla="*/ 2147483646 w 1353"/>
              <a:gd name="T75" fmla="*/ 2147483646 h 790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1353"/>
              <a:gd name="T115" fmla="*/ 0 h 790"/>
              <a:gd name="T116" fmla="*/ 1353 w 1353"/>
              <a:gd name="T117" fmla="*/ 790 h 790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1353" h="790">
                <a:moveTo>
                  <a:pt x="242" y="141"/>
                </a:moveTo>
                <a:cubicBezTo>
                  <a:pt x="255" y="96"/>
                  <a:pt x="306" y="65"/>
                  <a:pt x="349" y="54"/>
                </a:cubicBezTo>
                <a:cubicBezTo>
                  <a:pt x="444" y="63"/>
                  <a:pt x="407" y="49"/>
                  <a:pt x="443" y="101"/>
                </a:cubicBezTo>
                <a:cubicBezTo>
                  <a:pt x="445" y="114"/>
                  <a:pt x="436" y="139"/>
                  <a:pt x="449" y="141"/>
                </a:cubicBezTo>
                <a:cubicBezTo>
                  <a:pt x="473" y="145"/>
                  <a:pt x="482" y="105"/>
                  <a:pt x="503" y="94"/>
                </a:cubicBezTo>
                <a:cubicBezTo>
                  <a:pt x="572" y="59"/>
                  <a:pt x="655" y="38"/>
                  <a:pt x="731" y="27"/>
                </a:cubicBezTo>
                <a:cubicBezTo>
                  <a:pt x="856" y="33"/>
                  <a:pt x="870" y="0"/>
                  <a:pt x="918" y="74"/>
                </a:cubicBezTo>
                <a:cubicBezTo>
                  <a:pt x="926" y="114"/>
                  <a:pt x="936" y="142"/>
                  <a:pt x="952" y="181"/>
                </a:cubicBezTo>
                <a:cubicBezTo>
                  <a:pt x="995" y="168"/>
                  <a:pt x="1036" y="152"/>
                  <a:pt x="1079" y="141"/>
                </a:cubicBezTo>
                <a:cubicBezTo>
                  <a:pt x="1189" y="145"/>
                  <a:pt x="1245" y="119"/>
                  <a:pt x="1320" y="168"/>
                </a:cubicBezTo>
                <a:cubicBezTo>
                  <a:pt x="1338" y="196"/>
                  <a:pt x="1341" y="221"/>
                  <a:pt x="1347" y="255"/>
                </a:cubicBezTo>
                <a:cubicBezTo>
                  <a:pt x="1344" y="300"/>
                  <a:pt x="1353" y="392"/>
                  <a:pt x="1313" y="429"/>
                </a:cubicBezTo>
                <a:cubicBezTo>
                  <a:pt x="1295" y="466"/>
                  <a:pt x="1273" y="482"/>
                  <a:pt x="1233" y="490"/>
                </a:cubicBezTo>
                <a:cubicBezTo>
                  <a:pt x="1248" y="513"/>
                  <a:pt x="1253" y="530"/>
                  <a:pt x="1273" y="550"/>
                </a:cubicBezTo>
                <a:cubicBezTo>
                  <a:pt x="1270" y="586"/>
                  <a:pt x="1276" y="625"/>
                  <a:pt x="1260" y="657"/>
                </a:cubicBezTo>
                <a:cubicBezTo>
                  <a:pt x="1249" y="679"/>
                  <a:pt x="1219" y="684"/>
                  <a:pt x="1199" y="691"/>
                </a:cubicBezTo>
                <a:cubicBezTo>
                  <a:pt x="1182" y="697"/>
                  <a:pt x="1169" y="711"/>
                  <a:pt x="1152" y="717"/>
                </a:cubicBezTo>
                <a:cubicBezTo>
                  <a:pt x="1133" y="724"/>
                  <a:pt x="1112" y="726"/>
                  <a:pt x="1092" y="731"/>
                </a:cubicBezTo>
                <a:cubicBezTo>
                  <a:pt x="1011" y="727"/>
                  <a:pt x="930" y="729"/>
                  <a:pt x="851" y="711"/>
                </a:cubicBezTo>
                <a:cubicBezTo>
                  <a:pt x="835" y="694"/>
                  <a:pt x="825" y="687"/>
                  <a:pt x="818" y="664"/>
                </a:cubicBezTo>
                <a:cubicBezTo>
                  <a:pt x="798" y="683"/>
                  <a:pt x="785" y="714"/>
                  <a:pt x="764" y="731"/>
                </a:cubicBezTo>
                <a:cubicBezTo>
                  <a:pt x="756" y="737"/>
                  <a:pt x="745" y="739"/>
                  <a:pt x="737" y="744"/>
                </a:cubicBezTo>
                <a:cubicBezTo>
                  <a:pt x="670" y="786"/>
                  <a:pt x="714" y="771"/>
                  <a:pt x="670" y="784"/>
                </a:cubicBezTo>
                <a:cubicBezTo>
                  <a:pt x="429" y="777"/>
                  <a:pt x="513" y="790"/>
                  <a:pt x="362" y="737"/>
                </a:cubicBezTo>
                <a:cubicBezTo>
                  <a:pt x="354" y="714"/>
                  <a:pt x="343" y="693"/>
                  <a:pt x="335" y="670"/>
                </a:cubicBezTo>
                <a:cubicBezTo>
                  <a:pt x="333" y="657"/>
                  <a:pt x="342" y="632"/>
                  <a:pt x="329" y="630"/>
                </a:cubicBezTo>
                <a:cubicBezTo>
                  <a:pt x="313" y="628"/>
                  <a:pt x="306" y="653"/>
                  <a:pt x="295" y="664"/>
                </a:cubicBezTo>
                <a:cubicBezTo>
                  <a:pt x="285" y="674"/>
                  <a:pt x="268" y="672"/>
                  <a:pt x="255" y="677"/>
                </a:cubicBezTo>
                <a:cubicBezTo>
                  <a:pt x="47" y="668"/>
                  <a:pt x="152" y="677"/>
                  <a:pt x="41" y="644"/>
                </a:cubicBezTo>
                <a:cubicBezTo>
                  <a:pt x="16" y="619"/>
                  <a:pt x="9" y="596"/>
                  <a:pt x="0" y="563"/>
                </a:cubicBezTo>
                <a:cubicBezTo>
                  <a:pt x="2" y="536"/>
                  <a:pt x="0" y="509"/>
                  <a:pt x="7" y="483"/>
                </a:cubicBezTo>
                <a:cubicBezTo>
                  <a:pt x="13" y="462"/>
                  <a:pt x="77" y="447"/>
                  <a:pt x="94" y="443"/>
                </a:cubicBezTo>
                <a:cubicBezTo>
                  <a:pt x="105" y="436"/>
                  <a:pt x="116" y="428"/>
                  <a:pt x="128" y="423"/>
                </a:cubicBezTo>
                <a:cubicBezTo>
                  <a:pt x="137" y="419"/>
                  <a:pt x="149" y="423"/>
                  <a:pt x="155" y="416"/>
                </a:cubicBezTo>
                <a:cubicBezTo>
                  <a:pt x="160" y="409"/>
                  <a:pt x="135" y="378"/>
                  <a:pt x="134" y="376"/>
                </a:cubicBezTo>
                <a:cubicBezTo>
                  <a:pt x="124" y="343"/>
                  <a:pt x="115" y="348"/>
                  <a:pt x="108" y="309"/>
                </a:cubicBezTo>
                <a:cubicBezTo>
                  <a:pt x="110" y="271"/>
                  <a:pt x="108" y="233"/>
                  <a:pt x="114" y="195"/>
                </a:cubicBezTo>
                <a:cubicBezTo>
                  <a:pt x="120" y="156"/>
                  <a:pt x="217" y="154"/>
                  <a:pt x="242" y="141"/>
                </a:cubicBezTo>
                <a:close/>
              </a:path>
            </a:pathLst>
          </a:custGeom>
          <a:noFill/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0" name="Text Box 8">
            <a:extLst>
              <a:ext uri="{FF2B5EF4-FFF2-40B4-BE49-F238E27FC236}">
                <a16:creationId xmlns:a16="http://schemas.microsoft.com/office/drawing/2014/main" id="{FD53D33D-C71E-836C-F85A-BBCD7380B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9" y="5373688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heap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49161" name="Text Box 9">
            <a:extLst>
              <a:ext uri="{FF2B5EF4-FFF2-40B4-BE49-F238E27FC236}">
                <a16:creationId xmlns:a16="http://schemas.microsoft.com/office/drawing/2014/main" id="{25484483-75BD-4CB1-F741-26078033F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7438" y="2781301"/>
            <a:ext cx="1295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objekat klase Automobil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49162" name="Text Box 10">
            <a:extLst>
              <a:ext uri="{FF2B5EF4-FFF2-40B4-BE49-F238E27FC236}">
                <a16:creationId xmlns:a16="http://schemas.microsoft.com/office/drawing/2014/main" id="{09932684-0C0D-0948-F469-25917AB5F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5013325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stek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49163" name="Text Box 11">
            <a:extLst>
              <a:ext uri="{FF2B5EF4-FFF2-40B4-BE49-F238E27FC236}">
                <a16:creationId xmlns:a16="http://schemas.microsoft.com/office/drawing/2014/main" id="{0DF203BF-FD57-A776-3BC1-4529343DF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4437063"/>
            <a:ext cx="431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a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49164" name="Line 12">
            <a:extLst>
              <a:ext uri="{FF2B5EF4-FFF2-40B4-BE49-F238E27FC236}">
                <a16:creationId xmlns:a16="http://schemas.microsoft.com/office/drawing/2014/main" id="{E872BC5F-4729-A74A-0345-1D15399381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4581525"/>
            <a:ext cx="2376488" cy="7143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5" name="Rectangle 13">
            <a:extLst>
              <a:ext uri="{FF2B5EF4-FFF2-40B4-BE49-F238E27FC236}">
                <a16:creationId xmlns:a16="http://schemas.microsoft.com/office/drawing/2014/main" id="{EBCA2296-BBCE-F3B1-3A03-A462157B5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4149726"/>
            <a:ext cx="647700" cy="35877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49166" name="Text Box 14">
            <a:extLst>
              <a:ext uri="{FF2B5EF4-FFF2-40B4-BE49-F238E27FC236}">
                <a16:creationId xmlns:a16="http://schemas.microsoft.com/office/drawing/2014/main" id="{D692A927-1B7A-A3EF-2B74-19E15A8EF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4149725"/>
            <a:ext cx="431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b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49167" name="Freeform 15">
            <a:extLst>
              <a:ext uri="{FF2B5EF4-FFF2-40B4-BE49-F238E27FC236}">
                <a16:creationId xmlns:a16="http://schemas.microsoft.com/office/drawing/2014/main" id="{B93E40FA-017F-37CD-6319-D0A65D3A6276}"/>
              </a:ext>
            </a:extLst>
          </p:cNvPr>
          <p:cNvSpPr>
            <a:spLocks/>
          </p:cNvSpPr>
          <p:nvPr/>
        </p:nvSpPr>
        <p:spPr bwMode="auto">
          <a:xfrm>
            <a:off x="5953125" y="3860801"/>
            <a:ext cx="1963738" cy="1255713"/>
          </a:xfrm>
          <a:custGeom>
            <a:avLst/>
            <a:gdLst>
              <a:gd name="T0" fmla="*/ 2147483646 w 1353"/>
              <a:gd name="T1" fmla="*/ 2147483646 h 790"/>
              <a:gd name="T2" fmla="*/ 2147483646 w 1353"/>
              <a:gd name="T3" fmla="*/ 2147483646 h 790"/>
              <a:gd name="T4" fmla="*/ 2147483646 w 1353"/>
              <a:gd name="T5" fmla="*/ 2147483646 h 790"/>
              <a:gd name="T6" fmla="*/ 2147483646 w 1353"/>
              <a:gd name="T7" fmla="*/ 2147483646 h 790"/>
              <a:gd name="T8" fmla="*/ 2147483646 w 1353"/>
              <a:gd name="T9" fmla="*/ 2147483646 h 790"/>
              <a:gd name="T10" fmla="*/ 2147483646 w 1353"/>
              <a:gd name="T11" fmla="*/ 2147483646 h 790"/>
              <a:gd name="T12" fmla="*/ 2147483646 w 1353"/>
              <a:gd name="T13" fmla="*/ 2147483646 h 790"/>
              <a:gd name="T14" fmla="*/ 2147483646 w 1353"/>
              <a:gd name="T15" fmla="*/ 2147483646 h 790"/>
              <a:gd name="T16" fmla="*/ 2147483646 w 1353"/>
              <a:gd name="T17" fmla="*/ 2147483646 h 790"/>
              <a:gd name="T18" fmla="*/ 2147483646 w 1353"/>
              <a:gd name="T19" fmla="*/ 2147483646 h 790"/>
              <a:gd name="T20" fmla="*/ 2147483646 w 1353"/>
              <a:gd name="T21" fmla="*/ 2147483646 h 790"/>
              <a:gd name="T22" fmla="*/ 2147483646 w 1353"/>
              <a:gd name="T23" fmla="*/ 2147483646 h 790"/>
              <a:gd name="T24" fmla="*/ 2147483646 w 1353"/>
              <a:gd name="T25" fmla="*/ 2147483646 h 790"/>
              <a:gd name="T26" fmla="*/ 2147483646 w 1353"/>
              <a:gd name="T27" fmla="*/ 2147483646 h 790"/>
              <a:gd name="T28" fmla="*/ 2147483646 w 1353"/>
              <a:gd name="T29" fmla="*/ 2147483646 h 790"/>
              <a:gd name="T30" fmla="*/ 2147483646 w 1353"/>
              <a:gd name="T31" fmla="*/ 2147483646 h 790"/>
              <a:gd name="T32" fmla="*/ 2147483646 w 1353"/>
              <a:gd name="T33" fmla="*/ 2147483646 h 790"/>
              <a:gd name="T34" fmla="*/ 2147483646 w 1353"/>
              <a:gd name="T35" fmla="*/ 2147483646 h 790"/>
              <a:gd name="T36" fmla="*/ 2147483646 w 1353"/>
              <a:gd name="T37" fmla="*/ 2147483646 h 790"/>
              <a:gd name="T38" fmla="*/ 2147483646 w 1353"/>
              <a:gd name="T39" fmla="*/ 2147483646 h 790"/>
              <a:gd name="T40" fmla="*/ 2147483646 w 1353"/>
              <a:gd name="T41" fmla="*/ 2147483646 h 790"/>
              <a:gd name="T42" fmla="*/ 2147483646 w 1353"/>
              <a:gd name="T43" fmla="*/ 2147483646 h 790"/>
              <a:gd name="T44" fmla="*/ 2147483646 w 1353"/>
              <a:gd name="T45" fmla="*/ 2147483646 h 790"/>
              <a:gd name="T46" fmla="*/ 2147483646 w 1353"/>
              <a:gd name="T47" fmla="*/ 2147483646 h 790"/>
              <a:gd name="T48" fmla="*/ 2147483646 w 1353"/>
              <a:gd name="T49" fmla="*/ 2147483646 h 790"/>
              <a:gd name="T50" fmla="*/ 2147483646 w 1353"/>
              <a:gd name="T51" fmla="*/ 2147483646 h 790"/>
              <a:gd name="T52" fmla="*/ 2147483646 w 1353"/>
              <a:gd name="T53" fmla="*/ 2147483646 h 790"/>
              <a:gd name="T54" fmla="*/ 2147483646 w 1353"/>
              <a:gd name="T55" fmla="*/ 2147483646 h 790"/>
              <a:gd name="T56" fmla="*/ 2147483646 w 1353"/>
              <a:gd name="T57" fmla="*/ 2147483646 h 790"/>
              <a:gd name="T58" fmla="*/ 0 w 1353"/>
              <a:gd name="T59" fmla="*/ 2147483646 h 790"/>
              <a:gd name="T60" fmla="*/ 2147483646 w 1353"/>
              <a:gd name="T61" fmla="*/ 2147483646 h 790"/>
              <a:gd name="T62" fmla="*/ 2147483646 w 1353"/>
              <a:gd name="T63" fmla="*/ 2147483646 h 790"/>
              <a:gd name="T64" fmla="*/ 2147483646 w 1353"/>
              <a:gd name="T65" fmla="*/ 2147483646 h 790"/>
              <a:gd name="T66" fmla="*/ 2147483646 w 1353"/>
              <a:gd name="T67" fmla="*/ 2147483646 h 790"/>
              <a:gd name="T68" fmla="*/ 2147483646 w 1353"/>
              <a:gd name="T69" fmla="*/ 2147483646 h 790"/>
              <a:gd name="T70" fmla="*/ 2147483646 w 1353"/>
              <a:gd name="T71" fmla="*/ 2147483646 h 790"/>
              <a:gd name="T72" fmla="*/ 2147483646 w 1353"/>
              <a:gd name="T73" fmla="*/ 2147483646 h 790"/>
              <a:gd name="T74" fmla="*/ 2147483646 w 1353"/>
              <a:gd name="T75" fmla="*/ 2147483646 h 790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1353"/>
              <a:gd name="T115" fmla="*/ 0 h 790"/>
              <a:gd name="T116" fmla="*/ 1353 w 1353"/>
              <a:gd name="T117" fmla="*/ 790 h 790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1353" h="790">
                <a:moveTo>
                  <a:pt x="242" y="141"/>
                </a:moveTo>
                <a:cubicBezTo>
                  <a:pt x="255" y="96"/>
                  <a:pt x="306" y="65"/>
                  <a:pt x="349" y="54"/>
                </a:cubicBezTo>
                <a:cubicBezTo>
                  <a:pt x="444" y="63"/>
                  <a:pt x="407" y="49"/>
                  <a:pt x="443" y="101"/>
                </a:cubicBezTo>
                <a:cubicBezTo>
                  <a:pt x="445" y="114"/>
                  <a:pt x="436" y="139"/>
                  <a:pt x="449" y="141"/>
                </a:cubicBezTo>
                <a:cubicBezTo>
                  <a:pt x="473" y="145"/>
                  <a:pt x="482" y="105"/>
                  <a:pt x="503" y="94"/>
                </a:cubicBezTo>
                <a:cubicBezTo>
                  <a:pt x="572" y="59"/>
                  <a:pt x="655" y="38"/>
                  <a:pt x="731" y="27"/>
                </a:cubicBezTo>
                <a:cubicBezTo>
                  <a:pt x="856" y="33"/>
                  <a:pt x="870" y="0"/>
                  <a:pt x="918" y="74"/>
                </a:cubicBezTo>
                <a:cubicBezTo>
                  <a:pt x="926" y="114"/>
                  <a:pt x="936" y="142"/>
                  <a:pt x="952" y="181"/>
                </a:cubicBezTo>
                <a:cubicBezTo>
                  <a:pt x="995" y="168"/>
                  <a:pt x="1036" y="152"/>
                  <a:pt x="1079" y="141"/>
                </a:cubicBezTo>
                <a:cubicBezTo>
                  <a:pt x="1189" y="145"/>
                  <a:pt x="1245" y="119"/>
                  <a:pt x="1320" y="168"/>
                </a:cubicBezTo>
                <a:cubicBezTo>
                  <a:pt x="1338" y="196"/>
                  <a:pt x="1341" y="221"/>
                  <a:pt x="1347" y="255"/>
                </a:cubicBezTo>
                <a:cubicBezTo>
                  <a:pt x="1344" y="300"/>
                  <a:pt x="1353" y="392"/>
                  <a:pt x="1313" y="429"/>
                </a:cubicBezTo>
                <a:cubicBezTo>
                  <a:pt x="1295" y="466"/>
                  <a:pt x="1273" y="482"/>
                  <a:pt x="1233" y="490"/>
                </a:cubicBezTo>
                <a:cubicBezTo>
                  <a:pt x="1248" y="513"/>
                  <a:pt x="1253" y="530"/>
                  <a:pt x="1273" y="550"/>
                </a:cubicBezTo>
                <a:cubicBezTo>
                  <a:pt x="1270" y="586"/>
                  <a:pt x="1276" y="625"/>
                  <a:pt x="1260" y="657"/>
                </a:cubicBezTo>
                <a:cubicBezTo>
                  <a:pt x="1249" y="679"/>
                  <a:pt x="1219" y="684"/>
                  <a:pt x="1199" y="691"/>
                </a:cubicBezTo>
                <a:cubicBezTo>
                  <a:pt x="1182" y="697"/>
                  <a:pt x="1169" y="711"/>
                  <a:pt x="1152" y="717"/>
                </a:cubicBezTo>
                <a:cubicBezTo>
                  <a:pt x="1133" y="724"/>
                  <a:pt x="1112" y="726"/>
                  <a:pt x="1092" y="731"/>
                </a:cubicBezTo>
                <a:cubicBezTo>
                  <a:pt x="1011" y="727"/>
                  <a:pt x="930" y="729"/>
                  <a:pt x="851" y="711"/>
                </a:cubicBezTo>
                <a:cubicBezTo>
                  <a:pt x="835" y="694"/>
                  <a:pt x="825" y="687"/>
                  <a:pt x="818" y="664"/>
                </a:cubicBezTo>
                <a:cubicBezTo>
                  <a:pt x="798" y="683"/>
                  <a:pt x="785" y="714"/>
                  <a:pt x="764" y="731"/>
                </a:cubicBezTo>
                <a:cubicBezTo>
                  <a:pt x="756" y="737"/>
                  <a:pt x="745" y="739"/>
                  <a:pt x="737" y="744"/>
                </a:cubicBezTo>
                <a:cubicBezTo>
                  <a:pt x="670" y="786"/>
                  <a:pt x="714" y="771"/>
                  <a:pt x="670" y="784"/>
                </a:cubicBezTo>
                <a:cubicBezTo>
                  <a:pt x="429" y="777"/>
                  <a:pt x="513" y="790"/>
                  <a:pt x="362" y="737"/>
                </a:cubicBezTo>
                <a:cubicBezTo>
                  <a:pt x="354" y="714"/>
                  <a:pt x="343" y="693"/>
                  <a:pt x="335" y="670"/>
                </a:cubicBezTo>
                <a:cubicBezTo>
                  <a:pt x="333" y="657"/>
                  <a:pt x="342" y="632"/>
                  <a:pt x="329" y="630"/>
                </a:cubicBezTo>
                <a:cubicBezTo>
                  <a:pt x="313" y="628"/>
                  <a:pt x="306" y="653"/>
                  <a:pt x="295" y="664"/>
                </a:cubicBezTo>
                <a:cubicBezTo>
                  <a:pt x="285" y="674"/>
                  <a:pt x="268" y="672"/>
                  <a:pt x="255" y="677"/>
                </a:cubicBezTo>
                <a:cubicBezTo>
                  <a:pt x="47" y="668"/>
                  <a:pt x="152" y="677"/>
                  <a:pt x="41" y="644"/>
                </a:cubicBezTo>
                <a:cubicBezTo>
                  <a:pt x="16" y="619"/>
                  <a:pt x="9" y="596"/>
                  <a:pt x="0" y="563"/>
                </a:cubicBezTo>
                <a:cubicBezTo>
                  <a:pt x="2" y="536"/>
                  <a:pt x="0" y="509"/>
                  <a:pt x="7" y="483"/>
                </a:cubicBezTo>
                <a:cubicBezTo>
                  <a:pt x="13" y="462"/>
                  <a:pt x="77" y="447"/>
                  <a:pt x="94" y="443"/>
                </a:cubicBezTo>
                <a:cubicBezTo>
                  <a:pt x="105" y="436"/>
                  <a:pt x="116" y="428"/>
                  <a:pt x="128" y="423"/>
                </a:cubicBezTo>
                <a:cubicBezTo>
                  <a:pt x="137" y="419"/>
                  <a:pt x="149" y="423"/>
                  <a:pt x="155" y="416"/>
                </a:cubicBezTo>
                <a:cubicBezTo>
                  <a:pt x="160" y="409"/>
                  <a:pt x="135" y="378"/>
                  <a:pt x="134" y="376"/>
                </a:cubicBezTo>
                <a:cubicBezTo>
                  <a:pt x="124" y="343"/>
                  <a:pt x="115" y="348"/>
                  <a:pt x="108" y="309"/>
                </a:cubicBezTo>
                <a:cubicBezTo>
                  <a:pt x="110" y="271"/>
                  <a:pt x="108" y="233"/>
                  <a:pt x="114" y="195"/>
                </a:cubicBezTo>
                <a:cubicBezTo>
                  <a:pt x="120" y="156"/>
                  <a:pt x="217" y="154"/>
                  <a:pt x="242" y="141"/>
                </a:cubicBezTo>
                <a:close/>
              </a:path>
            </a:pathLst>
          </a:custGeom>
          <a:noFill/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8" name="Text Box 16">
            <a:extLst>
              <a:ext uri="{FF2B5EF4-FFF2-40B4-BE49-F238E27FC236}">
                <a16:creationId xmlns:a16="http://schemas.microsoft.com/office/drawing/2014/main" id="{F0FF50F9-D47B-6E13-AE51-81872EA16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463" y="4221164"/>
            <a:ext cx="1295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objekat klase Automobil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49169" name="Line 17">
            <a:extLst>
              <a:ext uri="{FF2B5EF4-FFF2-40B4-BE49-F238E27FC236}">
                <a16:creationId xmlns:a16="http://schemas.microsoft.com/office/drawing/2014/main" id="{C748E9CB-DD18-7E6E-C83F-7B4D8A28CE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6" y="4292600"/>
            <a:ext cx="2447925" cy="7143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FC0E8-D9EC-0E02-77D8-9DAA7E8BB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Nizovi referenci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73E4E-416F-EF0D-8027-2E6CAC5B8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5330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4D809881-E2EF-6512-67D0-59A749D63A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Nizovi</a:t>
            </a:r>
            <a:r>
              <a:rPr lang="sr-Latn-RS" altLang="sr-Latn-RS"/>
              <a:t> i objekti</a:t>
            </a:r>
            <a:endParaRPr lang="en-US" altLang="sr-Latn-RS"/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DB7E17C9-8D74-4ECD-5A37-DA88A7AFFF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int a[]; // još uvek nije napravljen niz!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a = new int[5];</a:t>
            </a:r>
            <a:endParaRPr lang="en-U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int a[] = { 1, 2, 3, 4, 5 };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Automobil[] parking = new Automobil[20];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for(int i = 0; i &lt; parking.length; i++)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parking[i] = new Automobil();</a:t>
            </a:r>
            <a:endParaRPr lang="en-US" altLang="sr-Latn-RS" sz="24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C775E954-B639-7B26-D057-6A1020EDEF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Nizovi primitivnih tipova </a:t>
            </a:r>
            <a:r>
              <a:rPr lang="sr-Latn-CS" altLang="sr-Latn-RS" baseline="-25000"/>
              <a:t>1/3</a:t>
            </a:r>
            <a:endParaRPr lang="en-US" altLang="sr-Latn-RS" baseline="-25000"/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EDF7F184-0ECB-0617-1426-18959BAAC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4508501"/>
            <a:ext cx="647700" cy="35877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1204" name="Line 4">
            <a:extLst>
              <a:ext uri="{FF2B5EF4-FFF2-40B4-BE49-F238E27FC236}">
                <a16:creationId xmlns:a16="http://schemas.microsoft.com/office/drawing/2014/main" id="{1D537A2E-238C-CD00-829B-6B6DF85637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003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5" name="Line 5">
            <a:extLst>
              <a:ext uri="{FF2B5EF4-FFF2-40B4-BE49-F238E27FC236}">
                <a16:creationId xmlns:a16="http://schemas.microsoft.com/office/drawing/2014/main" id="{EEFD9328-EE64-EC7B-5F3A-08AB559BCE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6" name="AutoShape 6">
            <a:extLst>
              <a:ext uri="{FF2B5EF4-FFF2-40B4-BE49-F238E27FC236}">
                <a16:creationId xmlns:a16="http://schemas.microsoft.com/office/drawing/2014/main" id="{7172727F-9530-11B9-831F-3A4B4E3FA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6" y="2276475"/>
            <a:ext cx="4537075" cy="2952750"/>
          </a:xfrm>
          <a:prstGeom prst="roundRect">
            <a:avLst>
              <a:gd name="adj" fmla="val 16667"/>
            </a:avLst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1207" name="Text Box 7">
            <a:extLst>
              <a:ext uri="{FF2B5EF4-FFF2-40B4-BE49-F238E27FC236}">
                <a16:creationId xmlns:a16="http://schemas.microsoft.com/office/drawing/2014/main" id="{B9A08DFE-B409-0A14-B9B2-7C0917800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9" y="5373688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heap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51208" name="Text Box 8">
            <a:extLst>
              <a:ext uri="{FF2B5EF4-FFF2-40B4-BE49-F238E27FC236}">
                <a16:creationId xmlns:a16="http://schemas.microsoft.com/office/drawing/2014/main" id="{F58EE4F6-4A85-C3B3-8D13-576EB7AB9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5013325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stek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51209" name="Text Box 9">
            <a:extLst>
              <a:ext uri="{FF2B5EF4-FFF2-40B4-BE49-F238E27FC236}">
                <a16:creationId xmlns:a16="http://schemas.microsoft.com/office/drawing/2014/main" id="{86A50A7D-9C94-AD09-B642-32FA84475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4437063"/>
            <a:ext cx="431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a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51210" name="Text Box 22">
            <a:extLst>
              <a:ext uri="{FF2B5EF4-FFF2-40B4-BE49-F238E27FC236}">
                <a16:creationId xmlns:a16="http://schemas.microsoft.com/office/drawing/2014/main" id="{D3A70A45-4795-FD1C-51B6-9664896F3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988" y="5949950"/>
            <a:ext cx="6265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int a[];</a:t>
            </a:r>
            <a:endParaRPr lang="en-US" altLang="sr-Latn-RS" sz="24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5EA5CBEC-7E4B-7584-626D-E6D53CCCDF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Nizovi primitivnih tipova </a:t>
            </a:r>
            <a:r>
              <a:rPr lang="sr-Latn-CS" altLang="sr-Latn-RS" baseline="-25000"/>
              <a:t>2/3</a:t>
            </a:r>
            <a:endParaRPr lang="en-US" altLang="sr-Latn-RS" baseline="-25000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BE06A1F6-FF5A-A6B7-87C1-F07FF3718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4508501"/>
            <a:ext cx="647700" cy="35877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2228" name="Line 4">
            <a:extLst>
              <a:ext uri="{FF2B5EF4-FFF2-40B4-BE49-F238E27FC236}">
                <a16:creationId xmlns:a16="http://schemas.microsoft.com/office/drawing/2014/main" id="{B3DDD3B9-AEE9-8A3B-1E9A-C58DFF71E1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003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29" name="Line 5">
            <a:extLst>
              <a:ext uri="{FF2B5EF4-FFF2-40B4-BE49-F238E27FC236}">
                <a16:creationId xmlns:a16="http://schemas.microsoft.com/office/drawing/2014/main" id="{4B579409-C3F7-FB6A-5303-F6D236B113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30" name="AutoShape 6">
            <a:extLst>
              <a:ext uri="{FF2B5EF4-FFF2-40B4-BE49-F238E27FC236}">
                <a16:creationId xmlns:a16="http://schemas.microsoft.com/office/drawing/2014/main" id="{9F7D8637-95C6-6797-30B0-C173B2B29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6" y="2276475"/>
            <a:ext cx="4537075" cy="2952750"/>
          </a:xfrm>
          <a:prstGeom prst="roundRect">
            <a:avLst>
              <a:gd name="adj" fmla="val 16667"/>
            </a:avLst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2231" name="Text Box 7">
            <a:extLst>
              <a:ext uri="{FF2B5EF4-FFF2-40B4-BE49-F238E27FC236}">
                <a16:creationId xmlns:a16="http://schemas.microsoft.com/office/drawing/2014/main" id="{106A2FC2-C6CE-88EF-0C0F-A609E4EF1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9" y="5373688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heap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52232" name="Text Box 8">
            <a:extLst>
              <a:ext uri="{FF2B5EF4-FFF2-40B4-BE49-F238E27FC236}">
                <a16:creationId xmlns:a16="http://schemas.microsoft.com/office/drawing/2014/main" id="{874A4C05-8FBF-B427-1D46-D245ABCCF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5013325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stek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52233" name="Text Box 9">
            <a:extLst>
              <a:ext uri="{FF2B5EF4-FFF2-40B4-BE49-F238E27FC236}">
                <a16:creationId xmlns:a16="http://schemas.microsoft.com/office/drawing/2014/main" id="{653024BA-9646-52B2-A611-537BAAAF4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4437063"/>
            <a:ext cx="431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a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52234" name="Line 10">
            <a:extLst>
              <a:ext uri="{FF2B5EF4-FFF2-40B4-BE49-F238E27FC236}">
                <a16:creationId xmlns:a16="http://schemas.microsoft.com/office/drawing/2014/main" id="{D04B3E5C-D630-427F-F325-7C1FF263A2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3933825"/>
            <a:ext cx="2592388" cy="71913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35" name="Rectangle 11">
            <a:extLst>
              <a:ext uri="{FF2B5EF4-FFF2-40B4-BE49-F238E27FC236}">
                <a16:creationId xmlns:a16="http://schemas.microsoft.com/office/drawing/2014/main" id="{F39BFB14-B3D5-6F54-8051-D323D43E5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3" y="3644901"/>
            <a:ext cx="2519362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2236" name="Rectangle 12">
            <a:extLst>
              <a:ext uri="{FF2B5EF4-FFF2-40B4-BE49-F238E27FC236}">
                <a16:creationId xmlns:a16="http://schemas.microsoft.com/office/drawing/2014/main" id="{9A6CCF2B-36CA-FBFC-7141-463630DCD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4" y="3644901"/>
            <a:ext cx="503237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2237" name="Rectangle 13">
            <a:extLst>
              <a:ext uri="{FF2B5EF4-FFF2-40B4-BE49-F238E27FC236}">
                <a16:creationId xmlns:a16="http://schemas.microsoft.com/office/drawing/2014/main" id="{2E961656-579D-6B76-8BAE-CA71CC929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0" y="3644901"/>
            <a:ext cx="503238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2238" name="Rectangle 14">
            <a:extLst>
              <a:ext uri="{FF2B5EF4-FFF2-40B4-BE49-F238E27FC236}">
                <a16:creationId xmlns:a16="http://schemas.microsoft.com/office/drawing/2014/main" id="{465309E7-C747-B5E0-4149-7B8AF8CA5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5" y="3644901"/>
            <a:ext cx="503238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2239" name="Rectangle 15">
            <a:extLst>
              <a:ext uri="{FF2B5EF4-FFF2-40B4-BE49-F238E27FC236}">
                <a16:creationId xmlns:a16="http://schemas.microsoft.com/office/drawing/2014/main" id="{47E7430C-CAC0-79D5-6596-BA742C95A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764" y="3644901"/>
            <a:ext cx="503237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2240" name="Rectangle 16">
            <a:extLst>
              <a:ext uri="{FF2B5EF4-FFF2-40B4-BE49-F238E27FC236}">
                <a16:creationId xmlns:a16="http://schemas.microsoft.com/office/drawing/2014/main" id="{844A3B9B-0467-83F7-7A8E-73094CA6E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6589" y="3644901"/>
            <a:ext cx="503237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2241" name="Text Box 17">
            <a:extLst>
              <a:ext uri="{FF2B5EF4-FFF2-40B4-BE49-F238E27FC236}">
                <a16:creationId xmlns:a16="http://schemas.microsoft.com/office/drawing/2014/main" id="{8EE66314-9DBD-26EB-9BED-C85589129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463" y="3644900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0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52242" name="Text Box 18">
            <a:extLst>
              <a:ext uri="{FF2B5EF4-FFF2-40B4-BE49-F238E27FC236}">
                <a16:creationId xmlns:a16="http://schemas.microsoft.com/office/drawing/2014/main" id="{82430F98-5381-AACC-0DE5-EA9292FDF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725" y="3644900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0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52243" name="Text Box 19">
            <a:extLst>
              <a:ext uri="{FF2B5EF4-FFF2-40B4-BE49-F238E27FC236}">
                <a16:creationId xmlns:a16="http://schemas.microsoft.com/office/drawing/2014/main" id="{90D9DDE9-B548-5EEF-E155-13B78E8AA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525" y="3644900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0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52244" name="Text Box 20">
            <a:extLst>
              <a:ext uri="{FF2B5EF4-FFF2-40B4-BE49-F238E27FC236}">
                <a16:creationId xmlns:a16="http://schemas.microsoft.com/office/drawing/2014/main" id="{EAF9DE94-3073-9EFF-0EEE-3DD611B4E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1763" y="3644900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0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52245" name="Text Box 21">
            <a:extLst>
              <a:ext uri="{FF2B5EF4-FFF2-40B4-BE49-F238E27FC236}">
                <a16:creationId xmlns:a16="http://schemas.microsoft.com/office/drawing/2014/main" id="{B7E5A654-3984-428A-1E3F-C7BB2D98F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8" y="3644900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0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52246" name="Text Box 22">
            <a:extLst>
              <a:ext uri="{FF2B5EF4-FFF2-40B4-BE49-F238E27FC236}">
                <a16:creationId xmlns:a16="http://schemas.microsoft.com/office/drawing/2014/main" id="{57A06FD1-4006-68B2-B90B-7419772E9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1" y="5949950"/>
            <a:ext cx="7561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a = new int[5]; </a:t>
            </a:r>
            <a:endParaRPr lang="en-US" altLang="sr-Latn-RS" sz="24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0F084165-0645-E88A-CAC9-52097777F0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Nizovi primitivnih tipova </a:t>
            </a:r>
            <a:r>
              <a:rPr lang="sr-Latn-CS" altLang="sr-Latn-RS" baseline="-25000"/>
              <a:t>3/3</a:t>
            </a:r>
            <a:endParaRPr lang="en-US" altLang="sr-Latn-RS" baseline="-25000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D5CC330F-539F-6726-0002-82E7A1E70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4508501"/>
            <a:ext cx="647700" cy="35877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3252" name="Line 4">
            <a:extLst>
              <a:ext uri="{FF2B5EF4-FFF2-40B4-BE49-F238E27FC236}">
                <a16:creationId xmlns:a16="http://schemas.microsoft.com/office/drawing/2014/main" id="{FF65FFE8-FB78-F700-076D-7A02CDA437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003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3" name="Line 5">
            <a:extLst>
              <a:ext uri="{FF2B5EF4-FFF2-40B4-BE49-F238E27FC236}">
                <a16:creationId xmlns:a16="http://schemas.microsoft.com/office/drawing/2014/main" id="{3BC1600B-15A2-6114-9018-1970C8893B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4" name="AutoShape 6">
            <a:extLst>
              <a:ext uri="{FF2B5EF4-FFF2-40B4-BE49-F238E27FC236}">
                <a16:creationId xmlns:a16="http://schemas.microsoft.com/office/drawing/2014/main" id="{8AB35A34-2268-72D5-124E-3A3A200CE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6" y="2276475"/>
            <a:ext cx="4537075" cy="2952750"/>
          </a:xfrm>
          <a:prstGeom prst="roundRect">
            <a:avLst>
              <a:gd name="adj" fmla="val 16667"/>
            </a:avLst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3255" name="Text Box 7">
            <a:extLst>
              <a:ext uri="{FF2B5EF4-FFF2-40B4-BE49-F238E27FC236}">
                <a16:creationId xmlns:a16="http://schemas.microsoft.com/office/drawing/2014/main" id="{D6797962-C8EB-19D4-CB39-5B2ACF72E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9" y="5373688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heap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53256" name="Text Box 8">
            <a:extLst>
              <a:ext uri="{FF2B5EF4-FFF2-40B4-BE49-F238E27FC236}">
                <a16:creationId xmlns:a16="http://schemas.microsoft.com/office/drawing/2014/main" id="{93A15CE4-4E81-CD95-9442-517588B89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5013325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stek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53257" name="Text Box 9">
            <a:extLst>
              <a:ext uri="{FF2B5EF4-FFF2-40B4-BE49-F238E27FC236}">
                <a16:creationId xmlns:a16="http://schemas.microsoft.com/office/drawing/2014/main" id="{8136D155-7EFD-AA6A-992E-92C048D94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4437063"/>
            <a:ext cx="431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a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53258" name="Line 10">
            <a:extLst>
              <a:ext uri="{FF2B5EF4-FFF2-40B4-BE49-F238E27FC236}">
                <a16:creationId xmlns:a16="http://schemas.microsoft.com/office/drawing/2014/main" id="{9517696B-1FA7-CDAE-CA8B-7953912037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3933825"/>
            <a:ext cx="2592388" cy="71913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9" name="Rectangle 11">
            <a:extLst>
              <a:ext uri="{FF2B5EF4-FFF2-40B4-BE49-F238E27FC236}">
                <a16:creationId xmlns:a16="http://schemas.microsoft.com/office/drawing/2014/main" id="{7D24A35E-4CA0-9DC6-AC77-96D3E91EE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3" y="3644901"/>
            <a:ext cx="2519362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3260" name="Rectangle 12">
            <a:extLst>
              <a:ext uri="{FF2B5EF4-FFF2-40B4-BE49-F238E27FC236}">
                <a16:creationId xmlns:a16="http://schemas.microsoft.com/office/drawing/2014/main" id="{4C4386B9-8BD6-4093-B43F-39F0DD0B4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4" y="3644901"/>
            <a:ext cx="503237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3261" name="Rectangle 13">
            <a:extLst>
              <a:ext uri="{FF2B5EF4-FFF2-40B4-BE49-F238E27FC236}">
                <a16:creationId xmlns:a16="http://schemas.microsoft.com/office/drawing/2014/main" id="{54DFFF11-3C5A-D2DF-68C2-8AAAD8B4C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0" y="3644901"/>
            <a:ext cx="503238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3262" name="Rectangle 14">
            <a:extLst>
              <a:ext uri="{FF2B5EF4-FFF2-40B4-BE49-F238E27FC236}">
                <a16:creationId xmlns:a16="http://schemas.microsoft.com/office/drawing/2014/main" id="{816806FE-46A1-37DF-5B75-342003C8A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5" y="3644901"/>
            <a:ext cx="503238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3263" name="Rectangle 15">
            <a:extLst>
              <a:ext uri="{FF2B5EF4-FFF2-40B4-BE49-F238E27FC236}">
                <a16:creationId xmlns:a16="http://schemas.microsoft.com/office/drawing/2014/main" id="{D22188B1-A692-E4C1-3802-F26A0F30D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764" y="3644901"/>
            <a:ext cx="503237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3264" name="Rectangle 16">
            <a:extLst>
              <a:ext uri="{FF2B5EF4-FFF2-40B4-BE49-F238E27FC236}">
                <a16:creationId xmlns:a16="http://schemas.microsoft.com/office/drawing/2014/main" id="{3EDCB99B-82FE-592B-2165-C0CD06F28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6589" y="3644901"/>
            <a:ext cx="503237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3265" name="Text Box 17">
            <a:extLst>
              <a:ext uri="{FF2B5EF4-FFF2-40B4-BE49-F238E27FC236}">
                <a16:creationId xmlns:a16="http://schemas.microsoft.com/office/drawing/2014/main" id="{4E36E4BC-8328-ED83-7797-2D9626697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463" y="3644900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RS" altLang="sr-Latn-RS" sz="1600">
                <a:latin typeface="Times New Roman" panose="02020603050405020304" pitchFamily="18" charset="0"/>
              </a:rPr>
              <a:t>5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53266" name="Text Box 18">
            <a:extLst>
              <a:ext uri="{FF2B5EF4-FFF2-40B4-BE49-F238E27FC236}">
                <a16:creationId xmlns:a16="http://schemas.microsoft.com/office/drawing/2014/main" id="{FDF3CF50-962F-2021-2323-4B7FFA0D3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725" y="3644900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3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53267" name="Text Box 19">
            <a:extLst>
              <a:ext uri="{FF2B5EF4-FFF2-40B4-BE49-F238E27FC236}">
                <a16:creationId xmlns:a16="http://schemas.microsoft.com/office/drawing/2014/main" id="{86A79562-7E62-BF91-3822-6CCBF990F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525" y="3644900"/>
            <a:ext cx="3561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RS" altLang="sr-Latn-RS" sz="1600">
                <a:latin typeface="Times New Roman" panose="02020603050405020304" pitchFamily="18" charset="0"/>
              </a:rPr>
              <a:t>-7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53268" name="Text Box 20">
            <a:extLst>
              <a:ext uri="{FF2B5EF4-FFF2-40B4-BE49-F238E27FC236}">
                <a16:creationId xmlns:a16="http://schemas.microsoft.com/office/drawing/2014/main" id="{8442A88D-337C-BFC1-3F80-3ED60F737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1763" y="3644900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RS" altLang="sr-Latn-RS" sz="1600">
                <a:latin typeface="Times New Roman" panose="02020603050405020304" pitchFamily="18" charset="0"/>
              </a:rPr>
              <a:t>9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53269" name="Text Box 21">
            <a:extLst>
              <a:ext uri="{FF2B5EF4-FFF2-40B4-BE49-F238E27FC236}">
                <a16:creationId xmlns:a16="http://schemas.microsoft.com/office/drawing/2014/main" id="{CDC31A4E-989F-4FCE-B6F1-DF31DC0EF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8" y="3644900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8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53270" name="Text Box 22">
            <a:extLst>
              <a:ext uri="{FF2B5EF4-FFF2-40B4-BE49-F238E27FC236}">
                <a16:creationId xmlns:a16="http://schemas.microsoft.com/office/drawing/2014/main" id="{899251B0-69D6-2AEF-39DD-69FACAF26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1" y="5949950"/>
            <a:ext cx="7561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a[0]=5; a[1]=3; a[2]=-7; a[3]=9; a[4]=8;</a:t>
            </a:r>
            <a:endParaRPr lang="en-US" altLang="sr-Latn-RS" sz="24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DABF5C68-06F0-94D9-604B-2A177A3F26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Nizovi primitivnih tipova</a:t>
            </a:r>
            <a:endParaRPr lang="en-US" altLang="sr-Latn-RS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14A159E7-35EE-F2E4-EA73-65D81C0E1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4508501"/>
            <a:ext cx="647700" cy="35877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4276" name="Line 4">
            <a:extLst>
              <a:ext uri="{FF2B5EF4-FFF2-40B4-BE49-F238E27FC236}">
                <a16:creationId xmlns:a16="http://schemas.microsoft.com/office/drawing/2014/main" id="{4F7483A6-9DD2-6281-E70C-6FDE45166E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003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77" name="Line 5">
            <a:extLst>
              <a:ext uri="{FF2B5EF4-FFF2-40B4-BE49-F238E27FC236}">
                <a16:creationId xmlns:a16="http://schemas.microsoft.com/office/drawing/2014/main" id="{336CC480-8D40-E826-F972-3C6CE7B796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78" name="AutoShape 6">
            <a:extLst>
              <a:ext uri="{FF2B5EF4-FFF2-40B4-BE49-F238E27FC236}">
                <a16:creationId xmlns:a16="http://schemas.microsoft.com/office/drawing/2014/main" id="{7A9C190B-D98B-39EB-9A8D-ABB31A596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6" y="2276475"/>
            <a:ext cx="4537075" cy="2952750"/>
          </a:xfrm>
          <a:prstGeom prst="roundRect">
            <a:avLst>
              <a:gd name="adj" fmla="val 16667"/>
            </a:avLst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4279" name="Text Box 7">
            <a:extLst>
              <a:ext uri="{FF2B5EF4-FFF2-40B4-BE49-F238E27FC236}">
                <a16:creationId xmlns:a16="http://schemas.microsoft.com/office/drawing/2014/main" id="{51498D55-448A-2E0C-142C-6B850CB7F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9" y="5373688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heap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54280" name="Text Box 8">
            <a:extLst>
              <a:ext uri="{FF2B5EF4-FFF2-40B4-BE49-F238E27FC236}">
                <a16:creationId xmlns:a16="http://schemas.microsoft.com/office/drawing/2014/main" id="{E3E7FEBB-BBB2-37A0-C400-49B6CA852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5013325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stek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54281" name="Text Box 9">
            <a:extLst>
              <a:ext uri="{FF2B5EF4-FFF2-40B4-BE49-F238E27FC236}">
                <a16:creationId xmlns:a16="http://schemas.microsoft.com/office/drawing/2014/main" id="{2EADEE30-866E-BC32-9FF3-B6107B564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4437063"/>
            <a:ext cx="431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a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54282" name="Line 10">
            <a:extLst>
              <a:ext uri="{FF2B5EF4-FFF2-40B4-BE49-F238E27FC236}">
                <a16:creationId xmlns:a16="http://schemas.microsoft.com/office/drawing/2014/main" id="{96F3B611-006E-5B96-57A7-55AE0D16A4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3933825"/>
            <a:ext cx="2592388" cy="71913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3" name="Rectangle 11">
            <a:extLst>
              <a:ext uri="{FF2B5EF4-FFF2-40B4-BE49-F238E27FC236}">
                <a16:creationId xmlns:a16="http://schemas.microsoft.com/office/drawing/2014/main" id="{609EF3F9-5C08-909E-D86E-F2BB09399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3" y="3644901"/>
            <a:ext cx="2519362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4284" name="Rectangle 12">
            <a:extLst>
              <a:ext uri="{FF2B5EF4-FFF2-40B4-BE49-F238E27FC236}">
                <a16:creationId xmlns:a16="http://schemas.microsoft.com/office/drawing/2014/main" id="{164202B4-4988-2B35-6B42-C8EF6EC0B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4" y="3644901"/>
            <a:ext cx="503237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4285" name="Rectangle 13">
            <a:extLst>
              <a:ext uri="{FF2B5EF4-FFF2-40B4-BE49-F238E27FC236}">
                <a16:creationId xmlns:a16="http://schemas.microsoft.com/office/drawing/2014/main" id="{BF5DF9CA-0532-0D78-1403-0945AE02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0" y="3644901"/>
            <a:ext cx="503238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4286" name="Rectangle 14">
            <a:extLst>
              <a:ext uri="{FF2B5EF4-FFF2-40B4-BE49-F238E27FC236}">
                <a16:creationId xmlns:a16="http://schemas.microsoft.com/office/drawing/2014/main" id="{9BC28B57-F0E1-9247-F00A-96FA52128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5" y="3644901"/>
            <a:ext cx="503238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4287" name="Rectangle 15">
            <a:extLst>
              <a:ext uri="{FF2B5EF4-FFF2-40B4-BE49-F238E27FC236}">
                <a16:creationId xmlns:a16="http://schemas.microsoft.com/office/drawing/2014/main" id="{6005B0F7-54A7-8E57-FE2B-787FA9D55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764" y="3644901"/>
            <a:ext cx="503237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4288" name="Rectangle 16">
            <a:extLst>
              <a:ext uri="{FF2B5EF4-FFF2-40B4-BE49-F238E27FC236}">
                <a16:creationId xmlns:a16="http://schemas.microsoft.com/office/drawing/2014/main" id="{4EC084B9-6FFF-5E7F-A0F3-0D0A48278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6589" y="3644901"/>
            <a:ext cx="503237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4289" name="Text Box 17">
            <a:extLst>
              <a:ext uri="{FF2B5EF4-FFF2-40B4-BE49-F238E27FC236}">
                <a16:creationId xmlns:a16="http://schemas.microsoft.com/office/drawing/2014/main" id="{235CE14A-7FF6-9F9E-7CFA-12C60E1E5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463" y="3644900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5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54290" name="Text Box 18">
            <a:extLst>
              <a:ext uri="{FF2B5EF4-FFF2-40B4-BE49-F238E27FC236}">
                <a16:creationId xmlns:a16="http://schemas.microsoft.com/office/drawing/2014/main" id="{D312FD04-C747-119C-AAA1-8AED97526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725" y="3644900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3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54291" name="Text Box 19">
            <a:extLst>
              <a:ext uri="{FF2B5EF4-FFF2-40B4-BE49-F238E27FC236}">
                <a16:creationId xmlns:a16="http://schemas.microsoft.com/office/drawing/2014/main" id="{CEDBDF0F-759D-095A-62C2-DDC431AC6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525" y="3644900"/>
            <a:ext cx="3561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-7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54292" name="Text Box 20">
            <a:extLst>
              <a:ext uri="{FF2B5EF4-FFF2-40B4-BE49-F238E27FC236}">
                <a16:creationId xmlns:a16="http://schemas.microsoft.com/office/drawing/2014/main" id="{1E647896-B609-6FBC-B759-9704E9F68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1763" y="3644900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9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54293" name="Text Box 21">
            <a:extLst>
              <a:ext uri="{FF2B5EF4-FFF2-40B4-BE49-F238E27FC236}">
                <a16:creationId xmlns:a16="http://schemas.microsoft.com/office/drawing/2014/main" id="{FD796B2B-4C3C-CB84-B92F-CAC7E9986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8" y="3644900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RS" altLang="sr-Latn-RS" sz="1600">
                <a:latin typeface="Times New Roman" panose="02020603050405020304" pitchFamily="18" charset="0"/>
              </a:rPr>
              <a:t>8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54294" name="Text Box 22">
            <a:extLst>
              <a:ext uri="{FF2B5EF4-FFF2-40B4-BE49-F238E27FC236}">
                <a16:creationId xmlns:a16="http://schemas.microsoft.com/office/drawing/2014/main" id="{325CBDD8-0058-198C-98FB-091F1AEED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988" y="5949950"/>
            <a:ext cx="6265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int a[] = { 5, 3, -7, 9, 8 };</a:t>
            </a:r>
            <a:endParaRPr lang="en-US" altLang="sr-Latn-RS" sz="2400" b="1">
              <a:latin typeface="Courier New" panose="02070309020205020404" pitchFamily="49" charset="0"/>
            </a:endParaRPr>
          </a:p>
        </p:txBody>
      </p:sp>
      <p:sp>
        <p:nvSpPr>
          <p:cNvPr id="54295" name="Text Box 23">
            <a:extLst>
              <a:ext uri="{FF2B5EF4-FFF2-40B4-BE49-F238E27FC236}">
                <a16:creationId xmlns:a16="http://schemas.microsoft.com/office/drawing/2014/main" id="{83F6834F-C5A2-2B3A-D964-55C43D1FA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6" y="1484313"/>
            <a:ext cx="6265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sr-Latn-CS" altLang="sr-Latn-RS" sz="2400"/>
              <a:t>jednim potezom</a:t>
            </a:r>
            <a:endParaRPr lang="en-US" altLang="sr-Latn-RS" sz="24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91D1A294-F0EF-20A3-64F6-8CE3E54DFF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Nizovi referenci na objekte </a:t>
            </a:r>
            <a:r>
              <a:rPr lang="sr-Latn-CS" altLang="sr-Latn-RS" baseline="-25000"/>
              <a:t>1/3</a:t>
            </a:r>
            <a:endParaRPr lang="en-US" altLang="sr-Latn-RS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F5A45307-BA62-ABA3-6338-4D8FE9EA3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4508501"/>
            <a:ext cx="647700" cy="35877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5300" name="Line 4">
            <a:extLst>
              <a:ext uri="{FF2B5EF4-FFF2-40B4-BE49-F238E27FC236}">
                <a16:creationId xmlns:a16="http://schemas.microsoft.com/office/drawing/2014/main" id="{463DBDF5-AA38-78B3-6B3C-DD225EE9CB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003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1" name="Line 5">
            <a:extLst>
              <a:ext uri="{FF2B5EF4-FFF2-40B4-BE49-F238E27FC236}">
                <a16:creationId xmlns:a16="http://schemas.microsoft.com/office/drawing/2014/main" id="{6859B4A1-9EF7-6C9F-A224-79A8A67E11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2" name="AutoShape 6">
            <a:extLst>
              <a:ext uri="{FF2B5EF4-FFF2-40B4-BE49-F238E27FC236}">
                <a16:creationId xmlns:a16="http://schemas.microsoft.com/office/drawing/2014/main" id="{BFDBF46D-709A-7524-FB54-B662615F4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6" y="2276475"/>
            <a:ext cx="4537075" cy="2952750"/>
          </a:xfrm>
          <a:prstGeom prst="roundRect">
            <a:avLst>
              <a:gd name="adj" fmla="val 16667"/>
            </a:avLst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5303" name="Text Box 7">
            <a:extLst>
              <a:ext uri="{FF2B5EF4-FFF2-40B4-BE49-F238E27FC236}">
                <a16:creationId xmlns:a16="http://schemas.microsoft.com/office/drawing/2014/main" id="{CFFF1BFB-EDE2-8DC1-E617-31CFF66CF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9" y="5373688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heap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55304" name="Text Box 8">
            <a:extLst>
              <a:ext uri="{FF2B5EF4-FFF2-40B4-BE49-F238E27FC236}">
                <a16:creationId xmlns:a16="http://schemas.microsoft.com/office/drawing/2014/main" id="{CA62C8F9-2D16-5A87-C7DB-67D9FAF3A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5013325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stek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55305" name="Text Box 16">
            <a:extLst>
              <a:ext uri="{FF2B5EF4-FFF2-40B4-BE49-F238E27FC236}">
                <a16:creationId xmlns:a16="http://schemas.microsoft.com/office/drawing/2014/main" id="{E8C4ED4A-DD98-5179-A40A-2B53426A7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4" y="6021388"/>
            <a:ext cx="7704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Automobil[] parking;</a:t>
            </a:r>
            <a:endParaRPr lang="en-US" altLang="sr-Latn-RS" sz="2400" b="1">
              <a:latin typeface="Courier New" panose="02070309020205020404" pitchFamily="49" charset="0"/>
            </a:endParaRPr>
          </a:p>
        </p:txBody>
      </p:sp>
      <p:sp>
        <p:nvSpPr>
          <p:cNvPr id="55306" name="Text Box 22">
            <a:extLst>
              <a:ext uri="{FF2B5EF4-FFF2-40B4-BE49-F238E27FC236}">
                <a16:creationId xmlns:a16="http://schemas.microsoft.com/office/drawing/2014/main" id="{EE37B8D6-9837-948E-F9A5-C85041012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4437064"/>
            <a:ext cx="71913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sr-Latn-RS" sz="1200">
                <a:latin typeface="Times New Roman" panose="02020603050405020304" pitchFamily="18" charset="0"/>
              </a:rPr>
              <a:t>parking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DA06CB79-52DA-3A50-DE48-E21FC3DFBE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Nizovi referenci na objekte </a:t>
            </a:r>
            <a:r>
              <a:rPr lang="sr-Latn-CS" altLang="sr-Latn-RS" baseline="-25000"/>
              <a:t>2/3</a:t>
            </a:r>
            <a:endParaRPr lang="en-US" altLang="sr-Latn-RS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4DA4D91D-A860-A9FE-7BC5-9794CD9CE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4508501"/>
            <a:ext cx="647700" cy="35877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6324" name="Line 4">
            <a:extLst>
              <a:ext uri="{FF2B5EF4-FFF2-40B4-BE49-F238E27FC236}">
                <a16:creationId xmlns:a16="http://schemas.microsoft.com/office/drawing/2014/main" id="{00C62A71-1D3F-7CBC-DD30-14F5301429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003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25" name="Line 5">
            <a:extLst>
              <a:ext uri="{FF2B5EF4-FFF2-40B4-BE49-F238E27FC236}">
                <a16:creationId xmlns:a16="http://schemas.microsoft.com/office/drawing/2014/main" id="{E40486D7-98AF-D762-5239-371D2F4C27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26" name="AutoShape 6">
            <a:extLst>
              <a:ext uri="{FF2B5EF4-FFF2-40B4-BE49-F238E27FC236}">
                <a16:creationId xmlns:a16="http://schemas.microsoft.com/office/drawing/2014/main" id="{EDC69613-9CD8-A119-D923-913598283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6" y="2276475"/>
            <a:ext cx="4537075" cy="2952750"/>
          </a:xfrm>
          <a:prstGeom prst="roundRect">
            <a:avLst>
              <a:gd name="adj" fmla="val 16667"/>
            </a:avLst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6327" name="Text Box 7">
            <a:extLst>
              <a:ext uri="{FF2B5EF4-FFF2-40B4-BE49-F238E27FC236}">
                <a16:creationId xmlns:a16="http://schemas.microsoft.com/office/drawing/2014/main" id="{049B55D3-D169-1D43-53BC-F22C4A9A4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9" y="5373688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heap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56328" name="Text Box 8">
            <a:extLst>
              <a:ext uri="{FF2B5EF4-FFF2-40B4-BE49-F238E27FC236}">
                <a16:creationId xmlns:a16="http://schemas.microsoft.com/office/drawing/2014/main" id="{6D98DF84-976A-6CAA-DD47-6D7E80B3A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5013325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stek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56329" name="Line 9">
            <a:extLst>
              <a:ext uri="{FF2B5EF4-FFF2-40B4-BE49-F238E27FC236}">
                <a16:creationId xmlns:a16="http://schemas.microsoft.com/office/drawing/2014/main" id="{7C837ABB-BFE3-D6D9-6F68-E49C7027F7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3933825"/>
            <a:ext cx="2592388" cy="71913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30" name="Rectangle 10">
            <a:extLst>
              <a:ext uri="{FF2B5EF4-FFF2-40B4-BE49-F238E27FC236}">
                <a16:creationId xmlns:a16="http://schemas.microsoft.com/office/drawing/2014/main" id="{3695CDD9-CAFC-D2E1-8A3A-066E446B3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3" y="3644901"/>
            <a:ext cx="2519362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6331" name="Rectangle 11">
            <a:extLst>
              <a:ext uri="{FF2B5EF4-FFF2-40B4-BE49-F238E27FC236}">
                <a16:creationId xmlns:a16="http://schemas.microsoft.com/office/drawing/2014/main" id="{FF0BE63A-D0A9-F009-C8AF-CE45080D4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4" y="3644901"/>
            <a:ext cx="503237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6332" name="Rectangle 12">
            <a:extLst>
              <a:ext uri="{FF2B5EF4-FFF2-40B4-BE49-F238E27FC236}">
                <a16:creationId xmlns:a16="http://schemas.microsoft.com/office/drawing/2014/main" id="{038715C5-53AA-C105-0901-2FB24C45D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0" y="3644901"/>
            <a:ext cx="503238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6333" name="Rectangle 13">
            <a:extLst>
              <a:ext uri="{FF2B5EF4-FFF2-40B4-BE49-F238E27FC236}">
                <a16:creationId xmlns:a16="http://schemas.microsoft.com/office/drawing/2014/main" id="{B468938E-6C3A-BF73-2C6A-042BA9682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5" y="3644901"/>
            <a:ext cx="503238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6334" name="Rectangle 14">
            <a:extLst>
              <a:ext uri="{FF2B5EF4-FFF2-40B4-BE49-F238E27FC236}">
                <a16:creationId xmlns:a16="http://schemas.microsoft.com/office/drawing/2014/main" id="{C616A9A4-4399-6FA2-9252-A3C100D2B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764" y="3644901"/>
            <a:ext cx="503237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6335" name="Rectangle 15">
            <a:extLst>
              <a:ext uri="{FF2B5EF4-FFF2-40B4-BE49-F238E27FC236}">
                <a16:creationId xmlns:a16="http://schemas.microsoft.com/office/drawing/2014/main" id="{D1577C75-0AA1-90C2-77F4-1C0C2840C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6589" y="3644901"/>
            <a:ext cx="503237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6336" name="Text Box 16">
            <a:extLst>
              <a:ext uri="{FF2B5EF4-FFF2-40B4-BE49-F238E27FC236}">
                <a16:creationId xmlns:a16="http://schemas.microsoft.com/office/drawing/2014/main" id="{AC553934-B33A-8848-6A0C-373DD452E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4" y="6021388"/>
            <a:ext cx="7704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parking = new Automobil[5];</a:t>
            </a:r>
            <a:endParaRPr lang="en-US" altLang="sr-Latn-RS" sz="2400" b="1">
              <a:latin typeface="Courier New" panose="02070309020205020404" pitchFamily="49" charset="0"/>
            </a:endParaRPr>
          </a:p>
        </p:txBody>
      </p:sp>
      <p:sp>
        <p:nvSpPr>
          <p:cNvPr id="56337" name="Text Box 17">
            <a:extLst>
              <a:ext uri="{FF2B5EF4-FFF2-40B4-BE49-F238E27FC236}">
                <a16:creationId xmlns:a16="http://schemas.microsoft.com/office/drawing/2014/main" id="{9E230764-7269-AF21-3422-28052D665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1901" y="3644900"/>
            <a:ext cx="5762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null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56338" name="Text Box 18">
            <a:extLst>
              <a:ext uri="{FF2B5EF4-FFF2-40B4-BE49-F238E27FC236}">
                <a16:creationId xmlns:a16="http://schemas.microsoft.com/office/drawing/2014/main" id="{822CAA68-39FB-DD2A-57F5-8DDC932D5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01" y="3644900"/>
            <a:ext cx="5762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null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56339" name="Text Box 19">
            <a:extLst>
              <a:ext uri="{FF2B5EF4-FFF2-40B4-BE49-F238E27FC236}">
                <a16:creationId xmlns:a16="http://schemas.microsoft.com/office/drawing/2014/main" id="{43BA701B-D8BD-278A-B1B4-F28ECE687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526" y="3644900"/>
            <a:ext cx="5762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null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56340" name="Text Box 20">
            <a:extLst>
              <a:ext uri="{FF2B5EF4-FFF2-40B4-BE49-F238E27FC236}">
                <a16:creationId xmlns:a16="http://schemas.microsoft.com/office/drawing/2014/main" id="{C4EBE399-D4CA-8B28-D28A-03BB55BD6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1763" y="3644900"/>
            <a:ext cx="5762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null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56341" name="Text Box 21">
            <a:extLst>
              <a:ext uri="{FF2B5EF4-FFF2-40B4-BE49-F238E27FC236}">
                <a16:creationId xmlns:a16="http://schemas.microsoft.com/office/drawing/2014/main" id="{B72BC2A7-0877-7924-2D53-92A4094F8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8" y="3644900"/>
            <a:ext cx="5762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null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56342" name="Text Box 22">
            <a:extLst>
              <a:ext uri="{FF2B5EF4-FFF2-40B4-BE49-F238E27FC236}">
                <a16:creationId xmlns:a16="http://schemas.microsoft.com/office/drawing/2014/main" id="{E2DAB34B-2AA7-AA43-DB6E-BC7DBC5E6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4437064"/>
            <a:ext cx="71913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sr-Latn-RS" sz="1200">
                <a:latin typeface="Times New Roman" panose="02020603050405020304" pitchFamily="18" charset="0"/>
              </a:rPr>
              <a:t>parking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26631E70-0FE1-AFC4-B9D7-4E071A7DE6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Nizovi referenci na objekte </a:t>
            </a:r>
            <a:r>
              <a:rPr lang="sr-Latn-CS" altLang="sr-Latn-RS" baseline="-25000"/>
              <a:t>3/3</a:t>
            </a:r>
            <a:endParaRPr lang="en-US" altLang="sr-Latn-RS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5FEFCCEB-75F2-7E14-EA1E-07F5A67B2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4508501"/>
            <a:ext cx="647700" cy="35877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7348" name="Line 4">
            <a:extLst>
              <a:ext uri="{FF2B5EF4-FFF2-40B4-BE49-F238E27FC236}">
                <a16:creationId xmlns:a16="http://schemas.microsoft.com/office/drawing/2014/main" id="{58C4D0D2-3821-B645-8846-8D07A1C38C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003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49" name="Line 5">
            <a:extLst>
              <a:ext uri="{FF2B5EF4-FFF2-40B4-BE49-F238E27FC236}">
                <a16:creationId xmlns:a16="http://schemas.microsoft.com/office/drawing/2014/main" id="{823A851E-5107-A125-E754-0D37654DEB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0" name="AutoShape 6">
            <a:extLst>
              <a:ext uri="{FF2B5EF4-FFF2-40B4-BE49-F238E27FC236}">
                <a16:creationId xmlns:a16="http://schemas.microsoft.com/office/drawing/2014/main" id="{5A6748D7-F9CC-2B61-453B-45A89004C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6" y="2276475"/>
            <a:ext cx="4537075" cy="2952750"/>
          </a:xfrm>
          <a:prstGeom prst="roundRect">
            <a:avLst>
              <a:gd name="adj" fmla="val 16667"/>
            </a:avLst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7351" name="Text Box 7">
            <a:extLst>
              <a:ext uri="{FF2B5EF4-FFF2-40B4-BE49-F238E27FC236}">
                <a16:creationId xmlns:a16="http://schemas.microsoft.com/office/drawing/2014/main" id="{DBAE2957-BFE5-D243-AF96-14DC4DDF6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9" y="5373688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heap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57352" name="Text Box 8">
            <a:extLst>
              <a:ext uri="{FF2B5EF4-FFF2-40B4-BE49-F238E27FC236}">
                <a16:creationId xmlns:a16="http://schemas.microsoft.com/office/drawing/2014/main" id="{BF131EF2-F8AC-ED9A-1CC9-744842CFC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5013325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stek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57353" name="Text Box 9">
            <a:extLst>
              <a:ext uri="{FF2B5EF4-FFF2-40B4-BE49-F238E27FC236}">
                <a16:creationId xmlns:a16="http://schemas.microsoft.com/office/drawing/2014/main" id="{5D52EB3E-9D2F-9981-C26D-1BF153683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4437064"/>
            <a:ext cx="71913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sr-Latn-RS" sz="1200">
                <a:latin typeface="Times New Roman" panose="02020603050405020304" pitchFamily="18" charset="0"/>
              </a:rPr>
              <a:t>parking</a:t>
            </a:r>
          </a:p>
        </p:txBody>
      </p:sp>
      <p:sp>
        <p:nvSpPr>
          <p:cNvPr id="57354" name="Line 10">
            <a:extLst>
              <a:ext uri="{FF2B5EF4-FFF2-40B4-BE49-F238E27FC236}">
                <a16:creationId xmlns:a16="http://schemas.microsoft.com/office/drawing/2014/main" id="{1113451E-C7AB-D21A-3A12-A835BFF1F6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3933825"/>
            <a:ext cx="2592388" cy="71913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5" name="Rectangle 11">
            <a:extLst>
              <a:ext uri="{FF2B5EF4-FFF2-40B4-BE49-F238E27FC236}">
                <a16:creationId xmlns:a16="http://schemas.microsoft.com/office/drawing/2014/main" id="{98C87778-D225-1EA6-1B21-D5E9A9F10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3" y="3644901"/>
            <a:ext cx="2519362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7356" name="Rectangle 12">
            <a:extLst>
              <a:ext uri="{FF2B5EF4-FFF2-40B4-BE49-F238E27FC236}">
                <a16:creationId xmlns:a16="http://schemas.microsoft.com/office/drawing/2014/main" id="{9F632229-3EA6-E9DE-A804-426DDAE04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4" y="3644901"/>
            <a:ext cx="503237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7357" name="Rectangle 13">
            <a:extLst>
              <a:ext uri="{FF2B5EF4-FFF2-40B4-BE49-F238E27FC236}">
                <a16:creationId xmlns:a16="http://schemas.microsoft.com/office/drawing/2014/main" id="{8B8A8DFD-A311-DD10-A806-3059D9813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0" y="3644901"/>
            <a:ext cx="503238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7358" name="Rectangle 14">
            <a:extLst>
              <a:ext uri="{FF2B5EF4-FFF2-40B4-BE49-F238E27FC236}">
                <a16:creationId xmlns:a16="http://schemas.microsoft.com/office/drawing/2014/main" id="{336E3C78-F22D-607C-C112-4E1ADA2D8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5" y="3644901"/>
            <a:ext cx="503238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7359" name="Rectangle 15">
            <a:extLst>
              <a:ext uri="{FF2B5EF4-FFF2-40B4-BE49-F238E27FC236}">
                <a16:creationId xmlns:a16="http://schemas.microsoft.com/office/drawing/2014/main" id="{BBAA330A-BC9A-3987-682C-FBD347F65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764" y="3644901"/>
            <a:ext cx="503237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7360" name="Rectangle 16">
            <a:extLst>
              <a:ext uri="{FF2B5EF4-FFF2-40B4-BE49-F238E27FC236}">
                <a16:creationId xmlns:a16="http://schemas.microsoft.com/office/drawing/2014/main" id="{405D7FBB-0DD6-75DC-5032-E545512B1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6589" y="3644901"/>
            <a:ext cx="503237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57361" name="Freeform 17">
            <a:extLst>
              <a:ext uri="{FF2B5EF4-FFF2-40B4-BE49-F238E27FC236}">
                <a16:creationId xmlns:a16="http://schemas.microsoft.com/office/drawing/2014/main" id="{E865CC4C-2FA1-B30C-9D74-F94F40E85F40}"/>
              </a:ext>
            </a:extLst>
          </p:cNvPr>
          <p:cNvSpPr>
            <a:spLocks/>
          </p:cNvSpPr>
          <p:nvPr/>
        </p:nvSpPr>
        <p:spPr bwMode="auto">
          <a:xfrm>
            <a:off x="5638800" y="2519364"/>
            <a:ext cx="596900" cy="522287"/>
          </a:xfrm>
          <a:custGeom>
            <a:avLst/>
            <a:gdLst>
              <a:gd name="T0" fmla="*/ 2147483646 w 376"/>
              <a:gd name="T1" fmla="*/ 2147483646 h 329"/>
              <a:gd name="T2" fmla="*/ 2147483646 w 376"/>
              <a:gd name="T3" fmla="*/ 2147483646 h 329"/>
              <a:gd name="T4" fmla="*/ 2147483646 w 376"/>
              <a:gd name="T5" fmla="*/ 2147483646 h 329"/>
              <a:gd name="T6" fmla="*/ 2147483646 w 376"/>
              <a:gd name="T7" fmla="*/ 2147483646 h 329"/>
              <a:gd name="T8" fmla="*/ 0 w 376"/>
              <a:gd name="T9" fmla="*/ 2147483646 h 329"/>
              <a:gd name="T10" fmla="*/ 2147483646 w 376"/>
              <a:gd name="T11" fmla="*/ 2147483646 h 329"/>
              <a:gd name="T12" fmla="*/ 2147483646 w 376"/>
              <a:gd name="T13" fmla="*/ 2147483646 h 329"/>
              <a:gd name="T14" fmla="*/ 2147483646 w 376"/>
              <a:gd name="T15" fmla="*/ 2147483646 h 329"/>
              <a:gd name="T16" fmla="*/ 2147483646 w 376"/>
              <a:gd name="T17" fmla="*/ 2147483646 h 329"/>
              <a:gd name="T18" fmla="*/ 2147483646 w 376"/>
              <a:gd name="T19" fmla="*/ 2147483646 h 329"/>
              <a:gd name="T20" fmla="*/ 2147483646 w 376"/>
              <a:gd name="T21" fmla="*/ 2147483646 h 329"/>
              <a:gd name="T22" fmla="*/ 2147483646 w 376"/>
              <a:gd name="T23" fmla="*/ 2147483646 h 329"/>
              <a:gd name="T24" fmla="*/ 2147483646 w 376"/>
              <a:gd name="T25" fmla="*/ 2147483646 h 329"/>
              <a:gd name="T26" fmla="*/ 2147483646 w 376"/>
              <a:gd name="T27" fmla="*/ 2147483646 h 329"/>
              <a:gd name="T28" fmla="*/ 2147483646 w 376"/>
              <a:gd name="T29" fmla="*/ 2147483646 h 329"/>
              <a:gd name="T30" fmla="*/ 2147483646 w 376"/>
              <a:gd name="T31" fmla="*/ 2147483646 h 329"/>
              <a:gd name="T32" fmla="*/ 2147483646 w 376"/>
              <a:gd name="T33" fmla="*/ 2147483646 h 329"/>
              <a:gd name="T34" fmla="*/ 2147483646 w 376"/>
              <a:gd name="T35" fmla="*/ 2147483646 h 329"/>
              <a:gd name="T36" fmla="*/ 2147483646 w 376"/>
              <a:gd name="T37" fmla="*/ 0 h 329"/>
              <a:gd name="T38" fmla="*/ 2147483646 w 376"/>
              <a:gd name="T39" fmla="*/ 2147483646 h 329"/>
              <a:gd name="T40" fmla="*/ 2147483646 w 376"/>
              <a:gd name="T41" fmla="*/ 2147483646 h 329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376"/>
              <a:gd name="T64" fmla="*/ 0 h 329"/>
              <a:gd name="T65" fmla="*/ 376 w 376"/>
              <a:gd name="T66" fmla="*/ 329 h 329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376" h="329">
                <a:moveTo>
                  <a:pt x="100" y="34"/>
                </a:moveTo>
                <a:cubicBezTo>
                  <a:pt x="74" y="43"/>
                  <a:pt x="60" y="54"/>
                  <a:pt x="40" y="74"/>
                </a:cubicBezTo>
                <a:cubicBezTo>
                  <a:pt x="28" y="109"/>
                  <a:pt x="49" y="120"/>
                  <a:pt x="67" y="148"/>
                </a:cubicBezTo>
                <a:cubicBezTo>
                  <a:pt x="40" y="174"/>
                  <a:pt x="25" y="186"/>
                  <a:pt x="13" y="221"/>
                </a:cubicBezTo>
                <a:cubicBezTo>
                  <a:pt x="9" y="235"/>
                  <a:pt x="0" y="262"/>
                  <a:pt x="0" y="262"/>
                </a:cubicBezTo>
                <a:cubicBezTo>
                  <a:pt x="13" y="300"/>
                  <a:pt x="52" y="303"/>
                  <a:pt x="87" y="315"/>
                </a:cubicBezTo>
                <a:cubicBezTo>
                  <a:pt x="105" y="313"/>
                  <a:pt x="124" y="315"/>
                  <a:pt x="141" y="308"/>
                </a:cubicBezTo>
                <a:cubicBezTo>
                  <a:pt x="148" y="305"/>
                  <a:pt x="146" y="290"/>
                  <a:pt x="154" y="288"/>
                </a:cubicBezTo>
                <a:cubicBezTo>
                  <a:pt x="160" y="287"/>
                  <a:pt x="161" y="299"/>
                  <a:pt x="167" y="302"/>
                </a:cubicBezTo>
                <a:cubicBezTo>
                  <a:pt x="184" y="310"/>
                  <a:pt x="203" y="309"/>
                  <a:pt x="221" y="315"/>
                </a:cubicBezTo>
                <a:cubicBezTo>
                  <a:pt x="234" y="319"/>
                  <a:pt x="261" y="329"/>
                  <a:pt x="261" y="329"/>
                </a:cubicBezTo>
                <a:cubicBezTo>
                  <a:pt x="306" y="313"/>
                  <a:pt x="287" y="267"/>
                  <a:pt x="275" y="228"/>
                </a:cubicBezTo>
                <a:cubicBezTo>
                  <a:pt x="300" y="189"/>
                  <a:pt x="272" y="223"/>
                  <a:pt x="315" y="201"/>
                </a:cubicBezTo>
                <a:cubicBezTo>
                  <a:pt x="329" y="194"/>
                  <a:pt x="355" y="174"/>
                  <a:pt x="355" y="174"/>
                </a:cubicBezTo>
                <a:cubicBezTo>
                  <a:pt x="360" y="160"/>
                  <a:pt x="373" y="149"/>
                  <a:pt x="375" y="134"/>
                </a:cubicBezTo>
                <a:cubicBezTo>
                  <a:pt x="376" y="124"/>
                  <a:pt x="350" y="60"/>
                  <a:pt x="342" y="54"/>
                </a:cubicBezTo>
                <a:cubicBezTo>
                  <a:pt x="336" y="49"/>
                  <a:pt x="328" y="49"/>
                  <a:pt x="321" y="47"/>
                </a:cubicBezTo>
                <a:cubicBezTo>
                  <a:pt x="286" y="56"/>
                  <a:pt x="285" y="68"/>
                  <a:pt x="255" y="47"/>
                </a:cubicBezTo>
                <a:cubicBezTo>
                  <a:pt x="246" y="22"/>
                  <a:pt x="232" y="18"/>
                  <a:pt x="214" y="0"/>
                </a:cubicBezTo>
                <a:cubicBezTo>
                  <a:pt x="175" y="5"/>
                  <a:pt x="144" y="9"/>
                  <a:pt x="107" y="20"/>
                </a:cubicBezTo>
                <a:cubicBezTo>
                  <a:pt x="99" y="43"/>
                  <a:pt x="100" y="48"/>
                  <a:pt x="100" y="34"/>
                </a:cubicBezTo>
                <a:close/>
              </a:path>
            </a:pathLst>
          </a:custGeom>
          <a:noFill/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62" name="Freeform 18">
            <a:extLst>
              <a:ext uri="{FF2B5EF4-FFF2-40B4-BE49-F238E27FC236}">
                <a16:creationId xmlns:a16="http://schemas.microsoft.com/office/drawing/2014/main" id="{B5561084-17B6-0E2A-0EF6-A43E1B5AA945}"/>
              </a:ext>
            </a:extLst>
          </p:cNvPr>
          <p:cNvSpPr>
            <a:spLocks/>
          </p:cNvSpPr>
          <p:nvPr/>
        </p:nvSpPr>
        <p:spPr bwMode="auto">
          <a:xfrm>
            <a:off x="6383338" y="2492375"/>
            <a:ext cx="596900" cy="522288"/>
          </a:xfrm>
          <a:custGeom>
            <a:avLst/>
            <a:gdLst>
              <a:gd name="T0" fmla="*/ 2147483646 w 376"/>
              <a:gd name="T1" fmla="*/ 2147483646 h 329"/>
              <a:gd name="T2" fmla="*/ 2147483646 w 376"/>
              <a:gd name="T3" fmla="*/ 2147483646 h 329"/>
              <a:gd name="T4" fmla="*/ 2147483646 w 376"/>
              <a:gd name="T5" fmla="*/ 2147483646 h 329"/>
              <a:gd name="T6" fmla="*/ 2147483646 w 376"/>
              <a:gd name="T7" fmla="*/ 2147483646 h 329"/>
              <a:gd name="T8" fmla="*/ 0 w 376"/>
              <a:gd name="T9" fmla="*/ 2147483646 h 329"/>
              <a:gd name="T10" fmla="*/ 2147483646 w 376"/>
              <a:gd name="T11" fmla="*/ 2147483646 h 329"/>
              <a:gd name="T12" fmla="*/ 2147483646 w 376"/>
              <a:gd name="T13" fmla="*/ 2147483646 h 329"/>
              <a:gd name="T14" fmla="*/ 2147483646 w 376"/>
              <a:gd name="T15" fmla="*/ 2147483646 h 329"/>
              <a:gd name="T16" fmla="*/ 2147483646 w 376"/>
              <a:gd name="T17" fmla="*/ 2147483646 h 329"/>
              <a:gd name="T18" fmla="*/ 2147483646 w 376"/>
              <a:gd name="T19" fmla="*/ 2147483646 h 329"/>
              <a:gd name="T20" fmla="*/ 2147483646 w 376"/>
              <a:gd name="T21" fmla="*/ 2147483646 h 329"/>
              <a:gd name="T22" fmla="*/ 2147483646 w 376"/>
              <a:gd name="T23" fmla="*/ 2147483646 h 329"/>
              <a:gd name="T24" fmla="*/ 2147483646 w 376"/>
              <a:gd name="T25" fmla="*/ 2147483646 h 329"/>
              <a:gd name="T26" fmla="*/ 2147483646 w 376"/>
              <a:gd name="T27" fmla="*/ 2147483646 h 329"/>
              <a:gd name="T28" fmla="*/ 2147483646 w 376"/>
              <a:gd name="T29" fmla="*/ 2147483646 h 329"/>
              <a:gd name="T30" fmla="*/ 2147483646 w 376"/>
              <a:gd name="T31" fmla="*/ 2147483646 h 329"/>
              <a:gd name="T32" fmla="*/ 2147483646 w 376"/>
              <a:gd name="T33" fmla="*/ 2147483646 h 329"/>
              <a:gd name="T34" fmla="*/ 2147483646 w 376"/>
              <a:gd name="T35" fmla="*/ 2147483646 h 329"/>
              <a:gd name="T36" fmla="*/ 2147483646 w 376"/>
              <a:gd name="T37" fmla="*/ 0 h 329"/>
              <a:gd name="T38" fmla="*/ 2147483646 w 376"/>
              <a:gd name="T39" fmla="*/ 2147483646 h 329"/>
              <a:gd name="T40" fmla="*/ 2147483646 w 376"/>
              <a:gd name="T41" fmla="*/ 2147483646 h 329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376"/>
              <a:gd name="T64" fmla="*/ 0 h 329"/>
              <a:gd name="T65" fmla="*/ 376 w 376"/>
              <a:gd name="T66" fmla="*/ 329 h 329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376" h="329">
                <a:moveTo>
                  <a:pt x="100" y="34"/>
                </a:moveTo>
                <a:cubicBezTo>
                  <a:pt x="74" y="43"/>
                  <a:pt x="60" y="54"/>
                  <a:pt x="40" y="74"/>
                </a:cubicBezTo>
                <a:cubicBezTo>
                  <a:pt x="28" y="109"/>
                  <a:pt x="49" y="120"/>
                  <a:pt x="67" y="148"/>
                </a:cubicBezTo>
                <a:cubicBezTo>
                  <a:pt x="40" y="174"/>
                  <a:pt x="25" y="186"/>
                  <a:pt x="13" y="221"/>
                </a:cubicBezTo>
                <a:cubicBezTo>
                  <a:pt x="9" y="235"/>
                  <a:pt x="0" y="262"/>
                  <a:pt x="0" y="262"/>
                </a:cubicBezTo>
                <a:cubicBezTo>
                  <a:pt x="13" y="300"/>
                  <a:pt x="52" y="303"/>
                  <a:pt x="87" y="315"/>
                </a:cubicBezTo>
                <a:cubicBezTo>
                  <a:pt x="105" y="313"/>
                  <a:pt x="124" y="315"/>
                  <a:pt x="141" y="308"/>
                </a:cubicBezTo>
                <a:cubicBezTo>
                  <a:pt x="148" y="305"/>
                  <a:pt x="146" y="290"/>
                  <a:pt x="154" y="288"/>
                </a:cubicBezTo>
                <a:cubicBezTo>
                  <a:pt x="160" y="287"/>
                  <a:pt x="161" y="299"/>
                  <a:pt x="167" y="302"/>
                </a:cubicBezTo>
                <a:cubicBezTo>
                  <a:pt x="184" y="310"/>
                  <a:pt x="203" y="309"/>
                  <a:pt x="221" y="315"/>
                </a:cubicBezTo>
                <a:cubicBezTo>
                  <a:pt x="234" y="319"/>
                  <a:pt x="261" y="329"/>
                  <a:pt x="261" y="329"/>
                </a:cubicBezTo>
                <a:cubicBezTo>
                  <a:pt x="306" y="313"/>
                  <a:pt x="287" y="267"/>
                  <a:pt x="275" y="228"/>
                </a:cubicBezTo>
                <a:cubicBezTo>
                  <a:pt x="300" y="189"/>
                  <a:pt x="272" y="223"/>
                  <a:pt x="315" y="201"/>
                </a:cubicBezTo>
                <a:cubicBezTo>
                  <a:pt x="329" y="194"/>
                  <a:pt x="355" y="174"/>
                  <a:pt x="355" y="174"/>
                </a:cubicBezTo>
                <a:cubicBezTo>
                  <a:pt x="360" y="160"/>
                  <a:pt x="373" y="149"/>
                  <a:pt x="375" y="134"/>
                </a:cubicBezTo>
                <a:cubicBezTo>
                  <a:pt x="376" y="124"/>
                  <a:pt x="350" y="60"/>
                  <a:pt x="342" y="54"/>
                </a:cubicBezTo>
                <a:cubicBezTo>
                  <a:pt x="336" y="49"/>
                  <a:pt x="328" y="49"/>
                  <a:pt x="321" y="47"/>
                </a:cubicBezTo>
                <a:cubicBezTo>
                  <a:pt x="286" y="56"/>
                  <a:pt x="285" y="68"/>
                  <a:pt x="255" y="47"/>
                </a:cubicBezTo>
                <a:cubicBezTo>
                  <a:pt x="246" y="22"/>
                  <a:pt x="232" y="18"/>
                  <a:pt x="214" y="0"/>
                </a:cubicBezTo>
                <a:cubicBezTo>
                  <a:pt x="175" y="5"/>
                  <a:pt x="144" y="9"/>
                  <a:pt x="107" y="20"/>
                </a:cubicBezTo>
                <a:cubicBezTo>
                  <a:pt x="99" y="43"/>
                  <a:pt x="100" y="48"/>
                  <a:pt x="100" y="34"/>
                </a:cubicBezTo>
                <a:close/>
              </a:path>
            </a:pathLst>
          </a:custGeom>
          <a:noFill/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63" name="Freeform 19">
            <a:extLst>
              <a:ext uri="{FF2B5EF4-FFF2-40B4-BE49-F238E27FC236}">
                <a16:creationId xmlns:a16="http://schemas.microsoft.com/office/drawing/2014/main" id="{FAA7BE91-C724-9FE1-C53A-411E1CFE94FB}"/>
              </a:ext>
            </a:extLst>
          </p:cNvPr>
          <p:cNvSpPr>
            <a:spLocks/>
          </p:cNvSpPr>
          <p:nvPr/>
        </p:nvSpPr>
        <p:spPr bwMode="auto">
          <a:xfrm>
            <a:off x="7248525" y="2420939"/>
            <a:ext cx="596900" cy="522287"/>
          </a:xfrm>
          <a:custGeom>
            <a:avLst/>
            <a:gdLst>
              <a:gd name="T0" fmla="*/ 2147483646 w 376"/>
              <a:gd name="T1" fmla="*/ 2147483646 h 329"/>
              <a:gd name="T2" fmla="*/ 2147483646 w 376"/>
              <a:gd name="T3" fmla="*/ 2147483646 h 329"/>
              <a:gd name="T4" fmla="*/ 2147483646 w 376"/>
              <a:gd name="T5" fmla="*/ 2147483646 h 329"/>
              <a:gd name="T6" fmla="*/ 2147483646 w 376"/>
              <a:gd name="T7" fmla="*/ 2147483646 h 329"/>
              <a:gd name="T8" fmla="*/ 0 w 376"/>
              <a:gd name="T9" fmla="*/ 2147483646 h 329"/>
              <a:gd name="T10" fmla="*/ 2147483646 w 376"/>
              <a:gd name="T11" fmla="*/ 2147483646 h 329"/>
              <a:gd name="T12" fmla="*/ 2147483646 w 376"/>
              <a:gd name="T13" fmla="*/ 2147483646 h 329"/>
              <a:gd name="T14" fmla="*/ 2147483646 w 376"/>
              <a:gd name="T15" fmla="*/ 2147483646 h 329"/>
              <a:gd name="T16" fmla="*/ 2147483646 w 376"/>
              <a:gd name="T17" fmla="*/ 2147483646 h 329"/>
              <a:gd name="T18" fmla="*/ 2147483646 w 376"/>
              <a:gd name="T19" fmla="*/ 2147483646 h 329"/>
              <a:gd name="T20" fmla="*/ 2147483646 w 376"/>
              <a:gd name="T21" fmla="*/ 2147483646 h 329"/>
              <a:gd name="T22" fmla="*/ 2147483646 w 376"/>
              <a:gd name="T23" fmla="*/ 2147483646 h 329"/>
              <a:gd name="T24" fmla="*/ 2147483646 w 376"/>
              <a:gd name="T25" fmla="*/ 2147483646 h 329"/>
              <a:gd name="T26" fmla="*/ 2147483646 w 376"/>
              <a:gd name="T27" fmla="*/ 2147483646 h 329"/>
              <a:gd name="T28" fmla="*/ 2147483646 w 376"/>
              <a:gd name="T29" fmla="*/ 2147483646 h 329"/>
              <a:gd name="T30" fmla="*/ 2147483646 w 376"/>
              <a:gd name="T31" fmla="*/ 2147483646 h 329"/>
              <a:gd name="T32" fmla="*/ 2147483646 w 376"/>
              <a:gd name="T33" fmla="*/ 2147483646 h 329"/>
              <a:gd name="T34" fmla="*/ 2147483646 w 376"/>
              <a:gd name="T35" fmla="*/ 2147483646 h 329"/>
              <a:gd name="T36" fmla="*/ 2147483646 w 376"/>
              <a:gd name="T37" fmla="*/ 0 h 329"/>
              <a:gd name="T38" fmla="*/ 2147483646 w 376"/>
              <a:gd name="T39" fmla="*/ 2147483646 h 329"/>
              <a:gd name="T40" fmla="*/ 2147483646 w 376"/>
              <a:gd name="T41" fmla="*/ 2147483646 h 329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376"/>
              <a:gd name="T64" fmla="*/ 0 h 329"/>
              <a:gd name="T65" fmla="*/ 376 w 376"/>
              <a:gd name="T66" fmla="*/ 329 h 329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376" h="329">
                <a:moveTo>
                  <a:pt x="100" y="34"/>
                </a:moveTo>
                <a:cubicBezTo>
                  <a:pt x="74" y="43"/>
                  <a:pt x="60" y="54"/>
                  <a:pt x="40" y="74"/>
                </a:cubicBezTo>
                <a:cubicBezTo>
                  <a:pt x="28" y="109"/>
                  <a:pt x="49" y="120"/>
                  <a:pt x="67" y="148"/>
                </a:cubicBezTo>
                <a:cubicBezTo>
                  <a:pt x="40" y="174"/>
                  <a:pt x="25" y="186"/>
                  <a:pt x="13" y="221"/>
                </a:cubicBezTo>
                <a:cubicBezTo>
                  <a:pt x="9" y="235"/>
                  <a:pt x="0" y="262"/>
                  <a:pt x="0" y="262"/>
                </a:cubicBezTo>
                <a:cubicBezTo>
                  <a:pt x="13" y="300"/>
                  <a:pt x="52" y="303"/>
                  <a:pt x="87" y="315"/>
                </a:cubicBezTo>
                <a:cubicBezTo>
                  <a:pt x="105" y="313"/>
                  <a:pt x="124" y="315"/>
                  <a:pt x="141" y="308"/>
                </a:cubicBezTo>
                <a:cubicBezTo>
                  <a:pt x="148" y="305"/>
                  <a:pt x="146" y="290"/>
                  <a:pt x="154" y="288"/>
                </a:cubicBezTo>
                <a:cubicBezTo>
                  <a:pt x="160" y="287"/>
                  <a:pt x="161" y="299"/>
                  <a:pt x="167" y="302"/>
                </a:cubicBezTo>
                <a:cubicBezTo>
                  <a:pt x="184" y="310"/>
                  <a:pt x="203" y="309"/>
                  <a:pt x="221" y="315"/>
                </a:cubicBezTo>
                <a:cubicBezTo>
                  <a:pt x="234" y="319"/>
                  <a:pt x="261" y="329"/>
                  <a:pt x="261" y="329"/>
                </a:cubicBezTo>
                <a:cubicBezTo>
                  <a:pt x="306" y="313"/>
                  <a:pt x="287" y="267"/>
                  <a:pt x="275" y="228"/>
                </a:cubicBezTo>
                <a:cubicBezTo>
                  <a:pt x="300" y="189"/>
                  <a:pt x="272" y="223"/>
                  <a:pt x="315" y="201"/>
                </a:cubicBezTo>
                <a:cubicBezTo>
                  <a:pt x="329" y="194"/>
                  <a:pt x="355" y="174"/>
                  <a:pt x="355" y="174"/>
                </a:cubicBezTo>
                <a:cubicBezTo>
                  <a:pt x="360" y="160"/>
                  <a:pt x="373" y="149"/>
                  <a:pt x="375" y="134"/>
                </a:cubicBezTo>
                <a:cubicBezTo>
                  <a:pt x="376" y="124"/>
                  <a:pt x="350" y="60"/>
                  <a:pt x="342" y="54"/>
                </a:cubicBezTo>
                <a:cubicBezTo>
                  <a:pt x="336" y="49"/>
                  <a:pt x="328" y="49"/>
                  <a:pt x="321" y="47"/>
                </a:cubicBezTo>
                <a:cubicBezTo>
                  <a:pt x="286" y="56"/>
                  <a:pt x="285" y="68"/>
                  <a:pt x="255" y="47"/>
                </a:cubicBezTo>
                <a:cubicBezTo>
                  <a:pt x="246" y="22"/>
                  <a:pt x="232" y="18"/>
                  <a:pt x="214" y="0"/>
                </a:cubicBezTo>
                <a:cubicBezTo>
                  <a:pt x="175" y="5"/>
                  <a:pt x="144" y="9"/>
                  <a:pt x="107" y="20"/>
                </a:cubicBezTo>
                <a:cubicBezTo>
                  <a:pt x="99" y="43"/>
                  <a:pt x="100" y="48"/>
                  <a:pt x="100" y="34"/>
                </a:cubicBezTo>
                <a:close/>
              </a:path>
            </a:pathLst>
          </a:custGeom>
          <a:noFill/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64" name="Freeform 20">
            <a:extLst>
              <a:ext uri="{FF2B5EF4-FFF2-40B4-BE49-F238E27FC236}">
                <a16:creationId xmlns:a16="http://schemas.microsoft.com/office/drawing/2014/main" id="{E2723BD4-D54B-C5FA-312E-2B2C77DAFA83}"/>
              </a:ext>
            </a:extLst>
          </p:cNvPr>
          <p:cNvSpPr>
            <a:spLocks/>
          </p:cNvSpPr>
          <p:nvPr/>
        </p:nvSpPr>
        <p:spPr bwMode="auto">
          <a:xfrm>
            <a:off x="8112125" y="2492375"/>
            <a:ext cx="596900" cy="522288"/>
          </a:xfrm>
          <a:custGeom>
            <a:avLst/>
            <a:gdLst>
              <a:gd name="T0" fmla="*/ 2147483646 w 376"/>
              <a:gd name="T1" fmla="*/ 2147483646 h 329"/>
              <a:gd name="T2" fmla="*/ 2147483646 w 376"/>
              <a:gd name="T3" fmla="*/ 2147483646 h 329"/>
              <a:gd name="T4" fmla="*/ 2147483646 w 376"/>
              <a:gd name="T5" fmla="*/ 2147483646 h 329"/>
              <a:gd name="T6" fmla="*/ 2147483646 w 376"/>
              <a:gd name="T7" fmla="*/ 2147483646 h 329"/>
              <a:gd name="T8" fmla="*/ 0 w 376"/>
              <a:gd name="T9" fmla="*/ 2147483646 h 329"/>
              <a:gd name="T10" fmla="*/ 2147483646 w 376"/>
              <a:gd name="T11" fmla="*/ 2147483646 h 329"/>
              <a:gd name="T12" fmla="*/ 2147483646 w 376"/>
              <a:gd name="T13" fmla="*/ 2147483646 h 329"/>
              <a:gd name="T14" fmla="*/ 2147483646 w 376"/>
              <a:gd name="T15" fmla="*/ 2147483646 h 329"/>
              <a:gd name="T16" fmla="*/ 2147483646 w 376"/>
              <a:gd name="T17" fmla="*/ 2147483646 h 329"/>
              <a:gd name="T18" fmla="*/ 2147483646 w 376"/>
              <a:gd name="T19" fmla="*/ 2147483646 h 329"/>
              <a:gd name="T20" fmla="*/ 2147483646 w 376"/>
              <a:gd name="T21" fmla="*/ 2147483646 h 329"/>
              <a:gd name="T22" fmla="*/ 2147483646 w 376"/>
              <a:gd name="T23" fmla="*/ 2147483646 h 329"/>
              <a:gd name="T24" fmla="*/ 2147483646 w 376"/>
              <a:gd name="T25" fmla="*/ 2147483646 h 329"/>
              <a:gd name="T26" fmla="*/ 2147483646 w 376"/>
              <a:gd name="T27" fmla="*/ 2147483646 h 329"/>
              <a:gd name="T28" fmla="*/ 2147483646 w 376"/>
              <a:gd name="T29" fmla="*/ 2147483646 h 329"/>
              <a:gd name="T30" fmla="*/ 2147483646 w 376"/>
              <a:gd name="T31" fmla="*/ 2147483646 h 329"/>
              <a:gd name="T32" fmla="*/ 2147483646 w 376"/>
              <a:gd name="T33" fmla="*/ 2147483646 h 329"/>
              <a:gd name="T34" fmla="*/ 2147483646 w 376"/>
              <a:gd name="T35" fmla="*/ 2147483646 h 329"/>
              <a:gd name="T36" fmla="*/ 2147483646 w 376"/>
              <a:gd name="T37" fmla="*/ 0 h 329"/>
              <a:gd name="T38" fmla="*/ 2147483646 w 376"/>
              <a:gd name="T39" fmla="*/ 2147483646 h 329"/>
              <a:gd name="T40" fmla="*/ 2147483646 w 376"/>
              <a:gd name="T41" fmla="*/ 2147483646 h 329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376"/>
              <a:gd name="T64" fmla="*/ 0 h 329"/>
              <a:gd name="T65" fmla="*/ 376 w 376"/>
              <a:gd name="T66" fmla="*/ 329 h 329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376" h="329">
                <a:moveTo>
                  <a:pt x="100" y="34"/>
                </a:moveTo>
                <a:cubicBezTo>
                  <a:pt x="74" y="43"/>
                  <a:pt x="60" y="54"/>
                  <a:pt x="40" y="74"/>
                </a:cubicBezTo>
                <a:cubicBezTo>
                  <a:pt x="28" y="109"/>
                  <a:pt x="49" y="120"/>
                  <a:pt x="67" y="148"/>
                </a:cubicBezTo>
                <a:cubicBezTo>
                  <a:pt x="40" y="174"/>
                  <a:pt x="25" y="186"/>
                  <a:pt x="13" y="221"/>
                </a:cubicBezTo>
                <a:cubicBezTo>
                  <a:pt x="9" y="235"/>
                  <a:pt x="0" y="262"/>
                  <a:pt x="0" y="262"/>
                </a:cubicBezTo>
                <a:cubicBezTo>
                  <a:pt x="13" y="300"/>
                  <a:pt x="52" y="303"/>
                  <a:pt x="87" y="315"/>
                </a:cubicBezTo>
                <a:cubicBezTo>
                  <a:pt x="105" y="313"/>
                  <a:pt x="124" y="315"/>
                  <a:pt x="141" y="308"/>
                </a:cubicBezTo>
                <a:cubicBezTo>
                  <a:pt x="148" y="305"/>
                  <a:pt x="146" y="290"/>
                  <a:pt x="154" y="288"/>
                </a:cubicBezTo>
                <a:cubicBezTo>
                  <a:pt x="160" y="287"/>
                  <a:pt x="161" y="299"/>
                  <a:pt x="167" y="302"/>
                </a:cubicBezTo>
                <a:cubicBezTo>
                  <a:pt x="184" y="310"/>
                  <a:pt x="203" y="309"/>
                  <a:pt x="221" y="315"/>
                </a:cubicBezTo>
                <a:cubicBezTo>
                  <a:pt x="234" y="319"/>
                  <a:pt x="261" y="329"/>
                  <a:pt x="261" y="329"/>
                </a:cubicBezTo>
                <a:cubicBezTo>
                  <a:pt x="306" y="313"/>
                  <a:pt x="287" y="267"/>
                  <a:pt x="275" y="228"/>
                </a:cubicBezTo>
                <a:cubicBezTo>
                  <a:pt x="300" y="189"/>
                  <a:pt x="272" y="223"/>
                  <a:pt x="315" y="201"/>
                </a:cubicBezTo>
                <a:cubicBezTo>
                  <a:pt x="329" y="194"/>
                  <a:pt x="355" y="174"/>
                  <a:pt x="355" y="174"/>
                </a:cubicBezTo>
                <a:cubicBezTo>
                  <a:pt x="360" y="160"/>
                  <a:pt x="373" y="149"/>
                  <a:pt x="375" y="134"/>
                </a:cubicBezTo>
                <a:cubicBezTo>
                  <a:pt x="376" y="124"/>
                  <a:pt x="350" y="60"/>
                  <a:pt x="342" y="54"/>
                </a:cubicBezTo>
                <a:cubicBezTo>
                  <a:pt x="336" y="49"/>
                  <a:pt x="328" y="49"/>
                  <a:pt x="321" y="47"/>
                </a:cubicBezTo>
                <a:cubicBezTo>
                  <a:pt x="286" y="56"/>
                  <a:pt x="285" y="68"/>
                  <a:pt x="255" y="47"/>
                </a:cubicBezTo>
                <a:cubicBezTo>
                  <a:pt x="246" y="22"/>
                  <a:pt x="232" y="18"/>
                  <a:pt x="214" y="0"/>
                </a:cubicBezTo>
                <a:cubicBezTo>
                  <a:pt x="175" y="5"/>
                  <a:pt x="144" y="9"/>
                  <a:pt x="107" y="20"/>
                </a:cubicBezTo>
                <a:cubicBezTo>
                  <a:pt x="99" y="43"/>
                  <a:pt x="100" y="48"/>
                  <a:pt x="100" y="34"/>
                </a:cubicBezTo>
                <a:close/>
              </a:path>
            </a:pathLst>
          </a:custGeom>
          <a:noFill/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65" name="Freeform 21">
            <a:extLst>
              <a:ext uri="{FF2B5EF4-FFF2-40B4-BE49-F238E27FC236}">
                <a16:creationId xmlns:a16="http://schemas.microsoft.com/office/drawing/2014/main" id="{0EDE8757-4AA4-7975-E141-6E0447B69E6F}"/>
              </a:ext>
            </a:extLst>
          </p:cNvPr>
          <p:cNvSpPr>
            <a:spLocks/>
          </p:cNvSpPr>
          <p:nvPr/>
        </p:nvSpPr>
        <p:spPr bwMode="auto">
          <a:xfrm>
            <a:off x="8975725" y="2636839"/>
            <a:ext cx="596900" cy="522287"/>
          </a:xfrm>
          <a:custGeom>
            <a:avLst/>
            <a:gdLst>
              <a:gd name="T0" fmla="*/ 2147483646 w 376"/>
              <a:gd name="T1" fmla="*/ 2147483646 h 329"/>
              <a:gd name="T2" fmla="*/ 2147483646 w 376"/>
              <a:gd name="T3" fmla="*/ 2147483646 h 329"/>
              <a:gd name="T4" fmla="*/ 2147483646 w 376"/>
              <a:gd name="T5" fmla="*/ 2147483646 h 329"/>
              <a:gd name="T6" fmla="*/ 2147483646 w 376"/>
              <a:gd name="T7" fmla="*/ 2147483646 h 329"/>
              <a:gd name="T8" fmla="*/ 0 w 376"/>
              <a:gd name="T9" fmla="*/ 2147483646 h 329"/>
              <a:gd name="T10" fmla="*/ 2147483646 w 376"/>
              <a:gd name="T11" fmla="*/ 2147483646 h 329"/>
              <a:gd name="T12" fmla="*/ 2147483646 w 376"/>
              <a:gd name="T13" fmla="*/ 2147483646 h 329"/>
              <a:gd name="T14" fmla="*/ 2147483646 w 376"/>
              <a:gd name="T15" fmla="*/ 2147483646 h 329"/>
              <a:gd name="T16" fmla="*/ 2147483646 w 376"/>
              <a:gd name="T17" fmla="*/ 2147483646 h 329"/>
              <a:gd name="T18" fmla="*/ 2147483646 w 376"/>
              <a:gd name="T19" fmla="*/ 2147483646 h 329"/>
              <a:gd name="T20" fmla="*/ 2147483646 w 376"/>
              <a:gd name="T21" fmla="*/ 2147483646 h 329"/>
              <a:gd name="T22" fmla="*/ 2147483646 w 376"/>
              <a:gd name="T23" fmla="*/ 2147483646 h 329"/>
              <a:gd name="T24" fmla="*/ 2147483646 w 376"/>
              <a:gd name="T25" fmla="*/ 2147483646 h 329"/>
              <a:gd name="T26" fmla="*/ 2147483646 w 376"/>
              <a:gd name="T27" fmla="*/ 2147483646 h 329"/>
              <a:gd name="T28" fmla="*/ 2147483646 w 376"/>
              <a:gd name="T29" fmla="*/ 2147483646 h 329"/>
              <a:gd name="T30" fmla="*/ 2147483646 w 376"/>
              <a:gd name="T31" fmla="*/ 2147483646 h 329"/>
              <a:gd name="T32" fmla="*/ 2147483646 w 376"/>
              <a:gd name="T33" fmla="*/ 2147483646 h 329"/>
              <a:gd name="T34" fmla="*/ 2147483646 w 376"/>
              <a:gd name="T35" fmla="*/ 2147483646 h 329"/>
              <a:gd name="T36" fmla="*/ 2147483646 w 376"/>
              <a:gd name="T37" fmla="*/ 0 h 329"/>
              <a:gd name="T38" fmla="*/ 2147483646 w 376"/>
              <a:gd name="T39" fmla="*/ 2147483646 h 329"/>
              <a:gd name="T40" fmla="*/ 2147483646 w 376"/>
              <a:gd name="T41" fmla="*/ 2147483646 h 329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376"/>
              <a:gd name="T64" fmla="*/ 0 h 329"/>
              <a:gd name="T65" fmla="*/ 376 w 376"/>
              <a:gd name="T66" fmla="*/ 329 h 329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376" h="329">
                <a:moveTo>
                  <a:pt x="100" y="34"/>
                </a:moveTo>
                <a:cubicBezTo>
                  <a:pt x="74" y="43"/>
                  <a:pt x="60" y="54"/>
                  <a:pt x="40" y="74"/>
                </a:cubicBezTo>
                <a:cubicBezTo>
                  <a:pt x="28" y="109"/>
                  <a:pt x="49" y="120"/>
                  <a:pt x="67" y="148"/>
                </a:cubicBezTo>
                <a:cubicBezTo>
                  <a:pt x="40" y="174"/>
                  <a:pt x="25" y="186"/>
                  <a:pt x="13" y="221"/>
                </a:cubicBezTo>
                <a:cubicBezTo>
                  <a:pt x="9" y="235"/>
                  <a:pt x="0" y="262"/>
                  <a:pt x="0" y="262"/>
                </a:cubicBezTo>
                <a:cubicBezTo>
                  <a:pt x="13" y="300"/>
                  <a:pt x="52" y="303"/>
                  <a:pt x="87" y="315"/>
                </a:cubicBezTo>
                <a:cubicBezTo>
                  <a:pt x="105" y="313"/>
                  <a:pt x="124" y="315"/>
                  <a:pt x="141" y="308"/>
                </a:cubicBezTo>
                <a:cubicBezTo>
                  <a:pt x="148" y="305"/>
                  <a:pt x="146" y="290"/>
                  <a:pt x="154" y="288"/>
                </a:cubicBezTo>
                <a:cubicBezTo>
                  <a:pt x="160" y="287"/>
                  <a:pt x="161" y="299"/>
                  <a:pt x="167" y="302"/>
                </a:cubicBezTo>
                <a:cubicBezTo>
                  <a:pt x="184" y="310"/>
                  <a:pt x="203" y="309"/>
                  <a:pt x="221" y="315"/>
                </a:cubicBezTo>
                <a:cubicBezTo>
                  <a:pt x="234" y="319"/>
                  <a:pt x="261" y="329"/>
                  <a:pt x="261" y="329"/>
                </a:cubicBezTo>
                <a:cubicBezTo>
                  <a:pt x="306" y="313"/>
                  <a:pt x="287" y="267"/>
                  <a:pt x="275" y="228"/>
                </a:cubicBezTo>
                <a:cubicBezTo>
                  <a:pt x="300" y="189"/>
                  <a:pt x="272" y="223"/>
                  <a:pt x="315" y="201"/>
                </a:cubicBezTo>
                <a:cubicBezTo>
                  <a:pt x="329" y="194"/>
                  <a:pt x="355" y="174"/>
                  <a:pt x="355" y="174"/>
                </a:cubicBezTo>
                <a:cubicBezTo>
                  <a:pt x="360" y="160"/>
                  <a:pt x="373" y="149"/>
                  <a:pt x="375" y="134"/>
                </a:cubicBezTo>
                <a:cubicBezTo>
                  <a:pt x="376" y="124"/>
                  <a:pt x="350" y="60"/>
                  <a:pt x="342" y="54"/>
                </a:cubicBezTo>
                <a:cubicBezTo>
                  <a:pt x="336" y="49"/>
                  <a:pt x="328" y="49"/>
                  <a:pt x="321" y="47"/>
                </a:cubicBezTo>
                <a:cubicBezTo>
                  <a:pt x="286" y="56"/>
                  <a:pt x="285" y="68"/>
                  <a:pt x="255" y="47"/>
                </a:cubicBezTo>
                <a:cubicBezTo>
                  <a:pt x="246" y="22"/>
                  <a:pt x="232" y="18"/>
                  <a:pt x="214" y="0"/>
                </a:cubicBezTo>
                <a:cubicBezTo>
                  <a:pt x="175" y="5"/>
                  <a:pt x="144" y="9"/>
                  <a:pt x="107" y="20"/>
                </a:cubicBezTo>
                <a:cubicBezTo>
                  <a:pt x="99" y="43"/>
                  <a:pt x="100" y="48"/>
                  <a:pt x="100" y="34"/>
                </a:cubicBezTo>
                <a:close/>
              </a:path>
            </a:pathLst>
          </a:custGeom>
          <a:noFill/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66" name="Text Box 22">
            <a:extLst>
              <a:ext uri="{FF2B5EF4-FFF2-40B4-BE49-F238E27FC236}">
                <a16:creationId xmlns:a16="http://schemas.microsoft.com/office/drawing/2014/main" id="{ABDB0A33-BD49-E1DD-732E-6B6D773B2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1" y="5805489"/>
            <a:ext cx="73453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for(int i = 0; i &lt; parking.length; i++)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  parking[i] = new Automobil();</a:t>
            </a:r>
            <a:endParaRPr lang="en-US" altLang="sr-Latn-RS" sz="2000">
              <a:latin typeface="Times New Roman" panose="02020603050405020304" pitchFamily="18" charset="0"/>
            </a:endParaRPr>
          </a:p>
        </p:txBody>
      </p:sp>
      <p:sp>
        <p:nvSpPr>
          <p:cNvPr id="57367" name="Line 23">
            <a:extLst>
              <a:ext uri="{FF2B5EF4-FFF2-40B4-BE49-F238E27FC236}">
                <a16:creationId xmlns:a16="http://schemas.microsoft.com/office/drawing/2014/main" id="{F83ECEE5-AA82-FB09-2AEA-6F794E8319E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24563" y="3068638"/>
            <a:ext cx="431800" cy="576262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68" name="Line 24">
            <a:extLst>
              <a:ext uri="{FF2B5EF4-FFF2-40B4-BE49-F238E27FC236}">
                <a16:creationId xmlns:a16="http://schemas.microsoft.com/office/drawing/2014/main" id="{BB0ACD46-FFBD-B039-8D7D-5FA842AD0A8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16726" y="2997200"/>
            <a:ext cx="142875" cy="6477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69" name="Line 25">
            <a:extLst>
              <a:ext uri="{FF2B5EF4-FFF2-40B4-BE49-F238E27FC236}">
                <a16:creationId xmlns:a16="http://schemas.microsoft.com/office/drawing/2014/main" id="{01A20AF6-AF88-D5E2-7456-267D2EB64C4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35863" y="2924176"/>
            <a:ext cx="0" cy="7207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70" name="Line 26">
            <a:extLst>
              <a:ext uri="{FF2B5EF4-FFF2-40B4-BE49-F238E27FC236}">
                <a16:creationId xmlns:a16="http://schemas.microsoft.com/office/drawing/2014/main" id="{81F9B93C-496D-1D92-6300-B2C14E7420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67663" y="2997200"/>
            <a:ext cx="360362" cy="6477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71" name="Line 27">
            <a:extLst>
              <a:ext uri="{FF2B5EF4-FFF2-40B4-BE49-F238E27FC236}">
                <a16:creationId xmlns:a16="http://schemas.microsoft.com/office/drawing/2014/main" id="{B156566B-28A7-7E88-26C9-34F3D77FFD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72488" y="3141664"/>
            <a:ext cx="647700" cy="50323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D6AC60AA-DE62-8B5F-709F-80514DAD98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Kreiranje i popunjavanje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D1D99-9797-A5BA-C47F-7FF483280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sr-Latn-RS"/>
              <a:t>Samo prilikom deklaracije promenljive (inicijalizacija prilikom deklaracije)</a:t>
            </a:r>
          </a:p>
          <a:p>
            <a:pPr marL="0" indent="0">
              <a:buNone/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Automobil[] parking = {</a:t>
            </a:r>
            <a:endParaRPr lang="sr-Latn-RS" sz="2000" b="1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new Automobil(), </a:t>
            </a:r>
            <a:endParaRPr lang="sr-Latn-RS" sz="2000" b="1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new Automobil(), </a:t>
            </a:r>
            <a:endParaRPr lang="sr-Latn-RS" sz="2000" b="1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new Automobil()};</a:t>
            </a:r>
          </a:p>
          <a:p>
            <a:pPr>
              <a:defRPr/>
            </a:pPr>
            <a:r>
              <a:rPr lang="sr-Latn-RS"/>
              <a:t>Bilo gde u programu:</a:t>
            </a:r>
          </a:p>
          <a:p>
            <a:pPr marL="0" indent="0">
              <a:buNone/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Automobil[] parking</a:t>
            </a:r>
            <a:r>
              <a:rPr lang="sr-Latn-R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...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parking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= new Automobil[] {</a:t>
            </a:r>
            <a:endParaRPr lang="sr-Latn-RS" sz="2000" b="1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new Automobil(), </a:t>
            </a:r>
            <a:endParaRPr lang="sr-Latn-RS" sz="2000" b="1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new Automobil(),</a:t>
            </a:r>
            <a:r>
              <a:rPr lang="sr-Latn-RS" sz="2000" b="1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	new Automobil()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};</a:t>
            </a:r>
            <a:endParaRPr lang="sr-Latn-RS" b="1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0F240C77-3002-57AE-B7FD-3EBE399FA0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Višedimenzionalni nizovi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ED7A0167-B596-DAFE-A0C5-E2DC65F4D6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Automobil[][] a = {</a:t>
            </a:r>
            <a:br>
              <a:rPr lang="sr-Latn-CS" altLang="sr-Latn-RS" b="1">
                <a:latin typeface="Courier New" panose="02070309020205020404" pitchFamily="49" charset="0"/>
              </a:rPr>
            </a:br>
            <a:r>
              <a:rPr lang="sr-Latn-CS" altLang="sr-Latn-RS" b="1">
                <a:latin typeface="Courier New" panose="02070309020205020404" pitchFamily="49" charset="0"/>
              </a:rPr>
              <a:t>  { new Automobil(), new Automobil() },</a:t>
            </a:r>
            <a:br>
              <a:rPr lang="sr-Latn-CS" altLang="sr-Latn-RS" b="1">
                <a:latin typeface="Courier New" panose="02070309020205020404" pitchFamily="49" charset="0"/>
              </a:rPr>
            </a:br>
            <a:r>
              <a:rPr lang="sr-Latn-CS" altLang="sr-Latn-RS" b="1">
                <a:latin typeface="Courier New" panose="02070309020205020404" pitchFamily="49" charset="0"/>
              </a:rPr>
              <a:t>  { new Automobil(), new Automobil() }</a:t>
            </a:r>
          </a:p>
          <a:p>
            <a:pPr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};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Automobil a[][] = new Automobil[2][3];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Automobil a[][] = new Automobil[2][];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for(int i = 0; i &lt; a.length; i++) {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a[i] = new Automobil[3];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89EB39E0-1231-4A71-59C2-C32D5156E6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Višedimenzionalni nizovi</a:t>
            </a:r>
          </a:p>
        </p:txBody>
      </p:sp>
      <p:sp>
        <p:nvSpPr>
          <p:cNvPr id="60419" name="Content Placeholder 2">
            <a:extLst>
              <a:ext uri="{FF2B5EF4-FFF2-40B4-BE49-F238E27FC236}">
                <a16:creationId xmlns:a16="http://schemas.microsoft.com/office/drawing/2014/main" id="{99998B5E-1438-341A-9ACB-BE904D2073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Automobil[][] </a:t>
            </a:r>
            <a:r>
              <a:rPr lang="sr-Latn-RS" altLang="sr-Latn-RS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parking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= new Automobil[2][];</a:t>
            </a:r>
          </a:p>
          <a:p>
            <a:pPr marL="0" indent="0">
              <a:buNone/>
            </a:pPr>
            <a:r>
              <a:rPr lang="nn-NO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for (int </a:t>
            </a:r>
            <a:r>
              <a:rPr lang="nn-NO" altLang="sr-Latn-RS" sz="24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nn-NO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nn-NO" altLang="sr-Latn-RS" sz="24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nn-NO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nn-NO" altLang="sr-Latn-RS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parking</a:t>
            </a:r>
            <a:r>
              <a:rPr lang="nn-NO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nn-NO" altLang="sr-Latn-RS" sz="24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nn-NO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nn-NO" altLang="sr-Latn-RS" sz="24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i++</a:t>
            </a:r>
            <a:r>
              <a:rPr lang="nn-NO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parking</a:t>
            </a:r>
            <a:r>
              <a:rPr lang="sr-Latn-RS" altLang="sr-Latn-RS" sz="24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[i]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= new Automobil[3];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for (int </a:t>
            </a:r>
            <a:r>
              <a:rPr lang="sr-Latn-RS" altLang="sr-Latn-RS" sz="24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sr-Latn-RS" altLang="sr-Latn-RS" sz="24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sr-Latn-RS" altLang="sr-Latn-RS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parking</a:t>
            </a:r>
            <a:r>
              <a:rPr lang="sr-Latn-RS" altLang="sr-Latn-RS" sz="24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[i]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sr-Latn-RS" altLang="sr-Latn-RS" sz="24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sr-Latn-RS" altLang="sr-Latn-RS" sz="24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parking</a:t>
            </a:r>
            <a:r>
              <a:rPr lang="sr-Latn-RS" altLang="sr-Latn-RS" sz="24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[i]</a:t>
            </a:r>
            <a:r>
              <a:rPr lang="sr-Latn-RS" altLang="sr-Latn-RS" sz="24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= new Automobil();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60420" name="Picture 2">
            <a:extLst>
              <a:ext uri="{FF2B5EF4-FFF2-40B4-BE49-F238E27FC236}">
                <a16:creationId xmlns:a16="http://schemas.microsoft.com/office/drawing/2014/main" id="{370015FA-1556-C6A2-E75B-B24FB3FCC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13" y="4348164"/>
            <a:ext cx="6240462" cy="225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D5571-67D6-5A6D-72C9-0F9876B46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Konstruktor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EF40B-A401-F65E-64FE-6C9DF0C0A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471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2E90FD0C-2BEF-C70F-E790-82A1D1C34B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Inicijalizacija objekata</a:t>
            </a:r>
            <a:endParaRPr lang="en-US" altLang="sr-Latn-RS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940CDC6E-943C-0F0E-E2B3-CFF101B10A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/>
              <a:t>Ako želimo posebnu akciju prilikom kreiranja objekta neke klase, napravićemo konstruktor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Konstruktor se automatski poziva prilikom kreiranja objekta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/>
              <a:t>	</a:t>
            </a:r>
            <a:r>
              <a:rPr lang="sr-Latn-CS" altLang="sr-Latn-RS" b="1">
                <a:latin typeface="Courier New" panose="02070309020205020404" pitchFamily="49" charset="0"/>
              </a:rPr>
              <a:t>Automobil a = new Automobil</a:t>
            </a:r>
            <a:r>
              <a:rPr lang="sr-Latn-CS" altLang="sr-Latn-RS" b="1">
                <a:solidFill>
                  <a:srgbClr val="FF0000"/>
                </a:solidFill>
                <a:latin typeface="Courier New" panose="02070309020205020404" pitchFamily="49" charset="0"/>
              </a:rPr>
              <a:t>()</a:t>
            </a:r>
            <a:r>
              <a:rPr lang="sr-Latn-CS" altLang="sr-Latn-RS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Ako ne napravimo konstruktor, kompajler će sam napraviti default konstruktor, koji ništa ne radi</a:t>
            </a:r>
            <a:endParaRPr lang="en-US" altLang="sr-Latn-RS"/>
          </a:p>
        </p:txBody>
      </p:sp>
      <p:sp>
        <p:nvSpPr>
          <p:cNvPr id="61444" name="Line 5">
            <a:extLst>
              <a:ext uri="{FF2B5EF4-FFF2-40B4-BE49-F238E27FC236}">
                <a16:creationId xmlns:a16="http://schemas.microsoft.com/office/drawing/2014/main" id="{24349288-01FB-F8AD-1551-0B5E72B0BC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24141" y="3252201"/>
            <a:ext cx="1086539" cy="126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uiExpand="1" build="p"/>
      <p:bldP spid="6144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380C9283-1436-0B1E-1F80-5E3C0EE0B7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Inicijalizacija objekata</a:t>
            </a:r>
            <a:endParaRPr lang="en-US" altLang="sr-Latn-RS"/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EEE9C9D7-EB85-B75F-F741-51EC7124F7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Automobil a = new Automobil();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a.prednjiLevi = new Tocak();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a.prednjiDesni = new Tocak();</a:t>
            </a:r>
            <a:endParaRPr lang="en-U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a.zadnjiLevi = new Tocak();</a:t>
            </a:r>
            <a:endParaRPr lang="en-U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a.zadnjiDesni = new Tocak();</a:t>
            </a:r>
            <a:endParaRPr lang="en-U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endParaRPr lang="sr-Latn-C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Umesto da se svaki put ovo piše u programu, napravi se konstruktor u klasi Automobil u kojem će pisati: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Automobil()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prednjiLevi = new Tocak();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prednjiDesni = new Tocak();</a:t>
            </a:r>
            <a:endParaRPr lang="en-U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zadnjiLevi = new Tocak();</a:t>
            </a:r>
            <a:endParaRPr lang="en-U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zadnjiDesni = new Tocak();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Automobil a = new Automobil();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2400" b="1">
              <a:latin typeface="Courier New" panose="02070309020205020404" pitchFamily="49" charset="0"/>
            </a:endParaRP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12B58EF3-C43A-C618-FEF5-8327DAE8DB19}"/>
              </a:ext>
            </a:extLst>
          </p:cNvPr>
          <p:cNvSpPr/>
          <p:nvPr/>
        </p:nvSpPr>
        <p:spPr>
          <a:xfrm>
            <a:off x="6274676" y="5549462"/>
            <a:ext cx="2824280" cy="982012"/>
          </a:xfrm>
          <a:prstGeom prst="wedgeRoundRectCallout">
            <a:avLst>
              <a:gd name="adj1" fmla="val -85039"/>
              <a:gd name="adj2" fmla="val -25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Ako samo dva puta napravimo Automobil, dobitak je evidentan!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2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2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2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24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2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24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uild="p"/>
      <p:bldP spid="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37DAD5FE-1F38-531E-E006-60F9C1C504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Inicijalizacija objekata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41F572B3-2D03-5360-768F-F96B3A2F31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sr-Latn-RS"/>
              <a:t>konstruktor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class A {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  A() {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    System.out.println("konstruktor");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  }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}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...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A promenljiva = new A();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sr-Latn-R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/>
              <a:t>na konzoli će pisati: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konstruktor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4C235B4F-B7D6-A596-0F6A-EC28F9E7B1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altLang="sr-Latn-RS"/>
              <a:t>Konstruktor sa parametrima</a:t>
            </a:r>
            <a:endParaRPr lang="en-US" altLang="sr-Latn-R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BF9305CD-A03E-1BCE-2EDC-92D50C8527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sr-Latn-RS" sz="2400"/>
              <a:t>Mo</a:t>
            </a:r>
            <a:r>
              <a:rPr lang="sr-Latn-CS" altLang="sr-Latn-RS" sz="2400"/>
              <a:t>že da se napravi i konstruktor sa parametrima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class A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A(String s)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System.out.println(s);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A promenljiva = new A("blabla");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sr-Latn-R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/>
              <a:t>na konzoli će pisati: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</a:t>
            </a:r>
            <a:r>
              <a:rPr lang="sr-Latn-CS" altLang="sr-Latn-RS" sz="2000" b="1">
                <a:latin typeface="Courier New" panose="02070309020205020404" pitchFamily="49" charset="0"/>
              </a:rPr>
              <a:t>blabla</a:t>
            </a:r>
            <a:endParaRPr lang="en-US" altLang="sr-Latn-RS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sr-Latn-RS" sz="20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4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45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29DC00C7-BB47-53A7-DB66-0E2C28C17B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Podrazumevani konstruktor</a:t>
            </a:r>
            <a:endParaRPr lang="en-US" altLang="sr-Latn-RS"/>
          </a:p>
        </p:txBody>
      </p:sp>
      <p:sp>
        <p:nvSpPr>
          <p:cNvPr id="63491" name="Content Placeholder 2">
            <a:extLst>
              <a:ext uri="{FF2B5EF4-FFF2-40B4-BE49-F238E27FC236}">
                <a16:creationId xmlns:a16="http://schemas.microsoft.com/office/drawing/2014/main" id="{93B30BA6-3E39-DD94-9E87-EFF8A6670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Ukoliko se unutar definicije klase ne navede</a:t>
            </a:r>
            <a:r>
              <a:rPr lang="sr-Latn-RS"/>
              <a:t> </a:t>
            </a:r>
            <a:r>
              <a:rPr lang="en-US"/>
              <a:t>nijedan konstruktor, kompajler će sam generisati tzv. podrazumevani konstruktor</a:t>
            </a:r>
            <a:r>
              <a:rPr lang="sr-Latn-RS"/>
              <a:t> </a:t>
            </a:r>
            <a:r>
              <a:rPr lang="en-US"/>
              <a:t>koji nema parametre, a telo mu je prazno. </a:t>
            </a:r>
            <a:endParaRPr lang="sr-Latn-RS"/>
          </a:p>
          <a:p>
            <a:pPr>
              <a:defRPr/>
            </a:pPr>
            <a:r>
              <a:rPr lang="en-US"/>
              <a:t>Taj konstruktor se neće</a:t>
            </a:r>
            <a:r>
              <a:rPr lang="sr-Latn-RS"/>
              <a:t> </a:t>
            </a:r>
            <a:r>
              <a:rPr lang="en-US"/>
              <a:t>kreirati na nivou izvornog k</a:t>
            </a:r>
            <a:r>
              <a:rPr lang="sr-Latn-RS"/>
              <a:t>o</a:t>
            </a:r>
            <a:r>
              <a:rPr lang="en-US"/>
              <a:t>da, već na nivou bajt-k</a:t>
            </a:r>
            <a:r>
              <a:rPr lang="sr-Latn-RS"/>
              <a:t>o</a:t>
            </a:r>
            <a:r>
              <a:rPr lang="en-US"/>
              <a:t>da (prevedenog k</a:t>
            </a:r>
            <a:r>
              <a:rPr lang="sr-Latn-RS"/>
              <a:t>o</a:t>
            </a:r>
            <a:r>
              <a:rPr lang="en-US"/>
              <a:t>da).</a:t>
            </a:r>
            <a:endParaRPr lang="sr-Latn-RS"/>
          </a:p>
          <a:p>
            <a:pPr marL="0" indent="0">
              <a:buNone/>
              <a:defRPr/>
            </a:pPr>
            <a:r>
              <a:rPr lang="sr-Latn-CS" b="1">
                <a:latin typeface="Courier New" pitchFamily="49" charset="0"/>
              </a:rPr>
              <a:t>Automobil a = new Automobil</a:t>
            </a:r>
            <a:r>
              <a:rPr lang="sr-Latn-CS" b="1">
                <a:solidFill>
                  <a:srgbClr val="FF0000"/>
                </a:solidFill>
                <a:latin typeface="Courier New" pitchFamily="49" charset="0"/>
              </a:rPr>
              <a:t>()</a:t>
            </a:r>
            <a:r>
              <a:rPr lang="sr-Latn-CS" b="1">
                <a:latin typeface="Courier New" pitchFamily="49" charset="0"/>
              </a:rPr>
              <a:t>;</a:t>
            </a:r>
          </a:p>
          <a:p>
            <a:pPr>
              <a:defRPr/>
            </a:pPr>
            <a:endParaRPr lang="en-US"/>
          </a:p>
        </p:txBody>
      </p:sp>
      <p:sp>
        <p:nvSpPr>
          <p:cNvPr id="65540" name="Line 5">
            <a:extLst>
              <a:ext uri="{FF2B5EF4-FFF2-40B4-BE49-F238E27FC236}">
                <a16:creationId xmlns:a16="http://schemas.microsoft.com/office/drawing/2014/main" id="{EAB25B79-0AB9-2A25-1F17-425DC6043A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21419" y="3855795"/>
            <a:ext cx="1028004" cy="269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  <p:bldP spid="6554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083488E6-12D0-F0FE-FF51-E91ED3633C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Constructor overloading</a:t>
            </a:r>
          </a:p>
        </p:txBody>
      </p:sp>
      <p:sp>
        <p:nvSpPr>
          <p:cNvPr id="66563" name="Content Placeholder 2">
            <a:extLst>
              <a:ext uri="{FF2B5EF4-FFF2-40B4-BE49-F238E27FC236}">
                <a16:creationId xmlns:a16="http://schemas.microsoft.com/office/drawing/2014/main" id="{A3644198-28CC-7034-9675-802A3F3EBA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904858" cy="4351338"/>
          </a:xfrm>
        </p:spPr>
        <p:txBody>
          <a:bodyPr>
            <a:normAutofit/>
          </a:bodyPr>
          <a:lstStyle/>
          <a:p>
            <a:r>
              <a:rPr lang="sr-Latn-RS" altLang="sr-Latn-RS" sz="3600"/>
              <a:t>Možemo imati više konstruktora</a:t>
            </a:r>
          </a:p>
          <a:p>
            <a:r>
              <a:rPr lang="sr-Latn-RS" altLang="sr-Latn-RS" sz="3600"/>
              <a:t>Ako ne napravimo default konstruktor, a napravimo barem još jedan konstruktor, default konstruktor se više </a:t>
            </a:r>
            <a:r>
              <a:rPr lang="sr-Latn-RS" altLang="sr-Latn-RS" sz="3600" b="1"/>
              <a:t>ne pravi</a:t>
            </a:r>
            <a:r>
              <a:rPr lang="sr-Latn-RS" altLang="sr-Latn-RS" sz="3600"/>
              <a:t> u bajt-kodu!</a:t>
            </a:r>
          </a:p>
          <a:p>
            <a:pPr lvl="1"/>
            <a:r>
              <a:rPr lang="sr-Latn-RS" altLang="sr-Latn-RS" sz="3200"/>
              <a:t>preporuka: napraviti default konstruktor uvek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02357E8C-9E68-ACE8-ABC4-D8692DF814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Constructor overloading</a:t>
            </a:r>
            <a:endParaRPr lang="en-US" altLang="sr-Latn-RS"/>
          </a:p>
        </p:txBody>
      </p:sp>
      <p:sp>
        <p:nvSpPr>
          <p:cNvPr id="67587" name="Content Placeholder 2">
            <a:extLst>
              <a:ext uri="{FF2B5EF4-FFF2-40B4-BE49-F238E27FC236}">
                <a16:creationId xmlns:a16="http://schemas.microsoft.com/office/drawing/2014/main" id="{1D4B61EC-621F-DCA8-F167-3EE80A0C37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class Tacka {</a:t>
            </a:r>
          </a:p>
          <a:p>
            <a:pPr marL="0" indent="0">
              <a:buNone/>
            </a:pPr>
            <a:r>
              <a:rPr lang="sr-Latn-RS" altLang="sr-Latn-RS" sz="20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 x koordinata */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sr-Latn-RS" altLang="sr-Latn-RS" sz="20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 y koordinata */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sr-Latn-RS" altLang="sr-Latn-RS" sz="20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 Podrazumevani konstruktor</a:t>
            </a:r>
          </a:p>
          <a:p>
            <a:pPr marL="0" indent="0">
              <a:buNone/>
            </a:pPr>
            <a:r>
              <a:rPr lang="sr-Latn-RS" altLang="sr-Latn-RS" sz="20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it-IT" altLang="sr-Latn-RS" sz="20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sr-Latn-RS" altLang="sr-Latn-RS" sz="20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altLang="sr-Latn-RS" sz="20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i y će postaviti na nulu</a:t>
            </a:r>
          </a:p>
          <a:p>
            <a:pPr marL="0" indent="0">
              <a:buNone/>
            </a:pPr>
            <a:r>
              <a:rPr lang="sr-Latn-RS" altLang="sr-Latn-RS" sz="20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sr-Latn-RS" sz="20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Tacka() {</a:t>
            </a:r>
          </a:p>
          <a:p>
            <a:pPr marL="0" indent="0">
              <a:buNone/>
            </a:pPr>
            <a:r>
              <a:rPr lang="sr-Latn-R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this</a:t>
            </a:r>
            <a:r>
              <a:rPr lang="sr-Latn-R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0;</a:t>
            </a:r>
          </a:p>
          <a:p>
            <a:pPr marL="0" indent="0">
              <a:buNone/>
            </a:pPr>
            <a:r>
              <a:rPr lang="sr-Latn-R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this.</a:t>
            </a:r>
            <a:r>
              <a:rPr lang="en-U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0;</a:t>
            </a:r>
          </a:p>
          <a:p>
            <a:pPr marL="0" indent="0">
              <a:buNone/>
            </a:pPr>
            <a:r>
              <a:rPr lang="sr-Latn-R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7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75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75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>
            <a:extLst>
              <a:ext uri="{FF2B5EF4-FFF2-40B4-BE49-F238E27FC236}">
                <a16:creationId xmlns:a16="http://schemas.microsoft.com/office/drawing/2014/main" id="{691A0164-713A-E423-985C-A4CD491E7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Constructor overloading</a:t>
            </a:r>
            <a:endParaRPr lang="en-US" altLang="sr-Latn-RS"/>
          </a:p>
        </p:txBody>
      </p:sp>
      <p:sp>
        <p:nvSpPr>
          <p:cNvPr id="68611" name="Content Placeholder 2">
            <a:extLst>
              <a:ext uri="{FF2B5EF4-FFF2-40B4-BE49-F238E27FC236}">
                <a16:creationId xmlns:a16="http://schemas.microsoft.com/office/drawing/2014/main" id="{242B15BA-CC9F-13FD-3296-B6DCD6FDE3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r-Latn-RS" altLang="sr-Latn-RS" sz="2000" b="1" i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n-NO" altLang="sr-Latn-RS" sz="20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 Konstruktor koji prima koordinate */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Tacka(double x, double y) {</a:t>
            </a:r>
          </a:p>
          <a:p>
            <a:pPr marL="0" indent="0">
              <a:buNone/>
            </a:pPr>
            <a:r>
              <a:rPr lang="sr-Latn-R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this.x</a:t>
            </a: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x;</a:t>
            </a:r>
          </a:p>
          <a:p>
            <a:pPr marL="0" indent="0">
              <a:buNone/>
            </a:pPr>
            <a:r>
              <a:rPr lang="sr-Latn-R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this.y</a:t>
            </a: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y;</a:t>
            </a:r>
          </a:p>
          <a:p>
            <a:pPr marL="0" indent="0">
              <a:buNone/>
            </a:pPr>
            <a:r>
              <a:rPr lang="sr-Latn-R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sr-Latn-RS" altLang="sr-Latn-RS" sz="2000" b="1" i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 Konstruktor koji prima ta</a:t>
            </a:r>
            <a:r>
              <a:rPr lang="sr-Latn-RS" altLang="sr-Latn-RS" sz="20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č</a:t>
            </a:r>
            <a:r>
              <a:rPr lang="en-US" altLang="sr-Latn-RS" sz="20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 */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Tacka(Tacka t) {</a:t>
            </a:r>
          </a:p>
          <a:p>
            <a:pPr marL="0" indent="0">
              <a:buNone/>
            </a:pPr>
            <a:r>
              <a:rPr lang="sr-Latn-R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this.x</a:t>
            </a: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t.x;</a:t>
            </a:r>
          </a:p>
          <a:p>
            <a:pPr marL="0" indent="0">
              <a:buNone/>
            </a:pPr>
            <a:r>
              <a:rPr lang="sr-Latn-R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this.y</a:t>
            </a: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t.y;</a:t>
            </a:r>
          </a:p>
          <a:p>
            <a:pPr marL="0" indent="0">
              <a:buNone/>
            </a:pPr>
            <a:r>
              <a:rPr lang="sr-Latn-R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8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8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8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86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>
            <a:extLst>
              <a:ext uri="{FF2B5EF4-FFF2-40B4-BE49-F238E27FC236}">
                <a16:creationId xmlns:a16="http://schemas.microsoft.com/office/drawing/2014/main" id="{9E222C68-7AC0-5EAC-99B8-24DB1D9C99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Constructor overloading</a:t>
            </a:r>
            <a:endParaRPr lang="en-US" altLang="sr-Latn-RS"/>
          </a:p>
        </p:txBody>
      </p:sp>
      <p:sp>
        <p:nvSpPr>
          <p:cNvPr id="69635" name="Content Placeholder 2">
            <a:extLst>
              <a:ext uri="{FF2B5EF4-FFF2-40B4-BE49-F238E27FC236}">
                <a16:creationId xmlns:a16="http://schemas.microsoft.com/office/drawing/2014/main" id="{6B4D7100-B52D-5414-6B74-7C76F7C271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class TestTacaka {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main(String[] args) {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Tacka t1 = new Tacka();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v-SE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Tacka t2 = new Tacka(2, 2);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Tacka t3 = new Tacka(t2);</a:t>
            </a: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t2.x = 5;</a:t>
            </a:r>
            <a:endParaRPr lang="en-U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>
            <a:extLst>
              <a:ext uri="{FF2B5EF4-FFF2-40B4-BE49-F238E27FC236}">
                <a16:creationId xmlns:a16="http://schemas.microsoft.com/office/drawing/2014/main" id="{380E768A-F99F-AB4D-4024-2C36BEE64A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Ključna reč 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sr-Latn-RS"/>
              <a:t> i konstruktori</a:t>
            </a:r>
          </a:p>
        </p:txBody>
      </p:sp>
      <p:sp>
        <p:nvSpPr>
          <p:cNvPr id="70659" name="Content Placeholder 2">
            <a:extLst>
              <a:ext uri="{FF2B5EF4-FFF2-40B4-BE49-F238E27FC236}">
                <a16:creationId xmlns:a16="http://schemas.microsoft.com/office/drawing/2014/main" id="{1F092C4C-C60A-2225-807C-E1AAFC03F7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class Krug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Tacka centar;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double r;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Krug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this.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centar = new Tacka();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Krug</a:t>
            </a:r>
            <a:r>
              <a:rPr lang="fr-FR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(double x, double y, double r)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this.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centar.x = x;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this.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centar.y = y;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this.r = r;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Curved Left Arrow 3">
            <a:extLst>
              <a:ext uri="{FF2B5EF4-FFF2-40B4-BE49-F238E27FC236}">
                <a16:creationId xmlns:a16="http://schemas.microsoft.com/office/drawing/2014/main" id="{691994AF-06C5-5A77-97D6-D434C9B0FAA5}"/>
              </a:ext>
            </a:extLst>
          </p:cNvPr>
          <p:cNvSpPr/>
          <p:nvPr/>
        </p:nvSpPr>
        <p:spPr>
          <a:xfrm flipH="1" flipV="1">
            <a:off x="166664" y="2663231"/>
            <a:ext cx="1031290" cy="1719583"/>
          </a:xfrm>
          <a:prstGeom prst="curvedLeftArrow">
            <a:avLst>
              <a:gd name="adj1" fmla="val 25000"/>
              <a:gd name="adj2" fmla="val 50000"/>
              <a:gd name="adj3" fmla="val 2816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9BF59-00B1-C65D-01BC-E0B59BFE4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Uništavanje objekata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87E1FD-63BA-8099-88E0-B32577981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9853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415A82D0-C491-98F0-9D05-E66635D4B4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 sz="4000"/>
              <a:t>Uni</a:t>
            </a:r>
            <a:r>
              <a:rPr lang="sr-Latn-CS" altLang="sr-Latn-RS" sz="4000"/>
              <a:t>štavanje objekata – </a:t>
            </a:r>
            <a:r>
              <a:rPr lang="en-US" altLang="sr-Latn-RS" sz="4000"/>
              <a:t>Garbage collector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4270C8D6-C0EE-AD5E-2133-9F37E6DC75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RS" altLang="sr-Latn-RS"/>
              <a:t>R</a:t>
            </a:r>
            <a:r>
              <a:rPr lang="en-US" altLang="sr-Latn-RS"/>
              <a:t>adi kao poseban proces u pozadini</a:t>
            </a:r>
          </a:p>
          <a:p>
            <a:pPr eaLnBrk="1" hangingPunct="1">
              <a:lnSpc>
                <a:spcPct val="90000"/>
              </a:lnSpc>
            </a:pPr>
            <a:r>
              <a:rPr lang="sr-Latn-RS" altLang="sr-Latn-RS"/>
              <a:t>A</a:t>
            </a:r>
            <a:r>
              <a:rPr lang="en-US" altLang="sr-Latn-RS"/>
              <a:t>utomatska dealokacija memorije</a:t>
            </a:r>
          </a:p>
          <a:p>
            <a:pPr eaLnBrk="1" hangingPunct="1">
              <a:lnSpc>
                <a:spcPct val="90000"/>
              </a:lnSpc>
            </a:pPr>
            <a:r>
              <a:rPr lang="sr-Latn-RS" altLang="sr-Latn-RS"/>
              <a:t>A</a:t>
            </a:r>
            <a:r>
              <a:rPr lang="en-US" altLang="sr-Latn-RS"/>
              <a:t>utomatska defragmentacija memorije</a:t>
            </a:r>
            <a:endParaRPr lang="sr-Latn-RS" altLang="sr-Latn-RS"/>
          </a:p>
          <a:p>
            <a:pPr eaLnBrk="1" hangingPunct="1">
              <a:lnSpc>
                <a:spcPct val="90000"/>
              </a:lnSpc>
            </a:pPr>
            <a:r>
              <a:rPr lang="sr-Latn-RS" altLang="sr-Latn-RS"/>
              <a:t>Poziva se po potrebi</a:t>
            </a:r>
          </a:p>
          <a:p>
            <a:pPr lvl="1" eaLnBrk="1" hangingPunct="1">
              <a:lnSpc>
                <a:spcPct val="90000"/>
              </a:lnSpc>
            </a:pPr>
            <a:r>
              <a:rPr lang="sr-Latn-RS" altLang="sr-Latn-RS"/>
              <a:t>možemo ga eksplicitno pozvati sledećim kodom: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System.gc();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sr-Latn-RS" altLang="sr-Latn-RS"/>
              <a:t>ali Garbage Collector će sam "odlučiti" da li će dealocirati memoriju</a:t>
            </a:r>
          </a:p>
          <a:p>
            <a:pPr lvl="1" eaLnBrk="1" hangingPunct="1">
              <a:lnSpc>
                <a:spcPct val="90000"/>
              </a:lnSpc>
            </a:pPr>
            <a:r>
              <a:rPr lang="sr-Latn-RS" altLang="sr-Latn-RS"/>
              <a:t>poziv ove metode je samo sugestija GC-u da bi mogao da otpočne čišćenje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4A76C916-D2E2-D356-7323-12BC9B40D2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Garbage collector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2F17CA29-FAA0-5779-7159-FB9D01FFFB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sr-Latn-RS" altLang="en-US"/>
              <a:t>N</a:t>
            </a:r>
            <a:r>
              <a:rPr lang="en-US" altLang="en-US"/>
              <a:t>e postoji destruktor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sr-Latn-RS" altLang="en-US"/>
              <a:t>Možemo napisati p</a:t>
            </a:r>
            <a:r>
              <a:rPr lang="en-US" altLang="en-US"/>
              <a:t>osebn</a:t>
            </a:r>
            <a:r>
              <a:rPr lang="sr-Latn-RS" altLang="en-US"/>
              <a:t>u</a:t>
            </a:r>
            <a:r>
              <a:rPr lang="en-US" altLang="en-US"/>
              <a:t> metod</a:t>
            </a:r>
            <a:r>
              <a:rPr lang="sr-Latn-RS" altLang="en-US"/>
              <a:t>u</a:t>
            </a:r>
            <a:r>
              <a:rPr lang="sr-Latn-CS" altLang="en-US"/>
              <a:t> </a:t>
            </a:r>
            <a:r>
              <a:rPr lang="en-US" altLang="en-US"/>
              <a:t> </a:t>
            </a:r>
            <a:r>
              <a:rPr lang="en-US" altLang="en-US" b="1">
                <a:latin typeface="Courier New" panose="02070309020205020404" pitchFamily="49" charset="0"/>
              </a:rPr>
              <a:t>finalize()</a:t>
            </a:r>
            <a:r>
              <a:rPr lang="sr-Latn-RS" altLang="en-US">
                <a:latin typeface="Tahoma" panose="020B0604030504040204" pitchFamily="34" charset="0"/>
                <a:cs typeface="Tahoma" panose="020B0604030504040204" pitchFamily="34" charset="0"/>
              </a:rPr>
              <a:t>, koja </a:t>
            </a:r>
            <a:r>
              <a:rPr lang="en-US" altLang="en-US"/>
              <a:t>se poziva neposredno pre osloba</a:t>
            </a:r>
            <a:r>
              <a:rPr lang="sr-Latn-CS" altLang="en-US"/>
              <a:t>đanja memorije koju je objekat zauzimao</a:t>
            </a:r>
          </a:p>
          <a:p>
            <a:pPr lvl="1" eaLnBrk="1" hangingPunct="1">
              <a:lnSpc>
                <a:spcPct val="140000"/>
              </a:lnSpc>
              <a:defRPr/>
            </a:pPr>
            <a:r>
              <a:rPr lang="sr-Latn-CS" altLang="en-US"/>
              <a:t>nemamo garanciju da će biti pozvana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sr-Latn-C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Da li je moguć memory leak?</a:t>
            </a:r>
            <a:endParaRPr lang="en-US" altLang="en-US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>
            <a:extLst>
              <a:ext uri="{FF2B5EF4-FFF2-40B4-BE49-F238E27FC236}">
                <a16:creationId xmlns:a16="http://schemas.microsoft.com/office/drawing/2014/main" id="{C2A1040B-FD9F-B7E2-0FC2-2E84F86D08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Garbage collector</a:t>
            </a:r>
            <a:endParaRPr lang="en-US" altLang="sr-Latn-RS"/>
          </a:p>
        </p:txBody>
      </p:sp>
      <p:sp>
        <p:nvSpPr>
          <p:cNvPr id="72707" name="Content Placeholder 2">
            <a:extLst>
              <a:ext uri="{FF2B5EF4-FFF2-40B4-BE49-F238E27FC236}">
                <a16:creationId xmlns:a16="http://schemas.microsoft.com/office/drawing/2014/main" id="{BA686B28-FC0B-792F-D399-27B0D79215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class GCTest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GCTest()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System.out.println("Konstruktor");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 void finalize() throws Throwable {</a:t>
            </a:r>
          </a:p>
          <a:p>
            <a:pPr marL="0" indent="0">
              <a:buNone/>
            </a:pPr>
            <a:r>
              <a:rPr lang="sr-Latn-R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System.out.println("finalized");</a:t>
            </a:r>
          </a:p>
          <a:p>
            <a:pPr marL="0" indent="0">
              <a:buNone/>
            </a:pPr>
            <a:r>
              <a:rPr lang="sr-Latn-R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main(String[] args)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GCTest test = new GCTest();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System.out.println("main running...");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System.gc();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F084F-11CD-1258-9229-B78944CAF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Deep vs. Shallow Copy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96075-2935-A145-D3BE-62ECC4703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09137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>
            <a:extLst>
              <a:ext uri="{FF2B5EF4-FFF2-40B4-BE49-F238E27FC236}">
                <a16:creationId xmlns:a16="http://schemas.microsoft.com/office/drawing/2014/main" id="{7617F93B-8305-22FE-0C82-6F7A222FA9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Deep vs. shallow copy</a:t>
            </a:r>
            <a:endParaRPr lang="en-US" altLang="sr-Latn-RS"/>
          </a:p>
        </p:txBody>
      </p:sp>
      <p:sp>
        <p:nvSpPr>
          <p:cNvPr id="74755" name="Content Placeholder 2">
            <a:extLst>
              <a:ext uri="{FF2B5EF4-FFF2-40B4-BE49-F238E27FC236}">
                <a16:creationId xmlns:a16="http://schemas.microsoft.com/office/drawing/2014/main" id="{62C2F76A-7B2F-44D4-5EEE-BB7BA9C0FE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sr-Latn-RS"/>
              <a:t>Šta se događa kada primenimo operator '=' na reference?</a:t>
            </a:r>
          </a:p>
          <a:p>
            <a:pPr lvl="1"/>
            <a:r>
              <a:rPr lang="sr-Latn-RS" altLang="sr-Latn-RS"/>
              <a:t>tada i originalna promenljiva i nova ukazuju na isti objekat.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0D054CD5-32FD-F85F-7F7F-050E7C1C2B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altLang="sr-Latn-RS"/>
              <a:t>Deep vs. shallow copy</a:t>
            </a:r>
            <a:endParaRPr lang="en-US" altLang="sr-Latn-RS"/>
          </a:p>
        </p:txBody>
      </p:sp>
      <p:sp>
        <p:nvSpPr>
          <p:cNvPr id="75779" name="Text Box 22">
            <a:extLst>
              <a:ext uri="{FF2B5EF4-FFF2-40B4-BE49-F238E27FC236}">
                <a16:creationId xmlns:a16="http://schemas.microsoft.com/office/drawing/2014/main" id="{A5581745-DBA0-8C2D-6A35-AF180BF8A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950" y="5972175"/>
            <a:ext cx="78486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Automobil a = new Automobil();</a:t>
            </a:r>
          </a:p>
          <a:p>
            <a:pPr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Automobil b = a;</a:t>
            </a:r>
            <a:endParaRPr lang="en-US" altLang="sr-Latn-RS" sz="2000">
              <a:latin typeface="Times New Roman" panose="02020603050405020304" pitchFamily="18" charset="0"/>
            </a:endParaRPr>
          </a:p>
        </p:txBody>
      </p:sp>
      <p:graphicFrame>
        <p:nvGraphicFramePr>
          <p:cNvPr id="75780" name="Object 1">
            <a:extLst>
              <a:ext uri="{FF2B5EF4-FFF2-40B4-BE49-F238E27FC236}">
                <a16:creationId xmlns:a16="http://schemas.microsoft.com/office/drawing/2014/main" id="{0DCA1031-7F9A-1D0F-6EDC-9BBF7D7E77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3250" y="2205038"/>
          <a:ext cx="5905500" cy="273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035150" imgH="1863575" progId="Visio.Drawing.11">
                  <p:embed/>
                </p:oleObj>
              </mc:Choice>
              <mc:Fallback>
                <p:oleObj name="Visio" r:id="rId2" imgW="4035150" imgH="1863575" progId="Visio.Drawing.11">
                  <p:embed/>
                  <p:pic>
                    <p:nvPicPr>
                      <p:cNvPr id="75780" name="Object 1">
                        <a:extLst>
                          <a:ext uri="{FF2B5EF4-FFF2-40B4-BE49-F238E27FC236}">
                            <a16:creationId xmlns:a16="http://schemas.microsoft.com/office/drawing/2014/main" id="{0DCA1031-7F9A-1D0F-6EDC-9BBF7D7E77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2205038"/>
                        <a:ext cx="5905500" cy="273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>
            <a:extLst>
              <a:ext uri="{FF2B5EF4-FFF2-40B4-BE49-F238E27FC236}">
                <a16:creationId xmlns:a16="http://schemas.microsoft.com/office/drawing/2014/main" id="{933E5225-312D-86E2-D829-B6C3F37C31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Deep vs. shallow copy</a:t>
            </a:r>
            <a:endParaRPr lang="en-US" altLang="sr-Latn-RS"/>
          </a:p>
        </p:txBody>
      </p:sp>
      <p:sp>
        <p:nvSpPr>
          <p:cNvPr id="76803" name="Content Placeholder 2">
            <a:extLst>
              <a:ext uri="{FF2B5EF4-FFF2-40B4-BE49-F238E27FC236}">
                <a16:creationId xmlns:a16="http://schemas.microsoft.com/office/drawing/2014/main" id="{82FD584C-03F4-DBA6-24FB-5A53CF390A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sr-Latn-RS"/>
              <a:t>Šta ako napravimo metodu copy() koja vraća kopiju originalnog objekta?</a:t>
            </a:r>
          </a:p>
          <a:p>
            <a:pPr lvl="1"/>
            <a:r>
              <a:rPr lang="sr-Latn-RS" altLang="sr-Latn-RS"/>
              <a:t>sve zavisi od atributa:</a:t>
            </a:r>
          </a:p>
          <a:p>
            <a:pPr lvl="2"/>
            <a:r>
              <a:rPr lang="sr-Latn-RS" altLang="sr-Latn-RS"/>
              <a:t>ako su atributi primitivni, sve je OK</a:t>
            </a:r>
          </a:p>
          <a:p>
            <a:pPr lvl="2"/>
            <a:r>
              <a:rPr lang="sr-Latn-RS" altLang="sr-Latn-RS"/>
              <a:t>ako atributi nisu primitivni, tada dobijamo </a:t>
            </a:r>
            <a:r>
              <a:rPr lang="sr-Latn-RS" altLang="sr-Latn-RS" i="1"/>
              <a:t>shallow copy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3F155B39-2460-DBE4-4CB9-77C2FC8315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Deep vs. shallow copy</a:t>
            </a:r>
            <a:endParaRPr lang="en-US" altLang="sr-Latn-RS"/>
          </a:p>
        </p:txBody>
      </p:sp>
      <p:sp>
        <p:nvSpPr>
          <p:cNvPr id="77827" name="Content Placeholder 2">
            <a:extLst>
              <a:ext uri="{FF2B5EF4-FFF2-40B4-BE49-F238E27FC236}">
                <a16:creationId xmlns:a16="http://schemas.microsoft.com/office/drawing/2014/main" id="{CAA0F95E-770F-B9B2-E3A6-9C95E126C0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sr-Latn-RS"/>
              <a:t>Ako operatorom '=' zapravo pravimo kopiju vrednosti promenljive, gde je problem?</a:t>
            </a:r>
          </a:p>
          <a:p>
            <a:pPr lvl="1"/>
            <a:r>
              <a:rPr lang="sr-Latn-RS" altLang="sr-Latn-RS"/>
              <a:t>ako napravimo metodu:</a:t>
            </a:r>
            <a:br>
              <a:rPr lang="sr-Latn-RS" altLang="sr-Latn-RS"/>
            </a:b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Automobil copy() {...} </a:t>
            </a:r>
          </a:p>
          <a:p>
            <a:pPr lvl="1">
              <a:buFontTx/>
              <a:buNone/>
            </a:pPr>
            <a:r>
              <a:rPr lang="sr-Latn-RS" altLang="sr-Latn-RS"/>
              <a:t>koja će praviti kopiju objekta, onda moramo da napravimo kopiju svih atributa iz originala</a:t>
            </a:r>
          </a:p>
          <a:p>
            <a:pPr lvl="2"/>
            <a:r>
              <a:rPr lang="sr-Latn-RS" altLang="sr-Latn-RS"/>
              <a:t>operator '=' kod primitivnih tipova radi deep copy</a:t>
            </a:r>
          </a:p>
          <a:p>
            <a:pPr lvl="2"/>
            <a:r>
              <a:rPr lang="sr-Latn-RS" altLang="sr-Latn-RS"/>
              <a:t>kod referenci ne radi deep copy objekta, već kopira reference</a:t>
            </a:r>
          </a:p>
          <a:p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>
            <a:extLst>
              <a:ext uri="{FF2B5EF4-FFF2-40B4-BE49-F238E27FC236}">
                <a16:creationId xmlns:a16="http://schemas.microsoft.com/office/drawing/2014/main" id="{34272D74-B13E-FAD3-475C-16C2A7D045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999718"/>
          </a:xfrm>
        </p:spPr>
        <p:txBody>
          <a:bodyPr/>
          <a:lstStyle/>
          <a:p>
            <a:r>
              <a:rPr lang="sr-Latn-RS" altLang="sr-Latn-RS"/>
              <a:t>Plitka kopija</a:t>
            </a:r>
          </a:p>
        </p:txBody>
      </p:sp>
      <p:sp>
        <p:nvSpPr>
          <p:cNvPr id="78851" name="Content Placeholder 2">
            <a:extLst>
              <a:ext uri="{FF2B5EF4-FFF2-40B4-BE49-F238E27FC236}">
                <a16:creationId xmlns:a16="http://schemas.microsoft.com/office/drawing/2014/main" id="{14493064-44DB-E3C8-7349-1041DC0AAA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4530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Automobil copy ()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Automobil </a:t>
            </a:r>
            <a:r>
              <a:rPr lang="sr-Latn-R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= new Automobil();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.prednjiLevi = </a:t>
            </a:r>
            <a:r>
              <a:rPr lang="sr-Latn-R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.prednjiLevi;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.prednjiDesni = </a:t>
            </a:r>
            <a:r>
              <a:rPr lang="sr-Latn-R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.prednjiDesni;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.zadnjiLevi = </a:t>
            </a:r>
            <a:r>
              <a:rPr lang="sr-Latn-R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.zadnjiLevi;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.zadnjiDesni = </a:t>
            </a:r>
            <a:r>
              <a:rPr lang="sr-Latn-R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.zadnjiDesni;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sr-Latn-R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8852" name="Rectangle 6">
            <a:extLst>
              <a:ext uri="{FF2B5EF4-FFF2-40B4-BE49-F238E27FC236}">
                <a16:creationId xmlns:a16="http://schemas.microsoft.com/office/drawing/2014/main" id="{DA1CDD97-B59E-8E8B-0EE5-165071819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graphicFrame>
        <p:nvGraphicFramePr>
          <p:cNvPr id="78853" name="Object 2">
            <a:extLst>
              <a:ext uri="{FF2B5EF4-FFF2-40B4-BE49-F238E27FC236}">
                <a16:creationId xmlns:a16="http://schemas.microsoft.com/office/drawing/2014/main" id="{CEAB155C-B146-95E9-79E3-A685EF16E8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7350" y="4005263"/>
          <a:ext cx="5905500" cy="273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036060" imgH="1861820" progId="Visio.Drawing.11">
                  <p:embed/>
                </p:oleObj>
              </mc:Choice>
              <mc:Fallback>
                <p:oleObj name="Visio" r:id="rId2" imgW="4036060" imgH="1861820" progId="Visio.Drawing.11">
                  <p:embed/>
                  <p:pic>
                    <p:nvPicPr>
                      <p:cNvPr id="78853" name="Object 2">
                        <a:extLst>
                          <a:ext uri="{FF2B5EF4-FFF2-40B4-BE49-F238E27FC236}">
                            <a16:creationId xmlns:a16="http://schemas.microsoft.com/office/drawing/2014/main" id="{CEAB155C-B146-95E9-79E3-A685EF16E8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4005263"/>
                        <a:ext cx="5905500" cy="273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8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88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0E9E0432-ED99-9A1D-8A1F-AA648E7EB9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895350"/>
          </a:xfrm>
        </p:spPr>
        <p:txBody>
          <a:bodyPr/>
          <a:lstStyle/>
          <a:p>
            <a:pPr algn="l"/>
            <a:r>
              <a:rPr lang="sr-Latn-RS" altLang="sr-Latn-RS"/>
              <a:t>Duboka kopija</a:t>
            </a:r>
          </a:p>
        </p:txBody>
      </p:sp>
      <p:sp>
        <p:nvSpPr>
          <p:cNvPr id="79875" name="Content Placeholder 2">
            <a:extLst>
              <a:ext uri="{FF2B5EF4-FFF2-40B4-BE49-F238E27FC236}">
                <a16:creationId xmlns:a16="http://schemas.microsoft.com/office/drawing/2014/main" id="{D8128FA8-BA8D-E2FC-E122-720390BD35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9542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Automobil copy ()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Automobil ret = new Automobil();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ret.prednjiLevi = this.prednjiLevi.copy();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ret.prednjiDesni = this.prednjiDesni.copy();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ret.zadnjiLevi = this.zadnjiLevi.copy();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ret.zadnjiDesni = this.zadnjiDesni.copy();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return ret;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9877" name="TextBox 1">
            <a:extLst>
              <a:ext uri="{FF2B5EF4-FFF2-40B4-BE49-F238E27FC236}">
                <a16:creationId xmlns:a16="http://schemas.microsoft.com/office/drawing/2014/main" id="{89F28DB4-9260-A649-315E-9CA87BC19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5" y="325439"/>
            <a:ext cx="3949700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R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Tocak copy()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sr-Latn-R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 Tocak ret = new Tocak();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sr-Latn-R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 ret.pritisak = this.pritisak;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sr-Latn-R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 return ret;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sr-Latn-R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5EAF2B-8534-C217-4AAA-93AAB5EA6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703" y="31350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485922E-1227-C0EB-D6C8-CFC8FAB231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5156200"/>
              </p:ext>
            </p:extLst>
          </p:nvPr>
        </p:nvGraphicFramePr>
        <p:xfrm>
          <a:off x="3148597" y="4094533"/>
          <a:ext cx="5793833" cy="2678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036060" imgH="1864360" progId="Visio.Drawing.6">
                  <p:embed/>
                </p:oleObj>
              </mc:Choice>
              <mc:Fallback>
                <p:oleObj r:id="rId2" imgW="4036060" imgH="186436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597" y="4094533"/>
                        <a:ext cx="5793833" cy="26788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9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9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4F72B-F26C-E4D6-1AD6-76C36F4F1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Static ključna reč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D9F22-1047-80DA-F12C-AAEE72263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15303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00AF962A-2756-BBDE-675D-31423D6374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Ključna reč </a:t>
            </a:r>
            <a:r>
              <a:rPr lang="sr-Latn-CS" altLang="sr-Latn-RS" sz="4000" b="1">
                <a:latin typeface="Courier New" panose="02070309020205020404" pitchFamily="49" charset="0"/>
              </a:rPr>
              <a:t>static</a:t>
            </a:r>
            <a:endParaRPr lang="en-US" altLang="sr-Latn-RS" sz="4000" b="1">
              <a:latin typeface="Courier New" panose="02070309020205020404" pitchFamily="49" charset="0"/>
            </a:endParaRP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A1067CB2-350E-7F0D-9AE2-1293CAC9E7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940034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sr-Latn-CS" altLang="sr-Latn-RS"/>
              <a:t>Definiše statičke atribute i metode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Statički atributi i metode postoje i bez kreiranje objekta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zato im se može pristupiti preko imena klase</a:t>
            </a:r>
          </a:p>
          <a:p>
            <a:pPr marL="914400" lvl="2" indent="0" eaLnBrk="1" hangingPunct="1">
              <a:lnSpc>
                <a:spcPct val="90000"/>
              </a:lnSpc>
              <a:buNone/>
            </a:pPr>
            <a:r>
              <a:rPr lang="sr-Latn-C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StaticTest.i++;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Statički atributi imaju istu vrednost u svim objektima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ako promenim statički atribut u jednom objektu, on će se promeniti i kod svih ostalih objekata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Namena statičkih metoda: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pristup i rad sa statičkim atributima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opšte metode za koje nije potrebno da se kreira objekat</a:t>
            </a:r>
          </a:p>
          <a:p>
            <a:pPr marL="914400" lvl="2" indent="0" eaLnBrk="1" hangingPunct="1">
              <a:lnSpc>
                <a:spcPct val="90000"/>
              </a:lnSpc>
              <a:buNone/>
            </a:pPr>
            <a:r>
              <a:rPr lang="sr-Latn-C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Math.sin(x)</a:t>
            </a:r>
            <a:endParaRPr lang="en-US" altLang="sr-Latn-R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1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1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19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7C519A24-A203-2527-C737-13B5F45171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Ključna reč </a:t>
            </a:r>
            <a:r>
              <a:rPr lang="en-US" altLang="sr-Latn-RS" b="1">
                <a:latin typeface="Courier New" panose="02070309020205020404" pitchFamily="49" charset="0"/>
              </a:rPr>
              <a:t>static</a:t>
            </a:r>
            <a:endParaRPr lang="en-US" altLang="sr-Latn-RS"/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1C47206B-588A-B1C1-608F-6B616CA2A1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class StaticTest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</a:t>
            </a:r>
            <a:r>
              <a:rPr lang="sr-Latn-CS" altLang="sr-Latn-RS" sz="2000" b="1">
                <a:solidFill>
                  <a:srgbClr val="FF0000"/>
                </a:solidFill>
                <a:latin typeface="Courier New" panose="02070309020205020404" pitchFamily="49" charset="0"/>
              </a:rPr>
              <a:t>static</a:t>
            </a:r>
            <a:r>
              <a:rPr lang="sr-Latn-CS" altLang="sr-Latn-RS" sz="2000" b="1">
                <a:latin typeface="Courier New" panose="02070309020205020404" pitchFamily="49" charset="0"/>
              </a:rPr>
              <a:t> int i = 47;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</a:t>
            </a:r>
            <a:r>
              <a:rPr lang="sr-Latn-CS" altLang="sr-Latn-RS" sz="2000" b="1">
                <a:solidFill>
                  <a:srgbClr val="FF0000"/>
                </a:solidFill>
                <a:latin typeface="Courier New" panose="02070309020205020404" pitchFamily="49" charset="0"/>
              </a:rPr>
              <a:t>static</a:t>
            </a:r>
            <a:r>
              <a:rPr lang="sr-Latn-CS" altLang="sr-Latn-RS" sz="2000" b="1">
                <a:latin typeface="Courier New" panose="02070309020205020404" pitchFamily="49" charset="0"/>
              </a:rPr>
              <a:t> void metoda() { i++;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}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endParaRPr lang="sr-Latn-CS" altLang="sr-Latn-R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...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StaticTest st1 = new StaticTest();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StaticTest st2 = new StaticTest();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endParaRPr lang="sr-Latn-CS" altLang="sr-Latn-R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...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st1.i++;               // isto što i st2.i++; i je sada 48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StaticTest.i++;        // i je sada 49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StaticTest.metoda();   // i je sada 50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F9E51378-BB20-B2B5-B05F-585A91A2F3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Ključna reč </a:t>
            </a:r>
            <a:r>
              <a:rPr lang="en-US" altLang="sr-Latn-RS" b="1">
                <a:latin typeface="Courier New" panose="02070309020205020404" pitchFamily="49" charset="0"/>
              </a:rPr>
              <a:t>static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5FCA0917-1C61-5C26-9803-B874A41895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System.out.println();</a:t>
            </a:r>
          </a:p>
          <a:p>
            <a:pPr marL="0" indent="0" eaLnBrk="1" hangingPunct="1">
              <a:buNone/>
            </a:pP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Math.random();</a:t>
            </a:r>
          </a:p>
          <a:p>
            <a:pPr marL="0" indent="0" eaLnBrk="1" hangingPunct="1">
              <a:buNone/>
            </a:pP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Math.sin();</a:t>
            </a:r>
          </a:p>
          <a:p>
            <a:pPr marL="0" indent="0" eaLnBrk="1" hangingPunct="1">
              <a:buNone/>
            </a:pP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Math.PI;</a:t>
            </a:r>
          </a:p>
          <a:p>
            <a:pPr marL="0" indent="0" eaLnBrk="1" hangingPunct="1">
              <a:buNone/>
            </a:pPr>
            <a:endParaRPr lang="sr-Latn-CS" alt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main(String[] args) {...}</a:t>
            </a:r>
          </a:p>
          <a:p>
            <a:pPr marL="0" indent="0" eaLnBrk="1" hangingPunct="1">
              <a:buNone/>
            </a:pP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java Hello 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 Hello.main(args)</a:t>
            </a:r>
            <a:endParaRPr lang="en-US" alt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6A6CC52E-C24A-89A1-F722-1238759769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Statički blok</a:t>
            </a:r>
          </a:p>
        </p:txBody>
      </p:sp>
      <p:sp>
        <p:nvSpPr>
          <p:cNvPr id="84995" name="Content Placeholder 2">
            <a:extLst>
              <a:ext uri="{FF2B5EF4-FFF2-40B4-BE49-F238E27FC236}">
                <a16:creationId xmlns:a16="http://schemas.microsoft.com/office/drawing/2014/main" id="{B5274040-5179-D29D-0B28-491E0432BE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sr-Latn-RS"/>
              <a:t>Statički blok se izvršava samo jednom, prilikom prvog korišćenja klase</a:t>
            </a:r>
          </a:p>
          <a:p>
            <a:r>
              <a:rPr lang="sr-Latn-RS" altLang="sr-Latn-RS"/>
              <a:t>Unutar statičkog bloka može se pristupati samo statičkim atributima i </a:t>
            </a:r>
            <a:r>
              <a:rPr lang="it-IT" altLang="sr-Latn-RS"/>
              <a:t>mogu se pozivati samo statičke metode</a:t>
            </a:r>
            <a:endParaRPr lang="sr-Latn-R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>
            <a:extLst>
              <a:ext uri="{FF2B5EF4-FFF2-40B4-BE49-F238E27FC236}">
                <a16:creationId xmlns:a16="http://schemas.microsoft.com/office/drawing/2014/main" id="{61D6D9E8-5D85-8085-A37A-BA8B6C950F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Statički blok</a:t>
            </a:r>
            <a:endParaRPr lang="en-US" altLang="sr-Latn-RS"/>
          </a:p>
        </p:txBody>
      </p:sp>
      <p:sp>
        <p:nvSpPr>
          <p:cNvPr id="86019" name="Content Placeholder 2">
            <a:extLst>
              <a:ext uri="{FF2B5EF4-FFF2-40B4-BE49-F238E27FC236}">
                <a16:creationId xmlns:a16="http://schemas.microsoft.com/office/drawing/2014/main" id="{CB16FF94-D1A5-D99B-47F1-E8A0C30A4E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class Test {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2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int a;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2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int b;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2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void f() {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b = 6;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2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a = 5;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f();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A9214777-1987-9AE6-F638-A0A67837C6E2}"/>
              </a:ext>
            </a:extLst>
          </p:cNvPr>
          <p:cNvSpPr/>
          <p:nvPr/>
        </p:nvSpPr>
        <p:spPr>
          <a:xfrm>
            <a:off x="3481926" y="4567496"/>
            <a:ext cx="4626053" cy="1193674"/>
          </a:xfrm>
          <a:prstGeom prst="wedgeRoundRectCallout">
            <a:avLst>
              <a:gd name="adj1" fmla="val -69421"/>
              <a:gd name="adj2" fmla="val -1561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Nema </a:t>
            </a:r>
            <a:r>
              <a:rPr lang="sr-Latn-RS" sz="1600" b="1" u="sng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sr-Latn-RS"/>
              <a:t> ključne reči. Ona postoji samo kada napravimo objekat klase Test:</a:t>
            </a:r>
          </a:p>
          <a:p>
            <a:pPr algn="ctr"/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new Test()</a:t>
            </a: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6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60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60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01886-E1C9-C264-9CEA-FED93A43D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Konvencije imenovanja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86A26-523A-202D-57C1-C662457F1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16843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73F4A34F-1961-FE33-F13B-63DBB8EC1A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Konvencije davanja imena</a:t>
            </a:r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67179FDA-3E4B-604B-047C-C3FB7BE69C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199" y="1825625"/>
            <a:ext cx="11085035" cy="4351338"/>
          </a:xfrm>
        </p:spPr>
        <p:txBody>
          <a:bodyPr/>
          <a:lstStyle/>
          <a:p>
            <a:r>
              <a:rPr lang="sr-Latn-RS" altLang="sr-Latn-RS" sz="2000"/>
              <a:t>Nazivi klasa pišu se malim slovima, ali početnim velikim slovom (npr. 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Automobil</a:t>
            </a:r>
            <a:r>
              <a:rPr lang="sr-Latn-RS" altLang="sr-Latn-RS" sz="2000"/>
              <a:t>, 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sr-Latn-RS" altLang="sr-Latn-RS" sz="2000"/>
              <a:t>). </a:t>
            </a:r>
          </a:p>
          <a:p>
            <a:r>
              <a:rPr lang="sr-Latn-RS" altLang="sr-Latn-RS" sz="2000"/>
              <a:t>Ukoliko se naziv klase sastoji iz više reči, reči se spajaju i svaka od njih počinje velikim slovom (npr. 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HashMap</a:t>
            </a:r>
            <a:r>
              <a:rPr lang="sr-Latn-RS" altLang="sr-Latn-RS" sz="2000"/>
              <a:t>, 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ArrayIndexOutOfBoundsException</a:t>
            </a:r>
            <a:r>
              <a:rPr lang="sr-Latn-RS" altLang="sr-Latn-RS" sz="2000"/>
              <a:t>).</a:t>
            </a:r>
          </a:p>
          <a:p>
            <a:r>
              <a:rPr lang="sr-Latn-RS" altLang="sr-Latn-RS" sz="2000"/>
              <a:t>Nazivi metoda i atributa pišu se malim slovima (npr. 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  <a:r>
              <a:rPr lang="sr-Latn-RS" altLang="sr-Latn-RS" sz="2000"/>
              <a:t>, 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sr-Latn-RS" altLang="sr-Latn-RS" sz="2000"/>
              <a:t>). </a:t>
            </a:r>
          </a:p>
          <a:p>
            <a:r>
              <a:rPr lang="sr-Latn-RS" altLang="sr-Latn-RS" sz="2000"/>
              <a:t>Ako se naziv metode ili atributa sastoji od više reči, one se spajaju, pri čemu sve reči počevši od druge počinju velikim slovom (npr. 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setSize</a:t>
            </a:r>
            <a:r>
              <a:rPr lang="sr-Latn-RS" altLang="sr-Latn-RS" sz="2000"/>
              <a:t>, 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handleMessage</a:t>
            </a:r>
            <a:r>
              <a:rPr lang="sr-Latn-RS" altLang="sr-Latn-RS" sz="2000"/>
              <a:t>).</a:t>
            </a:r>
          </a:p>
          <a:p>
            <a:r>
              <a:rPr lang="sr-Latn-RS" altLang="sr-Latn-RS" sz="2000"/>
              <a:t>Nazivi paketa pišu se isključivo malim slovima. </a:t>
            </a:r>
          </a:p>
          <a:p>
            <a:r>
              <a:rPr lang="sr-Latn-RS" altLang="sr-Latn-RS" sz="2000"/>
              <a:t>Ukoliko se naziv paketa sastoji iz više reči, reči se spajaju (npr. 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mojpaket</a:t>
            </a:r>
            <a:r>
              <a:rPr lang="sr-Latn-RS" altLang="sr-Latn-RS" sz="2000"/>
              <a:t>, 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velikipaket.malipaket</a:t>
            </a:r>
            <a:r>
              <a:rPr lang="sr-Latn-RS" altLang="sr-Latn-RS" sz="2000"/>
              <a:t>).</a:t>
            </a:r>
          </a:p>
          <a:p>
            <a:r>
              <a:rPr lang="sr-Latn-RS" altLang="sr-Latn-RS" sz="2000"/>
              <a:t>Detaljan opis konvencija nalazi se na adresi https://www.oracle.com/java/technologies/javase/codeconventions-namingconventions.html.</a:t>
            </a:r>
          </a:p>
        </p:txBody>
      </p:sp>
    </p:spTree>
    <p:extLst>
      <p:ext uri="{BB962C8B-B14F-4D97-AF65-F5344CB8AC3E}">
        <p14:creationId xmlns:p14="http://schemas.microsoft.com/office/powerpoint/2010/main" val="103432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82C100B8-2848-8048-CD30-E20831A58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Konvencije davanja imena</a:t>
            </a:r>
            <a:endParaRPr lang="en-GB" altLang="sr-Latn-R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EC418323-50B0-CCE7-73C5-84E2EED4C4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Nazivi klasa (</a:t>
            </a:r>
            <a:r>
              <a:rPr lang="sr-Latn-CS" altLang="sr-Latn-RS" sz="2400" b="1">
                <a:latin typeface="Courier New" panose="02070309020205020404" pitchFamily="49" charset="0"/>
              </a:rPr>
              <a:t>MojaKlasa</a:t>
            </a:r>
            <a:r>
              <a:rPr lang="sr-Latn-CS" altLang="sr-Latn-RS"/>
              <a:t>)</a:t>
            </a:r>
          </a:p>
          <a:p>
            <a:pPr eaLnBrk="1" hangingPunct="1"/>
            <a:r>
              <a:rPr lang="sr-Latn-CS" altLang="sr-Latn-RS"/>
              <a:t>Nazivi metoda (</a:t>
            </a:r>
            <a:r>
              <a:rPr lang="sr-Latn-CS" altLang="sr-Latn-RS" sz="2400" b="1">
                <a:latin typeface="Courier New" panose="02070309020205020404" pitchFamily="49" charset="0"/>
              </a:rPr>
              <a:t>mojaMetoda</a:t>
            </a:r>
            <a:r>
              <a:rPr lang="sr-Latn-CS" altLang="sr-Latn-RS"/>
              <a:t>)</a:t>
            </a:r>
          </a:p>
          <a:p>
            <a:pPr eaLnBrk="1" hangingPunct="1"/>
            <a:r>
              <a:rPr lang="sr-Latn-CS" altLang="sr-Latn-RS"/>
              <a:t>Nazivi atributa (</a:t>
            </a:r>
            <a:r>
              <a:rPr lang="sr-Latn-CS" altLang="sr-Latn-RS" sz="2400" b="1">
                <a:latin typeface="Courier New" panose="02070309020205020404" pitchFamily="49" charset="0"/>
              </a:rPr>
              <a:t>mojAtribut</a:t>
            </a:r>
            <a:r>
              <a:rPr lang="sr-Latn-CS" altLang="sr-Latn-RS"/>
              <a:t>)</a:t>
            </a:r>
          </a:p>
          <a:p>
            <a:pPr eaLnBrk="1" hangingPunct="1"/>
            <a:r>
              <a:rPr lang="sr-Latn-CS" altLang="sr-Latn-RS"/>
              <a:t>Nazivi paketa (</a:t>
            </a:r>
            <a:r>
              <a:rPr lang="sr-Latn-CS" altLang="sr-Latn-RS" sz="2400" b="1">
                <a:latin typeface="Courier New" panose="02070309020205020404" pitchFamily="49" charset="0"/>
              </a:rPr>
              <a:t>mojpaket.drugipaket</a:t>
            </a:r>
            <a:r>
              <a:rPr lang="sr-Latn-CS" altLang="sr-Latn-RS"/>
              <a:t>)</a:t>
            </a:r>
          </a:p>
          <a:p>
            <a:pPr eaLnBrk="1" hangingPunct="1"/>
            <a:r>
              <a:rPr lang="sr-Latn-CS" altLang="sr-Latn-RS"/>
              <a:t>set/get metode (</a:t>
            </a:r>
            <a:r>
              <a:rPr lang="sr-Latn-CS" altLang="sr-Latn-RS" sz="2400" b="1">
                <a:latin typeface="Courier New" panose="02070309020205020404" pitchFamily="49" charset="0"/>
              </a:rPr>
              <a:t>setAtribut/getAtribut</a:t>
            </a:r>
            <a:r>
              <a:rPr lang="sr-Latn-CS" altLang="sr-Latn-RS"/>
              <a:t>)</a:t>
            </a:r>
            <a:endParaRPr lang="en-US" altLang="sr-Latn-RS"/>
          </a:p>
          <a:p>
            <a:pPr eaLnBrk="1" hangingPunct="1"/>
            <a:r>
              <a:rPr lang="en-US" altLang="sr-Latn-RS"/>
              <a:t>Konstante (MAX_INTEGER)</a:t>
            </a:r>
            <a:endParaRPr lang="sr-Latn-CS" altLang="sr-Latn-RS"/>
          </a:p>
        </p:txBody>
      </p:sp>
    </p:spTree>
    <p:extLst>
      <p:ext uri="{BB962C8B-B14F-4D97-AF65-F5344CB8AC3E}">
        <p14:creationId xmlns:p14="http://schemas.microsoft.com/office/powerpoint/2010/main" val="345345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</TotalTime>
  <Words>3532</Words>
  <Application>Microsoft Office PowerPoint</Application>
  <PresentationFormat>Widescreen</PresentationFormat>
  <Paragraphs>615</Paragraphs>
  <Slides>81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81</vt:i4>
      </vt:variant>
    </vt:vector>
  </HeadingPairs>
  <TitlesOfParts>
    <vt:vector size="93" baseType="lpstr">
      <vt:lpstr>Aptos</vt:lpstr>
      <vt:lpstr>Arial</vt:lpstr>
      <vt:lpstr>Calibri</vt:lpstr>
      <vt:lpstr>Calibri Light</vt:lpstr>
      <vt:lpstr>Calibri Light (Headings)</vt:lpstr>
      <vt:lpstr>Cambria Math</vt:lpstr>
      <vt:lpstr>Courier New</vt:lpstr>
      <vt:lpstr>Tahoma</vt:lpstr>
      <vt:lpstr>Times New Roman</vt:lpstr>
      <vt:lpstr>Office Theme</vt:lpstr>
      <vt:lpstr>Visio</vt:lpstr>
      <vt:lpstr>Visio.Drawing.6</vt:lpstr>
      <vt:lpstr>Objektno Orijentisano Programiranje 1</vt:lpstr>
      <vt:lpstr>Tema</vt:lpstr>
      <vt:lpstr>Šta nam treba od prethodnog znanja?</vt:lpstr>
      <vt:lpstr>Objekti i Klase</vt:lpstr>
      <vt:lpstr>Objektno orijentisano programiranje</vt:lpstr>
      <vt:lpstr>Kako grupisati podatke o nekom entitetu?</vt:lpstr>
      <vt:lpstr>Objektno orijentisano programiranje</vt:lpstr>
      <vt:lpstr>Primer</vt:lpstr>
      <vt:lpstr>Primer</vt:lpstr>
      <vt:lpstr>Primer</vt:lpstr>
      <vt:lpstr>Primer</vt:lpstr>
      <vt:lpstr>Primer</vt:lpstr>
      <vt:lpstr>Primer</vt:lpstr>
      <vt:lpstr>Tacka t = new Tacka();</vt:lpstr>
      <vt:lpstr>Memorija</vt:lpstr>
      <vt:lpstr>Ponavljanje</vt:lpstr>
      <vt:lpstr>Sve je objekat</vt:lpstr>
      <vt:lpstr>Primer</vt:lpstr>
      <vt:lpstr>Primer klase</vt:lpstr>
      <vt:lpstr>Kako se instancira i koristi?</vt:lpstr>
      <vt:lpstr>Program sa dve klase</vt:lpstr>
      <vt:lpstr>Reference</vt:lpstr>
      <vt:lpstr>Reference na objekte</vt:lpstr>
      <vt:lpstr>Reference na objekte</vt:lpstr>
      <vt:lpstr>Ključna reč this</vt:lpstr>
      <vt:lpstr>Ključna reč this (još je nema)</vt:lpstr>
      <vt:lpstr>Ključna reč this</vt:lpstr>
      <vt:lpstr>Ključna reč this</vt:lpstr>
      <vt:lpstr>Default vrednosti atributa</vt:lpstr>
      <vt:lpstr>Referenca na objekat kao parametar metode</vt:lpstr>
      <vt:lpstr>Referenca na objekat kao parametar metode</vt:lpstr>
      <vt:lpstr>Referenca na objekat kao parametar metode</vt:lpstr>
      <vt:lpstr>Method overloading</vt:lpstr>
      <vt:lpstr>Method overloading</vt:lpstr>
      <vt:lpstr>null literal</vt:lpstr>
      <vt:lpstr>Operator dodele vrednosti</vt:lpstr>
      <vt:lpstr>Reference na objekte</vt:lpstr>
      <vt:lpstr>Reference na objekte b = a</vt:lpstr>
      <vt:lpstr>Nizovi referenci</vt:lpstr>
      <vt:lpstr>Nizovi i objekti</vt:lpstr>
      <vt:lpstr>Nizovi primitivnih tipova 1/3</vt:lpstr>
      <vt:lpstr>Nizovi primitivnih tipova 2/3</vt:lpstr>
      <vt:lpstr>Nizovi primitivnih tipova 3/3</vt:lpstr>
      <vt:lpstr>Nizovi primitivnih tipova</vt:lpstr>
      <vt:lpstr>Nizovi referenci na objekte 1/3</vt:lpstr>
      <vt:lpstr>Nizovi referenci na objekte 2/3</vt:lpstr>
      <vt:lpstr>Nizovi referenci na objekte 3/3</vt:lpstr>
      <vt:lpstr>Kreiranje i popunjavanje</vt:lpstr>
      <vt:lpstr>Višedimenzionalni nizovi</vt:lpstr>
      <vt:lpstr>Višedimenzionalni nizovi</vt:lpstr>
      <vt:lpstr>Konstruktor</vt:lpstr>
      <vt:lpstr>Inicijalizacija objekata</vt:lpstr>
      <vt:lpstr>Inicijalizacija objekata</vt:lpstr>
      <vt:lpstr>Inicijalizacija objekata</vt:lpstr>
      <vt:lpstr>Konstruktor sa parametrima</vt:lpstr>
      <vt:lpstr>Podrazumevani konstruktor</vt:lpstr>
      <vt:lpstr>Constructor overloading</vt:lpstr>
      <vt:lpstr>Constructor overloading</vt:lpstr>
      <vt:lpstr>Constructor overloading</vt:lpstr>
      <vt:lpstr>Constructor overloading</vt:lpstr>
      <vt:lpstr>Ključna reč this i konstruktori</vt:lpstr>
      <vt:lpstr>Uništavanje objekata</vt:lpstr>
      <vt:lpstr>Uništavanje objekata – Garbage collector</vt:lpstr>
      <vt:lpstr>Garbage collector</vt:lpstr>
      <vt:lpstr>Garbage collector</vt:lpstr>
      <vt:lpstr>Deep vs. Shallow Copy</vt:lpstr>
      <vt:lpstr>Deep vs. shallow copy</vt:lpstr>
      <vt:lpstr>Deep vs. shallow copy</vt:lpstr>
      <vt:lpstr>Deep vs. shallow copy</vt:lpstr>
      <vt:lpstr>Deep vs. shallow copy</vt:lpstr>
      <vt:lpstr>Plitka kopija</vt:lpstr>
      <vt:lpstr>Duboka kopija</vt:lpstr>
      <vt:lpstr>Static ključna reč</vt:lpstr>
      <vt:lpstr>Ključna reč static</vt:lpstr>
      <vt:lpstr>Ključna reč static</vt:lpstr>
      <vt:lpstr>Ključna reč static</vt:lpstr>
      <vt:lpstr>Statički blok</vt:lpstr>
      <vt:lpstr>Statički blok</vt:lpstr>
      <vt:lpstr>Konvencije imenovanja</vt:lpstr>
      <vt:lpstr>Konvencije davanja imena</vt:lpstr>
      <vt:lpstr>Konvencije davanja imena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Inženjerstvo softvera za Internet-Web of Things</dc:title>
  <dc:creator>Milan Vidaković</dc:creator>
  <cp:lastModifiedBy>Jovana Vidaković</cp:lastModifiedBy>
  <cp:revision>369</cp:revision>
  <dcterms:created xsi:type="dcterms:W3CDTF">2023-06-19T19:18:07Z</dcterms:created>
  <dcterms:modified xsi:type="dcterms:W3CDTF">2025-06-30T10:04:53Z</dcterms:modified>
</cp:coreProperties>
</file>