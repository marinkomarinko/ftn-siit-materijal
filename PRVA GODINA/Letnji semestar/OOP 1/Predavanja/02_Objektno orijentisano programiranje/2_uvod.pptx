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7" r:id="rId2"/>
    <p:sldId id="329" r:id="rId3"/>
    <p:sldId id="335" r:id="rId4"/>
    <p:sldId id="321" r:id="rId5"/>
    <p:sldId id="258" r:id="rId6"/>
    <p:sldId id="293" r:id="rId7"/>
    <p:sldId id="304" r:id="rId8"/>
    <p:sldId id="259" r:id="rId9"/>
    <p:sldId id="325" r:id="rId10"/>
    <p:sldId id="326" r:id="rId11"/>
    <p:sldId id="309" r:id="rId12"/>
    <p:sldId id="310" r:id="rId13"/>
    <p:sldId id="260" r:id="rId14"/>
    <p:sldId id="294" r:id="rId15"/>
    <p:sldId id="261" r:id="rId16"/>
    <p:sldId id="311" r:id="rId17"/>
    <p:sldId id="312" r:id="rId18"/>
    <p:sldId id="322" r:id="rId19"/>
    <p:sldId id="323" r:id="rId20"/>
    <p:sldId id="336" r:id="rId21"/>
    <p:sldId id="262" r:id="rId22"/>
    <p:sldId id="297" r:id="rId23"/>
    <p:sldId id="337" r:id="rId24"/>
    <p:sldId id="305" r:id="rId25"/>
    <p:sldId id="320" r:id="rId26"/>
    <p:sldId id="306" r:id="rId27"/>
    <p:sldId id="267" r:id="rId28"/>
    <p:sldId id="338" r:id="rId29"/>
    <p:sldId id="263" r:id="rId30"/>
    <p:sldId id="298" r:id="rId31"/>
    <p:sldId id="299" r:id="rId32"/>
    <p:sldId id="264" r:id="rId33"/>
    <p:sldId id="313" r:id="rId34"/>
    <p:sldId id="314" r:id="rId35"/>
    <p:sldId id="315" r:id="rId36"/>
    <p:sldId id="339" r:id="rId37"/>
    <p:sldId id="307" r:id="rId38"/>
    <p:sldId id="268" r:id="rId39"/>
    <p:sldId id="269" r:id="rId40"/>
    <p:sldId id="270" r:id="rId41"/>
    <p:sldId id="271" r:id="rId42"/>
    <p:sldId id="340" r:id="rId43"/>
    <p:sldId id="328" r:id="rId44"/>
    <p:sldId id="316" r:id="rId45"/>
    <p:sldId id="317" r:id="rId46"/>
    <p:sldId id="318" r:id="rId47"/>
    <p:sldId id="327" r:id="rId48"/>
    <p:sldId id="32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87767" autoAdjust="0"/>
  </p:normalViewPr>
  <p:slideViewPr>
    <p:cSldViewPr snapToGrid="0">
      <p:cViewPr varScale="1">
        <p:scale>
          <a:sx n="117" d="100"/>
          <a:sy n="117" d="100"/>
        </p:scale>
        <p:origin x="8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A2F7-605E-4CF5-B620-793E90D5D821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AEE3B-5729-4B92-8CE9-9885B5D1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0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71EA-252A-B9F8-E32B-99E9BAA34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02DFB-730B-8B60-3FE4-9FE476A08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6C8DE-B934-43C1-FC6E-606BABCA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D20D-F6CB-CF36-BDEF-38FE9BC6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4074-BD5C-B5C1-2F6F-825000F4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50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/48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99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AB6F-2F42-D911-CCB3-2C92868E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C9AA-DA4A-A942-3923-6C1610846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5915C-33EA-0588-EC20-10F9964C1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2774-1202-B3D4-0FF4-CE88F1D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9FCBD-4958-8BA0-8DC7-2F0ACE8B6DEA}"/>
              </a:ext>
            </a:extLst>
          </p:cNvPr>
          <p:cNvSpPr txBox="1"/>
          <p:nvPr userDrawn="1"/>
        </p:nvSpPr>
        <p:spPr>
          <a:xfrm>
            <a:off x="8783053" y="6356350"/>
            <a:ext cx="2570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0023264-E2ED-4660-96E1-8F6FCDAEC5AB}" type="slidenum">
              <a:rPr lang="en-US" smtClean="0"/>
              <a:t>‹#›</a:t>
            </a:fld>
            <a:r>
              <a:rPr lang="sr-Latn-RS"/>
              <a:t>/10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E04A-526B-2FAE-DF3A-692E3673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3D7F4-05AC-C927-FA13-05B219AD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33F76-8B02-27FA-A4AC-2370F1B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BA8E5-0F73-A233-2CA1-FA78392B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75DD-21DD-4E10-3C7A-584739A2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3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32034-5501-038E-8052-290E8A70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0FF63-EAF1-96AA-E549-63970C2011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6E5CE-D72A-BF8D-9569-80A8AB040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DBE52-0BDB-6404-630B-2A581F01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33767-F0BA-AA81-FAB4-6BF762A7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72A14-12DE-B7D1-527F-0E60D607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47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C1FED-B9EB-E2E4-E2B7-6E01752F4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03AD-582B-F2BE-3DBA-84F703C59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4BE7B-AB06-819E-FC01-8B7669E78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185A-B951-2053-8108-296F64CA5D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9AC96-A571-489F-8636-3ADF8073B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87BEB-F829-1D00-7EDF-1E18F487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4340CD-A839-8A19-10E9-BD89A711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C6181-99EB-A136-76BA-3B17A79E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BFFC0-DAC9-AFE1-0932-C4128CAB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120E5-34EC-8930-4D44-79F7A72F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ADC8F-EA5C-2DDA-77CF-EFD22FC55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7BF2EE-769E-ACFE-4E6F-95C54CED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2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B4CED2-7605-1476-548B-C48DE08F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1BDCC-D75D-3B0A-2C26-EB1119CAC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B038-EF8A-A84C-07EF-3C049DFD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4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DD74-0832-E18C-825A-B050141A4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03500-98D3-6876-584B-4F418B1D0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71E63-7231-22C7-35FE-8E7920283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818BD-6652-35EE-7CEF-CF8AA99EB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3BF24-1928-5B57-40A7-7290018C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AF96-0896-F9D6-DD18-A3A633FE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96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3BFE1-F12C-2A7B-4D22-CB2BF96E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1F13D3-5717-1DE3-C638-1E8DCB08C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0863D-F4B3-BE1D-D6BE-205F32488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2B1E6-A274-C8AB-2BED-D184A1E1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C98F8-C0C7-6CCE-5D28-0CD9C75B5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F3131-1DA3-D8C4-C4DB-BC13F12D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35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8FDB5-948B-8FAE-6475-2C16A188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3EE27-EF7F-D20F-D417-56055EDC7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14988-70BD-22BE-5581-DB3427A4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83036-5ECB-F0E1-4FCB-C43F1658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998AD-C2DF-6D0B-61E0-D50338D8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48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CE7E6-DA4F-7CD4-E903-82887969C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286A-FB86-5AE0-C6F1-DA88B0E9F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BE38A-B4B0-FD05-EED4-C749FAA3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CC4D-25C3-D507-A5F1-E326DC7D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1190-3356-F6D3-9789-063C4E40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C09CC-7A7D-C592-22AC-2303DA7EE2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0D817-285B-B2C2-B73A-FCEADBC8D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91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1A07583-960C-AC9B-801D-601F864192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2812C9D-E296-688E-3C29-E848ADE271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9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9E7E85-213A-B927-E0C6-89AB0A14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BB172-392E-34D0-47F2-FE86232A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69B73-7734-E86A-4970-E6426F8BE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8CC9C-BFE4-4386-8C54-B81E4330E6D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4EE7-6507-A848-DC63-8009062A3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65272-511B-9FD4-D996-383466C9E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12408-36EE-417E-A243-16DA0EB54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7BBD713-8E44-5D1F-56CA-6F57B6206C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6499AF93-205B-8E13-999D-00D84CDD5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6" y="4005263"/>
            <a:ext cx="56880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ahoma" panose="020B0604030504040204" pitchFamily="34" charset="0"/>
              </a:rPr>
              <a:t>Nasleđivanje, apstraktne klase, polimorfizam, izuzeci</a:t>
            </a:r>
            <a:endParaRPr lang="en-U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C0A17-451B-9D11-13AC-5C52F8E0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A995-3B32-698D-8B44-E9086DF72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Koncept nasleđivanja</a:t>
            </a:r>
          </a:p>
          <a:p>
            <a:r>
              <a:rPr lang="sr-Latn-RS"/>
              <a:t>Apstraktne klase</a:t>
            </a:r>
          </a:p>
          <a:p>
            <a:r>
              <a:rPr lang="sr-Latn-RS"/>
              <a:t>Polimorfizam</a:t>
            </a:r>
          </a:p>
          <a:p>
            <a:r>
              <a:rPr lang="sr-Latn-RS"/>
              <a:t>Interfejsi</a:t>
            </a:r>
          </a:p>
          <a:p>
            <a:r>
              <a:rPr lang="sr-Latn-RS"/>
              <a:t>Izuzeci</a:t>
            </a:r>
          </a:p>
          <a:p>
            <a:r>
              <a:rPr lang="sr-Latn-RS"/>
              <a:t>Unutrašnje klase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9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8F8E-0D2B-E63A-C50D-09F5018C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Šta nam treba od prethodnog znanja?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D5E76-9D1B-7B90-B6F9-4C23B640F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Pojam klase</a:t>
            </a:r>
          </a:p>
          <a:p>
            <a:r>
              <a:rPr lang="sr-Latn-RS"/>
              <a:t>Pojam objekta</a:t>
            </a:r>
          </a:p>
          <a:p>
            <a:r>
              <a:rPr lang="sr-Latn-RS"/>
              <a:t>Pojam atributa i metode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43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09182BA-539E-A668-63DC-E97830F5B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Nasleđivanje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0273861-F583-5468-E372-4794CE71D1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Preuzimanje atributa i metoda iz roditeljske klase</a:t>
            </a:r>
          </a:p>
          <a:p>
            <a:r>
              <a:rPr lang="sr-Latn-RS" altLang="sr-Latn-RS"/>
              <a:t>Terminologija: klasa naslednica nasleđuje roditeljsku klasu</a:t>
            </a:r>
          </a:p>
          <a:p>
            <a:r>
              <a:rPr lang="sr-Latn-RS" altLang="sr-Latn-RS"/>
              <a:t>Jednu roditeljsku klasu može da nasledi više klasa naslednica</a:t>
            </a:r>
          </a:p>
          <a:p>
            <a:r>
              <a:rPr lang="sr-Latn-RS" altLang="sr-Latn-RS"/>
              <a:t>Obrnuto ne važi – jedna klasa može da nasledi samo jednu roditeljsku klasu</a:t>
            </a:r>
          </a:p>
          <a:p>
            <a:pPr lvl="1"/>
            <a:r>
              <a:rPr lang="sr-Latn-RS" altLang="sr-Latn-RS"/>
              <a:t>jednostruko nasleđivanje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739F5FA-E551-47D4-89A6-D5FF8BDAB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Nasleđivanje</a:t>
            </a:r>
          </a:p>
        </p:txBody>
      </p:sp>
      <p:pic>
        <p:nvPicPr>
          <p:cNvPr id="7171" name="Picture 5">
            <a:extLst>
              <a:ext uri="{FF2B5EF4-FFF2-40B4-BE49-F238E27FC236}">
                <a16:creationId xmlns:a16="http://schemas.microsoft.com/office/drawing/2014/main" id="{73FF3469-3360-2B80-CDAC-10151EF2D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1341439"/>
            <a:ext cx="7200900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813983F-A429-C381-16B2-CAC45B34DE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09630"/>
          </a:xfrm>
        </p:spPr>
        <p:txBody>
          <a:bodyPr/>
          <a:lstStyle/>
          <a:p>
            <a:pPr eaLnBrk="1" hangingPunct="1"/>
            <a:r>
              <a:rPr lang="en-US" altLang="sr-Latn-RS"/>
              <a:t>Nasleđivanje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E243DC5-2C01-C698-D1E6-4048F7CDF1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63941"/>
            <a:ext cx="10515600" cy="5162081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Avion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String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oznaka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float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tezina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Rezervoar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rezervoar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Krilo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levo</a:t>
            </a:r>
            <a:r>
              <a:rPr lang="sr-Latn-CS" altLang="sr-Latn-RS" sz="1800" b="1">
                <a:latin typeface="Courier New" panose="02070309020205020404" pitchFamily="49" charset="0"/>
              </a:rPr>
              <a:t>,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desno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Proizvodjac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proizvodjac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poleti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sleti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{ ...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BorbeniAvion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extends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Avion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Top top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Bomba[]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bombe</a:t>
            </a:r>
            <a:r>
              <a:rPr lang="sr-Latn-C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sleti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int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pucaj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Postoji samo jednostruko nasleđivanje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19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19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330ECC4-B8E9-6F7C-9B49-2C8AD272A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Veze tipa asocijacije i agregacije (UML i Java)</a:t>
            </a:r>
            <a:endParaRPr lang="en-US" altLang="sr-Latn-RS" sz="40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75EDA77-1A76-FD46-C72A-309F5AD1A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Veza tipa asocijacije je za atribute koji nisu isključivi deo glavne klase (klasa Proizvođač je u vezi tipa asocijacije sa klasom Avion), već mogu da postoje i nezavisno od glavne klase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Veza tipa agregacije je za atribute koji su deo celine (Rezervoar </a:t>
            </a:r>
            <a:r>
              <a:rPr lang="sr-Latn-CS" altLang="sr-Latn-RS">
                <a:sym typeface="Wingdings" panose="05000000000000000000" pitchFamily="2" charset="2"/>
              </a:rPr>
              <a:t> Avion, Krilo  Avion) i nema smisla da postoje nezavisno od glavne klase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>
                <a:sym typeface="Wingdings" panose="05000000000000000000" pitchFamily="2" charset="2"/>
              </a:rPr>
              <a:t>Kardinalnost veze određuje da li će atribut biti promenljiva ili kolekcija (niz, ArrayLista i sl.)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162D7-74B9-46F2-DAA4-E183F75E49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Modifikatori pristupa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7305A43-50B4-9470-69C9-A995B14986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public</a:t>
            </a:r>
            <a:r>
              <a:rPr lang="sr-Latn-CS" altLang="sr-Latn-RS"/>
              <a:t> – vidljiv za sve klase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protected</a:t>
            </a:r>
            <a:r>
              <a:rPr lang="sr-Latn-CS" altLang="sr-Latn-RS"/>
              <a:t> – vidljiv samo za klase naslednice i klase iz istog paketa</a:t>
            </a:r>
          </a:p>
          <a:p>
            <a:pPr eaLnBrk="1" hangingPunct="1"/>
            <a:r>
              <a:rPr lang="sr-Latn-CS" altLang="sr-Latn-RS" b="1">
                <a:latin typeface="Courier New" panose="02070309020205020404" pitchFamily="49" charset="0"/>
              </a:rPr>
              <a:t>private</a:t>
            </a:r>
            <a:r>
              <a:rPr lang="sr-Latn-CS" altLang="sr-Latn-RS"/>
              <a:t> – vidljiv samo unutar svoje klase</a:t>
            </a:r>
          </a:p>
          <a:p>
            <a:pPr eaLnBrk="1" hangingPunct="1"/>
            <a:r>
              <a:rPr lang="sr-Latn-CS" altLang="sr-Latn-RS"/>
              <a:t>ne</a:t>
            </a:r>
            <a:r>
              <a:rPr lang="en-US" altLang="sr-Latn-RS"/>
              <a:t>specificiran</a:t>
            </a:r>
            <a:r>
              <a:rPr lang="sr-Latn-CS" altLang="sr-Latn-RS"/>
              <a:t> (</a:t>
            </a:r>
            <a:r>
              <a:rPr lang="sr-Latn-CS" altLang="sr-Latn-RS" i="1"/>
              <a:t>friendly</a:t>
            </a:r>
            <a:r>
              <a:rPr lang="sr-Latn-CS" altLang="sr-Latn-RS"/>
              <a:t>) – vidljiv samo za klase iz istog paketa (direktorijuma, foldera)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122E16E-0ECB-8733-088B-0A8627E82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Modifikator pristupa klase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D2B44C1E-0D23-55B6-CF15-2CAE0A311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Klasa može da ima </a:t>
            </a:r>
            <a:r>
              <a:rPr lang="sr-Latn-RS" altLang="sr-Latn-RS" i="1"/>
              <a:t>public</a:t>
            </a:r>
            <a:r>
              <a:rPr lang="sr-Latn-RS" altLang="sr-Latn-RS"/>
              <a:t> modifikator ispred definicije</a:t>
            </a:r>
          </a:p>
          <a:p>
            <a:r>
              <a:rPr lang="sr-Latn-RS" altLang="sr-Latn-RS"/>
              <a:t>To znači da je vidljiva iz svih drugih klasa, bez obzira gde su definisane (bez obzira na paket-folder)</a:t>
            </a:r>
          </a:p>
          <a:p>
            <a:r>
              <a:rPr lang="sr-Latn-RS" altLang="sr-Latn-RS"/>
              <a:t>Ako u jednom fajlu imamo više definicija klasa, samo ona čije ime se poklapa sa imenom datoteke mora da bude </a:t>
            </a:r>
            <a:r>
              <a:rPr lang="sr-Latn-RS" altLang="sr-Latn-RS" i="1"/>
              <a:t>public</a:t>
            </a:r>
            <a:endParaRPr lang="sr-Latn-RS" altLang="sr-Latn-RS"/>
          </a:p>
          <a:p>
            <a:pPr lvl="1"/>
            <a:r>
              <a:rPr lang="sr-Latn-RS" altLang="sr-Latn-RS"/>
              <a:t>preporuka: jedna public klasa u jednom fajlu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A52CE47-CB83-DE86-B8E5-A9E9086CA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Modifikator pristupa ispred konstruktora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99A5ADBB-8AA9-EF2B-5834-1053AC295E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Ako konstruktor ima </a:t>
            </a:r>
            <a:r>
              <a:rPr lang="sr-Latn-RS" altLang="sr-Latn-RS" i="1"/>
              <a:t>public</a:t>
            </a:r>
            <a:r>
              <a:rPr lang="sr-Latn-RS" altLang="sr-Latn-RS"/>
              <a:t> modifikator, to znači da ta klasa može da se kreira iz bilo koje druge klase (bez obzira u kom paketu-folderu se nalazi)</a:t>
            </a:r>
          </a:p>
          <a:p>
            <a:r>
              <a:rPr lang="sr-Latn-RS" altLang="sr-Latn-RS"/>
              <a:t>Ako stavimo </a:t>
            </a:r>
            <a:r>
              <a:rPr lang="sr-Latn-RS" altLang="sr-Latn-RS" i="1"/>
              <a:t>private</a:t>
            </a:r>
            <a:r>
              <a:rPr lang="sr-Latn-RS" altLang="sr-Latn-RS"/>
              <a:t> modifikator ispred konstruktora, niko ne može da kreira instance te klase</a:t>
            </a:r>
          </a:p>
          <a:p>
            <a:pPr lvl="1"/>
            <a:r>
              <a:rPr lang="sr-Latn-RS" altLang="sr-Latn-RS"/>
              <a:t>uvod u Singleton šablon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38382C4C-5DCE-1FCE-8731-1CEC9666A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getters &amp; setters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B23E-2A14-01C6-523E-2DDEE9933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sr-Latn-RS"/>
              <a:t>Ponekad je potrebno obezbediti kontrolisan pristup atributima, kako za </a:t>
            </a:r>
            <a:r>
              <a:rPr lang="pl-PL"/>
              <a:t>čitanje, tako i za pisanje. </a:t>
            </a:r>
          </a:p>
          <a:p>
            <a:pPr>
              <a:defRPr/>
            </a:pPr>
            <a:r>
              <a:rPr lang="pl-PL"/>
              <a:t>To se postiže pisanjem odgovarajućih metoda kroz </a:t>
            </a:r>
            <a:r>
              <a:rPr lang="sr-Latn-RS"/>
              <a:t>koje se pristupa atributima: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public class Student {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private String </a:t>
            </a:r>
            <a:r>
              <a:rPr lang="sr-Latn-R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ime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public String getIme() {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  return </a:t>
            </a:r>
            <a:r>
              <a:rPr lang="sr-Latn-R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ime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public void setIme(String </a:t>
            </a:r>
            <a:r>
              <a:rPr lang="sr-Latn-RS" sz="20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ime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sr-Latn-R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.</a:t>
            </a:r>
            <a:r>
              <a:rPr lang="sr-Latn-R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ime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 = </a:t>
            </a:r>
            <a:r>
              <a:rPr lang="sr-Latn-RS" sz="20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ime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A477D49-2B8C-8B06-FADB-1D7A1C0104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getters &amp; setters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0D0A2BD-4819-4204-3FF1-50FAFAB0F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Ova kombinacija atributa i njegovog getter-a i setter-a se još zove i svojstvo (</a:t>
            </a:r>
            <a:r>
              <a:rPr lang="sr-Latn-RS" altLang="sr-Latn-RS" i="1"/>
              <a:t>property</a:t>
            </a:r>
            <a:r>
              <a:rPr lang="sr-Latn-RS" altLang="sr-Latn-RS"/>
              <a:t>). </a:t>
            </a:r>
          </a:p>
          <a:p>
            <a:r>
              <a:rPr lang="sr-Latn-RS" altLang="sr-Latn-RS"/>
              <a:t>Ovim je omogućeno da se čitanje vrednosti </a:t>
            </a:r>
            <a:r>
              <a:rPr lang="sv-SE" altLang="sr-Latn-RS"/>
              <a:t>svojstva sprovodi kroz njegov getter, a izmena kroz setter. </a:t>
            </a:r>
            <a:endParaRPr lang="sr-Latn-RS" altLang="sr-Latn-RS"/>
          </a:p>
          <a:p>
            <a:r>
              <a:rPr lang="sv-SE" altLang="sr-Latn-RS"/>
              <a:t>Ako izostavimo</a:t>
            </a:r>
            <a:r>
              <a:rPr lang="sr-Latn-RS" altLang="sr-Latn-RS"/>
              <a:t> </a:t>
            </a:r>
            <a:r>
              <a:rPr lang="en-US" altLang="sr-Latn-RS"/>
              <a:t>setter, dobijamo </a:t>
            </a:r>
            <a:r>
              <a:rPr lang="en-US" altLang="sr-Latn-RS" i="1"/>
              <a:t>read only </a:t>
            </a:r>
            <a:r>
              <a:rPr lang="en-US" altLang="sr-Latn-RS"/>
              <a:t>svojstvo.</a:t>
            </a:r>
            <a:endParaRPr lang="sr-Latn-R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B7126A8-DAB8-4967-B85F-59BE9A8E8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Method overriding</a:t>
            </a:r>
            <a:endParaRPr lang="en-US" altLang="sr-Latn-R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5C35C8F-8BF6-5A88-1F82-4D632F9ED3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Pojava da u klasi naslednici postoji metoda istog imena i parametara kao i u baznoj klasi</a:t>
            </a:r>
          </a:p>
          <a:p>
            <a:pPr eaLnBrk="1" hangingPunct="1"/>
            <a:r>
              <a:rPr lang="sr-Latn-CS" altLang="sr-Latn-RS"/>
              <a:t>Anotacija </a:t>
            </a:r>
            <a:r>
              <a:rPr lang="sr-Latn-CS" altLang="sr-Latn-RS" b="1"/>
              <a:t>@Override</a:t>
            </a:r>
          </a:p>
          <a:p>
            <a:pPr eaLnBrk="1" hangingPunct="1"/>
            <a:r>
              <a:rPr lang="sr-Latn-CS" altLang="sr-Latn-RS"/>
              <a:t>Primer:</a:t>
            </a:r>
          </a:p>
          <a:p>
            <a:pPr lvl="1" eaLnBrk="1" hangingPunct="1"/>
            <a:r>
              <a:rPr lang="sr-Latn-CS" altLang="sr-Latn-RS"/>
              <a:t>klasa A ima metodu </a:t>
            </a:r>
            <a:r>
              <a:rPr lang="sr-Latn-CS" altLang="sr-Latn-RS" b="1"/>
              <a:t>metoda1()</a:t>
            </a:r>
          </a:p>
          <a:p>
            <a:pPr lvl="1" eaLnBrk="1" hangingPunct="1"/>
            <a:r>
              <a:rPr lang="sr-Latn-CS" altLang="sr-Latn-RS"/>
              <a:t>klasa B nasleđuje klasu A i takođe ima metodu </a:t>
            </a:r>
            <a:r>
              <a:rPr lang="sr-Latn-CS" altLang="sr-Latn-RS" b="1"/>
              <a:t>metoda1()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BCE752C-5248-8317-3166-AF0BDFBC6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32881"/>
            <a:ext cx="10515600" cy="760983"/>
          </a:xfrm>
        </p:spPr>
        <p:txBody>
          <a:bodyPr/>
          <a:lstStyle/>
          <a:p>
            <a:pPr eaLnBrk="1" hangingPunct="1"/>
            <a:r>
              <a:rPr lang="sr-Latn-CS" altLang="sr-Latn-RS"/>
              <a:t>Method overriding</a:t>
            </a:r>
            <a:endParaRPr lang="en-US" altLang="sr-Latn-R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B4FFDA8-73B4-E91D-2478-9E51A358AD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26108"/>
            <a:ext cx="10515600" cy="5599011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A </a:t>
            </a:r>
            <a:r>
              <a:rPr lang="sr-Latn-CS" altLang="sr-Latn-RS" sz="18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metoda1</a:t>
            </a:r>
            <a:r>
              <a:rPr lang="sr-Latn-CS" altLang="sr-Latn-RS" sz="1800" b="1"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System.out.println("metoda1 klase A");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metoda2</a:t>
            </a:r>
            <a:r>
              <a:rPr lang="sr-Latn-CS" altLang="sr-Latn-RS" sz="1800" b="1"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System.out.println("metoda2 klase A");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B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extends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A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Override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metoda1</a:t>
            </a:r>
            <a:r>
              <a:rPr lang="sr-Latn-CS" altLang="sr-Latn-RS" sz="1800" b="1">
                <a:latin typeface="Courier New" panose="02070309020205020404" pitchFamily="49" charset="0"/>
              </a:rPr>
              <a:t>() 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 System.out.println("metoda1 klase B");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A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varA</a:t>
            </a:r>
            <a:r>
              <a:rPr lang="sr-Latn-CS" altLang="sr-Latn-RS" sz="1800" b="1">
                <a:latin typeface="Courier New" panose="02070309020205020404" pitchFamily="49" charset="0"/>
              </a:rPr>
              <a:t> = new A();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B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varB</a:t>
            </a:r>
            <a:r>
              <a:rPr lang="sr-Latn-CS" altLang="sr-Latn-RS" sz="1800" b="1">
                <a:latin typeface="Courier New" panose="02070309020205020404" pitchFamily="49" charset="0"/>
              </a:rPr>
              <a:t> = new B();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varA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metoda1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varB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metoda1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varA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metoda2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varB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metoda2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  <a:endParaRPr lang="en-US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916FA47-65DD-1190-F687-0F77CC20AC1D}"/>
              </a:ext>
            </a:extLst>
          </p:cNvPr>
          <p:cNvSpPr/>
          <p:nvPr/>
        </p:nvSpPr>
        <p:spPr>
          <a:xfrm>
            <a:off x="4463893" y="5716126"/>
            <a:ext cx="3770211" cy="612648"/>
          </a:xfrm>
          <a:prstGeom prst="wedgeRoundRectCallout">
            <a:avLst>
              <a:gd name="adj1" fmla="val -91732"/>
              <a:gd name="adj2" fmla="val -2352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Koja verzija metoda2 će biti pozvana? </a:t>
            </a:r>
          </a:p>
          <a:p>
            <a:pPr algn="ctr"/>
            <a:r>
              <a:rPr lang="sr-Latn-RS"/>
              <a:t>Iz klase B, ili iz klase A?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3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38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38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38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638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38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638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9CC7CC6-C45E-B76C-A47B-02272A636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Method overriding</a:t>
            </a:r>
            <a:endParaRPr lang="en-US" altLang="sr-Latn-RS">
              <a:solidFill>
                <a:schemeClr val="tx1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DA0FF191-DBA1-4D80-6D7A-079DF40962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Na konzoli će pisati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metoda1 klase A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metoda1 klase B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metoda2 klase A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metoda2 klase A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0A4BA28-77C8-35BA-4D24-4F23030A9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Ključna reč </a:t>
            </a:r>
            <a:r>
              <a:rPr lang="sr-Latn-RS" altLang="sr-Latn-RS" b="1" i="1"/>
              <a:t>super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86E85-0293-70AA-0AF6-560BAA3D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sr-Latn-RS"/>
              <a:t>Ključna reč </a:t>
            </a:r>
            <a:r>
              <a:rPr lang="sr-Latn-RS" b="1" i="1"/>
              <a:t>super</a:t>
            </a:r>
            <a:r>
              <a:rPr lang="sr-Latn-RS"/>
              <a:t> označava roditeljsku klasu. Ona se može koristiti i u </a:t>
            </a:r>
            <a:r>
              <a:rPr lang="pl-PL"/>
              <a:t>metodama i u konstruktorima: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class BorbeniAvion </a:t>
            </a:r>
            <a:r>
              <a:rPr lang="sr-Latn-R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sr-Latn-RS" sz="20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Avion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 {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Top top;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Bomba[] bombe;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@</a:t>
            </a:r>
            <a:r>
              <a:rPr lang="sr-Latn-R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Override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void </a:t>
            </a:r>
            <a:r>
              <a:rPr lang="sr-Latn-RS" sz="20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sleti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  System.out.println("BorbeniAvion odbacuje bombe.");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  System.out.println("BorbeniAvion slece.");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sr-Latn-RS" sz="20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.</a:t>
            </a:r>
            <a:r>
              <a:rPr lang="sr-Latn-RS" sz="20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sleti</a:t>
            </a:r>
            <a:r>
              <a:rPr lang="sr-Latn-RS" sz="2000" b="1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  void pucaj() { ... }</a:t>
            </a:r>
          </a:p>
          <a:p>
            <a:pPr marL="0" indent="0">
              <a:buNone/>
              <a:defRPr/>
            </a:pPr>
            <a:r>
              <a:rPr lang="sr-Latn-RS" sz="2000" b="1">
                <a:latin typeface="Courier New" pitchFamily="49" charset="0"/>
                <a:cs typeface="Courier New" pitchFamily="49" charset="0"/>
              </a:rPr>
              <a:t>}</a:t>
            </a:r>
            <a:endParaRPr lang="pl-PL" sz="20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8085A6E-9D81-B661-984E-C01442787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Ključna reč </a:t>
            </a:r>
            <a:r>
              <a:rPr lang="sr-Latn-RS" altLang="sr-Latn-RS" sz="4000" b="1" i="1"/>
              <a:t>super</a:t>
            </a:r>
            <a:r>
              <a:rPr lang="sr-Latn-RS" altLang="sr-Latn-RS" sz="4000"/>
              <a:t> u konstruktoru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156BC-683F-90E6-492F-F8C67725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sr-Latn-RS"/>
              <a:t>Ključna reč super u konstruktoru označava da pozivamo konstruktor roditeljske </a:t>
            </a:r>
            <a:r>
              <a:rPr lang="pl-PL"/>
              <a:t>klase i tada se mora napisati na samom početku konstruktora klase </a:t>
            </a:r>
            <a:r>
              <a:rPr lang="sr-Latn-RS"/>
              <a:t>naslednice: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public BorbeniAvion() {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sr-Latn-RS" sz="2400" b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(); </a:t>
            </a:r>
            <a:r>
              <a:rPr lang="sr-Latn-RS" sz="2400" b="1">
                <a:solidFill>
                  <a:schemeClr val="accent6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 svakako bi se izvršilo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System.out.println("Konstruktor borbenog aviona.");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top = new Top();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bombe = new Bomba[] {</a:t>
            </a:r>
            <a:r>
              <a:rPr lang="sr-Latn-RS" sz="24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new Bomba(), </a:t>
            </a:r>
            <a:endParaRPr lang="sr-Latn-RS" sz="24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	 			   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new Bomba()};</a:t>
            </a:r>
          </a:p>
          <a:p>
            <a:pPr marL="0" indent="0"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8A6D3ED2-4A41-F175-BCE4-33CCD0066E12}"/>
              </a:ext>
            </a:extLst>
          </p:cNvPr>
          <p:cNvSpPr/>
          <p:nvPr/>
        </p:nvSpPr>
        <p:spPr>
          <a:xfrm>
            <a:off x="8711574" y="2716173"/>
            <a:ext cx="2743200" cy="1036065"/>
          </a:xfrm>
          <a:prstGeom prst="wedgeRoundRectCallout">
            <a:avLst>
              <a:gd name="adj1" fmla="val -93529"/>
              <a:gd name="adj2" fmla="val 3099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Možemo i neki drugi konstruktor  roditeljske klase da pozovemo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0C108E0-DD7A-09A2-6C33-56816734E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Ključna reč </a:t>
            </a:r>
            <a:r>
              <a:rPr lang="sr-Latn-RS" altLang="sr-Latn-RS" sz="4000" b="1" i="1"/>
              <a:t>super</a:t>
            </a:r>
            <a:r>
              <a:rPr lang="sr-Latn-RS" altLang="sr-Latn-RS" sz="4000"/>
              <a:t> u konstruktoru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344E37C-F31B-1D23-8565-C3E48A0B5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altLang="sr-Latn-RS" sz="3200"/>
              <a:t>Konstruktor u klasi naslednici će svakako pozvati default konstruktor u roditeljskoj klasi, čak i kada ga ne napravimo</a:t>
            </a:r>
          </a:p>
          <a:p>
            <a:pPr lvl="1"/>
            <a:r>
              <a:rPr lang="sr-Latn-RS" altLang="sr-Latn-RS" sz="2800"/>
              <a:t>uz pomoć reči </a:t>
            </a:r>
            <a:r>
              <a:rPr lang="sr-Latn-RS" altLang="sr-Latn-RS" sz="2800" b="1" i="1"/>
              <a:t>super</a:t>
            </a:r>
            <a:r>
              <a:rPr lang="sr-Latn-RS" altLang="sr-Latn-RS" sz="2800"/>
              <a:t>, možemo da pozovemo neki drugi konstruktor</a:t>
            </a:r>
          </a:p>
          <a:p>
            <a:r>
              <a:rPr lang="sr-Latn-RS" altLang="sr-Latn-RS" sz="3200"/>
              <a:t>Preporuka:</a:t>
            </a:r>
          </a:p>
          <a:p>
            <a:pPr lvl="1"/>
            <a:r>
              <a:rPr lang="sr-Latn-RS" altLang="sr-Latn-RS" sz="2800"/>
              <a:t>kada god se pravi klasa, napraviti i default konstruktor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8BC44AAB-C698-45D5-B95F-D3973E343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4000"/>
              <a:t>Ključna reč </a:t>
            </a:r>
            <a:r>
              <a:rPr lang="sr-Latn-RS" altLang="sr-Latn-RS" sz="4000" b="1" i="1"/>
              <a:t>super</a:t>
            </a:r>
            <a:r>
              <a:rPr lang="sr-Latn-RS" altLang="sr-Latn-RS" sz="4000"/>
              <a:t> u konstruktoru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D2A2-BDD8-5D6A-6DEE-ED6B7F6D2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sr-Latn-RS" sz="2400"/>
              <a:t>Ako napravimo konstruktor sa parametrom i u roditeljskoj i u klasi naslednici, bez poziva </a:t>
            </a:r>
            <a:r>
              <a:rPr lang="sr-Latn-RS" sz="2400" b="1" i="1"/>
              <a:t>super(parametar)</a:t>
            </a:r>
            <a:r>
              <a:rPr lang="sr-Latn-RS" sz="2400"/>
              <a:t>, u klasi naslednici, roditeljski konstruktor sa parametrom se ne bi pozvao:</a:t>
            </a:r>
          </a:p>
          <a:p>
            <a:pPr marL="0" indent="0">
              <a:buNone/>
              <a:defRPr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Automobil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Vozilo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public Automobil() {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sz="18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ovo ne moramo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out.println("Konstruktor Automobila");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public Automobil(String s) {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sr-Latn-RS" sz="1800" b="1" u="sng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ovo moramo</a:t>
            </a:r>
            <a:r>
              <a:rPr 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ako želimo da se pozove konstruktor</a:t>
            </a:r>
          </a:p>
          <a:p>
            <a:pPr marL="0" indent="0">
              <a:buNone/>
              <a:defRPr/>
            </a:pPr>
            <a:r>
              <a:rPr 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sa parametrom u roditeljskoj klasi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sz="1800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(s); 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System.</a:t>
            </a: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out.println("Konstruktor Automobila sa parametrom: " + s);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  <a:defRPr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endParaRPr lang="sr-Latn-R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E92C-F377-CBF1-9422-08B9C89C3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Apstraktne klase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00937-C6F3-36D3-0203-642F36A5A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99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0D30D67-8829-4932-8153-732EA3B262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Apstraktne klase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B4F5037-072F-78B3-37E5-6B5669AA13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30290"/>
            <a:ext cx="10515600" cy="43513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Klase koje ne mogu imati svoje objekte</a:t>
            </a:r>
            <a:r>
              <a:rPr lang="sr-Latn-CS" altLang="sr-Latn-RS" sz="2400"/>
              <a:t>, već samo njene klase naslednice mogu da imaju objekte (ako i one nisu apstraktne)</a:t>
            </a:r>
            <a:endParaRPr lang="en-US" altLang="sr-Latn-RS" sz="24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sr-Latn-CS" altLang="sr-Latn-RS" sz="1800" b="1">
                <a:latin typeface="Courier New" panose="02070309020205020404" pitchFamily="49" charset="0"/>
              </a:rPr>
              <a:t> class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A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int i;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public void metoda1() { ... }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public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sr-Latn-CS" altLang="sr-Latn-RS" sz="1800" b="1">
                <a:latin typeface="Courier New" panose="02070309020205020404" pitchFamily="49" charset="0"/>
              </a:rPr>
              <a:t>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metoda2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...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class B extends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A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@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Override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 public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metoda2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  <a:b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Ako klasa ima makar jednu apstraktnu metodu, mora da se deklari</a:t>
            </a:r>
            <a:r>
              <a:rPr lang="sr-Latn-CS" altLang="sr-Latn-RS" sz="2400"/>
              <a:t>še kao apstraktna.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Apstraktna klasa ne mora da ima apstraktne metode!</a:t>
            </a:r>
            <a:endParaRPr lang="en-US" altLang="sr-Latn-RS" sz="2400" b="1"/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3EA01DEE-FE29-ED3A-88C7-AE8C40F6768C}"/>
              </a:ext>
            </a:extLst>
          </p:cNvPr>
          <p:cNvSpPr/>
          <p:nvPr/>
        </p:nvSpPr>
        <p:spPr>
          <a:xfrm>
            <a:off x="6261163" y="4001294"/>
            <a:ext cx="3058510" cy="612648"/>
          </a:xfrm>
          <a:prstGeom prst="wedgeRoundRectCallout">
            <a:avLst>
              <a:gd name="adj1" fmla="val -77143"/>
              <a:gd name="adj2" fmla="val 3603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Metoda ima programski kod</a:t>
            </a:r>
            <a:endParaRPr 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0B95BE8-4AE4-20DE-68C3-B4B72E79C8A1}"/>
              </a:ext>
            </a:extLst>
          </p:cNvPr>
          <p:cNvSpPr/>
          <p:nvPr/>
        </p:nvSpPr>
        <p:spPr>
          <a:xfrm>
            <a:off x="6521670" y="2667231"/>
            <a:ext cx="3058510" cy="612648"/>
          </a:xfrm>
          <a:prstGeom prst="wedgeRoundRectCallout">
            <a:avLst>
              <a:gd name="adj1" fmla="val -77143"/>
              <a:gd name="adj2" fmla="val 3603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Metoda </a:t>
            </a:r>
            <a:r>
              <a:rPr lang="sr-Latn-RS" u="sng"/>
              <a:t>nema</a:t>
            </a:r>
            <a:r>
              <a:rPr lang="sr-Latn-RS"/>
              <a:t> programski kod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  <p:bldP spid="2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50797FB-B8C0-964B-FB94-E40072DB0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846568"/>
          </a:xfrm>
        </p:spPr>
        <p:txBody>
          <a:bodyPr/>
          <a:lstStyle/>
          <a:p>
            <a:pPr eaLnBrk="1" hangingPunct="1"/>
            <a:r>
              <a:rPr lang="en-US" altLang="sr-Latn-RS"/>
              <a:t>Apstraktne klase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E34958F-D891-0985-3036-6736A4A73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84314"/>
            <a:ext cx="10515600" cy="524981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en-US" altLang="sr-Latn-RS" sz="1600" b="1">
                <a:latin typeface="Courier New" panose="02070309020205020404" pitchFamily="49" charset="0"/>
              </a:rPr>
              <a:t> class </a:t>
            </a:r>
            <a:r>
              <a:rPr lang="en-US" altLang="sr-Latn-RS" sz="16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en-US" altLang="sr-Latn-RS" sz="16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private String naziv;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public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abstract</a:t>
            </a:r>
            <a:r>
              <a:rPr lang="en-US" altLang="sr-Latn-RS" sz="1600" b="1">
                <a:latin typeface="Courier New" panose="02070309020205020404" pitchFamily="49" charset="0"/>
              </a:rPr>
              <a:t> void </a:t>
            </a:r>
            <a:r>
              <a:rPr lang="en-US" altLang="sr-Latn-RS" sz="1600" b="1">
                <a:solidFill>
                  <a:schemeClr val="accent1"/>
                </a:solidFill>
                <a:latin typeface="Courier New" panose="02070309020205020404" pitchFamily="49" charset="0"/>
              </a:rPr>
              <a:t>vozi</a:t>
            </a:r>
            <a:r>
              <a:rPr lang="en-US" altLang="sr-Latn-RS" sz="16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public class Automobil extends </a:t>
            </a:r>
            <a:r>
              <a:rPr lang="en-US" altLang="sr-Latn-RS" sz="16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en-US" altLang="sr-Latn-RS" sz="16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public boolean radi;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public void upali() {</a:t>
            </a:r>
            <a:endParaRPr lang="sr-Latn-C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radi = true;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public void ugasi()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latin typeface="Courier New" panose="02070309020205020404" pitchFamily="49" charset="0"/>
              </a:rPr>
              <a:t>    radi = false;</a:t>
            </a:r>
            <a:endParaRPr lang="en-U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}</a:t>
            </a:r>
            <a:endParaRPr lang="sr-Latn-RS" altLang="sr-Latn-R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600" b="1">
                <a:latin typeface="Courier New" panose="02070309020205020404" pitchFamily="49" charset="0"/>
              </a:rPr>
              <a:t>  @</a:t>
            </a:r>
            <a:r>
              <a:rPr lang="sr-Latn-R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Override</a:t>
            </a:r>
            <a:endParaRPr lang="en-US" altLang="sr-Latn-RS" sz="16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  public void </a:t>
            </a:r>
            <a:r>
              <a:rPr lang="en-US" altLang="sr-Latn-RS" sz="1600" b="1">
                <a:solidFill>
                  <a:schemeClr val="accent1"/>
                </a:solidFill>
                <a:latin typeface="Courier New" panose="02070309020205020404" pitchFamily="49" charset="0"/>
              </a:rPr>
              <a:t>vozi</a:t>
            </a:r>
            <a:r>
              <a:rPr lang="en-US" altLang="sr-Latn-RS" sz="1600" b="1">
                <a:latin typeface="Courier New" panose="02070309020205020404" pitchFamily="49" charset="0"/>
              </a:rPr>
              <a:t>() </a:t>
            </a: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  <a:endParaRPr lang="sr-Latn-CS" altLang="sr-Latn-RS" sz="16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    ...</a:t>
            </a:r>
            <a:endParaRPr lang="en-US" altLang="sr-Latn-RS" sz="16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solidFill>
                  <a:srgbClr val="FF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 b="1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CDFAD829-6B45-9233-5C04-08026AA9A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276" y="1484314"/>
            <a:ext cx="3249613" cy="446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5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5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55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55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55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55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5D109-9DBE-14D6-C108-D7063054A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Polimorfizam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A4615-C0E8-9FDC-8A29-83EB64EB1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99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17563BD-3CA8-49A3-C4EA-DFB29CC37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Polimorfizam</a:t>
            </a:r>
            <a:endParaRPr lang="en-US" altLang="sr-Latn-R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B5DE0C2-869A-502F-A3DC-CE44727172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sr-Latn-CS" altLang="sr-Latn-RS" sz="3200"/>
              <a:t>Situacija kada se poziva metoda nekog objekta, a ne zna se unapred kakav je to konkretan objekat</a:t>
            </a:r>
          </a:p>
          <a:p>
            <a:pPr lvl="1" eaLnBrk="1" hangingPunct="1"/>
            <a:r>
              <a:rPr lang="sr-Latn-CS" altLang="sr-Latn-RS" sz="2800"/>
              <a:t>ono što se zna je koja mu je bazna klasa</a:t>
            </a:r>
          </a:p>
          <a:p>
            <a:pPr eaLnBrk="1" hangingPunct="1"/>
            <a:r>
              <a:rPr lang="sr-Latn-CS" altLang="sr-Latn-RS" sz="3200"/>
              <a:t>Tada je moguće u programu pozivati metode bazne klase, a da se zapravo pozivaju metode konkretne klase koja nasleđuje baznu klasu</a:t>
            </a:r>
            <a:endParaRPr lang="en-US" altLang="sr-Latn-R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690B1E8D-6C29-D703-1568-0A4EB1059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Polimorfizam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DB0CF843-E935-F4CC-FCD5-19A6D5CC9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5007405"/>
          </a:xfrm>
        </p:spPr>
        <p:txBody>
          <a:bodyPr>
            <a:normAutofit fontScale="92500" lnSpcReduction="20000"/>
          </a:bodyPr>
          <a:lstStyle/>
          <a:p>
            <a:pPr indent="-3175"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abstract </a:t>
            </a: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 u="sng">
                <a:latin typeface="Courier New" panose="02070309020205020404" pitchFamily="49" charset="0"/>
              </a:rPr>
              <a:t>abstract</a:t>
            </a:r>
            <a:r>
              <a:rPr lang="sr-Latn-CS" altLang="sr-Latn-RS" sz="1800" b="1">
                <a:latin typeface="Courier New" panose="02070309020205020404" pitchFamily="49" charset="0"/>
              </a:rPr>
              <a:t> double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Automobil extends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Override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double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return 240; }</a:t>
            </a:r>
            <a:b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Kamion extends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Override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double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return 1000; }</a:t>
            </a:r>
            <a:b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NaplatnaRampa</a:t>
            </a:r>
            <a:r>
              <a:rPr lang="sr-Latn-CS" altLang="sr-Latn-RS" sz="1800" b="1">
                <a:latin typeface="Courier New" panose="02070309020205020404" pitchFamily="49" charset="0"/>
              </a:rPr>
              <a:t>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double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naplatiPutarinu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 v</a:t>
            </a:r>
            <a:r>
              <a:rPr lang="sr-Latn-CS" altLang="sr-Latn-RS" sz="1800" b="1">
                <a:latin typeface="Courier New" panose="02070309020205020404" pitchFamily="49" charset="0"/>
              </a:rPr>
              <a:t>)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  return v.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...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NaplatnaRampa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nr</a:t>
            </a:r>
            <a:r>
              <a:rPr lang="sr-Latn-CS" altLang="sr-Latn-RS" sz="1800" b="1">
                <a:latin typeface="Courier New" panose="02070309020205020404" pitchFamily="49" charset="0"/>
              </a:rPr>
              <a:t> = new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NaplatnaRampa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double iznos =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nr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naplatiPutarinu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(new Automobil());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iznos +=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nr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naplatiPutarinu</a:t>
            </a:r>
            <a:r>
              <a:rPr lang="sr-Latn-CS" altLang="sr-Latn-RS" sz="1800" b="1">
                <a:latin typeface="Courier New" panose="02070309020205020404" pitchFamily="49" charset="0"/>
              </a:rPr>
              <a:t>(new Kamion());</a:t>
            </a:r>
            <a:endParaRPr lang="en-US" altLang="sr-Latn-RS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2DDEA81-2A88-6551-CE6B-99DDCDBF0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Polimorfizam</a:t>
            </a:r>
            <a:endParaRPr lang="en-US" altLang="sr-Latn-R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43D151-F884-1E0C-4768-851AEF31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3" name="Picture 14">
            <a:extLst>
              <a:ext uri="{FF2B5EF4-FFF2-40B4-BE49-F238E27FC236}">
                <a16:creationId xmlns:a16="http://schemas.microsoft.com/office/drawing/2014/main" id="{1B9AA138-AC1B-E197-079B-126DF21B4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276" y="1628776"/>
            <a:ext cx="6048375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558E76B-F684-D9E9-161D-8EA4AD692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r-Latn-RS"/>
              <a:t>Polimorfizam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53C14C6-9885-B26A-2B42-9DA377A2E2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980575"/>
          </a:xfrm>
        </p:spPr>
        <p:txBody>
          <a:bodyPr>
            <a:normAutofit fontScale="92500" lnSpcReduction="10000"/>
          </a:bodyPr>
          <a:lstStyle/>
          <a:p>
            <a:pPr indent="-3175"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abstract </a:t>
            </a: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abstract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Automobil extends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@Override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  <a:b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Kamion extends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@Override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</a:t>
            </a:r>
            <a:r>
              <a:rPr lang="sr-Latn-CS" altLang="sr-Latn-RS" sz="1800" b="1">
                <a:latin typeface="Courier New" panose="02070309020205020404" pitchFamily="49" charset="0"/>
              </a:rPr>
              <a:t>()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  <a:b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Vozac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void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vozi</a:t>
            </a:r>
            <a:r>
              <a:rPr lang="sr-Latn-CS" altLang="sr-Latn-RS" sz="1800" b="1">
                <a:latin typeface="Courier New" panose="02070309020205020404" pitchFamily="49" charset="0"/>
              </a:rPr>
              <a:t>(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Vozilo v</a:t>
            </a:r>
            <a:r>
              <a:rPr lang="sr-Latn-CS" altLang="sr-Latn-RS" sz="1800" b="1">
                <a:latin typeface="Courier New" panose="02070309020205020404" pitchFamily="49" charset="0"/>
              </a:rPr>
              <a:t>)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 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v.vozi();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  }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...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sr-Latn-CS" altLang="sr-Latn-RS" sz="1800" b="1">
                <a:latin typeface="Courier New" panose="02070309020205020404" pitchFamily="49" charset="0"/>
              </a:rPr>
              <a:t>Vozac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v</a:t>
            </a:r>
            <a:r>
              <a:rPr lang="sr-Latn-CS" altLang="sr-Latn-RS" sz="1800" b="1">
                <a:latin typeface="Courier New" panose="02070309020205020404" pitchFamily="49" charset="0"/>
              </a:rPr>
              <a:t> = new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Vozac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</a:p>
          <a:p>
            <a:pPr indent="-3175"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v.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vozi</a:t>
            </a:r>
            <a:r>
              <a:rPr lang="sr-Latn-CS" altLang="sr-Latn-RS" sz="1800" b="1">
                <a:latin typeface="Courier New" panose="02070309020205020404" pitchFamily="49" charset="0"/>
              </a:rPr>
              <a:t>(new Automobil());</a:t>
            </a:r>
            <a:endParaRPr lang="en-US" altLang="sr-Latn-RS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DFC1-E600-A1FF-5905-C4F0BE70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Interfejsi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A72CF-EDEB-F535-A833-2BE1476EB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63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29D5BD9-3FC7-9341-C459-9229B502E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Interfejsi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C1E44A9-1AD4-0928-0F2A-ABF83E89A5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sr-Latn-CS" altLang="en-US" sz="2400"/>
              <a:t>Omogućavaju definisanje samo apstraktnih metoda, konstanti i statičkih atributa</a:t>
            </a:r>
            <a:endParaRPr lang="en-US" altLang="en-US" sz="2400"/>
          </a:p>
          <a:p>
            <a:pPr eaLnBrk="1" hangingPunct="1">
              <a:lnSpc>
                <a:spcPct val="90000"/>
              </a:lnSpc>
              <a:defRPr/>
            </a:pPr>
            <a:r>
              <a:rPr lang="sr-Latn-CS" altLang="en-US" sz="2400"/>
              <a:t>Interfejs nije klasa! On je spisak metoda i atributa koje klasa koja implementira interfejs mora da poseduje.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sr-Latn-CS" altLang="en-US" sz="2400"/>
              <a:t>Sve metode su implicitno </a:t>
            </a:r>
            <a:r>
              <a:rPr lang="sr-Latn-CS" altLang="en-US" sz="2400" b="1"/>
              <a:t>public</a:t>
            </a:r>
            <a:r>
              <a:rPr lang="sr-Latn-CS" altLang="en-US" sz="2400"/>
              <a:t>, a svi atributi su implicitno </a:t>
            </a:r>
            <a:r>
              <a:rPr lang="sr-Latn-CS" altLang="en-US" sz="2400" b="1"/>
              <a:t>public</a:t>
            </a:r>
            <a:r>
              <a:rPr lang="sr-Latn-CS" altLang="en-US" sz="2400"/>
              <a:t> </a:t>
            </a:r>
            <a:r>
              <a:rPr lang="sr-Latn-CS" altLang="en-US" sz="2400" b="1"/>
              <a:t>static</a:t>
            </a:r>
            <a:r>
              <a:rPr lang="sr-Latn-CS" altLang="en-US" sz="2400"/>
              <a:t> </a:t>
            </a:r>
            <a:r>
              <a:rPr lang="sr-Latn-CS" altLang="en-US" sz="2400" b="1"/>
              <a:t>final</a:t>
            </a:r>
            <a:endParaRPr lang="sr-Latn-CS" altLang="en-US" sz="2400"/>
          </a:p>
          <a:p>
            <a:pPr eaLnBrk="1" hangingPunct="1">
              <a:lnSpc>
                <a:spcPct val="130000"/>
              </a:lnSpc>
              <a:defRPr/>
            </a:pPr>
            <a:r>
              <a:rPr lang="sr-Latn-CS" altLang="en-US" sz="2400"/>
              <a:t>Interfejsi se ne nasleđuju, već implementiraju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sr-Latn-CS" altLang="en-US" sz="2400"/>
              <a:t>Da bi klasa implementirala interfejs, mora da redefiniše </a:t>
            </a:r>
            <a:r>
              <a:rPr lang="sr-Latn-CS" altLang="en-US" sz="2400" b="1" u="sng"/>
              <a:t>sve</a:t>
            </a:r>
            <a:r>
              <a:rPr lang="sr-Latn-CS" altLang="en-US" sz="2400"/>
              <a:t> njegove metode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sr-Latn-CS" altLang="en-US" sz="2400"/>
              <a:t>Jedan interfejs može da nasledi drugog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sr-Latn-CS" alt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Jedna klasa može da implementira jedan ili više interfejsa</a:t>
            </a:r>
            <a:endParaRPr lang="en-US" altLang="en-US" sz="24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E1FAB1D-6B29-8585-9C89-C4B1C3D4E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Interfejsi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E11DCB9E-C0F7-AD4B-7B06-1E22E44437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Racunar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HardDisk</a:t>
            </a:r>
            <a:r>
              <a:rPr lang="en-US" altLang="sr-Latn-RS" sz="1800" b="1">
                <a:latin typeface="Courier New" panose="02070309020205020404" pitchFamily="49" charset="0"/>
              </a:rPr>
              <a:t> hardDisk;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int upali()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interface</a:t>
            </a:r>
            <a:r>
              <a:rPr lang="en-US" altLang="sr-Latn-RS" sz="1800" b="1"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HardDisk</a:t>
            </a:r>
            <a:r>
              <a:rPr lang="en-U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int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pomeriGlavu</a:t>
            </a:r>
            <a:r>
              <a:rPr lang="en-US" altLang="sr-Latn-RS" sz="18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public class SATAHardDisk implements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HardDisk</a:t>
            </a:r>
            <a:r>
              <a:rPr lang="en-US" altLang="sr-Latn-RS" sz="1800" b="1">
                <a:latin typeface="Courier New" panose="02070309020205020404" pitchFamily="49" charset="0"/>
              </a:rPr>
              <a:t> {</a:t>
            </a:r>
            <a:endParaRPr lang="sr-Latn-R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</a:rPr>
              <a:t>  </a:t>
            </a:r>
            <a:r>
              <a:rPr lang="sr-Latn-CS" altLang="sr-Latn-RS" sz="1800" b="1">
                <a:latin typeface="Courier New" panose="02070309020205020404" pitchFamily="49" charset="0"/>
              </a:rPr>
              <a:t>@Override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public int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pomeriGlavu</a:t>
            </a:r>
            <a:r>
              <a:rPr lang="en-US" altLang="sr-Latn-RS" sz="1800" b="1">
                <a:latin typeface="Courier New" panose="02070309020205020404" pitchFamily="49" charset="0"/>
              </a:rPr>
              <a:t>() 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   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29700" name="Picture 5">
            <a:extLst>
              <a:ext uri="{FF2B5EF4-FFF2-40B4-BE49-F238E27FC236}">
                <a16:creationId xmlns:a16="http://schemas.microsoft.com/office/drawing/2014/main" id="{CCB3C4B6-D08A-40A1-18DE-C00970DC9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664" y="1027906"/>
            <a:ext cx="6443662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6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6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AAAEC1A-49FA-CE89-A8A7-4854080E3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Interfejsi</a:t>
            </a:r>
          </a:p>
        </p:txBody>
      </p:sp>
      <p:pic>
        <p:nvPicPr>
          <p:cNvPr id="30723" name="Picture 4">
            <a:extLst>
              <a:ext uri="{FF2B5EF4-FFF2-40B4-BE49-F238E27FC236}">
                <a16:creationId xmlns:a16="http://schemas.microsoft.com/office/drawing/2014/main" id="{FBEA9CFE-0434-4CD9-1DE7-BE21AADE5F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553" y="2103569"/>
            <a:ext cx="8650149" cy="3432379"/>
          </a:xfr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BCC9953-ACE8-DE6D-CCD8-3553A1247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77196"/>
          </a:xfrm>
        </p:spPr>
        <p:txBody>
          <a:bodyPr/>
          <a:lstStyle/>
          <a:p>
            <a:pPr eaLnBrk="1" hangingPunct="1"/>
            <a:r>
              <a:rPr lang="en-US" altLang="sr-Latn-RS"/>
              <a:t>Interfejsi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6A7882D-0A18-07FD-ECF7-8E424EEFD3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72048"/>
            <a:ext cx="10515600" cy="5184602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interface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Instrument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en-US" altLang="sr-Latn-RS" sz="1800" b="1">
                <a:latin typeface="Courier New" panose="02070309020205020404" pitchFamily="49" charset="0"/>
              </a:rPr>
              <a:t>int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sviraj</a:t>
            </a:r>
            <a:r>
              <a:rPr lang="sr-Latn-CS" altLang="sr-Latn-RS" sz="1800" b="1">
                <a:latin typeface="Courier New" panose="02070309020205020404" pitchFamily="49" charset="0"/>
              </a:rPr>
              <a:t>(</a:t>
            </a:r>
            <a:r>
              <a:rPr lang="en-US" altLang="sr-Latn-RS" sz="1800" b="1">
                <a:latin typeface="Courier New" panose="02070309020205020404" pitchFamily="49" charset="0"/>
              </a:rPr>
              <a:t>Nota nota</a:t>
            </a:r>
            <a:r>
              <a:rPr lang="sr-Latn-CS" altLang="sr-Latn-RS" sz="1800" b="1">
                <a:latin typeface="Courier New" panose="02070309020205020404" pitchFamily="49" charset="0"/>
              </a:rPr>
              <a:t>);</a:t>
            </a:r>
            <a:br>
              <a:rPr lang="sr-Latn-CS" altLang="sr-Latn-RS" sz="1800" b="1">
                <a:latin typeface="Courier New" panose="02070309020205020404" pitchFamily="49" charset="0"/>
              </a:rPr>
            </a:br>
            <a:r>
              <a:rPr lang="en-US" altLang="sr-Latn-RS" sz="1800" b="1">
                <a:latin typeface="Courier New" panose="02070309020205020404" pitchFamily="49" charset="0"/>
              </a:rPr>
              <a:t>int</a:t>
            </a:r>
            <a:r>
              <a:rPr lang="sr-Latn-CS" altLang="sr-Latn-RS" sz="1800" b="1">
                <a:latin typeface="Courier New" panose="02070309020205020404" pitchFamily="49" charset="0"/>
              </a:rPr>
              <a:t>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nastimaj</a:t>
            </a:r>
            <a:r>
              <a:rPr lang="sr-Latn-CS" altLang="sr-Latn-RS" sz="1800" b="1">
                <a:latin typeface="Courier New" panose="02070309020205020404" pitchFamily="49" charset="0"/>
              </a:rPr>
              <a:t>(</a:t>
            </a:r>
            <a:r>
              <a:rPr lang="en-US" altLang="sr-Latn-RS" sz="1800" b="1">
                <a:latin typeface="Courier New" panose="02070309020205020404" pitchFamily="49" charset="0"/>
              </a:rPr>
              <a:t>Nota nota</a:t>
            </a:r>
            <a:r>
              <a:rPr lang="sr-Latn-CS" altLang="sr-Latn-RS" sz="1800" b="1">
                <a:latin typeface="Courier New" panose="02070309020205020404" pitchFamily="49" charset="0"/>
              </a:rPr>
              <a:t>);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class Klarinet implements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Instrument</a:t>
            </a:r>
            <a:r>
              <a:rPr lang="sr-Latn-CS" altLang="sr-Latn-RS" sz="1800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public </a:t>
            </a:r>
            <a:r>
              <a:rPr lang="en-US" altLang="sr-Latn-RS" sz="1800" b="1">
                <a:latin typeface="Courier New" panose="02070309020205020404" pitchFamily="49" charset="0"/>
              </a:rPr>
              <a:t>int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sviraj</a:t>
            </a:r>
            <a:r>
              <a:rPr lang="sr-Latn-CS" altLang="sr-Latn-RS" sz="1800" b="1">
                <a:latin typeface="Courier New" panose="02070309020205020404" pitchFamily="49" charset="0"/>
              </a:rPr>
              <a:t>(</a:t>
            </a:r>
            <a:r>
              <a:rPr lang="en-US" altLang="sr-Latn-RS" sz="1800" b="1">
                <a:latin typeface="Courier New" panose="02070309020205020404" pitchFamily="49" charset="0"/>
              </a:rPr>
              <a:t>Nota nota</a:t>
            </a:r>
            <a:r>
              <a:rPr lang="sr-Latn-CS" altLang="sr-Latn-RS" sz="1800" b="1">
                <a:latin typeface="Courier New" panose="02070309020205020404" pitchFamily="49" charset="0"/>
              </a:rPr>
              <a:t>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@Override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public </a:t>
            </a:r>
            <a:r>
              <a:rPr lang="en-US" altLang="sr-Latn-RS" sz="1800" b="1">
                <a:latin typeface="Courier New" panose="02070309020205020404" pitchFamily="49" charset="0"/>
              </a:rPr>
              <a:t>int </a:t>
            </a:r>
            <a:r>
              <a:rPr lang="sr-Latn-C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nastimaj</a:t>
            </a:r>
            <a:r>
              <a:rPr lang="sr-Latn-CS" altLang="sr-Latn-RS" sz="1800" b="1">
                <a:latin typeface="Courier New" panose="02070309020205020404" pitchFamily="49" charset="0"/>
              </a:rPr>
              <a:t>(</a:t>
            </a:r>
            <a:r>
              <a:rPr lang="en-US" altLang="sr-Latn-RS" sz="1800" b="1">
                <a:latin typeface="Courier New" panose="02070309020205020404" pitchFamily="49" charset="0"/>
              </a:rPr>
              <a:t>Nota nota</a:t>
            </a:r>
            <a:r>
              <a:rPr lang="sr-Latn-CS" altLang="sr-Latn-RS" sz="1800" b="1">
                <a:latin typeface="Courier New" panose="02070309020205020404" pitchFamily="49" charset="0"/>
              </a:rPr>
              <a:t>) </a:t>
            </a:r>
            <a:r>
              <a:rPr lang="sr-Latn-C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{ ... }</a:t>
            </a:r>
            <a:endParaRPr lang="en-US" altLang="sr-Latn-RS" sz="1800" b="1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class Muzicar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Instrument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instrument</a:t>
            </a:r>
            <a:r>
              <a:rPr lang="en-US" altLang="sr-Latn-RS" sz="18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int sviraj(Nota 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</a:rPr>
              <a:t>nota</a:t>
            </a:r>
            <a:r>
              <a:rPr lang="en-US" altLang="sr-Latn-RS" sz="18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sr-Latn-RS" sz="1800" b="1">
                <a:latin typeface="Courier New" panose="02070309020205020404" pitchFamily="49" charset="0"/>
              </a:rPr>
              <a:t>return</a:t>
            </a:r>
            <a:r>
              <a:rPr lang="en-US" altLang="sr-Latn-RS" sz="1800" b="1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instrument</a:t>
            </a:r>
            <a:r>
              <a:rPr lang="en-US" altLang="sr-Latn-RS" sz="1800" b="1">
                <a:latin typeface="Courier New" panose="02070309020205020404" pitchFamily="49" charset="0"/>
              </a:rPr>
              <a:t>.</a:t>
            </a:r>
            <a:r>
              <a:rPr lang="en-US" altLang="sr-Latn-RS" sz="1800" b="1">
                <a:solidFill>
                  <a:schemeClr val="accent1"/>
                </a:solidFill>
                <a:latin typeface="Courier New" panose="02070309020205020404" pitchFamily="49" charset="0"/>
              </a:rPr>
              <a:t>sviraj</a:t>
            </a:r>
            <a:r>
              <a:rPr lang="en-US" altLang="sr-Latn-RS" sz="1800" b="1">
                <a:latin typeface="Courier New" panose="02070309020205020404" pitchFamily="49" charset="0"/>
              </a:rPr>
              <a:t>(</a:t>
            </a:r>
            <a:r>
              <a:rPr lang="en-US" altLang="sr-Latn-RS" sz="1800" b="1">
                <a:solidFill>
                  <a:schemeClr val="accent2"/>
                </a:solidFill>
                <a:latin typeface="Courier New" panose="02070309020205020404" pitchFamily="49" charset="0"/>
              </a:rPr>
              <a:t>nota</a:t>
            </a:r>
            <a:r>
              <a:rPr lang="en-US" altLang="sr-Latn-RS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800" b="1">
                <a:latin typeface="Courier New" panose="02070309020205020404" pitchFamily="49" charset="0"/>
              </a:rPr>
              <a:t>}</a:t>
            </a: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Muzicar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m</a:t>
            </a:r>
            <a:r>
              <a:rPr lang="sr-Latn-CS" altLang="sr-Latn-RS" sz="1800" b="1">
                <a:latin typeface="Courier New" panose="02070309020205020404" pitchFamily="49" charset="0"/>
              </a:rPr>
              <a:t> = new 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Muzicar</a:t>
            </a:r>
            <a:r>
              <a:rPr lang="sr-Latn-CS" altLang="sr-Latn-RS" sz="1800" b="1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m</a:t>
            </a:r>
            <a:r>
              <a:rPr lang="sr-Latn-CS" altLang="sr-Latn-RS" sz="1800" b="1">
                <a:latin typeface="Courier New" panose="02070309020205020404" pitchFamily="49" charset="0"/>
              </a:rPr>
              <a:t>.instrument = new Klarinet();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m</a:t>
            </a:r>
            <a:r>
              <a:rPr lang="sr-Latn-CS" altLang="sr-Latn-RS" sz="1800" b="1">
                <a:latin typeface="Courier New" panose="02070309020205020404" pitchFamily="49" charset="0"/>
              </a:rPr>
              <a:t>.</a:t>
            </a:r>
            <a:r>
              <a:rPr lang="sr-Latn-CS" altLang="sr-Latn-RS" sz="1800" b="1">
                <a:solidFill>
                  <a:schemeClr val="accent6"/>
                </a:solidFill>
                <a:latin typeface="Courier New" panose="02070309020205020404" pitchFamily="49" charset="0"/>
              </a:rPr>
              <a:t>sviraj</a:t>
            </a:r>
            <a:r>
              <a:rPr lang="sr-Latn-CS" altLang="sr-Latn-RS" sz="1800" b="1">
                <a:latin typeface="Courier New" panose="02070309020205020404" pitchFamily="49" charset="0"/>
              </a:rPr>
              <a:t>(nota);</a:t>
            </a:r>
            <a:endParaRPr lang="en-US" altLang="sr-Latn-RS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7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17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74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74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74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D5A77E7-983A-6953-B289-8B0EAE583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Interfejsi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E88541B5-3794-B92F-094F-F69D2D846B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USB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void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byte[]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getData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sr-Latn-RS" altLang="sr-Latn-RS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Camera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void </a:t>
            </a:r>
            <a:r>
              <a:rPr lang="sr-Latn-RS" altLang="sr-Latn-RS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Picture </a:t>
            </a:r>
            <a:r>
              <a:rPr lang="sr-Latn-RS" altLang="sr-Latn-RS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getPicture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C5E94815-DE04-DBB7-E9AF-48EB8F6C5C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Interfejsi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8AA4B53A-FACD-AC30-CA90-E0614B1184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USBKeyboard implements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USB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void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byte[]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getData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34716BED-5542-F7A2-24F7-5975342C3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Interfejsi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1BDB90A6-EC8D-0318-A456-78599511DD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Web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Cam implements </a:t>
            </a:r>
            <a:r>
              <a:rPr lang="en-U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USB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sr-Latn-RS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Camera</a:t>
            </a:r>
            <a:r>
              <a:rPr lang="en-U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void </a:t>
            </a:r>
            <a:r>
              <a:rPr lang="sr-Latn-RS" altLang="sr-Latn-RS" b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byte[] </a:t>
            </a:r>
            <a:r>
              <a:rPr lang="sr-Latn-RS" altLang="sr-Latn-RS" b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getData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  Picture </a:t>
            </a:r>
            <a:r>
              <a:rPr lang="sr-Latn-RS" altLang="sr-Latn-RS" b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getPicture</a:t>
            </a: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() { ... }</a:t>
            </a:r>
          </a:p>
          <a:p>
            <a:pPr marL="0" indent="0">
              <a:buNone/>
            </a:pPr>
            <a:r>
              <a:rPr lang="sr-Latn-RS" altLang="sr-Latn-R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62150AC-DAA1-050F-05AC-6A47741433BB}"/>
              </a:ext>
            </a:extLst>
          </p:cNvPr>
          <p:cNvSpPr/>
          <p:nvPr/>
        </p:nvSpPr>
        <p:spPr>
          <a:xfrm>
            <a:off x="6238639" y="2779237"/>
            <a:ext cx="3063016" cy="788276"/>
          </a:xfrm>
          <a:prstGeom prst="wedgeRoundRectCallout">
            <a:avLst>
              <a:gd name="adj1" fmla="val -75763"/>
              <a:gd name="adj2" fmla="val -932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Čiji je ovo init()?</a:t>
            </a:r>
          </a:p>
          <a:p>
            <a:pPr algn="ctr"/>
            <a:r>
              <a:rPr lang="sr-Latn-RS"/>
              <a:t>Od USB, ili od Camera?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63CD4-076E-DED4-C8C5-9C365AEC0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Izuzeci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F0473-7EAA-EF67-C224-76DBD7647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97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C0039E8-0856-F4E2-5D1F-2E0824CD9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Izuzeci</a:t>
            </a:r>
            <a:endParaRPr lang="en-US" altLang="sr-Latn-R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0DF8D86-8D5B-E328-0138-3A25CF214D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1157106" cy="4351338"/>
          </a:xfrm>
        </p:spPr>
        <p:txBody>
          <a:bodyPr/>
          <a:lstStyle/>
          <a:p>
            <a:pPr eaLnBrk="1" hangingPunct="1"/>
            <a:r>
              <a:rPr lang="sr-Latn-CS" altLang="sr-Latn-RS"/>
              <a:t>Mehanizam prijavljivanja greške</a:t>
            </a:r>
          </a:p>
          <a:p>
            <a:pPr eaLnBrk="1" hangingPunct="1"/>
            <a:r>
              <a:rPr lang="sr-Latn-CS" altLang="sr-Latn-RS"/>
              <a:t>Greška se signalizira "bacanjem" izuzetka</a:t>
            </a:r>
          </a:p>
          <a:p>
            <a:pPr eaLnBrk="1" hangingPunct="1"/>
            <a:r>
              <a:rPr lang="sr-Latn-CS" altLang="sr-Latn-RS"/>
              <a:t>Metoda koja poziva potencijalno "grešnu" metodu "hvata" izuzetak</a:t>
            </a:r>
          </a:p>
          <a:p>
            <a:pPr eaLnBrk="1" hangingPunct="1"/>
            <a:r>
              <a:rPr lang="sr-Latn-CS" altLang="sr-Latn-RS"/>
              <a:t>Hijerarhija:</a:t>
            </a:r>
          </a:p>
          <a:p>
            <a:pPr lvl="1" eaLnBrk="1" hangingPunct="1"/>
            <a:r>
              <a:rPr lang="sr-Latn-CS" altLang="sr-Latn-RS" b="1"/>
              <a:t>Throwable</a:t>
            </a:r>
            <a:r>
              <a:rPr lang="sr-Latn-CS" altLang="sr-Latn-RS"/>
              <a:t> – roditeljska klasa</a:t>
            </a:r>
          </a:p>
          <a:p>
            <a:pPr lvl="2" eaLnBrk="1" hangingPunct="1"/>
            <a:r>
              <a:rPr lang="sr-Latn-CS" altLang="sr-Latn-RS" b="1"/>
              <a:t>Error</a:t>
            </a:r>
            <a:r>
              <a:rPr lang="sr-Latn-CS" altLang="sr-Latn-RS"/>
              <a:t> – ozbiljne sistemske greške</a:t>
            </a:r>
          </a:p>
          <a:p>
            <a:pPr lvl="2" eaLnBrk="1" hangingPunct="1"/>
            <a:r>
              <a:rPr lang="sr-Latn-CS" altLang="sr-Latn-RS" b="1"/>
              <a:t>Exception</a:t>
            </a:r>
            <a:r>
              <a:rPr lang="sr-Latn-CS" altLang="sr-Latn-RS"/>
              <a:t> – bazna klasa za sve standardne izuzetke</a:t>
            </a:r>
          </a:p>
          <a:p>
            <a:pPr lvl="3" eaLnBrk="1" hangingPunct="1"/>
            <a:r>
              <a:rPr lang="sr-Latn-CS" altLang="sr-Latn-RS"/>
              <a:t>unchecked: </a:t>
            </a:r>
            <a:r>
              <a:rPr lang="sr-Latn-CS" altLang="sr-Latn-RS" b="1"/>
              <a:t>RuntimeException</a:t>
            </a:r>
            <a:r>
              <a:rPr lang="sr-Latn-CS" altLang="sr-Latn-RS"/>
              <a:t> i njene naslednice – ne moraju da se obuhvate try/catch blokom</a:t>
            </a:r>
          </a:p>
          <a:p>
            <a:pPr lvl="3" eaLnBrk="1" hangingPunct="1"/>
            <a:r>
              <a:rPr lang="sr-Latn-CS" altLang="sr-Latn-RS"/>
              <a:t>checked: Ostale klase koje nasleđuju </a:t>
            </a:r>
            <a:r>
              <a:rPr lang="sr-Latn-CS" altLang="sr-Latn-RS" b="1"/>
              <a:t>Exception</a:t>
            </a:r>
            <a:r>
              <a:rPr lang="sr-Latn-CS" altLang="sr-Latn-RS"/>
              <a:t> klasu i koje moraju da se obuhvate try/catch blokom</a:t>
            </a:r>
          </a:p>
          <a:p>
            <a:pPr lvl="1"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90C27354-4573-31B6-31E9-169EF6FD2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Izuzeci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E861718-5865-94CD-BF2D-5EBE24F341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Checked</a:t>
            </a:r>
            <a:r>
              <a:rPr lang="en-US" altLang="sr-Latn-RS"/>
              <a:t> (</a:t>
            </a:r>
            <a:r>
              <a:rPr lang="en-US" altLang="sr-Latn-RS" b="1"/>
              <a:t>Exception</a:t>
            </a:r>
            <a:r>
              <a:rPr lang="sr-Latn-RS" altLang="sr-Latn-RS"/>
              <a:t> i njene naslednice</a:t>
            </a:r>
            <a:r>
              <a:rPr lang="en-US" altLang="sr-Latn-RS"/>
              <a:t>)</a:t>
            </a:r>
            <a:r>
              <a:rPr lang="sr-Latn-CS" altLang="sr-Latn-RS"/>
              <a:t> – moraju da se uhvate</a:t>
            </a:r>
          </a:p>
          <a:p>
            <a:pPr lvl="1" eaLnBrk="1" hangingPunct="1"/>
            <a:r>
              <a:rPr lang="sr-Latn-CS" altLang="sr-Latn-RS" b="1">
                <a:latin typeface="Courier New" panose="02070309020205020404" pitchFamily="49" charset="0"/>
              </a:rPr>
              <a:t>IOException</a:t>
            </a:r>
          </a:p>
          <a:p>
            <a:pPr lvl="1" eaLnBrk="1" hangingPunct="1"/>
            <a:r>
              <a:rPr lang="sr-Latn-CS" altLang="sr-Latn-RS" b="1">
                <a:latin typeface="Courier New" panose="02070309020205020404" pitchFamily="49" charset="0"/>
              </a:rPr>
              <a:t>SQLException</a:t>
            </a:r>
          </a:p>
          <a:p>
            <a:pPr lvl="1" eaLnBrk="1" hangingPunct="1"/>
            <a:r>
              <a:rPr lang="sr-Latn-CS" altLang="sr-Latn-RS" b="1">
                <a:latin typeface="Courier New" panose="02070309020205020404" pitchFamily="49" charset="0"/>
              </a:rPr>
              <a:t>...</a:t>
            </a:r>
          </a:p>
          <a:p>
            <a:pPr eaLnBrk="1" hangingPunct="1"/>
            <a:r>
              <a:rPr lang="sr-Latn-CS" altLang="sr-Latn-RS"/>
              <a:t>Unchecked (</a:t>
            </a:r>
            <a:r>
              <a:rPr lang="sr-Latn-CS" altLang="sr-Latn-RS" b="1"/>
              <a:t>RuntimeException</a:t>
            </a:r>
            <a:r>
              <a:rPr lang="sr-Latn-CS" altLang="sr-Latn-RS"/>
              <a:t> i njene naslednice) – ne moraju da se uhvate, jer mogu da se programski spreče</a:t>
            </a:r>
          </a:p>
          <a:p>
            <a:pPr lvl="1" eaLnBrk="1" hangingPunct="1"/>
            <a:r>
              <a:rPr lang="sr-Latn-CS" altLang="sr-Latn-RS" b="1">
                <a:latin typeface="Courier New" panose="02070309020205020404" pitchFamily="49" charset="0"/>
              </a:rPr>
              <a:t>NullPointerException</a:t>
            </a:r>
          </a:p>
          <a:p>
            <a:pPr lvl="1" eaLnBrk="1" hangingPunct="1"/>
            <a:r>
              <a:rPr lang="sr-Latn-CS" altLang="sr-Latn-RS" b="1">
                <a:latin typeface="Courier New" panose="02070309020205020404" pitchFamily="49" charset="0"/>
              </a:rPr>
              <a:t>IndexOutOfBoundsException</a:t>
            </a:r>
          </a:p>
          <a:p>
            <a:pPr lvl="1" eaLnBrk="1" hangingPunct="1"/>
            <a:r>
              <a:rPr lang="sr-Latn-CS" altLang="sr-Latn-RS" b="1">
                <a:latin typeface="Courier New" panose="02070309020205020404" pitchFamily="49" charset="0"/>
              </a:rPr>
              <a:t>ArithmeticException</a:t>
            </a:r>
            <a:endParaRPr lang="en-US" altLang="sr-Latn-RS" b="1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sr-Latn-RS" sz="2200" b="1">
                <a:latin typeface="Courier New" panose="02070309020205020404" pitchFamily="49" charset="0"/>
              </a:rPr>
              <a:t>...</a:t>
            </a:r>
            <a:endParaRPr lang="en-US" altLang="sr-Latn-R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8F779B86-0A26-4F32-4A11-96DEAF1F2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sr-Latn-RS"/>
              <a:t>Izuzeci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49BF98D-B111-C4C4-523D-860FB3828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try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kôd koji može da izazove</a:t>
            </a:r>
          </a:p>
          <a:p>
            <a:pPr indent="-3175">
              <a:buNone/>
            </a:pP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  // izuzetak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 catch (</a:t>
            </a:r>
            <a:r>
              <a:rPr lang="sr-Latn-CS" altLang="sr-Latn-RS" sz="2000" b="1">
                <a:solidFill>
                  <a:schemeClr val="tx2"/>
                </a:solidFill>
                <a:latin typeface="Courier New" panose="02070309020205020404" pitchFamily="49" charset="0"/>
              </a:rPr>
              <a:t>java.io.IOException</a:t>
            </a:r>
            <a:r>
              <a:rPr lang="sr-Latn-CS" altLang="sr-Latn-RS" sz="2000" b="1">
                <a:latin typeface="Courier New" panose="02070309020205020404" pitchFamily="49" charset="0"/>
              </a:rPr>
              <a:t> ex)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System.out.println("Problem sa datotekom!");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 catch (</a:t>
            </a:r>
            <a:r>
              <a:rPr lang="sr-Latn-CS" altLang="sr-Latn-RS" sz="2000" b="1">
                <a:solidFill>
                  <a:schemeClr val="tx2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sr-Latn-CS" altLang="sr-Latn-RS" sz="2000" b="1">
                <a:latin typeface="Courier New" panose="02070309020205020404" pitchFamily="49" charset="0"/>
              </a:rPr>
              <a:t> ex)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System.out.println("Pristup van granica niza");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 catch (</a:t>
            </a:r>
            <a:r>
              <a:rPr lang="sr-Latn-CS" altLang="sr-Latn-RS" sz="2000" b="1">
                <a:solidFill>
                  <a:schemeClr val="tx2"/>
                </a:solidFill>
                <a:latin typeface="Courier New" panose="02070309020205020404" pitchFamily="49" charset="0"/>
              </a:rPr>
              <a:t>Exception</a:t>
            </a:r>
            <a:r>
              <a:rPr lang="sr-Latn-CS" altLang="sr-Latn-RS" sz="2000" b="1">
                <a:latin typeface="Courier New" panose="02070309020205020404" pitchFamily="49" charset="0"/>
              </a:rPr>
              <a:t> ex)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System.out.println("Svi ostali izuzeci");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 finally {</a:t>
            </a:r>
          </a:p>
          <a:p>
            <a:pPr indent="-3175"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</a:t>
            </a:r>
            <a:r>
              <a:rPr lang="sr-Latn-CS" alt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kôd koji se izvršava u svakom slučaju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indent="-3175"/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5EFDAA9-CA39-2FC4-9CD8-0AFE8F087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Izuzeci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596FC9F-40D0-28E7-AA4C-576F1BA1D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Programsko izazivanje izuzetka</a:t>
            </a:r>
          </a:p>
          <a:p>
            <a:pPr eaLnBrk="1" hangingPunct="1"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throw new Exception("Ovo je </a:t>
            </a:r>
            <a:r>
              <a:rPr lang="sr-Latn-CS" altLang="sr-Latn-RS" sz="2000" b="1">
                <a:latin typeface="Courier New" panose="02070309020205020404" pitchFamily="49" charset="0"/>
              </a:rPr>
              <a:t>jedan</a:t>
            </a:r>
            <a:r>
              <a:rPr lang="en-US" altLang="sr-Latn-RS" sz="2000" b="1">
                <a:latin typeface="Courier New" panose="02070309020205020404" pitchFamily="49" charset="0"/>
              </a:rPr>
              <a:t> izuzetak");</a:t>
            </a:r>
            <a:endParaRPr lang="en-US" altLang="sr-Latn-RS"/>
          </a:p>
          <a:p>
            <a:pPr eaLnBrk="1" hangingPunct="1"/>
            <a:endParaRPr lang="en-US" altLang="sr-Latn-RS"/>
          </a:p>
          <a:p>
            <a:pPr eaLnBrk="1" hangingPunct="1"/>
            <a:r>
              <a:rPr lang="en-US" altLang="sr-Latn-RS"/>
              <a:t>Korisnički definisani izuzeci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class MojException extends Exception {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MojException(String s) {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    super(s);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	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8756B26-F32C-0EFD-4455-A4CF951C4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Izuzeci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D43768B-E40F-5D9A-8912-5197FBE32A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Ključna reč </a:t>
            </a:r>
            <a:r>
              <a:rPr lang="en-US" altLang="sr-Latn-RS" b="1">
                <a:latin typeface="Courier New" panose="02070309020205020404" pitchFamily="49" charset="0"/>
              </a:rPr>
              <a:t>throws</a:t>
            </a:r>
            <a:endParaRPr lang="en-US" altLang="sr-Latn-RS"/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void f(int i) throws MojException { ... }</a:t>
            </a:r>
          </a:p>
          <a:p>
            <a:pPr eaLnBrk="1" hangingPunct="1"/>
            <a:endParaRPr lang="en-US" altLang="sr-Latn-RS"/>
          </a:p>
          <a:p>
            <a:pPr eaLnBrk="1" hangingPunct="1"/>
            <a:r>
              <a:rPr lang="en-US" altLang="sr-Latn-RS"/>
              <a:t>Propagacija izuzetaka</a:t>
            </a:r>
          </a:p>
          <a:p>
            <a:pPr lvl="1"/>
            <a:r>
              <a:rPr lang="sr-Latn-CS" altLang="sr-Latn-RS"/>
              <a:t>ne moramo da obuhvatimo try-catch blokom, već da deklarišemo da i pozivajuća metoda takođe baca izuzetak</a:t>
            </a:r>
          </a:p>
          <a:p>
            <a:pPr lvl="2"/>
            <a:r>
              <a:rPr lang="sr-Latn-CS" altLang="sr-Latn-RS"/>
              <a:t>tako možemo da prebacujemo odgovornost hvatanja izuzetka na gore</a:t>
            </a:r>
            <a:endParaRPr lang="en-US" altLang="sr-Latn-R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2AA9A-C08F-C352-0273-244D5D55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Unutrašnje klase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3714A-D888-4D25-3ED5-CBD21171C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28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EC2BBD45-D280-63BC-3389-F85C22DDA4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Unutrašnje klase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7FED7F1A-637F-E7DA-117B-C2A188D596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Klase definisane bilo gde unutar neke druge klase</a:t>
            </a:r>
          </a:p>
          <a:p>
            <a:pPr lvl="1"/>
            <a:r>
              <a:rPr lang="sr-Latn-RS" altLang="sr-Latn-RS"/>
              <a:t>ta druga klasa se zove spoljašnja klasa</a:t>
            </a:r>
          </a:p>
          <a:p>
            <a:pPr lvl="1"/>
            <a:endParaRPr lang="sr-Latn-RS" altLang="sr-Latn-RS"/>
          </a:p>
        </p:txBody>
      </p:sp>
    </p:spTree>
    <p:extLst>
      <p:ext uri="{BB962C8B-B14F-4D97-AF65-F5344CB8AC3E}">
        <p14:creationId xmlns:p14="http://schemas.microsoft.com/office/powerpoint/2010/main" val="55029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0E2244C-5CAE-9014-E8EA-0D1132FD0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Inner classes (unutrašnje klase)</a:t>
            </a:r>
            <a:endParaRPr lang="en-US" altLang="sr-Latn-RS" sz="4000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0200128-707D-5777-F967-C5F2766300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class Spoljasnja {</a:t>
            </a: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Spoljasnja() { ... }</a:t>
            </a: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void metoda() { </a:t>
            </a: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new Unutrasnja(); </a:t>
            </a:r>
            <a:r>
              <a:rPr lang="sr-Latn-CS" altLang="sr-Latn-RS" sz="2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// ovo nije problem</a:t>
            </a: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}</a:t>
            </a:r>
            <a:br>
              <a:rPr lang="sr-Latn-CS" altLang="sr-Latn-RS" sz="2400" b="1">
                <a:latin typeface="Courier New" panose="02070309020205020404" pitchFamily="49" charset="0"/>
              </a:rPr>
            </a:br>
            <a:endParaRPr lang="sr-Latn-CS" altLang="sr-Latn-RS" sz="2400" b="1">
              <a:latin typeface="Courier New" panose="02070309020205020404" pitchFamily="49" charset="0"/>
            </a:endParaRP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class Unutrasnja {</a:t>
            </a: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  void metoda() { ... }</a:t>
            </a:r>
          </a:p>
          <a:p>
            <a:pPr indent="-3175"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  }</a:t>
            </a:r>
            <a:br>
              <a:rPr lang="sr-Latn-CS" altLang="sr-Latn-RS" sz="2400" b="1">
                <a:latin typeface="Courier New" panose="02070309020205020404" pitchFamily="49" charset="0"/>
              </a:rPr>
            </a:br>
            <a:r>
              <a:rPr lang="sr-Latn-CS" altLang="sr-Latn-RS" sz="2400" b="1">
                <a:latin typeface="Courier New" panose="02070309020205020404" pitchFamily="49" charset="0"/>
              </a:rPr>
              <a:t>}</a:t>
            </a:r>
          </a:p>
          <a:p>
            <a:pPr indent="-3175">
              <a:buNone/>
            </a:pP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8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5247E86-8020-C3A9-21DB-B9A13897D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 sz="4000"/>
              <a:t>Inner classes</a:t>
            </a:r>
            <a:r>
              <a:rPr lang="sr-Latn-CS" altLang="sr-Latn-RS" sz="4000"/>
              <a:t> (unutrašnje klase)</a:t>
            </a:r>
            <a:endParaRPr lang="en-US" altLang="sr-Latn-RS" sz="400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0A553047-FF8F-B14C-EEC1-0335B0027D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RS" altLang="sr-Latn-RS"/>
              <a:t>Unutrašnju klasu kreiramo iz spoljašnje klase bez dodatnih intervencija</a:t>
            </a:r>
          </a:p>
          <a:p>
            <a:pPr eaLnBrk="1" hangingPunct="1"/>
            <a:r>
              <a:rPr lang="en-US" altLang="sr-Latn-RS"/>
              <a:t>Konstrukcija objekta unutrašnje klase izvan spoljašnje klase</a:t>
            </a:r>
            <a:r>
              <a:rPr lang="sr-Latn-RS" altLang="sr-Latn-RS"/>
              <a:t>:</a:t>
            </a:r>
            <a:endParaRPr lang="en-US" altLang="sr-Latn-RS"/>
          </a:p>
          <a:p>
            <a:pPr eaLnBrk="1" hangingPunct="1"/>
            <a:endParaRPr lang="en-US" altLang="sr-Latn-RS"/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Spoljasnja sp = new Spoljasnja();</a:t>
            </a:r>
          </a:p>
          <a:p>
            <a:pPr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Spoljasnja.Unutrasnja un = sp.new Unutrasnja();</a:t>
            </a:r>
          </a:p>
          <a:p>
            <a:pPr eaLnBrk="1" hangingPunct="1"/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732646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B723800-1BF6-2889-F81C-2DBF4D901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Statičke unutrašnje klase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B8D623FE-ADA0-5DCD-4C1D-10F08B6961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4133" y="1825625"/>
            <a:ext cx="11310633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class Spoljasnja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void metoda() { 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sr-Latn-RS" altLang="sr-Latn-RS" sz="24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ovo i dalje nije problem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new UnutrasnjaStatic(); 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sr-Latn-RS" altLang="sr-Latn-RS" sz="2400" b="1" u="sng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class UnutrasnjaStatic {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int metoda2() { ... 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Spoljasnja.UnutrasnjaStatic u = new Spoljasnja.UnutrasnjaStatic();</a:t>
            </a:r>
          </a:p>
        </p:txBody>
      </p:sp>
    </p:spTree>
    <p:extLst>
      <p:ext uri="{BB962C8B-B14F-4D97-AF65-F5344CB8AC3E}">
        <p14:creationId xmlns:p14="http://schemas.microsoft.com/office/powerpoint/2010/main" val="125752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9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9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A6AC2FC-62D2-5F49-A2BF-AA3AD9C663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Anonimne unutrašnje klase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39C07163-A70F-D178-E46C-CA79DC4C73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Definišu se bilo gde unutar druge klase</a:t>
            </a:r>
          </a:p>
          <a:p>
            <a:pPr lvl="1"/>
            <a:r>
              <a:rPr lang="sr-Latn-RS" altLang="sr-Latn-RS"/>
              <a:t>može čak i unutar poziva metode!</a:t>
            </a:r>
          </a:p>
          <a:p>
            <a:r>
              <a:rPr lang="sr-Latn-RS" altLang="sr-Latn-RS"/>
              <a:t>Nemaju ime, a definišu se na specifičan način</a:t>
            </a:r>
          </a:p>
          <a:p>
            <a:pPr lvl="1"/>
            <a:r>
              <a:rPr lang="sr-Latn-RS" altLang="sr-Latn-RS"/>
              <a:t>ime class fajla se sastoji iz rednog broja, separatora '$' i klase u kojoj se nalaze</a:t>
            </a:r>
          </a:p>
        </p:txBody>
      </p:sp>
    </p:spTree>
    <p:extLst>
      <p:ext uri="{BB962C8B-B14F-4D97-AF65-F5344CB8AC3E}">
        <p14:creationId xmlns:p14="http://schemas.microsoft.com/office/powerpoint/2010/main" val="91018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6ECE87D9-EC41-3684-0E9C-ED857D9E3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Anonimne unutrašnje klase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DA40292C-8FC7-0989-7B82-4AE3EA2C58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17092"/>
            <a:ext cx="10515600" cy="5099017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hr-HR" altLang="sr-Latn-RS" sz="2000" b="1" i="1">
                <a:latin typeface="Courier New" panose="02070309020205020404" pitchFamily="49" charset="0"/>
              </a:rPr>
              <a:t>JButton b = new JButton("Pritisni me");</a:t>
            </a:r>
          </a:p>
          <a:p>
            <a:pPr eaLnBrk="1" hangingPunct="1">
              <a:buFontTx/>
              <a:buNone/>
            </a:pPr>
            <a:r>
              <a:rPr lang="hr-HR" altLang="sr-Latn-RS" sz="2000" b="1" i="1">
                <a:latin typeface="Courier New" panose="02070309020205020404" pitchFamily="49" charset="0"/>
              </a:rPr>
              <a:t>ActionListener al = new ActionListener() </a:t>
            </a:r>
            <a:r>
              <a:rPr lang="hr-HR" altLang="sr-Latn-RS" sz="2000" b="1" i="1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hr-HR" altLang="sr-Latn-RS" sz="2000" b="1" i="1">
                <a:solidFill>
                  <a:srgbClr val="FF0000"/>
                </a:solidFill>
                <a:latin typeface="Courier New" panose="02070309020205020404" pitchFamily="49" charset="0"/>
              </a:rPr>
              <a:t>  public void actionPerformed(ActionEvent e) {</a:t>
            </a:r>
          </a:p>
          <a:p>
            <a:pPr eaLnBrk="1" hangingPunct="1">
              <a:buFontTx/>
              <a:buNone/>
            </a:pPr>
            <a:r>
              <a:rPr lang="hr-HR" altLang="sr-Latn-RS" sz="2000" b="1" i="1">
                <a:solidFill>
                  <a:srgbClr val="FF0000"/>
                </a:solidFill>
                <a:latin typeface="Courier New" panose="02070309020205020404" pitchFamily="49" charset="0"/>
              </a:rPr>
              <a:t>    ...</a:t>
            </a:r>
          </a:p>
          <a:p>
            <a:pPr eaLnBrk="1" hangingPunct="1">
              <a:buFontTx/>
              <a:buNone/>
            </a:pPr>
            <a:r>
              <a:rPr lang="hr-HR" altLang="sr-Latn-RS" sz="2000" b="1" i="1">
                <a:solidFill>
                  <a:srgbClr val="FF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hr-HR" altLang="sr-Latn-RS" sz="2000" b="1" i="1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  <a:r>
              <a:rPr lang="hr-HR" altLang="sr-Latn-RS" sz="2000" b="1" i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Tx/>
              <a:buNone/>
            </a:pPr>
            <a:r>
              <a:rPr lang="hr-HR" altLang="sr-Latn-RS" sz="2000" b="1" i="1">
                <a:latin typeface="Courier New" panose="02070309020205020404" pitchFamily="49" charset="0"/>
              </a:rPr>
              <a:t>b.addActionListener(al);</a:t>
            </a:r>
          </a:p>
          <a:p>
            <a:pPr eaLnBrk="1" hangingPunct="1">
              <a:buFontTx/>
              <a:buNone/>
            </a:pPr>
            <a:endParaRPr lang="hr-HR" altLang="sr-Latn-RS" sz="2000" b="1">
              <a:latin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JButton b = new JButton("Pritisni me");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latin typeface="Courier New" panose="02070309020205020404" pitchFamily="49" charset="0"/>
              </a:rPr>
              <a:t>b.addActionListener(new ActionListener() </a:t>
            </a:r>
            <a:r>
              <a:rPr lang="hr-HR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  @Override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  public void actionPerformed(ActionEvent e) {</a:t>
            </a:r>
          </a:p>
          <a:p>
            <a:pPr lvl="2" eaLnBrk="1" hangingPunct="1">
              <a:buFontTx/>
              <a:buNone/>
            </a:pPr>
            <a:r>
              <a:rPr lang="hr-HR" altLang="sr-Latn-RS" b="1">
                <a:solidFill>
                  <a:srgbClr val="FF0000"/>
                </a:solidFill>
                <a:latin typeface="Courier New" panose="02070309020205020404" pitchFamily="49" charset="0"/>
              </a:rPr>
              <a:t>    ...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Tx/>
              <a:buNone/>
            </a:pPr>
            <a:r>
              <a:rPr lang="hr-HR" altLang="sr-Latn-RS" sz="2000" b="1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  <a:r>
              <a:rPr lang="hr-HR" altLang="sr-Latn-RS" sz="2000" b="1"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5367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2337</Words>
  <Application>Microsoft Office PowerPoint</Application>
  <PresentationFormat>Widescreen</PresentationFormat>
  <Paragraphs>376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Aptos</vt:lpstr>
      <vt:lpstr>Arial</vt:lpstr>
      <vt:lpstr>Calibri</vt:lpstr>
      <vt:lpstr>Calibri Light</vt:lpstr>
      <vt:lpstr>Courier New</vt:lpstr>
      <vt:lpstr>Tahoma</vt:lpstr>
      <vt:lpstr>Wingdings</vt:lpstr>
      <vt:lpstr>Office Theme</vt:lpstr>
      <vt:lpstr>Objektno Orijentisano Programiranje 1</vt:lpstr>
      <vt:lpstr>Tema</vt:lpstr>
      <vt:lpstr>Šta nam treba od prethodnog znanja?</vt:lpstr>
      <vt:lpstr>Nasleđivanje</vt:lpstr>
      <vt:lpstr>Nasleđivanje</vt:lpstr>
      <vt:lpstr>Nasleđivanje</vt:lpstr>
      <vt:lpstr>Veze tipa asocijacije i agregacije (UML i Java)</vt:lpstr>
      <vt:lpstr>Modifikatori pristupa</vt:lpstr>
      <vt:lpstr>Modifikator pristupa klase</vt:lpstr>
      <vt:lpstr>Modifikator pristupa ispred konstruktora</vt:lpstr>
      <vt:lpstr>getters &amp; setters</vt:lpstr>
      <vt:lpstr>getters &amp; setters</vt:lpstr>
      <vt:lpstr>Method overriding</vt:lpstr>
      <vt:lpstr>Method overriding</vt:lpstr>
      <vt:lpstr>Method overriding</vt:lpstr>
      <vt:lpstr>Ključna reč super</vt:lpstr>
      <vt:lpstr>Ključna reč super u konstruktoru</vt:lpstr>
      <vt:lpstr>Ključna reč super u konstruktoru</vt:lpstr>
      <vt:lpstr>Ključna reč super u konstruktoru</vt:lpstr>
      <vt:lpstr>Apstraktne klase</vt:lpstr>
      <vt:lpstr>Apstraktne klase</vt:lpstr>
      <vt:lpstr>Apstraktne klase</vt:lpstr>
      <vt:lpstr>Polimorfizam</vt:lpstr>
      <vt:lpstr>Polimorfizam</vt:lpstr>
      <vt:lpstr>Polimorfizam</vt:lpstr>
      <vt:lpstr>Polimorfizam</vt:lpstr>
      <vt:lpstr>Polimorfizam</vt:lpstr>
      <vt:lpstr>Interfejsi</vt:lpstr>
      <vt:lpstr>Interfejsi</vt:lpstr>
      <vt:lpstr>Interfejsi</vt:lpstr>
      <vt:lpstr>Interfejsi</vt:lpstr>
      <vt:lpstr>Interfejsi</vt:lpstr>
      <vt:lpstr>Interfejsi</vt:lpstr>
      <vt:lpstr>Interfejsi</vt:lpstr>
      <vt:lpstr>Interfejsi</vt:lpstr>
      <vt:lpstr>Izuzeci</vt:lpstr>
      <vt:lpstr>Izuzeci</vt:lpstr>
      <vt:lpstr>Izuzeci</vt:lpstr>
      <vt:lpstr>Izuzeci</vt:lpstr>
      <vt:lpstr>Izuzeci</vt:lpstr>
      <vt:lpstr>Izuzeci</vt:lpstr>
      <vt:lpstr>Unutrašnje klase</vt:lpstr>
      <vt:lpstr>Unutrašnje klase</vt:lpstr>
      <vt:lpstr>Inner classes (unutrašnje klase)</vt:lpstr>
      <vt:lpstr>Inner classes (unutrašnje klase)</vt:lpstr>
      <vt:lpstr>Statičke unutrašnje klase</vt:lpstr>
      <vt:lpstr>Anonimne unutrašnje klase</vt:lpstr>
      <vt:lpstr>Anonimne unutrašnje klase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Inženjerstvo softvera za Internet-Web of Things</dc:title>
  <dc:creator>Milan Vidaković</dc:creator>
  <cp:lastModifiedBy>Jovana Vidaković</cp:lastModifiedBy>
  <cp:revision>414</cp:revision>
  <dcterms:created xsi:type="dcterms:W3CDTF">2023-06-19T19:18:07Z</dcterms:created>
  <dcterms:modified xsi:type="dcterms:W3CDTF">2025-07-07T09:01:03Z</dcterms:modified>
</cp:coreProperties>
</file>