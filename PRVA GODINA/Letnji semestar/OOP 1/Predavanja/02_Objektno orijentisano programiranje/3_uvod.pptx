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sldIdLst>
    <p:sldId id="257" r:id="rId2"/>
    <p:sldId id="357" r:id="rId3"/>
    <p:sldId id="362" r:id="rId4"/>
    <p:sldId id="273" r:id="rId5"/>
    <p:sldId id="274" r:id="rId6"/>
    <p:sldId id="349" r:id="rId7"/>
    <p:sldId id="276" r:id="rId8"/>
    <p:sldId id="277" r:id="rId9"/>
    <p:sldId id="278" r:id="rId10"/>
    <p:sldId id="309" r:id="rId11"/>
    <p:sldId id="272" r:id="rId12"/>
    <p:sldId id="313" r:id="rId13"/>
    <p:sldId id="314" r:id="rId14"/>
    <p:sldId id="315" r:id="rId15"/>
    <p:sldId id="316" r:id="rId16"/>
    <p:sldId id="358" r:id="rId17"/>
    <p:sldId id="356" r:id="rId18"/>
    <p:sldId id="317" r:id="rId19"/>
    <p:sldId id="318" r:id="rId20"/>
    <p:sldId id="319" r:id="rId21"/>
    <p:sldId id="320" r:id="rId22"/>
    <p:sldId id="321" r:id="rId23"/>
    <p:sldId id="322" r:id="rId24"/>
    <p:sldId id="323" r:id="rId25"/>
    <p:sldId id="359" r:id="rId26"/>
    <p:sldId id="281" r:id="rId27"/>
    <p:sldId id="324" r:id="rId28"/>
    <p:sldId id="282" r:id="rId29"/>
    <p:sldId id="283" r:id="rId30"/>
    <p:sldId id="325" r:id="rId31"/>
    <p:sldId id="326" r:id="rId32"/>
    <p:sldId id="327" r:id="rId33"/>
    <p:sldId id="328" r:id="rId34"/>
    <p:sldId id="329" r:id="rId35"/>
    <p:sldId id="330" r:id="rId36"/>
    <p:sldId id="331" r:id="rId37"/>
    <p:sldId id="332" r:id="rId38"/>
    <p:sldId id="333" r:id="rId39"/>
    <p:sldId id="360" r:id="rId40"/>
    <p:sldId id="334" r:id="rId41"/>
    <p:sldId id="347" r:id="rId42"/>
    <p:sldId id="336" r:id="rId43"/>
    <p:sldId id="337" r:id="rId44"/>
    <p:sldId id="338" r:id="rId45"/>
    <p:sldId id="348" r:id="rId46"/>
    <p:sldId id="340" r:id="rId47"/>
    <p:sldId id="341" r:id="rId48"/>
    <p:sldId id="342" r:id="rId49"/>
    <p:sldId id="343" r:id="rId50"/>
    <p:sldId id="361" r:id="rId51"/>
    <p:sldId id="350" r:id="rId52"/>
    <p:sldId id="351" r:id="rId53"/>
    <p:sldId id="352" r:id="rId54"/>
    <p:sldId id="353" r:id="rId55"/>
    <p:sldId id="354" r:id="rId56"/>
    <p:sldId id="355" r:id="rId57"/>
    <p:sldId id="289" r:id="rId5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7992C0AF-2E78-678E-66BA-F31B3AB90D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AD032F89-F718-FCDA-F979-9F322142357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91AF8D4-435A-F9F7-906B-3C9A83B4D87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BA123155-B007-2EBC-937A-AFE0B1483A5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FCA47029-B1B2-22A9-9DD9-6C16F430922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8731D5F5-EBB1-4B4A-C0BE-4DAC20229A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9D94A41-325A-4687-BBE5-0E2052FC3B2A}" type="slidenum">
              <a:rPr lang="en-US" altLang="sr-Latn-RS"/>
              <a:pPr>
                <a:defRPr/>
              </a:pPr>
              <a:t>‹#›</a:t>
            </a:fld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448D91-04DE-8561-04AE-5CC30A2D5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56FF87-F67F-B933-FE01-8093C66715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924E64-A294-6ACD-A619-87D077D54B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DEABD-8889-4399-8501-336CEA82EF5C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99037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0C1A98-7779-D383-A371-F87E8B339D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88125" y="6237288"/>
            <a:ext cx="2087563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6F686D26-F4CE-449A-9DD1-70027FC4F275}" type="slidenum">
              <a:rPr lang="en-US" altLang="sr-Latn-RS" smtClean="0"/>
              <a:pPr algn="r" eaLnBrk="1" hangingPunct="1">
                <a:defRPr/>
              </a:pPr>
              <a:t>‹#›</a:t>
            </a:fld>
            <a:r>
              <a:rPr lang="sr-Latn-RS" altLang="sr-Latn-RS"/>
              <a:t>/57</a:t>
            </a:r>
            <a:endParaRPr lang="en-US" altLang="sr-Latn-R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BD7DC-BE8D-655B-1624-5151F7A7AC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32D62-D120-8017-E3E2-1EF46C55DE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5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60C1A98-7779-D383-A371-F87E8B339D4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88125" y="6237288"/>
            <a:ext cx="2087563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6F686D26-F4CE-449A-9DD1-70027FC4F275}" type="slidenum">
              <a:rPr lang="en-US" altLang="sr-Latn-RS" smtClean="0"/>
              <a:pPr algn="r" eaLnBrk="1" hangingPunct="1">
                <a:defRPr/>
              </a:pPr>
              <a:t>‹#›</a:t>
            </a:fld>
            <a:r>
              <a:rPr lang="sr-Latn-RS" altLang="sr-Latn-RS"/>
              <a:t>/57</a:t>
            </a:r>
            <a:endParaRPr lang="en-US" altLang="sr-Latn-R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BD7DC-BE8D-655B-1624-5151F7A7AC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32D62-D120-8017-E3E2-1EF46C55DE9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72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B879BB-4269-0E58-0D99-C2CDCAFD5C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43B555-69CF-DFB4-60A4-B853C4D5DE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25B642-7E71-FCFD-96C1-07E45A2829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11FEC6-3D6D-4672-95D0-4DD40B69B84B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12501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B8D6E-27B9-3299-07A6-10CB8402FD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F78AE9-B9C7-5D8C-26D5-5749B8C014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7C3F1E-2D5C-5271-AD8A-62FBC8F876A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F3CA7-314D-4D8A-B15E-5A63E608E5B2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350935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8E741DA-243F-1FB2-9A21-65E1808973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7861995-928B-8339-041B-C8E8BD97BE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CD7FFD5-A560-1CFE-35F2-012006FA8A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927FE-EE8B-4778-8966-5644DF09622C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48758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E9BB07B-F7E8-7446-9CD8-B765C345F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4205D22-DC86-61BE-24C2-1B2ECC43E8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15B5134-18FE-9699-8CFE-A6664577E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06AE0-F68C-4AD8-A1C0-9C8B2BCA8399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229246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69B816C-6C48-553E-EC1C-0D5F689DCB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5077107-4C44-3565-B9DD-64E17AD2E6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4F9CC4A-0D42-5108-E1C8-22082257E3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E3A8FE-48F3-4858-9C7D-9CBE3BA3A4CE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51764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C0672C-74DF-6AA5-E417-7790482DD3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47121F-BE61-39C7-761A-27F97D12BB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6C5D3-0D70-3356-B965-5ECA2B3F8C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2C715A-54EC-4915-9502-519FB7804C00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492322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8584D-48A6-2277-7D8E-32F62ED6CC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1942BA-A087-4719-CA77-2658805888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672AA-0F82-9ED1-B3D0-7AAACE5377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FFDEF0-9827-4460-B5BC-1CB42A274840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498431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C88432-1C0D-6440-CD32-D5039106C0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394BD92-27B5-1A73-E0BF-6A8FBEFE1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3288D7-85EC-3D4B-DAF6-007A054065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C73CA-F63C-4B1B-9F68-DE9233BC6ACC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1466081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FD1105-258E-24A6-774F-2586F471F0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05BEA08-4954-A524-B15D-28B85AC217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7C8F0D-AD2D-4209-3BF2-9829282AB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B6FFC-3216-4F1C-A00C-0F02BC7EC129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  <p:extLst>
      <p:ext uri="{BB962C8B-B14F-4D97-AF65-F5344CB8AC3E}">
        <p14:creationId xmlns:p14="http://schemas.microsoft.com/office/powerpoint/2010/main" val="3777860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C4564B-FA1D-3806-B2C5-3AB31BB277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88125" y="6237288"/>
            <a:ext cx="2087563" cy="369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729210E7-E13B-41CC-AF0A-3CD899663787}" type="slidenum">
              <a:rPr lang="en-US" altLang="sr-Latn-RS" smtClean="0"/>
              <a:pPr algn="r" eaLnBrk="1" hangingPunct="1">
                <a:defRPr/>
              </a:pPr>
              <a:t>‹#›</a:t>
            </a:fld>
            <a:r>
              <a:rPr lang="sr-Latn-RS" altLang="sr-Latn-RS"/>
              <a:t>/47</a:t>
            </a:r>
            <a:endParaRPr lang="en-US" altLang="sr-Latn-R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D1287A1-1257-703A-BB68-3BA637FBD9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154BE74-D6AE-DCF2-8A36-425D021193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84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8426EF0-8E95-EC7C-0B55-1B39A2B740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E5905F1-CD26-94CF-6937-2E3FE4F2FC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sr-Latn-RS"/>
              <a:t>Click to edit Master text styles</a:t>
            </a:r>
          </a:p>
          <a:p>
            <a:pPr lvl="1"/>
            <a:r>
              <a:rPr lang="en-US" altLang="sr-Latn-RS"/>
              <a:t>Second level</a:t>
            </a:r>
          </a:p>
          <a:p>
            <a:pPr lvl="2"/>
            <a:r>
              <a:rPr lang="en-US" altLang="sr-Latn-RS"/>
              <a:t>Third level</a:t>
            </a:r>
          </a:p>
          <a:p>
            <a:pPr lvl="3"/>
            <a:r>
              <a:rPr lang="en-US" altLang="sr-Latn-RS"/>
              <a:t>Fourth level</a:t>
            </a:r>
          </a:p>
          <a:p>
            <a:pPr lvl="4"/>
            <a:r>
              <a:rPr lang="en-US" altLang="sr-Latn-R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39A86A6-BF0F-7E6D-4BA7-B8D4C25141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B479E0-C48A-AF24-AE93-DFF61B71ACC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72ED85E-55D7-8D31-81F4-EC1AE92457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504C54C-0F48-4E69-B4A1-DCE5335F3DE8}" type="slidenum">
              <a:rPr lang="en-US" altLang="sr-Latn-RS"/>
              <a:pPr>
                <a:defRPr/>
              </a:pPr>
              <a:t>‹#›</a:t>
            </a:fld>
            <a:r>
              <a:rPr lang="sr-Latn-CS" altLang="sr-Latn-RS"/>
              <a:t>/49</a:t>
            </a:r>
            <a:endParaRPr lang="en-US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4007" r:id="rId2"/>
    <p:sldLayoutId id="2147484009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  <p:sldLayoutId id="2147484006" r:id="rId12"/>
    <p:sldLayoutId id="2147484008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EB33B23-4EC3-E3BF-B8C3-3328E14F9C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8153400" cy="1981200"/>
          </a:xfrm>
        </p:spPr>
        <p:txBody>
          <a:bodyPr/>
          <a:lstStyle/>
          <a:p>
            <a:pPr eaLnBrk="1" hangingPunct="1"/>
            <a:r>
              <a:rPr lang="sr-Latn-RS" altLang="sr-Latn-RS"/>
              <a:t>Objektno Orijentisano Programiranje 1</a:t>
            </a:r>
            <a:endParaRPr lang="en-US" altLang="sr-Latn-RS"/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30FEBAFE-6A28-AA48-B413-7E090B1B1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375" y="4005263"/>
            <a:ext cx="65516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sr-Latn-CS" altLang="sr-Latn-RS" sz="2400">
                <a:latin typeface="Tahoma" panose="020B0604030504040204" pitchFamily="34" charset="0"/>
              </a:rPr>
              <a:t>Objektno orijentisano programiranje i Java</a:t>
            </a:r>
            <a:endParaRPr lang="en-US" altLang="sr-Latn-R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A5095-60C2-FC3A-16F1-F629F33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Tema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2C538-3918-BF78-A3E5-9C71FC971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Specifičnosti objektno-orijentisanog programiranja u Javi</a:t>
            </a:r>
          </a:p>
          <a:p>
            <a:r>
              <a:rPr lang="sr-Latn-RS"/>
              <a:t>Organizacija izvornog koda (paketi)</a:t>
            </a:r>
          </a:p>
          <a:p>
            <a:r>
              <a:rPr lang="sr-Latn-RS"/>
              <a:t>Klasa Object i wrapper klase</a:t>
            </a:r>
          </a:p>
          <a:p>
            <a:r>
              <a:rPr lang="sr-Latn-RS"/>
              <a:t>Autoboxing</a:t>
            </a:r>
          </a:p>
          <a:p>
            <a:r>
              <a:rPr lang="sr-Latn-RS"/>
              <a:t>Klasa String</a:t>
            </a:r>
          </a:p>
          <a:p>
            <a:r>
              <a:rPr lang="sr-Latn-RS"/>
              <a:t>Kolekcije</a:t>
            </a:r>
          </a:p>
          <a:p>
            <a:r>
              <a:rPr lang="sr-Latn-RS"/>
              <a:t>Clonable interfejs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98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B6D47-0DE8-84B1-D0F4-CC7E92B4B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Šta nam treba od prethodnog znanja?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E6CCA-D8AE-D8E0-B721-8C7A4C508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/>
              <a:t>Klase, objekti, reference</a:t>
            </a:r>
          </a:p>
          <a:p>
            <a:r>
              <a:rPr lang="sr-Latn-RS"/>
              <a:t>Nasleđivanje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60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59890A7-66B7-8269-1B38-8966687DB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Paketi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3298C20-0A9E-4C0E-EFA2-EB4233D70F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Način za hijerarhijsko organizovanje programa u module</a:t>
            </a:r>
            <a:endParaRPr lang="en-US" altLang="sr-Latn-RS"/>
          </a:p>
          <a:p>
            <a:pPr eaLnBrk="1" hangingPunct="1"/>
            <a:r>
              <a:rPr lang="sr-Latn-CS" altLang="sr-Latn-RS"/>
              <a:t>Implicitni paket – kada ne definišemo paket</a:t>
            </a:r>
            <a:endParaRPr lang="en-US" altLang="sr-Latn-RS"/>
          </a:p>
          <a:p>
            <a:pPr eaLnBrk="1" hangingPunct="1"/>
            <a:r>
              <a:rPr lang="en-US" altLang="sr-Latn-RS"/>
              <a:t>Upotreba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import java.io.*;</a:t>
            </a:r>
          </a:p>
          <a:p>
            <a:pPr eaLnBrk="1" hangingPunct="1"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  import java.util.ArrayList;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5206EF6-9BCC-9C68-2699-46178A3E43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Paketi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14CAAE74-F43D-98B3-4AAF-3B147B3707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sr-Latn-RS"/>
              <a:t>Kreiranje paketa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package imepaketa;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...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public class MojaKlasa { ...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sr-Latn-RS"/>
              <a:t>Kori</a:t>
            </a:r>
            <a:r>
              <a:rPr lang="sr-Latn-CS" altLang="sr-Latn-RS"/>
              <a:t>šćenje paketa</a:t>
            </a:r>
            <a:r>
              <a:rPr lang="sr-Latn-CS" altLang="sr-Latn-RS" sz="2000" b="1">
                <a:latin typeface="Courier New" panose="02070309020205020404" pitchFamily="49" charset="0"/>
              </a:rPr>
              <a:t>  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r-Latn-CS" altLang="sr-Latn-RS" sz="20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import imepaketa.MojaKlasa;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...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MojaKlasa m = new MojaKlasa();</a:t>
            </a:r>
          </a:p>
          <a:p>
            <a:pPr lvl="4" eaLnBrk="1" hangingPunct="1">
              <a:lnSpc>
                <a:spcPct val="90000"/>
              </a:lnSpc>
              <a:buFontTx/>
              <a:buNone/>
            </a:pPr>
            <a:r>
              <a:rPr lang="sr-Latn-CS" altLang="sr-Latn-RS" b="1"/>
              <a:t>ili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imepaketa.MojaKlasa m = new imepaketa.MojaKlasa();</a:t>
            </a:r>
            <a:endParaRPr lang="en-US" altLang="sr-Latn-RS" sz="20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A9AB615-59DE-BD07-0BAD-BD8B3FA39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Paketi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2B86097-D3C1-ADA1-F14B-21B487067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484313"/>
            <a:ext cx="7847013" cy="295275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sr-Latn-RS" sz="2800" kern="0"/>
              <a:t>Direktorijumi</a:t>
            </a:r>
            <a:endParaRPr lang="en-US" altLang="sr-Latn-RS" sz="2800" b="1" kern="0">
              <a:latin typeface="Courier New" pitchFamily="49" charset="0"/>
            </a:endParaRPr>
          </a:p>
          <a:p>
            <a:pPr lvl="1" eaLnBrk="1" hangingPunct="1">
              <a:defRPr/>
            </a:pPr>
            <a:r>
              <a:rPr lang="en-US" altLang="sr-Latn-RS" sz="2400" kern="0"/>
              <a:t>hijerarhija paketa se poklapa sa hijerarhijom direktorijuma</a:t>
            </a:r>
            <a:r>
              <a:rPr lang="sr-Latn-CS" altLang="sr-Latn-RS" sz="2400" kern="0"/>
              <a:t>:</a:t>
            </a:r>
          </a:p>
          <a:p>
            <a:pPr lvl="2" eaLnBrk="1" hangingPunct="1">
              <a:defRPr/>
            </a:pPr>
            <a:r>
              <a:rPr lang="sr-Latn-CS" altLang="sr-Latn-RS" sz="2000" kern="0"/>
              <a:t>moj.paket.Lib -&gt; moj\paket\Lib.class</a:t>
            </a:r>
          </a:p>
          <a:p>
            <a:pPr eaLnBrk="1" hangingPunct="1">
              <a:defRPr/>
            </a:pPr>
            <a:endParaRPr lang="en-US" altLang="sr-Latn-RS" sz="2800" kern="0"/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408FF6B3-E0E0-84F5-EE54-6E9F30663787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429000" y="3748088"/>
          <a:ext cx="2287588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428949" imgH="523810" progId="Paint.Picture">
                  <p:embed/>
                </p:oleObj>
              </mc:Choice>
              <mc:Fallback>
                <p:oleObj name="Bitmap Image" r:id="rId2" imgW="1428949" imgH="52381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748088"/>
                        <a:ext cx="2287588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>
            <a:extLst>
              <a:ext uri="{FF2B5EF4-FFF2-40B4-BE49-F238E27FC236}">
                <a16:creationId xmlns:a16="http://schemas.microsoft.com/office/drawing/2014/main" id="{E0AC451C-2A6B-ECF8-A460-F3E3D5869C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013325"/>
          <a:ext cx="4140200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685714" imgH="923810" progId="Paint.Picture">
                  <p:embed/>
                </p:oleObj>
              </mc:Choice>
              <mc:Fallback>
                <p:oleObj name="Bitmap Image" r:id="rId4" imgW="3685714" imgH="923810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013325"/>
                        <a:ext cx="4140200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99094C8B-CA3E-2C57-F919-1D228A9B8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388" y="5013325"/>
          <a:ext cx="4321175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4105848" imgH="1019048" progId="Paint.Picture">
                  <p:embed/>
                </p:oleObj>
              </mc:Choice>
              <mc:Fallback>
                <p:oleObj name="Bitmap Image" r:id="rId6" imgW="4105848" imgH="1019048" progId="Paint.Picture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5013325"/>
                        <a:ext cx="4321175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9" name="TextBox 7">
            <a:extLst>
              <a:ext uri="{FF2B5EF4-FFF2-40B4-BE49-F238E27FC236}">
                <a16:creationId xmlns:a16="http://schemas.microsoft.com/office/drawing/2014/main" id="{8270C62F-6016-B7FE-3594-B47771C056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308725"/>
            <a:ext cx="19431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TestPaketa.java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ED778D2-6E3E-2E5E-9C91-7C14E55D9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4000" b="1">
                <a:latin typeface="Courier New" panose="02070309020205020404" pitchFamily="49" charset="0"/>
              </a:rPr>
              <a:t>CLASSPATH</a:t>
            </a:r>
            <a:r>
              <a:rPr lang="sr-Latn-CS" altLang="sr-Latn-RS"/>
              <a:t> environment varijabla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0F69D19-1180-5E05-4FBB-D781D2570D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600200"/>
            <a:ext cx="864096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Predstavlja spisak foldera i JAR arhiva gde VM traži klasu koja se koristi.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</a:t>
            </a:r>
            <a:r>
              <a:rPr lang="sr-Latn-CS" altLang="sr-Latn-RS" sz="2800" b="1">
                <a:latin typeface="Courier New" panose="02070309020205020404" pitchFamily="49" charset="0"/>
              </a:rPr>
              <a:t>CLASSPATH</a:t>
            </a:r>
            <a:r>
              <a:rPr lang="sr-Latn-CS" altLang="sr-Latn-RS"/>
              <a:t> ne postoji, podrazumevaju se tekući direktorijum i standardne Java biblioteke.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Ako </a:t>
            </a:r>
            <a:r>
              <a:rPr lang="sr-Latn-CS" altLang="sr-Latn-RS" sz="2800" b="1">
                <a:latin typeface="Courier New" panose="02070309020205020404" pitchFamily="49" charset="0"/>
              </a:rPr>
              <a:t>CLASSPATH</a:t>
            </a:r>
            <a:r>
              <a:rPr lang="sr-Latn-CS" altLang="sr-Latn-RS"/>
              <a:t> postoji, mora da sadrži i tekući direktorijum (standardne Java biblioteke se podrazumevaju). </a:t>
            </a:r>
            <a:br>
              <a:rPr lang="sr-Latn-CS" altLang="sr-Latn-RS"/>
            </a:br>
            <a:r>
              <a:rPr lang="sr-Latn-CS" altLang="sr-Latn-RS"/>
              <a:t>Primer: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sr-Latn-CS" altLang="sr-Latn-RS" b="1">
                <a:latin typeface="Courier New" panose="02070309020205020404" pitchFamily="49" charset="0"/>
              </a:rPr>
              <a:t>	</a:t>
            </a:r>
            <a:r>
              <a:rPr lang="sr-Latn-CS" altLang="sr-Latn-RS" sz="2400" b="1">
                <a:latin typeface="Courier New" panose="02070309020205020404" pitchFamily="49" charset="0"/>
              </a:rPr>
              <a:t>CLASSPATH=.;C:\Java\lib</a:t>
            </a:r>
            <a:r>
              <a:rPr lang="en-US" altLang="sr-Latn-RS" sz="2400" b="1">
                <a:latin typeface="Courier New" panose="02070309020205020404" pitchFamily="49" charset="0"/>
              </a:rPr>
              <a:t>;C:\Java\bibl.jar</a:t>
            </a:r>
            <a:endParaRPr lang="sr-Latn-CS" altLang="sr-Latn-RS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499E4CD-49DC-0F5A-8A99-A24E8E9B6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Paketi</a:t>
            </a:r>
            <a:endParaRPr lang="en-US" altLang="sr-Latn-RS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D31F895-7FE7-256A-241D-2513797B6A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JAR arhive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klasičan ZIP format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sadrži i folder </a:t>
            </a:r>
            <a:r>
              <a:rPr lang="sr-Latn-CS" altLang="sr-Latn-RS" sz="2400" b="1">
                <a:latin typeface="Courier New" panose="02070309020205020404" pitchFamily="49" charset="0"/>
              </a:rPr>
              <a:t>META-INF</a:t>
            </a:r>
            <a:r>
              <a:rPr lang="sr-Latn-CS" altLang="sr-Latn-RS"/>
              <a:t> u kojem je najbitnija datoteka </a:t>
            </a:r>
            <a:r>
              <a:rPr lang="sr-Latn-CS" altLang="sr-Latn-RS" sz="2400" b="1">
                <a:latin typeface="Courier New" panose="02070309020205020404" pitchFamily="49" charset="0"/>
              </a:rPr>
              <a:t>manifest.mf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sr-Latn-RS"/>
              <a:t>sadržaj </a:t>
            </a:r>
            <a:r>
              <a:rPr lang="sr-Latn-CS" altLang="sr-Latn-RS" sz="2000" b="1">
                <a:latin typeface="Courier New" panose="02070309020205020404" pitchFamily="49" charset="0"/>
              </a:rPr>
              <a:t>manifest.mf</a:t>
            </a:r>
            <a:r>
              <a:rPr lang="sr-Latn-CS" altLang="sr-Latn-RS"/>
              <a:t> datoteke:</a:t>
            </a:r>
          </a:p>
          <a:p>
            <a:pPr lvl="3" eaLnBrk="1" hangingPunct="1">
              <a:lnSpc>
                <a:spcPct val="90000"/>
              </a:lnSpc>
            </a:pPr>
            <a:r>
              <a:rPr lang="sr-Latn-CS" altLang="sr-Latn-RS"/>
              <a:t>Manifest-Version: 1.0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sr-Latn-RS"/>
              <a:t>Created-By: 1.4.2_02 (Sun Microsystems Inc.)</a:t>
            </a:r>
            <a:endParaRPr lang="sr-Latn-CS" altLang="sr-Latn-RS"/>
          </a:p>
          <a:p>
            <a:pPr lvl="3" eaLnBrk="1" hangingPunct="1">
              <a:lnSpc>
                <a:spcPct val="90000"/>
              </a:lnSpc>
            </a:pPr>
            <a:r>
              <a:rPr lang="sr-Latn-CS" altLang="sr-Latn-RS"/>
              <a:t>Main-Class:  moj.paket.Klasa</a:t>
            </a:r>
          </a:p>
          <a:p>
            <a:pPr lvl="3" eaLnBrk="1" hangingPunct="1">
              <a:lnSpc>
                <a:spcPct val="90000"/>
              </a:lnSpc>
            </a:pPr>
            <a:r>
              <a:rPr lang="sr-Latn-CS" altLang="sr-Latn-RS"/>
              <a:t>Class-Path: lib/biblioteka.jar lib/druga_biblioteka.jar</a:t>
            </a:r>
            <a:endParaRPr lang="en-US" altLang="sr-Latn-R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F2B7742-7994-AC39-5FD5-92851C836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javadoc</a:t>
            </a:r>
            <a:endParaRPr lang="en-GB" altLang="sr-Latn-R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D3360EB-019D-A3D3-421B-E10083F314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Specijalni komentari u izvornom kodu </a:t>
            </a:r>
          </a:p>
          <a:p>
            <a:pPr eaLnBrk="1" hangingPunct="1"/>
            <a:r>
              <a:rPr lang="sr-Latn-CS" altLang="sr-Latn-RS"/>
              <a:t>Automatsko generisanje programske dokumentacije</a:t>
            </a:r>
          </a:p>
          <a:p>
            <a:pPr eaLnBrk="1" hangingPunct="1"/>
            <a:r>
              <a:rPr lang="sr-Latn-CS" altLang="sr-Latn-RS"/>
              <a:t>HTML format na izlazu</a:t>
            </a:r>
            <a:endParaRPr lang="en-US" altLang="sr-Latn-RS"/>
          </a:p>
          <a:p>
            <a:pPr eaLnBrk="1" hangingPunct="1"/>
            <a:r>
              <a:rPr lang="en-US" altLang="sr-Latn-RS"/>
              <a:t>Kompletna dokumentacija Jave je generisana javadoc alatom. </a:t>
            </a:r>
          </a:p>
          <a:p>
            <a:pPr lvl="1" eaLnBrk="1" hangingPunct="1"/>
            <a:r>
              <a:rPr lang="en-GB" altLang="sr-Latn-RS"/>
              <a:t>Lokacija: %JAVA_HOME%\doc</a:t>
            </a:r>
            <a:r>
              <a:rPr lang="sr-Latn-RS" altLang="sr-Latn-RS"/>
              <a:t>s</a:t>
            </a:r>
            <a:endParaRPr lang="en-GB" altLang="sr-Latn-R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CB232F4-808C-A221-BAD3-15B1F2FF9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Klasa </a:t>
            </a:r>
            <a:r>
              <a:rPr lang="en-US" altLang="sr-Latn-RS" b="1">
                <a:latin typeface="Courier New" panose="02070309020205020404" pitchFamily="49" charset="0"/>
              </a:rPr>
              <a:t>Object</a:t>
            </a:r>
            <a:endParaRPr lang="en-GB" altLang="sr-Latn-RS" b="1">
              <a:latin typeface="Courier New" panose="02070309020205020404" pitchFamily="49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78D2540-A515-DCA8-9BA9-773BD64209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Sve Java klase implicitno nasle</a:t>
            </a:r>
            <a:r>
              <a:rPr lang="sr-Latn-CS" altLang="sr-Latn-RS"/>
              <a:t>đuju klasu Object</a:t>
            </a:r>
          </a:p>
          <a:p>
            <a:pPr eaLnBrk="1" hangingPunct="1"/>
            <a:r>
              <a:rPr lang="sr-Latn-CS" altLang="sr-Latn-RS"/>
              <a:t>Reprezentativne metode:</a:t>
            </a:r>
          </a:p>
          <a:p>
            <a:pPr lvl="1" eaLnBrk="1" hangingPunct="1"/>
            <a:r>
              <a:rPr lang="sr-Latn-CS" altLang="sr-Latn-RS"/>
              <a:t>equals(o)</a:t>
            </a:r>
          </a:p>
          <a:p>
            <a:pPr lvl="1" eaLnBrk="1" hangingPunct="1"/>
            <a:r>
              <a:rPr lang="sr-Latn-CS" altLang="sr-Latn-RS"/>
              <a:t>toString()</a:t>
            </a:r>
          </a:p>
          <a:p>
            <a:pPr lvl="1" eaLnBrk="1" hangingPunct="1"/>
            <a:r>
              <a:rPr lang="sr-Latn-CS" altLang="sr-Latn-RS"/>
              <a:t>hashCode()</a:t>
            </a:r>
          </a:p>
          <a:p>
            <a:pPr lvl="1" eaLnBrk="1" hangingPunct="1"/>
            <a:r>
              <a:rPr lang="sr-Latn-CS" altLang="sr-Latn-RS"/>
              <a:t>getClass()</a:t>
            </a:r>
          </a:p>
          <a:p>
            <a:pPr lvl="1" eaLnBrk="1" hangingPunct="1"/>
            <a:endParaRPr lang="en-GB" altLang="sr-Latn-RS"/>
          </a:p>
        </p:txBody>
      </p:sp>
      <p:sp>
        <p:nvSpPr>
          <p:cNvPr id="12292" name="TextBox 3">
            <a:extLst>
              <a:ext uri="{FF2B5EF4-FFF2-40B4-BE49-F238E27FC236}">
                <a16:creationId xmlns:a16="http://schemas.microsoft.com/office/drawing/2014/main" id="{50A2D268-CFD5-1E7A-7892-F6B739DE0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308725"/>
            <a:ext cx="19431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Tacka.java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0AAB944-48C8-5AF8-F01A-F33DE3AA99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Wrapper klase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9D4084A-2380-F6B3-2F73-50460D7276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sr-Latn-RS" sz="2400"/>
              <a:t>Za sve primitivne tipove postoje odgovaraju</a:t>
            </a:r>
            <a:r>
              <a:rPr lang="sr-Latn-CS" altLang="sr-Latn-RS" sz="2400"/>
              <a:t>će klase: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/>
              <a:t>int </a:t>
            </a:r>
            <a:r>
              <a:rPr lang="sr-Latn-CS" altLang="sr-Latn-RS" sz="2000">
                <a:sym typeface="Wingdings" panose="05000000000000000000" pitchFamily="2" charset="2"/>
              </a:rPr>
              <a:t> Integer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>
                <a:sym typeface="Wingdings" panose="05000000000000000000" pitchFamily="2" charset="2"/>
              </a:rPr>
              <a:t>long  Long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>
                <a:sym typeface="Wingdings" panose="05000000000000000000" pitchFamily="2" charset="2"/>
              </a:rPr>
              <a:t>boolean  Boolean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>
                <a:sym typeface="Wingdings" panose="05000000000000000000" pitchFamily="2" charset="2"/>
              </a:rPr>
              <a:t>Imaju korisnu statičku metodu Xxxx.parseXxxx()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>
                <a:sym typeface="Wingdings" panose="05000000000000000000" pitchFamily="2" charset="2"/>
              </a:rPr>
              <a:t>int i = Integer.parseInt(“10”)  vraća primitivni tip int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sr-Latn-RS" sz="2000">
                <a:sym typeface="Wingdings" panose="05000000000000000000" pitchFamily="2" charset="2"/>
              </a:rPr>
              <a:t>long l = Long.parseLong(“10”)</a:t>
            </a:r>
          </a:p>
          <a:p>
            <a:pPr>
              <a:lnSpc>
                <a:spcPct val="80000"/>
              </a:lnSpc>
            </a:pPr>
            <a:r>
              <a:rPr lang="sr-Latn-CS" altLang="sr-Latn-RS" sz="2400">
                <a:sym typeface="Wingdings" panose="05000000000000000000" pitchFamily="2" charset="2"/>
              </a:rPr>
              <a:t>Imaju korisnu statičku metodu Xxxx.valueOf()</a:t>
            </a:r>
            <a:endParaRPr lang="sr-Latn-CS" altLang="sr-Latn-RS">
              <a:sym typeface="Wingdings" panose="05000000000000000000" pitchFamily="2" charset="2"/>
            </a:endParaRPr>
          </a:p>
          <a:p>
            <a:pPr lvl="1">
              <a:lnSpc>
                <a:spcPct val="80000"/>
              </a:lnSpc>
            </a:pPr>
            <a:r>
              <a:rPr lang="sr-Latn-CS" altLang="sr-Latn-RS" sz="2000">
                <a:sym typeface="Wingdings" panose="05000000000000000000" pitchFamily="2" charset="2"/>
              </a:rPr>
              <a:t>Integer i = Integer.valueOf("123")  vraća objekat klase Integer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DC18AEE-6141-B842-9FA9-068DFA1A8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CS" altLang="sr-Latn-RS"/>
              <a:t>Autoboxing i unboxing</a:t>
            </a:r>
            <a:endParaRPr lang="sr-Latn-R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50BC4-25DD-4CB2-8C70-0275E4D9E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sr-Latn-CS" sz="2800"/>
              <a:t>Autoboxing</a:t>
            </a:r>
            <a:r>
              <a:rPr lang="en-US" sz="2800"/>
              <a:t>/unboxing</a:t>
            </a:r>
            <a:r>
              <a:rPr lang="sr-Latn-CS" sz="2800"/>
              <a:t>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CS" sz="2400"/>
              <a:t>ako metoda prima Integer kao parametar, može da se prosledi i int, odn. promenljivoj tipa Integer može da se dodeli vrednost promenljive tipa int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sr-Latn-CS" sz="2400"/>
              <a:t>radi i u obrnutom pravcu – promenljivoj tipa int može da se dodeli vrednost promenljive tipa Integer</a:t>
            </a:r>
            <a:endParaRPr lang="en-US" sz="2400"/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void f1(Integer i) {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System.out.println(i);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void test() {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int i = 10;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f1(i);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2A3284C-CF8B-E88A-7F56-DF56121D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Autoboxing i unboxing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2A3B-504F-559F-081F-EF2796769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Najčešće se koristi kod kolekcija: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int i = 10;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ArrayList&lt;Integer&gt; lista = new ArrayList&lt;Integer&gt;();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lista.add(i);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int j = lista.get(0);</a:t>
            </a:r>
          </a:p>
          <a:p>
            <a:pPr>
              <a:defRPr/>
            </a:pPr>
            <a:endParaRPr lang="sr-Latn-RS"/>
          </a:p>
          <a:p>
            <a:pPr>
              <a:defRPr/>
            </a:pPr>
            <a:endParaRPr lang="sr-Latn-RS"/>
          </a:p>
          <a:p>
            <a:pPr>
              <a:defRPr/>
            </a:pPr>
            <a:endParaRPr lang="sr-Latn-R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FA29B859-0008-4760-F05D-7674FE2439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3600"/>
              <a:t>Metode sa promenljivim brojem parametara i objekti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E45D2-0356-47E6-795E-B9BEF3E50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Ako su parametri reference na objekte </a:t>
            </a:r>
            <a:r>
              <a:rPr lang="vi-VN"/>
              <a:t>neke klase, a znajući da sve klase nasleđuju klasu Object, dovoljno je definisati</a:t>
            </a:r>
            <a:r>
              <a:rPr lang="sr-Latn-RS"/>
              <a:t> </a:t>
            </a:r>
            <a:r>
              <a:rPr lang="pt-BR"/>
              <a:t>da metoda prima različit broj parametara tipa Object</a:t>
            </a:r>
            <a:r>
              <a:rPr lang="sr-Latn-RS"/>
              <a:t>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void f2(Object... params) {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System.out.println("Parametri su:");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for (Object p : params)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  System.out.println(p);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  <a:endParaRPr lang="sr-Latn-RS" sz="28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11828EA-520B-01E9-D835-AF74926BD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3600">
                <a:solidFill>
                  <a:srgbClr val="000000"/>
                </a:solidFill>
              </a:rPr>
              <a:t>Metode sa promenljivim brojem parametara i objekti</a:t>
            </a:r>
            <a:endParaRPr lang="sr-Latn-R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3ABC2-FA55-07A5-52F0-25B671CB1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Poziv takve metode: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void test() {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  double x1 = 3.14;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  int x2 = 2;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  String x3 = "abc";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  f2(x1, x2, x3);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3E4FB-9185-D0AC-A444-C917B69C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Enumeracije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A04CE-985B-0785-96D8-3B71D2383B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08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11AA58F-3F94-39A9-7BD8-9D9DBF541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Enumeracije</a:t>
            </a:r>
            <a:endParaRPr lang="en-US" altLang="sr-Latn-R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B23DC1B-5764-2494-B740-16654003F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Nabrojivi tipovi podataka (celobrojni)</a:t>
            </a:r>
          </a:p>
          <a:p>
            <a:pPr eaLnBrk="1" hangingPunct="1"/>
            <a:r>
              <a:rPr lang="en-U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en-U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enum Size {SMALL, MEDIUM, LARGE, EXTRA_LARGE};</a:t>
            </a:r>
          </a:p>
          <a:p>
            <a:pPr eaLnBrk="1" hangingPunct="1">
              <a:buFontTx/>
              <a:buNone/>
            </a:pPr>
            <a:r>
              <a:rPr lang="en-U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Size s = Size.MEDIUM;</a:t>
            </a:r>
            <a:endParaRPr lang="sr-Latn-CS" altLang="sr-Latn-RS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Tx/>
              <a:buNone/>
            </a:pPr>
            <a:r>
              <a:rPr lang="sr-Latn-C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enum Days {MON, TUE, WEN, THU, FRI, SAT, SUN};</a:t>
            </a:r>
          </a:p>
          <a:p>
            <a:pPr eaLnBrk="1" hangingPunct="1">
              <a:buFontTx/>
              <a:buNone/>
            </a:pPr>
            <a:r>
              <a:rPr lang="sr-Latn-C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Days d = Days.MON;</a:t>
            </a:r>
            <a:endParaRPr lang="en-US" altLang="sr-Latn-RS" sz="28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635550E-8701-05B1-7C09-070939A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 i objekti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EBE9CFF4-9526-3DBC-E331-885ED82411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l-PL" altLang="sr-Latn-RS"/>
              <a:t>Java donosi dodatne osobine enumeracijama. </a:t>
            </a:r>
          </a:p>
          <a:p>
            <a:r>
              <a:rPr lang="pl-PL" altLang="sr-Latn-RS"/>
              <a:t>Enumeracije </a:t>
            </a:r>
            <a:r>
              <a:rPr lang="sr-Latn-RS" altLang="sr-Latn-RS"/>
              <a:t>više ne predstavljaju samo celobrojne nabrojive tipove, već mogu da imaju konstruktore, atribute i metode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4E158585-DEB3-F23D-C6ED-D8794D409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C8B33B9F-A079-B673-3468-46F32D6B31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enum Dani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PON (1),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UTO (2),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SRE (3),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CET (4),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PET (5),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SUB (6),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NED (7);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// atribut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int dan;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29A065C7-5059-0665-EA07-0B1725C1D5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E70CF6B4-03D1-EFE5-ACDF-DD0C51477F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Dani (int d)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dan = d;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boolean radni() {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// if (dan == 6 || dan == 7) 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// može i ovako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if (this == SUB || this == NED)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  return false;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else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    return true;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FontTx/>
              <a:buNone/>
            </a:pPr>
            <a:endParaRPr lang="sr-Latn-RS" altLang="sr-Latn-R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E3FF9A90-6F92-7E3E-9D24-460082656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43C0F-FA60-48DC-46B9-B7F21338E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Korišćenje:</a:t>
            </a:r>
          </a:p>
          <a:p>
            <a:pPr marL="0" indent="0">
              <a:buFontTx/>
              <a:buNone/>
              <a:defRPr/>
            </a:pPr>
            <a:r>
              <a:rPr lang="en-US" sz="2400" b="1">
                <a:latin typeface="Courier New" pitchFamily="49" charset="0"/>
                <a:cs typeface="Courier New" pitchFamily="49" charset="0"/>
              </a:rPr>
              <a:t>public static void main(String[] args) {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Dani d = Dani.UTO;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System.out.println("Dan je: " + d);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System.out.println(d + " je radan: " +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                   d.radni());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d = Dani.SUB;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System.out.println("Dan je: " + d);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System.out.println(d + " je radan: " +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                   d.radni());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EDD39BE-6DD7-3F3B-23F9-722EB07714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9CC7-6019-2911-3058-F37CC6161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Spisak vrednosti enumeracije se dobija pozivom metode </a:t>
            </a:r>
            <a:r>
              <a:rPr lang="sr-Latn-RS" b="1" i="1"/>
              <a:t>values</a:t>
            </a:r>
            <a:r>
              <a:rPr lang="sr-Latn-RS"/>
              <a:t>, koju nije potrebno implementirati: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System.out.println("Dani u nedelji su:");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for (Dani dani : Dani.values())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  System.out.println(dani);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D720425A-9DC8-9D89-29FF-3CE6F730D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5FE56-0D8F-B1F5-B25C-000D9A4BC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Numerička vrednost same enumeracije se dobija metodom </a:t>
            </a:r>
            <a:r>
              <a:rPr lang="sr-Latn-RS" b="1" i="1"/>
              <a:t>ordinal</a:t>
            </a:r>
            <a:r>
              <a:rPr lang="sr-Latn-RS"/>
              <a:t>: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System.out.println("Celobrojna vrednost enumeracije Dani.SUB je:" +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     Dani.SUB.ordinal());</a:t>
            </a:r>
          </a:p>
          <a:p>
            <a:pPr>
              <a:defRPr/>
            </a:pPr>
            <a:r>
              <a:rPr lang="sr-Latn-RS"/>
              <a:t>Enumeracije imaju metodu </a:t>
            </a:r>
            <a:r>
              <a:rPr lang="sr-Latn-RS" b="1" i="1"/>
              <a:t>name</a:t>
            </a:r>
            <a:r>
              <a:rPr lang="sr-Latn-RS"/>
              <a:t> koja vraća naziv enumeracije: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System.out.println(Dani.SUB.name());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EC81AA1-1807-694B-D4B6-4869A43F5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Enumeracije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D32B4-993D-2DCA-F20B-3B53FD3BD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Enumeracije imaju statičku metodu </a:t>
            </a:r>
            <a:r>
              <a:rPr lang="sr-Latn-RS" b="1" i="1"/>
              <a:t>valueOf</a:t>
            </a:r>
            <a:r>
              <a:rPr lang="sr-Latn-RS"/>
              <a:t> koja vraća enumeraciju na osnovu stringa: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Dani d = Dani.valueOf("UTO");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System.out.println(d);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FF0D-79E4-5127-D34B-0A9EEB4E8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Klasa String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81254-121F-5820-B1C8-1ABAC6614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34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2BFF5F3-4128-0992-4E36-A0F639D306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Klasa </a:t>
            </a:r>
            <a:r>
              <a:rPr lang="sr-Latn-CS" altLang="sr-Latn-RS" b="1">
                <a:latin typeface="Courier New" panose="02070309020205020404" pitchFamily="49" charset="0"/>
              </a:rPr>
              <a:t>String</a:t>
            </a:r>
            <a:endParaRPr lang="en-GB" altLang="sr-Latn-RS" b="1">
              <a:latin typeface="Courier New" panose="02070309020205020404" pitchFamily="49" charset="0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B6D13E7-04CA-1E88-99D5-697A4371AA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Niz karaktera je podržan klasom String</a:t>
            </a:r>
            <a:r>
              <a:rPr lang="en-US" altLang="sr-Latn-RS" sz="2400"/>
              <a:t>. String </a:t>
            </a:r>
            <a:r>
              <a:rPr lang="en-US" altLang="sr-Latn-RS" sz="2400" b="1"/>
              <a:t>nije</a:t>
            </a:r>
            <a:r>
              <a:rPr lang="en-US" altLang="sr-Latn-RS" sz="2400"/>
              <a:t> samo niz karaktera – on je klasa!</a:t>
            </a:r>
            <a:endParaRPr lang="sr-Latn-CS" altLang="sr-Latn-RS" sz="2400"/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Objekti klase String se ne mogu menjati (</a:t>
            </a:r>
            <a:r>
              <a:rPr lang="sr-Latn-CS" altLang="sr-Latn-RS" sz="2400" i="1"/>
              <a:t>immutable</a:t>
            </a:r>
            <a:r>
              <a:rPr lang="sr-Latn-CS" altLang="sr-Latn-RS" sz="2400"/>
              <a:t>)!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 sz="2400"/>
              <a:t>Reprezentativne metode: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length()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charAt(i)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indexOf(s)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substring(a,b), </a:t>
            </a:r>
            <a:r>
              <a:rPr lang="en-US" altLang="sr-Latn-RS" sz="2000"/>
              <a:t>str.</a:t>
            </a:r>
            <a:r>
              <a:rPr lang="sr-Latn-CS" altLang="sr-Latn-RS" sz="2000"/>
              <a:t>substring(a)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equals(s), </a:t>
            </a:r>
            <a:r>
              <a:rPr lang="en-US" altLang="sr-Latn-RS" sz="2000"/>
              <a:t>str.</a:t>
            </a:r>
            <a:r>
              <a:rPr lang="sr-Latn-CS" altLang="sr-Latn-RS" sz="2000"/>
              <a:t> equalsIgnoreCase(s) – </a:t>
            </a:r>
            <a:r>
              <a:rPr lang="sr-Latn-CS" altLang="sr-Latn-RS" sz="2000" b="1" u="sng"/>
              <a:t>ne koristiti ==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sr-Latn-RS" sz="2000"/>
              <a:t>str.</a:t>
            </a:r>
            <a:r>
              <a:rPr lang="sr-Latn-CS" altLang="sr-Latn-RS" sz="2000"/>
              <a:t>startsWith(</a:t>
            </a:r>
            <a:r>
              <a:rPr lang="en-US" altLang="sr-Latn-RS" sz="2000"/>
              <a:t>s</a:t>
            </a:r>
            <a:r>
              <a:rPr lang="sr-Latn-CS" altLang="sr-Latn-RS" sz="2000"/>
              <a:t>), endsWith(s)</a:t>
            </a:r>
            <a:endParaRPr lang="en-GB" altLang="sr-Latn-RS" sz="2000"/>
          </a:p>
        </p:txBody>
      </p:sp>
      <p:sp>
        <p:nvSpPr>
          <p:cNvPr id="26628" name="TextBox 3">
            <a:extLst>
              <a:ext uri="{FF2B5EF4-FFF2-40B4-BE49-F238E27FC236}">
                <a16:creationId xmlns:a16="http://schemas.microsoft.com/office/drawing/2014/main" id="{546DA3B3-2B44-5368-B84E-5DE484EF20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308725"/>
            <a:ext cx="19431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Stringovi.java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5BC2C17-FCA0-2852-4F1B-10B554D4A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String literal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408A6-1AF0-3366-C903-08FFB757C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l-PL"/>
              <a:t>Izraz pod dvostrukim navodnicima: "tekst "</a:t>
            </a:r>
            <a:r>
              <a:rPr lang="sr-Latn-RS"/>
              <a:t> u Java programu predstavlja objekat klase String čija je vrednost inicijalizovana na dati tekst. Zbog toga je sasvim ispravno pisati: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String x = "tekst";</a:t>
            </a:r>
          </a:p>
          <a:p>
            <a:pPr>
              <a:defRPr/>
            </a:pPr>
            <a:r>
              <a:rPr lang="it-IT"/>
              <a:t>što ima isti efekat</a:t>
            </a:r>
            <a:r>
              <a:rPr lang="sr-Latn-RS"/>
              <a:t> (ali je bolje od)</a:t>
            </a:r>
            <a:r>
              <a:rPr lang="it-IT"/>
              <a:t>:</a:t>
            </a:r>
          </a:p>
          <a:p>
            <a:pPr marL="0" indent="0">
              <a:buFontTx/>
              <a:buNone/>
              <a:defRPr/>
            </a:pPr>
            <a:r>
              <a:rPr lang="nn-NO" b="1">
                <a:latin typeface="Courier New" pitchFamily="49" charset="0"/>
                <a:cs typeface="Courier New" pitchFamily="49" charset="0"/>
              </a:rPr>
              <a:t>String x = new String("tekst");</a:t>
            </a:r>
            <a:endParaRPr lang="sr-Latn-RS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09100FD8-6333-7499-CB19-E1EF1ADEEA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Klasa </a:t>
            </a:r>
            <a:r>
              <a:rPr lang="en-US" altLang="sr-Latn-RS" b="1">
                <a:latin typeface="Courier New" panose="02070309020205020404" pitchFamily="49" charset="0"/>
              </a:rPr>
              <a:t>String</a:t>
            </a:r>
            <a:endParaRPr lang="en-US" altLang="sr-Latn-R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DC28E6C-9916-4251-D134-7F75B874F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989138"/>
            <a:ext cx="5940425" cy="4648200"/>
          </a:xfrm>
        </p:spPr>
        <p:txBody>
          <a:bodyPr/>
          <a:lstStyle/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class </a:t>
            </a:r>
            <a:r>
              <a:rPr lang="en-US" altLang="sr-Latn-RS" sz="1400" b="1">
                <a:latin typeface="Courier New" panose="02070309020205020404" pitchFamily="49" charset="0"/>
              </a:rPr>
              <a:t>String</a:t>
            </a:r>
            <a:r>
              <a:rPr lang="sr-Latn-CS" altLang="sr-Latn-RS" sz="1400" b="1">
                <a:latin typeface="Courier New" panose="02070309020205020404" pitchFamily="49" charset="0"/>
              </a:rPr>
              <a:t>Test {</a:t>
            </a:r>
            <a:br>
              <a:rPr lang="sr-Latn-CS" altLang="sr-Latn-RS" sz="1400" b="1">
                <a:latin typeface="Courier New" panose="02070309020205020404" pitchFamily="49" charset="0"/>
              </a:rPr>
            </a:b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public static void main(String args[]) {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  </a:t>
            </a:r>
            <a:r>
              <a:rPr lang="sr-Latn-CS" altLang="sr-Latn-RS" sz="1400" b="1">
                <a:latin typeface="Courier New" panose="02070309020205020404" pitchFamily="49" charset="0"/>
              </a:rPr>
              <a:t>String s1 = "Ovo je";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String s2 = "je string";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    System.out.println(s1.substring(2));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// karakter na zadatoj poziciji</a:t>
            </a:r>
            <a:endParaRPr lang="sr-Latn-C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	    System.out.println(s2.charAt(3));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// pore</a:t>
            </a:r>
            <a:r>
              <a:rPr lang="sr-Latn-CS" altLang="sr-Latn-RS" sz="1400" b="1">
                <a:latin typeface="Courier New" panose="02070309020205020404" pitchFamily="49" charset="0"/>
              </a:rPr>
              <a:t>đenje po jednakosti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	    System.out.println(s1.equals(s2));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// pozicija zadatog podstringa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	    System.out.println(s1.indexOf("je"));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// dužina stringa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	    System.out.println(s2.length());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// skidanje whitespace-ova sa poč. i kraja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	    System.out.println(s1.trim());</a:t>
            </a: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// provera da li string počinje podstringom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sr-Latn-CS" altLang="sr-Latn-RS" sz="1400" b="1">
                <a:latin typeface="Courier New" panose="02070309020205020404" pitchFamily="49" charset="0"/>
              </a:rPr>
              <a:t>	    System.out.println(s2.startsWith("je"));</a:t>
            </a:r>
          </a:p>
          <a:p>
            <a:pPr indent="-3175" eaLnBrk="1" hangingPunct="1">
              <a:lnSpc>
                <a:spcPct val="80000"/>
              </a:lnSpc>
              <a:buFontTx/>
              <a:buNone/>
            </a:pPr>
            <a:endParaRPr lang="en-US" altLang="sr-Latn-RS" sz="14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80000"/>
              </a:lnSpc>
              <a:buFontTx/>
              <a:buNone/>
            </a:pPr>
            <a:r>
              <a:rPr lang="en-US" altLang="sr-Latn-RS" sz="1400" b="1">
                <a:latin typeface="Courier New" panose="02070309020205020404" pitchFamily="49" charset="0"/>
              </a:rPr>
              <a:t>  </a:t>
            </a:r>
            <a:r>
              <a:rPr lang="sr-Latn-CS" altLang="sr-Latn-RS" sz="1400" b="1">
                <a:latin typeface="Courier New" panose="02070309020205020404" pitchFamily="49" charset="0"/>
              </a:rPr>
              <a:t>}</a:t>
            </a:r>
            <a:br>
              <a:rPr lang="sr-Latn-CS" altLang="sr-Latn-RS" sz="1400" b="1">
                <a:latin typeface="Courier New" panose="02070309020205020404" pitchFamily="49" charset="0"/>
              </a:rPr>
            </a:br>
            <a:r>
              <a:rPr lang="sr-Latn-CS" altLang="sr-Latn-RS" sz="1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AC27E0CA-919C-5B63-D78B-2F2B6FA99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2060575"/>
            <a:ext cx="3384550" cy="431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175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sr-Latn-RS" sz="1600"/>
              <a:t>Ispis na konzoli: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22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o je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false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4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9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Ovo je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400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pl-PL" altLang="sr-Latn-RS" sz="1400" b="1"/>
              <a:t>true</a:t>
            </a:r>
            <a:endParaRPr lang="en-US" altLang="sr-Latn-RS" sz="1400" b="1"/>
          </a:p>
        </p:txBody>
      </p:sp>
      <p:sp>
        <p:nvSpPr>
          <p:cNvPr id="28677" name="Line 5">
            <a:extLst>
              <a:ext uri="{FF2B5EF4-FFF2-40B4-BE49-F238E27FC236}">
                <a16:creationId xmlns:a16="http://schemas.microsoft.com/office/drawing/2014/main" id="{5F46627E-EB57-7CFC-5693-0A2C54C092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5300663"/>
            <a:ext cx="15128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8" name="Line 6">
            <a:extLst>
              <a:ext uri="{FF2B5EF4-FFF2-40B4-BE49-F238E27FC236}">
                <a16:creationId xmlns:a16="http://schemas.microsoft.com/office/drawing/2014/main" id="{097D02B6-E5B9-0242-CB57-A267A4352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8263" y="5734050"/>
            <a:ext cx="576262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79" name="Line 7">
            <a:extLst>
              <a:ext uri="{FF2B5EF4-FFF2-40B4-BE49-F238E27FC236}">
                <a16:creationId xmlns:a16="http://schemas.microsoft.com/office/drawing/2014/main" id="{4D507E0F-6E0D-F168-3F05-FEECC2A2BE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4868863"/>
            <a:ext cx="12954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0" name="Line 8">
            <a:extLst>
              <a:ext uri="{FF2B5EF4-FFF2-40B4-BE49-F238E27FC236}">
                <a16:creationId xmlns:a16="http://schemas.microsoft.com/office/drawing/2014/main" id="{64174B22-B6F6-87A7-8C82-A4217B60EB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4437063"/>
            <a:ext cx="8651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1" name="Line 9">
            <a:extLst>
              <a:ext uri="{FF2B5EF4-FFF2-40B4-BE49-F238E27FC236}">
                <a16:creationId xmlns:a16="http://schemas.microsoft.com/office/drawing/2014/main" id="{D8E5F973-5555-40DF-3A3C-E91F0F0F15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005263"/>
            <a:ext cx="1152525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2" name="Line 10">
            <a:extLst>
              <a:ext uri="{FF2B5EF4-FFF2-40B4-BE49-F238E27FC236}">
                <a16:creationId xmlns:a16="http://schemas.microsoft.com/office/drawing/2014/main" id="{A62D04B2-1810-4BAF-479C-B27DE8F67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3573463"/>
            <a:ext cx="1296987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83" name="Line 11">
            <a:extLst>
              <a:ext uri="{FF2B5EF4-FFF2-40B4-BE49-F238E27FC236}">
                <a16:creationId xmlns:a16="http://schemas.microsoft.com/office/drawing/2014/main" id="{E4A1D428-2CA3-7A3D-36C6-58DD52038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3141663"/>
            <a:ext cx="863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369B209-A8B6-CA10-E512-8B35C1CE77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Redefinisa</a:t>
            </a:r>
            <a:r>
              <a:rPr lang="en-US" altLang="sr-Latn-RS" sz="4000"/>
              <a:t>n</a:t>
            </a:r>
            <a:r>
              <a:rPr lang="sr-Latn-CS" altLang="sr-Latn-RS" sz="4000"/>
              <a:t> + operator sa stringovima</a:t>
            </a:r>
            <a:endParaRPr lang="en-US" altLang="sr-Latn-RS" sz="4000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65D6D03D-0BF5-29DF-E632-21C60822BA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700808"/>
            <a:ext cx="8820150" cy="4616450"/>
          </a:xfrm>
        </p:spPr>
        <p:txBody>
          <a:bodyPr/>
          <a:lstStyle/>
          <a:p>
            <a:pPr eaLnBrk="1" hangingPunct="1"/>
            <a:r>
              <a:rPr lang="sr-Latn-CS" altLang="sr-Latn-RS" sz="2800"/>
              <a:t>Ako je jedan od operanada klase String, ceo izraz je string!</a:t>
            </a:r>
          </a:p>
          <a:p>
            <a:pPr eaLnBrk="1" hangingPunct="1">
              <a:buFontTx/>
              <a:buNone/>
            </a:pPr>
            <a:r>
              <a:rPr lang="sr-Latn-CS" altLang="sr-Latn-RS" sz="2800" b="1">
                <a:latin typeface="Courier New" panose="02070309020205020404" pitchFamily="49" charset="0"/>
              </a:rPr>
              <a:t>String a = “Vrednost i je: “ + i;</a:t>
            </a:r>
            <a:endParaRPr lang="en-US" altLang="sr-Latn-RS" sz="2800" b="1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sr-Latn-RS" sz="2800"/>
              <a:t>Metoda </a:t>
            </a:r>
            <a:r>
              <a:rPr lang="en-US" altLang="sr-Latn-RS" sz="2800" b="1">
                <a:latin typeface="Courier New" panose="02070309020205020404" pitchFamily="49" charset="0"/>
              </a:rPr>
              <a:t>toString():</a:t>
            </a:r>
          </a:p>
          <a:p>
            <a:pPr eaLnBrk="1" hangingPunct="1">
              <a:buFontTx/>
              <a:buNone/>
            </a:pPr>
            <a:r>
              <a:rPr lang="en-US" altLang="sr-Latn-RS" sz="2800" b="1">
                <a:latin typeface="Courier New" panose="02070309020205020404" pitchFamily="49" charset="0"/>
              </a:rPr>
              <a:t>Automobil a = new Automobil();</a:t>
            </a:r>
          </a:p>
          <a:p>
            <a:pPr eaLnBrk="1" hangingPunct="1">
              <a:buFontTx/>
              <a:buNone/>
            </a:pPr>
            <a:r>
              <a:rPr lang="en-US" altLang="sr-Latn-RS" sz="2800" b="1">
                <a:latin typeface="Courier New" panose="02070309020205020404" pitchFamily="49" charset="0"/>
              </a:rPr>
              <a:t>String s = </a:t>
            </a:r>
            <a:r>
              <a:rPr lang="sr-Latn-CS" altLang="sr-Latn-RS" sz="2800" b="1">
                <a:latin typeface="Courier New" panose="02070309020205020404" pitchFamily="49" charset="0"/>
              </a:rPr>
              <a:t>“Vrednost a:</a:t>
            </a:r>
            <a:r>
              <a:rPr lang="sr-Latn-RS" altLang="sr-Latn-RS" sz="2800" b="1">
                <a:latin typeface="Courier New" panose="02070309020205020404" pitchFamily="49" charset="0"/>
              </a:rPr>
              <a:t>“ + </a:t>
            </a:r>
            <a:r>
              <a:rPr lang="en-US" altLang="sr-Latn-RS" sz="2800" b="1">
                <a:latin typeface="Courier New" panose="02070309020205020404" pitchFamily="49" charset="0"/>
              </a:rPr>
              <a:t>a</a:t>
            </a:r>
            <a:r>
              <a:rPr lang="sr-Latn-RS" altLang="sr-Latn-RS" sz="2800" b="1">
                <a:latin typeface="Courier New" panose="02070309020205020404" pitchFamily="49" charset="0"/>
              </a:rPr>
              <a:t>; </a:t>
            </a:r>
            <a:br>
              <a:rPr lang="sr-Latn-RS" altLang="sr-Latn-RS" sz="2800" b="1">
                <a:latin typeface="Courier New" panose="02070309020205020404" pitchFamily="49" charset="0"/>
              </a:rPr>
            </a:br>
            <a:r>
              <a:rPr lang="sr-Latn-RS" altLang="sr-Latn-RS" sz="2800" b="1">
                <a:latin typeface="Courier New" panose="02070309020205020404" pitchFamily="49" charset="0"/>
              </a:rPr>
              <a:t>// .. + a</a:t>
            </a:r>
            <a:r>
              <a:rPr lang="en-US" altLang="sr-Latn-RS" sz="2800" b="1">
                <a:latin typeface="Courier New" panose="02070309020205020404" pitchFamily="49" charset="0"/>
              </a:rPr>
              <a:t>.toString();</a:t>
            </a:r>
          </a:p>
          <a:p>
            <a:pPr eaLnBrk="1" hangingPunct="1">
              <a:buFontTx/>
              <a:buNone/>
            </a:pPr>
            <a:r>
              <a:rPr lang="en-US" altLang="sr-Latn-RS" sz="2800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</a:rPr>
              <a:t>J</a:t>
            </a:r>
            <a:r>
              <a:rPr lang="en-US" altLang="sr-Latn-RS" sz="2800" b="1">
                <a:latin typeface="Courier New" panose="02070309020205020404" pitchFamily="49" charset="0"/>
              </a:rPr>
              <a:t>ComboBox cmb = new </a:t>
            </a:r>
            <a:r>
              <a:rPr lang="sr-Latn-RS" altLang="sr-Latn-RS" sz="2800" b="1">
                <a:latin typeface="Courier New" panose="02070309020205020404" pitchFamily="49" charset="0"/>
              </a:rPr>
              <a:t>J</a:t>
            </a:r>
            <a:r>
              <a:rPr lang="en-US" altLang="sr-Latn-RS" sz="2800" b="1">
                <a:latin typeface="Courier New" panose="02070309020205020404" pitchFamily="49" charset="0"/>
              </a:rPr>
              <a:t>ComboBox();</a:t>
            </a:r>
          </a:p>
          <a:p>
            <a:pPr eaLnBrk="1" hangingPunct="1">
              <a:buFontTx/>
              <a:buNone/>
            </a:pPr>
            <a:r>
              <a:rPr lang="en-US" altLang="sr-Latn-RS" sz="2800" b="1">
                <a:latin typeface="Courier New" panose="02070309020205020404" pitchFamily="49" charset="0"/>
              </a:rPr>
              <a:t>cmb.addItem(a);</a:t>
            </a:r>
          </a:p>
          <a:p>
            <a:pPr eaLnBrk="1" hangingPunct="1">
              <a:buFontTx/>
              <a:buNone/>
            </a:pPr>
            <a:endParaRPr lang="sr-Latn-CS" altLang="sr-Latn-RS" sz="2800" b="1">
              <a:latin typeface="Courier New" panose="02070309020205020404" pitchFamily="49" charset="0"/>
            </a:endParaRPr>
          </a:p>
          <a:p>
            <a:pPr eaLnBrk="1" hangingPunct="1"/>
            <a:endParaRPr lang="en-US" altLang="sr-Latn-RS" sz="2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B76BF6B7-A544-8E18-A4D7-FDBC2EB9DD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3600"/>
              <a:t>Oprez sa operatorom + i stringovima!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07FC9-501C-0861-EF19-43F0B36F6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600200"/>
            <a:ext cx="8569325" cy="4525963"/>
          </a:xfrm>
        </p:spPr>
        <p:txBody>
          <a:bodyPr/>
          <a:lstStyle/>
          <a:p>
            <a:pPr>
              <a:defRPr/>
            </a:pPr>
            <a:r>
              <a:rPr lang="sr-Latn-RS" sz="2800"/>
              <a:t>Problem: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String s = "";</a:t>
            </a:r>
          </a:p>
          <a:p>
            <a:pPr marL="0" indent="0">
              <a:buFontTx/>
              <a:buNone/>
              <a:defRPr/>
            </a:pPr>
            <a:r>
              <a:rPr lang="nn-NO" sz="2400" b="1">
                <a:latin typeface="Courier New" pitchFamily="49" charset="0"/>
                <a:cs typeface="Courier New" pitchFamily="49" charset="0"/>
              </a:rPr>
              <a:t>for (int i = 0; i &lt; 100000; i++)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 += "a";</a:t>
            </a:r>
          </a:p>
          <a:p>
            <a:pPr>
              <a:defRPr/>
            </a:pPr>
            <a:r>
              <a:rPr lang="sr-Latn-RS" sz="2800"/>
              <a:t>Rešenje: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StringBuilder sb = new StringBuilder(100000);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sb.append("");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for (i = 0; i &lt; 100000; i++)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  sb.append("a");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String res = sb.toString();</a:t>
            </a:r>
          </a:p>
        </p:txBody>
      </p:sp>
      <p:sp>
        <p:nvSpPr>
          <p:cNvPr id="30724" name="TextBox 1">
            <a:extLst>
              <a:ext uri="{FF2B5EF4-FFF2-40B4-BE49-F238E27FC236}">
                <a16:creationId xmlns:a16="http://schemas.microsoft.com/office/drawing/2014/main" id="{CBFF5CFC-FA6C-B51D-8D93-5674F5E32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6308725"/>
            <a:ext cx="1943100" cy="3698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sr-Latn-RS" altLang="sr-Latn-RS" sz="1800"/>
              <a:t>TestString.java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6CFFF45B-9D45-2181-E74A-BA5066FAC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Implicitan poziv toString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3A77A7DA-7205-65A8-C792-734ECA2669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Metoda koja kao parametar ima referencu na objekat klase String može u svom pozivu da primi i objekat neke druge klase</a:t>
            </a:r>
          </a:p>
          <a:p>
            <a:r>
              <a:rPr lang="sr-Latn-RS" altLang="sr-Latn-RS"/>
              <a:t>Pri tome će kompajler automatski generisati kôd koji poziva metodu toString() datog objekta, a zatim taj rezultat proslediti pozvanoj metodi.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1A3B985A-B27F-64CC-9D4B-4E7B8A0B1F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Implicitan poziv toString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C7A6E-551D-4E78-D915-F06D2CE4F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Primer: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public void handleMessage(String message) { ... }</a:t>
            </a:r>
          </a:p>
          <a:p>
            <a:pPr>
              <a:defRPr/>
            </a:pPr>
            <a:r>
              <a:rPr lang="sr-Latn-RS"/>
              <a:t>i njen poziv:</a:t>
            </a:r>
          </a:p>
          <a:p>
            <a:pPr marL="0" indent="0">
              <a:buFontTx/>
              <a:buNone/>
              <a:defRPr/>
            </a:pPr>
            <a:r>
              <a:rPr lang="sr-Latn-RS" sz="2800" b="1">
                <a:latin typeface="Courier New" pitchFamily="49" charset="0"/>
                <a:cs typeface="Courier New" pitchFamily="49" charset="0"/>
              </a:rPr>
              <a:t>handleMessage(new Automobil());</a:t>
            </a:r>
          </a:p>
          <a:p>
            <a:pPr>
              <a:defRPr/>
            </a:pPr>
            <a:r>
              <a:rPr lang="sr-Latn-RS"/>
              <a:t>Ovaj poziv se na nivou bajt-koda prevodi u: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handleMessage(new Automobil().toString());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D84BF4B4-1B13-A0EF-29B7-5FEDEB3EF0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sr-Latn-RS" sz="3600"/>
              <a:t>Prenos stringa kao parametra metode</a:t>
            </a:r>
            <a:endParaRPr lang="sr-Latn-RS" altLang="sr-Latn-R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B8A97-84B2-1C87-580B-51CAEFF03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 sz="2800"/>
              <a:t>Stringovi </a:t>
            </a:r>
            <a:r>
              <a:rPr lang="pl-PL" sz="2800"/>
              <a:t>nisu samo nizovi karaktera, te se oni ne mogu menjati iz metoda (kao što to nizovi mogu)</a:t>
            </a:r>
          </a:p>
          <a:p>
            <a:pPr>
              <a:defRPr/>
            </a:pPr>
            <a:r>
              <a:rPr lang="pl-PL" sz="2800"/>
              <a:t>Primer: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public void handleMessage(String message) {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message += "xxx";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...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String s = "pera";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handleMessage(s);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C2967374-74F8-D780-B0F1-14233BA9A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3600"/>
              <a:t>Stringovi podržavaju regularne izraze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F78F-64DD-B853-96E9-C41CD72F6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sr-Latn-RS"/>
              <a:t>Ovaj primer razdvaja string s na reči koje su ograničene jednim razmakom: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String[] rez = s.split(" ");</a:t>
            </a:r>
          </a:p>
          <a:p>
            <a:pPr>
              <a:defRPr/>
            </a:pPr>
            <a:r>
              <a:rPr lang="sr-Latn-RS"/>
              <a:t>Ako želimo da razdvojimo string s na reči koje su ograničene jednim ili više razmaka, onda koristimo sledeći regularni izraz:</a:t>
            </a:r>
          </a:p>
          <a:p>
            <a:pPr marL="0" indent="0">
              <a:buFontTx/>
              <a:buNone/>
              <a:defRPr/>
            </a:pPr>
            <a:r>
              <a:rPr lang="sr-Latn-RS" b="1">
                <a:latin typeface="Courier New" pitchFamily="49" charset="0"/>
                <a:cs typeface="Courier New" pitchFamily="49" charset="0"/>
              </a:rPr>
              <a:t>String[] rez = s.split(" +");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B906E6D9-ACCA-ECB7-3549-629CC9417D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3600">
                <a:solidFill>
                  <a:srgbClr val="000000"/>
                </a:solidFill>
              </a:rPr>
              <a:t>Stringovi podržavaju regularne izraze</a:t>
            </a:r>
            <a:endParaRPr lang="sr-Latn-RS" alt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C0E7F-BB2B-5A48-467E-B2DB0879F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nn-NO"/>
              <a:t>Sledeći primer identifikuje dinarski iznos i razdvaja</a:t>
            </a:r>
            <a:r>
              <a:rPr lang="sr-Latn-RS"/>
              <a:t> string na delove pre i posle dinarskog iznosa:</a:t>
            </a:r>
          </a:p>
          <a:p>
            <a:pPr marL="0" indent="0">
              <a:buFontTx/>
              <a:buNone/>
              <a:defRPr/>
            </a:pPr>
            <a:r>
              <a:rPr lang="pt-BR" sz="2400" b="1">
                <a:latin typeface="Courier New" pitchFamily="49" charset="0"/>
                <a:cs typeface="Courier New" pitchFamily="49" charset="0"/>
              </a:rPr>
              <a:t>String s = "Obim trgovine je bio 10000,00 dinara.";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String[] rez = s.split("[0-9]+,[0-9]{2}");</a:t>
            </a:r>
          </a:p>
          <a:p>
            <a:pPr>
              <a:defRPr/>
            </a:pPr>
            <a:r>
              <a:rPr lang="sr-Latn-RS">
                <a:solidFill>
                  <a:srgbClr val="000000"/>
                </a:solidFill>
              </a:rPr>
              <a:t>Detaljnije na:</a:t>
            </a:r>
          </a:p>
          <a:p>
            <a:pPr marL="0" indent="0">
              <a:buFontTx/>
              <a:buNone/>
              <a:defRPr/>
            </a:pPr>
            <a:r>
              <a:rPr lang="sr-Latn-RS" sz="2400" b="1">
                <a:latin typeface="Courier New" pitchFamily="49" charset="0"/>
                <a:cs typeface="Courier New" pitchFamily="49" charset="0"/>
              </a:rPr>
              <a:t>https://docs.oracle.com/javase/9/docs/api//java/util/regex/Pattern.html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E07EA69-1C76-1663-E50B-5CCA098C54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Metoda split() klase </a:t>
            </a:r>
            <a:r>
              <a:rPr lang="en-US" altLang="sr-Latn-RS" b="1">
                <a:latin typeface="Courier New" panose="02070309020205020404" pitchFamily="49" charset="0"/>
              </a:rPr>
              <a:t>String</a:t>
            </a:r>
            <a:endParaRPr lang="sr-Latn-CS" altLang="sr-Latn-RS" b="1">
              <a:latin typeface="Courier New" panose="02070309020205020404" pitchFamily="49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5A3F69C-C919-54EF-0A55-5F5DDF030C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"cepa" osnovni string na niz stringova po zadatom šablonu</a:t>
            </a:r>
          </a:p>
          <a:p>
            <a:pPr lvl="1" eaLnBrk="1" hangingPunct="1"/>
            <a:r>
              <a:rPr lang="sr-Latn-CS" altLang="sr-Latn-RS"/>
              <a:t>originalni string se ne menja</a:t>
            </a:r>
          </a:p>
          <a:p>
            <a:pPr lvl="1" eaLnBrk="1" hangingPunct="1"/>
            <a:r>
              <a:rPr lang="sr-Latn-CS" altLang="sr-Latn-RS"/>
              <a:t>p</a:t>
            </a:r>
            <a:r>
              <a:rPr lang="en-US" altLang="sr-Latn-RS"/>
              <a:t>arametar je regularni izraz</a:t>
            </a:r>
            <a:endParaRPr lang="sr-Latn-CS" altLang="sr-Latn-RS"/>
          </a:p>
          <a:p>
            <a:pPr eaLnBrk="1" hangingPunct="1"/>
            <a:r>
              <a:rPr lang="en-US" altLang="sr-Latn-RS"/>
              <a:t>Poziv:  String[] rez = s.split(“regex”);</a:t>
            </a:r>
          </a:p>
          <a:p>
            <a:pPr eaLnBrk="1" hangingPunct="1"/>
            <a:r>
              <a:rPr lang="sr-Latn-CS" altLang="sr-Latn-RS"/>
              <a:t>Primer: </a:t>
            </a:r>
          </a:p>
          <a:p>
            <a:pPr eaLnBrk="1" hangingPunct="1">
              <a:buFontTx/>
              <a:buNone/>
            </a:pPr>
            <a:r>
              <a:rPr lang="sr-Latn-CS" altLang="sr-Latn-RS" sz="2800" b="1">
                <a:latin typeface="Courier New" panose="02070309020205020404" pitchFamily="49" charset="0"/>
              </a:rPr>
              <a:t>String s = "ja sam svetski mega car";</a:t>
            </a:r>
          </a:p>
          <a:p>
            <a:pPr eaLnBrk="1" hangingPunct="1">
              <a:buFontTx/>
              <a:buNone/>
            </a:pPr>
            <a:r>
              <a:rPr lang="sr-Latn-CS" altLang="sr-Latn-RS" sz="2800" b="1">
                <a:latin typeface="Courier New" panose="02070309020205020404" pitchFamily="49" charset="0"/>
              </a:rPr>
              <a:t>String[] rez = s.split(" ");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C1AEF6D-F7F8-41EE-EAB5-9C07168549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Metoda split() klase </a:t>
            </a:r>
            <a:r>
              <a:rPr lang="sr-Latn-CS" altLang="sr-Latn-RS" b="1">
                <a:latin typeface="Courier New" panose="02070309020205020404" pitchFamily="49" charset="0"/>
              </a:rPr>
              <a:t>String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0806280-AC1D-BA71-5123-53E68DE4B3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981200"/>
            <a:ext cx="7777162" cy="4114800"/>
          </a:xfrm>
        </p:spPr>
        <p:txBody>
          <a:bodyPr/>
          <a:lstStyle/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class SplitTest {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public static void main(String args[]) {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  String text = "Ovo je probni tekst";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  String[] tokens = text.split(" ");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  for (int i = 0; i &lt; tokens.length; i++)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System.out.println(tokens[i]);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  <a:br>
              <a:rPr lang="sr-Latn-CS" altLang="sr-Latn-RS" sz="2000" b="1">
                <a:latin typeface="Courier New" panose="02070309020205020404" pitchFamily="49" charset="0"/>
              </a:rPr>
            </a:b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  <a:p>
            <a:pPr indent="-3175" eaLnBrk="1" hangingPunct="1">
              <a:buFontTx/>
              <a:buNone/>
            </a:pPr>
            <a:endParaRPr lang="en-US" altLang="sr-Latn-RS" sz="20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DF068B6-EA42-8FF9-A7BD-C43E47F1B9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Metoda matches() klase </a:t>
            </a:r>
            <a:r>
              <a:rPr lang="sr-Latn-CS" altLang="sr-Latn-RS" sz="4000" b="1">
                <a:latin typeface="Courier New" panose="02070309020205020404" pitchFamily="49" charset="0"/>
              </a:rPr>
              <a:t>String</a:t>
            </a:r>
            <a:endParaRPr lang="en-US" altLang="sr-Latn-RS" sz="4000" b="1">
              <a:latin typeface="Courier New" panose="02070309020205020404" pitchFamily="49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95501F05-EBFA-5B51-F393-1536CDB86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Vraća true ako je string u skladu sa regularnim izrazom</a:t>
            </a:r>
          </a:p>
          <a:p>
            <a:pPr eaLnBrk="1" hangingPunct="1"/>
            <a:r>
              <a:rPr lang="sr-Latn-C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String s = "001-AB";</a:t>
            </a:r>
          </a:p>
          <a:p>
            <a:pPr eaLnBrk="1" hangingPunct="1">
              <a:buFontTx/>
              <a:buNone/>
            </a:pPr>
            <a:r>
              <a:rPr lang="sr-Latn-CS" altLang="sr-Latn-RS"/>
              <a:t>boolean rez = s.matches("</a:t>
            </a:r>
            <a:r>
              <a:rPr lang="en-US" altLang="sr-Latn-RS"/>
              <a:t>\\d{3}-[A-Z]{2}</a:t>
            </a:r>
            <a:r>
              <a:rPr lang="sr-Latn-CS" altLang="sr-Latn-RS"/>
              <a:t>");</a:t>
            </a:r>
            <a:endParaRPr lang="en-US" altLang="sr-Latn-R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FDE52-5C0F-9D35-E169-FE66C2501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Kolekcije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78F6D-ED8F-07FC-9649-13060958F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663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9A9F89F-F7D2-55ED-95BB-889F0A307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sr-Latn-RS"/>
              <a:t>Kolekcije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9A07D068-6B8E-5FAC-7818-11CB197B8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Nizovi imaju jednu manu – kada se jednom naprave nije moguće promeniti veličinu.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Kolekcije rešavaju taj problem.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Zajedničke metode: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dodavanje elemenata,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uklanjanje elemenata, 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iteriranje kroz kolekciju elemenata</a:t>
            </a:r>
            <a:endParaRPr lang="en-US" altLang="sr-Latn-R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766CD48-4FF6-B551-648A-1101600824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Kolekcije</a:t>
            </a:r>
            <a:endParaRPr lang="en-US" altLang="sr-Latn-RS"/>
          </a:p>
        </p:txBody>
      </p:sp>
      <p:graphicFrame>
        <p:nvGraphicFramePr>
          <p:cNvPr id="9" name="Group 44">
            <a:extLst>
              <a:ext uri="{FF2B5EF4-FFF2-40B4-BE49-F238E27FC236}">
                <a16:creationId xmlns:a16="http://schemas.microsoft.com/office/drawing/2014/main" id="{AAF1CDD9-3973-695C-442D-70D1F101444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9388" y="1981200"/>
          <a:ext cx="8743950" cy="4114800"/>
        </p:xfrm>
        <a:graphic>
          <a:graphicData uri="http://schemas.openxmlformats.org/drawingml/2006/table">
            <a:tbl>
              <a:tblPr/>
              <a:tblGrid>
                <a:gridCol w="1697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9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8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0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Implementacija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sr-Latn-C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Koncept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 table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Resizable Array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Balanced Tree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 List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 table + Linked list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HashSet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TreeSet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LinkedHashSet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List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ArrayList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LinkedList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Map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HashMap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TreeMap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r-Latn-C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LinkedHashMap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1000" name="Line 40">
            <a:extLst>
              <a:ext uri="{FF2B5EF4-FFF2-40B4-BE49-F238E27FC236}">
                <a16:creationId xmlns:a16="http://schemas.microsoft.com/office/drawing/2014/main" id="{3D90EA62-4F5E-88B2-21F5-520FB86EC2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9388" y="2133600"/>
            <a:ext cx="1728787" cy="8636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40AC2C0-A7A1-3828-D71C-F3CF387CB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 sz="4000"/>
              <a:t>Tipizirane kolekcije - Generics </a:t>
            </a:r>
            <a:endParaRPr lang="en-US" altLang="sr-Latn-RS" sz="4000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FF06D99-7DEC-92D2-D140-5470779DD3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569325" cy="43926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Tipizirane kolekcije omogućavaju smeštaj samo jednog tipa podatka u kolekciju.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Tipizirane kolekcije se tumače kao: „kolekcija Stringova“ ili „kolekcija double brojeva“, i sl.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400"/>
              <a:t>Primer: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ArrayList&lt;String&gt; kolekcija1 = new ArrayList&lt;String&gt;();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kolekcija1.add("tekst");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String s = kolekcija1.get(0);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ArrayList&lt;Double&gt; kolekcija2 = new ArrayList&lt;Double&gt;();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kolekcija2.add(3.14);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double d = kolekcija2.get(0);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9059C74A-AF8A-CB04-9292-D2772EB4DD67}"/>
              </a:ext>
            </a:extLst>
          </p:cNvPr>
          <p:cNvSpPr/>
          <p:nvPr/>
        </p:nvSpPr>
        <p:spPr>
          <a:xfrm>
            <a:off x="7092950" y="5229225"/>
            <a:ext cx="1511300" cy="792163"/>
          </a:xfrm>
          <a:prstGeom prst="wedgeRoundRectCallout">
            <a:avLst>
              <a:gd name="adj1" fmla="val -74824"/>
              <a:gd name="adj2" fmla="val -1092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sr-Latn-RS">
                <a:solidFill>
                  <a:schemeClr val="tx1"/>
                </a:solidFill>
              </a:rPr>
              <a:t>Wrapper klasa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4D49B6-77C2-4838-215A-1222F4FAB49C}"/>
              </a:ext>
            </a:extLst>
          </p:cNvPr>
          <p:cNvCxnSpPr/>
          <p:nvPr/>
        </p:nvCxnSpPr>
        <p:spPr>
          <a:xfrm flipH="1" flipV="1">
            <a:off x="3203575" y="4797425"/>
            <a:ext cx="3889375" cy="647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2F2DC417-E49A-2954-F5F9-1F701A7B0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RS" altLang="sr-Latn-RS" sz="4000"/>
              <a:t>f</a:t>
            </a:r>
            <a:r>
              <a:rPr lang="en-US" altLang="sr-Latn-RS" sz="4000"/>
              <a:t>or</a:t>
            </a:r>
            <a:r>
              <a:rPr lang="sr-Latn-RS" altLang="sr-Latn-RS" sz="4000"/>
              <a:t>each kroz nizove i kolekcije</a:t>
            </a:r>
            <a:endParaRPr lang="en-US" altLang="sr-Latn-RS" sz="4000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C8E73D3-C980-BBE7-DD02-DE8A922999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sr-Latn-RS" sz="2000"/>
              <a:t>Omogućuje prolazak kroz niz ili kolekciju.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000"/>
              <a:t>Opšta sintaksa: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for (varijabla : niz_ili_kolekcija)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	... // telo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sr-Latn-RS" sz="2000"/>
              <a:t>Primer: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for (int i : niz)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System.out.println(</a:t>
            </a:r>
            <a:r>
              <a:rPr lang="en-US" altLang="sr-Latn-RS" sz="1800" b="1">
                <a:latin typeface="Courier New" panose="02070309020205020404" pitchFamily="49" charset="0"/>
              </a:rPr>
              <a:t>i</a:t>
            </a:r>
            <a:r>
              <a:rPr lang="sr-Latn-CS" altLang="sr-Latn-RS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ArrayList&lt;String&gt; kolekcija = new ArrayList&lt;String&gt;();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kolekcija.add("tekst1");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kolekcija.add("tekst2");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kolekcija.add("tekst3");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for (</a:t>
            </a:r>
            <a:r>
              <a:rPr lang="en-US" altLang="sr-Latn-RS" sz="1800" b="1">
                <a:latin typeface="Courier New" panose="02070309020205020404" pitchFamily="49" charset="0"/>
              </a:rPr>
              <a:t>String s</a:t>
            </a:r>
            <a:r>
              <a:rPr lang="sr-Latn-CS" altLang="sr-Latn-RS" sz="1800" b="1">
                <a:latin typeface="Courier New" panose="02070309020205020404" pitchFamily="49" charset="0"/>
              </a:rPr>
              <a:t> : </a:t>
            </a:r>
            <a:r>
              <a:rPr lang="en-US" altLang="sr-Latn-RS" sz="1800" b="1">
                <a:latin typeface="Courier New" panose="02070309020205020404" pitchFamily="49" charset="0"/>
              </a:rPr>
              <a:t>kolekcija</a:t>
            </a:r>
            <a:r>
              <a:rPr lang="sr-Latn-CS" altLang="sr-Latn-RS" sz="18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  System.out.println(s</a:t>
            </a:r>
            <a:r>
              <a:rPr lang="en-US" altLang="sr-Latn-RS" sz="1800" b="1">
                <a:latin typeface="Courier New" panose="02070309020205020404" pitchFamily="49" charset="0"/>
              </a:rPr>
              <a:t>.length()</a:t>
            </a:r>
            <a:r>
              <a:rPr lang="sr-Latn-CS" altLang="sr-Latn-RS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sr-Latn-RS" sz="1800" b="1">
                <a:latin typeface="Courier New" panose="02070309020205020404" pitchFamily="49" charset="0"/>
              </a:rPr>
              <a:t>}</a:t>
            </a:r>
            <a:endParaRPr lang="en-US" altLang="sr-Latn-R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sr-Latn-RS" sz="1800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C2F47B6-009A-AE73-C272-1BF3CB2DEC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sr-Latn-CS" altLang="sr-Latn-RS" b="1">
                <a:latin typeface="Courier New" panose="02070309020205020404" pitchFamily="49" charset="0"/>
              </a:rPr>
              <a:t>ArrayList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2B22D78-462E-640F-5E5B-E8AF8F2EFC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Predstavlja kolekciju, odn. dinamički niz</a:t>
            </a:r>
          </a:p>
          <a:p>
            <a:pPr eaLnBrk="1" hangingPunct="1"/>
            <a:r>
              <a:rPr lang="sr-Latn-CS" altLang="sr-Latn-RS"/>
              <a:t>Elementi se u ArrayList dodaju metodom add()</a:t>
            </a:r>
          </a:p>
          <a:p>
            <a:pPr eaLnBrk="1" hangingPunct="1"/>
            <a:r>
              <a:rPr lang="sr-Latn-CS" altLang="sr-Latn-RS"/>
              <a:t>Elementi se iz ArrayList uklanjaju metodom remove()</a:t>
            </a:r>
          </a:p>
          <a:p>
            <a:pPr eaLnBrk="1" hangingPunct="1"/>
            <a:r>
              <a:rPr lang="sr-Latn-CS" altLang="sr-Latn-RS"/>
              <a:t>Elementi se iz ArrayList dobijaju (ne uklanjaju se, već se samo čitaju) metodom get()</a:t>
            </a:r>
            <a:endParaRPr lang="en-US" altLang="sr-Latn-R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C0E452FB-1F87-43D0-556A-02E0A5B83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CS" altLang="sr-Latn-RS"/>
              <a:t>Klasa </a:t>
            </a:r>
            <a:r>
              <a:rPr lang="sr-Latn-CS" altLang="sr-Latn-RS" b="1">
                <a:latin typeface="Courier New" panose="02070309020205020404" pitchFamily="49" charset="0"/>
              </a:rPr>
              <a:t>ArrayList</a:t>
            </a:r>
            <a:endParaRPr lang="en-US" altLang="sr-Latn-R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45B5737-0B9E-D583-C11F-B723877FE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12875"/>
            <a:ext cx="8351837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ArrayList&lt;Integer&gt; lista = new ArrayList&lt;Integer&gt;();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lista.add(5);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lista.add(10);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lista.add(1, 15);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System.</a:t>
            </a:r>
            <a:r>
              <a:rPr lang="en-US" sz="2800" b="1" i="1">
                <a:latin typeface="Courier New" pitchFamily="49" charset="0"/>
                <a:cs typeface="Courier New" pitchFamily="49" charset="0"/>
              </a:rPr>
              <a:t>out.println("Velicina je: " + lista.size());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lista.remove(0);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int broj = lista.get(0);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System.</a:t>
            </a:r>
            <a:r>
              <a:rPr lang="en-US" sz="2800" b="1" i="1">
                <a:latin typeface="Courier New" pitchFamily="49" charset="0"/>
                <a:cs typeface="Courier New" pitchFamily="49" charset="0"/>
              </a:rPr>
              <a:t>out.println(broj);</a:t>
            </a:r>
          </a:p>
          <a:p>
            <a:pPr eaLnBrk="1" hangingPunct="1">
              <a:defRPr/>
            </a:pPr>
            <a:r>
              <a:rPr lang="en-US" sz="2800" b="1">
                <a:latin typeface="Courier New" pitchFamily="49" charset="0"/>
                <a:cs typeface="Courier New" pitchFamily="49" charset="0"/>
              </a:rPr>
              <a:t>System.</a:t>
            </a:r>
            <a:r>
              <a:rPr lang="en-US" sz="2800" b="1" i="1">
                <a:latin typeface="Courier New" pitchFamily="49" charset="0"/>
                <a:cs typeface="Courier New" pitchFamily="49" charset="0"/>
              </a:rPr>
              <a:t>out.println("Velicina je: " + lista.size());</a:t>
            </a:r>
            <a:endParaRPr lang="en-US" sz="2400" b="1" ker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F0A2519-0FA0-105B-8513-A7B9D3334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Tipizirana k</a:t>
            </a:r>
            <a:r>
              <a:rPr lang="en-US" altLang="sr-Latn-RS"/>
              <a:t>lasa </a:t>
            </a:r>
            <a:r>
              <a:rPr lang="sr-Latn-CS" altLang="sr-Latn-RS" b="1">
                <a:latin typeface="Courier New" panose="02070309020205020404" pitchFamily="49" charset="0"/>
              </a:rPr>
              <a:t>ArrayList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E623380-C91A-698C-BD9F-BD09FA441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228013" cy="4648200"/>
          </a:xfrm>
        </p:spPr>
        <p:txBody>
          <a:bodyPr/>
          <a:lstStyle/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import java.util.ArrayList;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class ArrayListTest {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public static void main(String args[]) {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ArrayList&lt;String&gt; v = new ArrayList&lt;String&gt;();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v.add("Ovo");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v.add("je");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v.add("probni");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v.add("tekst");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for (int i = 0; i &lt; v.size(); i++)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System.out.println(v.get(i));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}</a:t>
            </a:r>
          </a:p>
          <a:p>
            <a:pPr indent="-3175" eaLnBrk="1" hangingPunct="1"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8653AA83-03D5-4721-1F75-E91B7B7821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Asocijativne mape</a:t>
            </a:r>
            <a:endParaRPr lang="en-US" altLang="sr-Latn-R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96680B8-451E-5691-DACD-49ADD721B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Memorijske strukture koje omogućuju brzu pretragu sadržaja po ključu</a:t>
            </a:r>
          </a:p>
          <a:p>
            <a:pPr eaLnBrk="1" hangingPunct="1"/>
            <a:r>
              <a:rPr lang="sr-Latn-CS" altLang="sr-Latn-RS"/>
              <a:t>Element se ubacuje u paru sa svojim ključem, koji mora da bude jedinstven</a:t>
            </a:r>
          </a:p>
          <a:p>
            <a:pPr eaLnBrk="1" hangingPunct="1"/>
            <a:endParaRPr lang="en-US" altLang="sr-Latn-R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BCE5ACE-750C-5627-79E4-329F69956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Klasa </a:t>
            </a:r>
            <a:r>
              <a:rPr lang="sr-Latn-CS" altLang="sr-Latn-RS" b="1">
                <a:latin typeface="Courier New" panose="02070309020205020404" pitchFamily="49" charset="0"/>
              </a:rPr>
              <a:t>HashMap</a:t>
            </a:r>
            <a:endParaRPr lang="en-US" altLang="sr-Latn-RS" b="1">
              <a:latin typeface="Courier New" panose="02070309020205020404" pitchFamily="49" charset="0"/>
            </a:endParaRP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A474CAC-0076-CD72-F1A7-A405720011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sr-Latn-RS"/>
              <a:t>Predstavlja asocijativnu mapu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U HashMap se stavljaju dva podatka: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ključ po kojem će se pretraživati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vrednost koja se skladišti u HashMap i koja se pretražuje po ključu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Metodom put() se ključ i vrednost smeštaju u HashMap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sr-Latn-RS"/>
              <a:t>Metodom get() se na osnovu ključa dobavlja (samo čita) vrednost iz HashMap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sr-Latn-RS"/>
              <a:t>ako se ne nađe ključ, vratiće null</a:t>
            </a:r>
            <a:endParaRPr lang="en-US" altLang="sr-Latn-R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9708210-2D3C-8A7E-3578-635280864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260350"/>
            <a:ext cx="7772400" cy="762000"/>
          </a:xfrm>
        </p:spPr>
        <p:txBody>
          <a:bodyPr/>
          <a:lstStyle/>
          <a:p>
            <a:pPr eaLnBrk="1" hangingPunct="1"/>
            <a:r>
              <a:rPr lang="sr-Latn-CS" altLang="sr-Latn-RS"/>
              <a:t>Tipizirana k</a:t>
            </a:r>
            <a:r>
              <a:rPr lang="en-US" altLang="sr-Latn-RS"/>
              <a:t>lasa </a:t>
            </a:r>
            <a:r>
              <a:rPr lang="en-US" altLang="sr-Latn-RS" b="1">
                <a:latin typeface="Courier New" panose="02070309020205020404" pitchFamily="49" charset="0"/>
              </a:rPr>
              <a:t>HashMap</a:t>
            </a:r>
            <a:endParaRPr lang="en-US" altLang="sr-Latn-R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5AAC302E-5381-44C2-49D6-2E5F05293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713787" cy="5327650"/>
          </a:xfrm>
        </p:spPr>
        <p:txBody>
          <a:bodyPr/>
          <a:lstStyle/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import java.util.HashMap;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public class HashMapTest {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public static void main(String args[]) {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HashMap&lt;String, String&gt; ht = 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  new HashMap&lt;String, String&gt;();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ht.put("E10020", "Marko Markovic");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ht.put("E10045", "Petar Petrovic");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ht.put("E10093", "Jovan Jovanovic");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String indeks = "E10045";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System.out.println("Student sa brojem indeksa " +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              </a:t>
            </a:r>
            <a:r>
              <a:rPr lang="sr-Latn-CS" altLang="sr-Latn-RS" sz="2000" b="1">
                <a:latin typeface="Courier New" panose="02070309020205020404" pitchFamily="49" charset="0"/>
              </a:rPr>
              <a:t> indeks + " je " + ht.get(indeks));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indeks = "E10093";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    System.out.println("Student sa brojem indeksa " +</a:t>
            </a:r>
            <a:endParaRPr lang="en-US" altLang="sr-Latn-RS" sz="2000" b="1">
              <a:latin typeface="Courier New" panose="02070309020205020404" pitchFamily="49" charset="0"/>
            </a:endParaRP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en-US" altLang="sr-Latn-RS" sz="2000" b="1">
                <a:latin typeface="Courier New" panose="02070309020205020404" pitchFamily="49" charset="0"/>
              </a:rPr>
              <a:t>                  </a:t>
            </a:r>
            <a:r>
              <a:rPr lang="sr-Latn-CS" altLang="sr-Latn-RS" sz="2000" b="1">
                <a:latin typeface="Courier New" panose="02070309020205020404" pitchFamily="49" charset="0"/>
              </a:rPr>
              <a:t> indeks + " je " + ht.get(indeks));</a:t>
            </a:r>
          </a:p>
          <a:p>
            <a:pPr indent="-3175" eaLnBrk="1" hangingPunct="1">
              <a:lnSpc>
                <a:spcPct val="90000"/>
              </a:lnSpc>
              <a:buFontTx/>
              <a:buNone/>
            </a:pPr>
            <a:r>
              <a:rPr lang="sr-Latn-CS" altLang="sr-Latn-RS" sz="20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B1B45-EAFA-BCB5-F41E-4A1803FFB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/>
              <a:t>Clonable interfejs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796DC-F4ED-6F1B-BD12-D0C9F08E8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132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33DFB367-1CBD-CCA8-CFE4-2C3179689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 sz="3600"/>
              <a:t>Interfejs Cloneable i klasa Object</a:t>
            </a: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F84AB5AF-4D31-CE8B-B557-C13CAED58C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 sz="2400"/>
              <a:t>Java podržava </a:t>
            </a:r>
            <a:r>
              <a:rPr lang="sr-Latn-RS" altLang="sr-Latn-RS" sz="2400" i="1"/>
              <a:t>shallow copy </a:t>
            </a:r>
            <a:r>
              <a:rPr lang="sr-Latn-RS" altLang="sr-Latn-RS" sz="2400"/>
              <a:t>tako što u klasi Object ima metodu </a:t>
            </a:r>
            <a:r>
              <a:rPr lang="sr-Latn-RS" altLang="sr-Latn-RS" sz="2400" b="1" i="1"/>
              <a:t>clone</a:t>
            </a:r>
            <a:r>
              <a:rPr lang="sr-Latn-RS" altLang="sr-Latn-RS" sz="2400"/>
              <a:t>, </a:t>
            </a:r>
            <a:r>
              <a:rPr lang="pl-PL" altLang="sr-Latn-RS" sz="2400"/>
              <a:t>ali je ona protected, tako da nije vidljiva iz drugih klasa</a:t>
            </a:r>
          </a:p>
          <a:p>
            <a:pPr lvl="1"/>
            <a:r>
              <a:rPr lang="pl-PL" altLang="sr-Latn-RS" sz="2000"/>
              <a:t>ova metoda pravi identičnu kopiju objekta u memoriji (bajt-po-bajt)</a:t>
            </a:r>
          </a:p>
          <a:p>
            <a:r>
              <a:rPr lang="sr-Latn-RS" altLang="sr-Latn-RS" sz="2400"/>
              <a:t>Da bismo je koristili, potrebno je da implementiramo interfejs Cloneable, i redefinišemo metodu </a:t>
            </a:r>
            <a:r>
              <a:rPr lang="sr-Latn-RS" altLang="sr-Latn-RS" sz="2400" b="1" i="1"/>
              <a:t>clone</a:t>
            </a:r>
            <a:r>
              <a:rPr lang="sr-Latn-RS" altLang="sr-Latn-RS" sz="2400"/>
              <a:t> da bude public, ako želimo da je pozivaju druge klase.</a:t>
            </a:r>
          </a:p>
          <a:p>
            <a:r>
              <a:rPr lang="sr-Latn-RS" altLang="sr-Latn-RS" sz="2400"/>
              <a:t>Pošto ova metoda pravi bajt-po-bajt kopiju originalnog objekta, njegovi primitivni atributi su iskopirani deep copy načinom</a:t>
            </a:r>
          </a:p>
          <a:p>
            <a:pPr lvl="1"/>
            <a:r>
              <a:rPr lang="sr-Latn-RS" altLang="sr-Latn-RS" sz="2000"/>
              <a:t>problem su neprimitivni atributi!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A7265559-70D7-1984-6640-7F6E29080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 Cloneable</a:t>
            </a:r>
          </a:p>
        </p:txBody>
      </p:sp>
      <p:sp>
        <p:nvSpPr>
          <p:cNvPr id="52227" name="Content Placeholder 2">
            <a:extLst>
              <a:ext uri="{FF2B5EF4-FFF2-40B4-BE49-F238E27FC236}">
                <a16:creationId xmlns:a16="http://schemas.microsoft.com/office/drawing/2014/main" id="{64DFDD94-E74D-F86D-00F6-3DFA1CC4E1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525621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class Automobil implements Cloneable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Tocak prednjiLevi, prednjiDesni, zadnjiLevi, zadnjiDesni;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Automobil()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prednjiLevi = new Tocak();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prednjiDesni = new Tocak();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zadnjiLevi = new Tocak();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zadnjiDesni = new Tocak();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public Object clone()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return super.clone();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} catch (CloneNotSupportedException e)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e.printStackTrace();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it-IT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throw new Error("Ovo ne bi smelo da se dogodi.");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>
            <a:extLst>
              <a:ext uri="{FF2B5EF4-FFF2-40B4-BE49-F238E27FC236}">
                <a16:creationId xmlns:a16="http://schemas.microsoft.com/office/drawing/2014/main" id="{997E5329-E172-A262-15AA-85E33BE1E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 Cloneable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0C66D960-99F5-9A37-9963-4B0E94DC4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Automobil a1 = new Automobil();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Automobil a2 = (Automobil)a1.clone();</a:t>
            </a:r>
          </a:p>
        </p:txBody>
      </p:sp>
      <p:graphicFrame>
        <p:nvGraphicFramePr>
          <p:cNvPr id="53252" name="Object 1">
            <a:extLst>
              <a:ext uri="{FF2B5EF4-FFF2-40B4-BE49-F238E27FC236}">
                <a16:creationId xmlns:a16="http://schemas.microsoft.com/office/drawing/2014/main" id="{C876D2BA-4D04-51AA-8DC3-2257AF3C67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3429000"/>
          <a:ext cx="6683375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35076" imgH="1863351" progId="Visio.Drawing.11">
                  <p:embed/>
                </p:oleObj>
              </mc:Choice>
              <mc:Fallback>
                <p:oleObj name="Visio" r:id="rId2" imgW="4035076" imgH="1863351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3429000"/>
                        <a:ext cx="6683375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17E7E8AC-532B-CB84-7C5C-E9A74AAB7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 Cloneable – deep copy</a:t>
            </a:r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763ABC7F-3E96-7393-10C4-327395E6A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sr-Latn-RS" altLang="sr-Latn-RS"/>
              <a:t>Rešenje za deep copy upotrebom </a:t>
            </a:r>
            <a:r>
              <a:rPr lang="sr-Latn-RS" altLang="sr-Latn-RS" i="1"/>
              <a:t>Cloneable</a:t>
            </a:r>
            <a:r>
              <a:rPr lang="sr-Latn-RS" altLang="sr-Latn-RS"/>
              <a:t> interfejsa je da se u metodi </a:t>
            </a:r>
            <a:r>
              <a:rPr lang="sr-Latn-RS" altLang="sr-Latn-RS" i="1"/>
              <a:t>clone</a:t>
            </a:r>
            <a:r>
              <a:rPr lang="sr-Latn-RS" altLang="sr-Latn-RS"/>
              <a:t> svakako napravi binarna kopija originalnog objekta, ali i </a:t>
            </a:r>
          </a:p>
          <a:p>
            <a:pPr lvl="1"/>
            <a:r>
              <a:rPr lang="sr-Latn-RS" altLang="sr-Latn-RS"/>
              <a:t>da se zatim ručno pozove </a:t>
            </a:r>
            <a:r>
              <a:rPr lang="sr-Latn-RS" altLang="sr-Latn-RS" i="1"/>
              <a:t>clone</a:t>
            </a:r>
            <a:r>
              <a:rPr lang="sr-Latn-RS" altLang="sr-Latn-RS"/>
              <a:t> od svakog neprimitivnog atributa</a:t>
            </a:r>
          </a:p>
          <a:p>
            <a:pPr lvl="2"/>
            <a:r>
              <a:rPr lang="sr-Latn-RS" altLang="sr-Latn-RS"/>
              <a:t>da se za svaku klasu neprimitivnog atributa napravi </a:t>
            </a:r>
            <a:r>
              <a:rPr lang="sr-Latn-RS" altLang="sr-Latn-RS" i="1"/>
              <a:t>clone</a:t>
            </a:r>
            <a:r>
              <a:rPr lang="sr-Latn-RS" altLang="sr-Latn-RS"/>
              <a:t> metoda, koja radi isto</a:t>
            </a:r>
          </a:p>
          <a:p>
            <a:pPr lvl="3"/>
            <a:r>
              <a:rPr lang="sr-Latn-RS" altLang="sr-Latn-RS"/>
              <a:t>ako ima neprimitivnih atributa, da i za njih pozove </a:t>
            </a:r>
            <a:r>
              <a:rPr lang="sr-Latn-RS" altLang="sr-Latn-RS" i="1"/>
              <a:t>clone</a:t>
            </a:r>
            <a:r>
              <a:rPr lang="sr-Latn-RS" altLang="sr-Latn-RS"/>
              <a:t>, i da za njihove klase napravi </a:t>
            </a:r>
            <a:r>
              <a:rPr lang="sr-Latn-RS" altLang="sr-Latn-RS" i="1"/>
              <a:t>clone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005B649B-780F-AED1-FFE0-84DEB1EC4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50900"/>
          </a:xfrm>
        </p:spPr>
        <p:txBody>
          <a:bodyPr/>
          <a:lstStyle/>
          <a:p>
            <a:r>
              <a:rPr lang="sr-Latn-RS" altLang="sr-Latn-RS"/>
              <a:t>Interfejs Cloneable – deep copy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630C6C70-F98F-56CD-477C-8634B7C763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435975" cy="540067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class Automobil implements Cloneable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Tocak prednjiLevi, prednjiDesni, zadnjiLevi, zadnjiDesni;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Automobil()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public Object clone()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Automobil ret = (Automobil)super.clone();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ret.prednjiLevi = (Tocak)this.prednjiLevi.clone();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ret.prednjiDesni = (Tocak)this.prednjiDesni.clone();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...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return ret;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} catch (CloneNotSupportedException e) {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e.printStackTrace();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it-IT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throw new Error("Ovo ne bi smelo da se dogodi.");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FontTx/>
              <a:buNone/>
            </a:pPr>
            <a:r>
              <a:rPr lang="sr-Latn-RS" altLang="sr-Latn-RS" sz="1800" b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9F85DBF0-FABF-0759-572B-52B99C8CC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sr-Latn-RS"/>
              <a:t>Interfejs Cloneable – deep copy</a:t>
            </a: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D8482FB4-9AF2-0D28-E43A-38D2CADC7F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Automobil a1 = new Automobil();</a:t>
            </a:r>
          </a:p>
          <a:p>
            <a:pPr marL="0" indent="0">
              <a:buFontTx/>
              <a:buNone/>
            </a:pPr>
            <a:r>
              <a:rPr lang="sr-Latn-RS" altLang="sr-Latn-RS" sz="2800" b="1">
                <a:latin typeface="Courier New" panose="02070309020205020404" pitchFamily="49" charset="0"/>
                <a:cs typeface="Courier New" panose="02070309020205020404" pitchFamily="49" charset="0"/>
              </a:rPr>
              <a:t>Automobil a2 = (Automobil)a1.clone();</a:t>
            </a:r>
          </a:p>
        </p:txBody>
      </p:sp>
      <p:graphicFrame>
        <p:nvGraphicFramePr>
          <p:cNvPr id="56324" name="Object 1">
            <a:extLst>
              <a:ext uri="{FF2B5EF4-FFF2-40B4-BE49-F238E27FC236}">
                <a16:creationId xmlns:a16="http://schemas.microsoft.com/office/drawing/2014/main" id="{9330A435-0DC8-713D-0888-59F31516EE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350" y="3429000"/>
          <a:ext cx="6683375" cy="309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035150" imgH="1863575" progId="Visio.Drawing.11">
                  <p:embed/>
                </p:oleObj>
              </mc:Choice>
              <mc:Fallback>
                <p:oleObj name="Visio" r:id="rId2" imgW="4035150" imgH="186357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3429000"/>
                        <a:ext cx="6683375" cy="309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F6E4B8D7-E604-DFE6-B9A7-123453828D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0825" y="609600"/>
            <a:ext cx="8497888" cy="1143000"/>
          </a:xfrm>
        </p:spPr>
        <p:txBody>
          <a:bodyPr/>
          <a:lstStyle/>
          <a:p>
            <a:pPr eaLnBrk="1" hangingPunct="1"/>
            <a:r>
              <a:rPr lang="sr-Latn-CS" altLang="sr-Latn-RS" sz="4000"/>
              <a:t>Klase </a:t>
            </a:r>
            <a:r>
              <a:rPr lang="sr-Latn-CS" altLang="sr-Latn-RS" sz="4000" b="1">
                <a:latin typeface="Courier New" panose="02070309020205020404" pitchFamily="49" charset="0"/>
              </a:rPr>
              <a:t>BigInteger</a:t>
            </a:r>
            <a:r>
              <a:rPr lang="sr-Latn-CS" altLang="sr-Latn-RS" sz="4000"/>
              <a:t> i </a:t>
            </a:r>
            <a:r>
              <a:rPr lang="sr-Latn-CS" altLang="sr-Latn-RS" sz="4000" b="1">
                <a:latin typeface="Courier New" panose="02070309020205020404" pitchFamily="49" charset="0"/>
              </a:rPr>
              <a:t>BigDecimal</a:t>
            </a:r>
            <a:endParaRPr lang="en-US" altLang="sr-Latn-RS" sz="4000" b="1">
              <a:latin typeface="Courier New" panose="02070309020205020404" pitchFamily="49" charset="0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1875AB3B-2478-8313-6703-33A4235DA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sr-Latn-RS"/>
              <a:t>Koriste se za brojeve sa proizvoljnim brojem cifara.</a:t>
            </a:r>
          </a:p>
          <a:p>
            <a:pPr eaLnBrk="1" hangingPunct="1"/>
            <a:r>
              <a:rPr lang="sr-Latn-CS" altLang="sr-Latn-RS"/>
              <a:t>Primer: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BigInteger a = BigInteger.valueOf(10);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BigInteger b = BigInteger.valueOf(20);</a:t>
            </a:r>
          </a:p>
          <a:p>
            <a:pPr eaLnBrk="1" hangingPunct="1">
              <a:buFontTx/>
              <a:buNone/>
            </a:pPr>
            <a:r>
              <a:rPr lang="sr-Latn-CS" altLang="sr-Latn-RS" sz="2400" b="1">
                <a:latin typeface="Courier New" panose="02070309020205020404" pitchFamily="49" charset="0"/>
              </a:rPr>
              <a:t>BigInteger c = a.multiply(b);</a:t>
            </a:r>
            <a:endParaRPr lang="en-US" altLang="sr-Latn-RS" sz="2400" b="1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98196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3129</Words>
  <Application>Microsoft Office PowerPoint</Application>
  <PresentationFormat>On-screen Show (4:3)</PresentationFormat>
  <Paragraphs>459</Paragraphs>
  <Slides>57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Courier New</vt:lpstr>
      <vt:lpstr>Tahoma</vt:lpstr>
      <vt:lpstr>Wingdings</vt:lpstr>
      <vt:lpstr>Default Design</vt:lpstr>
      <vt:lpstr>Bitmap Image</vt:lpstr>
      <vt:lpstr>Visio</vt:lpstr>
      <vt:lpstr>Objektno Orijentisano Programiranje 1</vt:lpstr>
      <vt:lpstr>Tema</vt:lpstr>
      <vt:lpstr>Šta nam treba od prethodnog znanja?</vt:lpstr>
      <vt:lpstr>Paketi</vt:lpstr>
      <vt:lpstr>Paketi</vt:lpstr>
      <vt:lpstr>Paketi</vt:lpstr>
      <vt:lpstr>CLASSPATH environment varijabla</vt:lpstr>
      <vt:lpstr>Paketi</vt:lpstr>
      <vt:lpstr>javadoc</vt:lpstr>
      <vt:lpstr>Klasa Object</vt:lpstr>
      <vt:lpstr>Wrapper klase</vt:lpstr>
      <vt:lpstr>Autoboxing i unboxing</vt:lpstr>
      <vt:lpstr>Autoboxing i unboxing</vt:lpstr>
      <vt:lpstr>Metode sa promenljivim brojem parametara i objekti</vt:lpstr>
      <vt:lpstr>Metode sa promenljivim brojem parametara i objekti</vt:lpstr>
      <vt:lpstr>Enumeracije</vt:lpstr>
      <vt:lpstr>Enumeracije</vt:lpstr>
      <vt:lpstr>Enumeracije i objekti</vt:lpstr>
      <vt:lpstr>Enumeracije</vt:lpstr>
      <vt:lpstr>Enumeracije</vt:lpstr>
      <vt:lpstr>Enumeracije</vt:lpstr>
      <vt:lpstr>Enumeracije</vt:lpstr>
      <vt:lpstr>Enumeracije</vt:lpstr>
      <vt:lpstr>Enumeracije</vt:lpstr>
      <vt:lpstr>Klasa String</vt:lpstr>
      <vt:lpstr>Klasa String</vt:lpstr>
      <vt:lpstr>String literal</vt:lpstr>
      <vt:lpstr>Klasa String</vt:lpstr>
      <vt:lpstr>Redefinisan + operator sa stringovima</vt:lpstr>
      <vt:lpstr>Oprez sa operatorom + i stringovima!</vt:lpstr>
      <vt:lpstr>Implicitan poziv toString</vt:lpstr>
      <vt:lpstr>Implicitan poziv toString</vt:lpstr>
      <vt:lpstr>Prenos stringa kao parametra metode</vt:lpstr>
      <vt:lpstr>Stringovi podržavaju regularne izraze</vt:lpstr>
      <vt:lpstr>Stringovi podržavaju regularne izraze</vt:lpstr>
      <vt:lpstr>Metoda split() klase String</vt:lpstr>
      <vt:lpstr>Metoda split() klase String</vt:lpstr>
      <vt:lpstr>Metoda matches() klase String</vt:lpstr>
      <vt:lpstr>Kolekcije</vt:lpstr>
      <vt:lpstr>Kolekcije</vt:lpstr>
      <vt:lpstr>Kolekcije</vt:lpstr>
      <vt:lpstr>Tipizirane kolekcije - Generics </vt:lpstr>
      <vt:lpstr>foreach kroz nizove i kolekcije</vt:lpstr>
      <vt:lpstr>Klasa ArrayList</vt:lpstr>
      <vt:lpstr>Klasa ArrayList</vt:lpstr>
      <vt:lpstr>Tipizirana klasa ArrayList</vt:lpstr>
      <vt:lpstr>Asocijativne mape</vt:lpstr>
      <vt:lpstr>Klasa HashMap</vt:lpstr>
      <vt:lpstr>Tipizirana klasa HashMap</vt:lpstr>
      <vt:lpstr>Clonable interfejs</vt:lpstr>
      <vt:lpstr>Interfejs Cloneable i klasa Object</vt:lpstr>
      <vt:lpstr>Interfejs Cloneable</vt:lpstr>
      <vt:lpstr>Interfejs Cloneable</vt:lpstr>
      <vt:lpstr>Interfejs Cloneable – deep copy</vt:lpstr>
      <vt:lpstr>Interfejs Cloneable – deep copy</vt:lpstr>
      <vt:lpstr>Interfejs Cloneable – deep copy</vt:lpstr>
      <vt:lpstr>Klase BigInteger i BigDecimal</vt:lpstr>
    </vt:vector>
  </TitlesOfParts>
  <Company>asdf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jezik Java</dc:title>
  <dc:creator>asdf asdf</dc:creator>
  <cp:lastModifiedBy>Jovana Vidaković</cp:lastModifiedBy>
  <cp:revision>205</cp:revision>
  <dcterms:created xsi:type="dcterms:W3CDTF">2009-03-02T09:13:50Z</dcterms:created>
  <dcterms:modified xsi:type="dcterms:W3CDTF">2024-06-18T14:55:36Z</dcterms:modified>
</cp:coreProperties>
</file>