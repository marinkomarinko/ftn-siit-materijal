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sldIdLst>
    <p:sldId id="256" r:id="rId2"/>
    <p:sldId id="331" r:id="rId3"/>
    <p:sldId id="334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32" r:id="rId22"/>
    <p:sldId id="304" r:id="rId23"/>
    <p:sldId id="305" r:id="rId24"/>
    <p:sldId id="306" r:id="rId25"/>
    <p:sldId id="317" r:id="rId26"/>
    <p:sldId id="325" r:id="rId27"/>
    <p:sldId id="307" r:id="rId28"/>
    <p:sldId id="308" r:id="rId29"/>
    <p:sldId id="312" r:id="rId30"/>
    <p:sldId id="313" r:id="rId31"/>
    <p:sldId id="326" r:id="rId32"/>
    <p:sldId id="327" r:id="rId33"/>
    <p:sldId id="333" r:id="rId34"/>
    <p:sldId id="328" r:id="rId35"/>
    <p:sldId id="329" r:id="rId36"/>
    <p:sldId id="330" r:id="rId37"/>
    <p:sldId id="314" r:id="rId38"/>
    <p:sldId id="315" r:id="rId39"/>
    <p:sldId id="316" r:id="rId4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94F2743-35A9-05E6-D46D-96F81932338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A1D1BAA-FF4F-A2F8-32C7-E8310B43877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E1F1017-A031-F29F-C077-E952636D25A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34C3EAD4-2E8B-BE4C-6028-618201E0E42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6A1FB1A3-1B66-C53E-2731-33FFF88C2F9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D0256061-7FAB-B86E-7156-9F2D0E012D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1CB5F89-0603-4861-9EC2-B8A4C2D086E9}" type="slidenum">
              <a:rPr lang="en-US" altLang="sr-Latn-RS"/>
              <a:pPr>
                <a:defRPr/>
              </a:pPr>
              <a:t>‹#›</a:t>
            </a:fld>
            <a:endParaRPr lang="en-US" altLang="sr-Latn-R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286AEB-6B15-4337-6165-EB8DFCEAF2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1C9D1B-4274-FE49-6DE0-D07DD8A33F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9A38647-4450-46DA-B6D5-DDA290B892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A818D5-6991-43E1-BF32-934F79F2A09F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/35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156136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BE71AC-F3FC-023C-149E-6B45573568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43663" y="6245225"/>
            <a:ext cx="223202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0734967D-9E63-4456-8A59-341C527A622E}" type="slidenum">
              <a:rPr lang="en-US" altLang="en-US" smtClean="0"/>
              <a:pPr algn="r">
                <a:defRPr/>
              </a:pPr>
              <a:t>‹#›</a:t>
            </a:fld>
            <a:r>
              <a:rPr lang="sr-Latn-RS" altLang="en-US"/>
              <a:t>/39</a:t>
            </a:r>
            <a:endParaRPr lang="en-US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E6B13-6EAA-421C-DEFA-8EAF8DE0ED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23AFC-1A2F-8E2E-C82A-962E71147E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3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174D9B-1F10-3AC4-1854-517FE50602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EA3746-D704-209B-3C21-68B24D5459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146E2B-0932-DB6F-89AF-24CBB36EF5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AB35C7-6762-4006-949C-B300462259CC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/35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553916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E4E1E0-E924-D0B9-9BA1-441994304B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263D8A-DF08-5051-29F3-62C916C249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BB708-965B-DD98-181F-13C19F55EA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87B90-DAD0-48EC-AB1F-E494B46DCB97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/35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1107719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1797BF8-80AB-7A1E-76C1-A36DCAC045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E123680-0618-08C3-306C-8B50BC372A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88CA165-EB03-2342-2988-6F4D54C1F2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686C31-3A72-4E9C-BFB7-402476239536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/35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142312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60DCDC6-10E7-8701-7619-F77C1E9107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00FAD89-5842-1D82-EA97-67331F815A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35316A4-12A2-090C-F802-82BD4F1322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D9885-3D12-41AF-A99D-1E9868647B66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/35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54153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53DAED8-8BCA-123E-C0E5-FCA373649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FED840B-419D-2970-681E-218391F214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5D0A908-38D9-EFAE-D455-91942A109D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C18A2D-640E-4241-9C78-2D169FCA3988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/35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1477519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B005D5-B30E-33D8-541D-F885658CC4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EE0B2F-4CF0-7E5E-17F5-F316B3160F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82EC6D-DEBD-4703-FC1E-56A6F41BC5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6ADCC7-D8F0-4145-BCB8-49C0BCDC6DEE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/35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1803908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A14101-3749-63E7-5750-1C39AB9C75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D119DC-2D5F-AA09-FFCA-F5BFFC11B3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6D3ADC-4F77-E565-C815-FD0D3EE464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6071EF-B8FF-4476-94BF-CA2D50873ECC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/35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3275427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9C9501-CD47-3B5E-A68A-7CB76F0D5A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C46A0B1-C96F-F8B6-9AF7-2550E611FF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0C339F-716C-6E3B-9AE2-B861A56F51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BA2082-7F84-4F24-89CB-08F42B7C3DA8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/35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563933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AB51DA1-6A4A-467D-B600-61CF123ABA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7B97B37-7B8A-139F-70E2-8ED85633FC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302216-3855-3D29-9D0D-F386D4587D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E149B0-5BFC-40E3-9D25-EE795708CE65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/35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471068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B2562F-75EC-F346-B25B-BC8D9D6154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204312-016A-F472-727A-D0A69605C3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CC147C-4152-CC82-9389-BE33411258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A93F67-D9F4-4F9B-9B1F-2B8475E73F29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/35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765410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7A82CC6-4F0F-3E6D-ABAC-D4A27BD23E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B6622E-6BC1-79E3-6CF2-8B59F3AEE6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14F2C78-8112-33A1-A6F9-82C067D92E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13B42C-EBFC-4471-AA29-F3BD9FF46BB4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/35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3624214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707F9B6-C1AE-50CE-2215-4E583E4707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r-Latn-R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E408130-D53E-1798-88EC-5287B8FFFA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r-Latn-RS"/>
              <a:t>Click to edit Master text styles</a:t>
            </a:r>
          </a:p>
          <a:p>
            <a:pPr lvl="1"/>
            <a:r>
              <a:rPr lang="en-US" altLang="sr-Latn-RS"/>
              <a:t>Second level</a:t>
            </a:r>
          </a:p>
          <a:p>
            <a:pPr lvl="2"/>
            <a:r>
              <a:rPr lang="en-US" altLang="sr-Latn-RS"/>
              <a:t>Third level</a:t>
            </a:r>
          </a:p>
          <a:p>
            <a:pPr lvl="3"/>
            <a:r>
              <a:rPr lang="en-US" altLang="sr-Latn-RS"/>
              <a:t>Fourth level</a:t>
            </a:r>
          </a:p>
          <a:p>
            <a:pPr lvl="4"/>
            <a:r>
              <a:rPr lang="en-US" altLang="sr-Latn-R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52A75D4-5C7E-355F-1C44-33710915D12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D005C79-B8FE-8AF5-3ABF-9AD3E0EBB98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BA33DA7-D5B3-EBAA-3856-6997A6EF5AD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D35EB31-6D50-443B-8BC0-A330F34D3658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/35</a:t>
            </a:r>
            <a:endParaRPr lang="en-US" altLang="sr-Latn-R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9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CDF01DD-3295-9BB8-3467-552E6635A7F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altLang="sr-Latn-RS"/>
              <a:t>Objektno Orijentisano Programiranje 1</a:t>
            </a: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1209041C-D790-0787-C126-E5FE1336F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4292600"/>
            <a:ext cx="61198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sr-Latn-RS"/>
              <a:t>Prostorni raspored i doga</a:t>
            </a:r>
            <a:r>
              <a:rPr lang="sr-Latn-CS" altLang="sr-Latn-RS"/>
              <a:t>đaji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82C42B99-4549-69D9-458C-E0B0D85E6D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Tema</a:t>
            </a:r>
            <a:endParaRPr lang="en-US" altLang="en-US"/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D8AC27D6-79DD-55A7-162D-6BCAE13331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en-US"/>
              <a:t>Kako rasporediti komponente po prozoru?</a:t>
            </a:r>
          </a:p>
          <a:p>
            <a:r>
              <a:rPr lang="sr-Latn-RS" altLang="en-US"/>
              <a:t>Layout Manager-i</a:t>
            </a:r>
          </a:p>
          <a:p>
            <a:r>
              <a:rPr lang="sr-Latn-RS" altLang="en-US"/>
              <a:t>Event-driven model</a:t>
            </a:r>
          </a:p>
          <a:p>
            <a:r>
              <a:rPr lang="sr-Latn-RS" altLang="en-US"/>
              <a:t>Dugotrajne operacije i Event-driven model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C2C0A78-E2A4-BC42-5C92-2FFE9F056C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Šta nam je potrebno od prethodnog znanja?</a:t>
            </a:r>
            <a:endParaRPr lang="en-US" altLang="en-US"/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1946CAF8-E228-3F5B-AFD3-2D51A63F66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en-US"/>
              <a:t>Interfejsi</a:t>
            </a:r>
          </a:p>
          <a:p>
            <a:r>
              <a:rPr lang="sr-Latn-RS" altLang="en-US"/>
              <a:t>Unutrašnje klase</a:t>
            </a:r>
          </a:p>
          <a:p>
            <a:r>
              <a:rPr lang="sr-Latn-RS" altLang="en-US"/>
              <a:t>Anonimne unutrašnje klase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9333DE6-C9DF-3283-0994-4664D2CFB0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Upravljanje prostornim rasporedom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60B1028-6C08-DF57-694E-51D949DBDF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Cilj</a:t>
            </a:r>
            <a:r>
              <a:rPr lang="en-US" altLang="sr-Latn-RS"/>
              <a:t>:</a:t>
            </a:r>
            <a:r>
              <a:rPr lang="sr-Latn-CS" altLang="sr-Latn-RS"/>
              <a:t> </a:t>
            </a:r>
            <a:r>
              <a:rPr lang="en-US" altLang="sr-Latn-RS"/>
              <a:t>obezbe</a:t>
            </a:r>
            <a:r>
              <a:rPr lang="sr-Latn-CS" altLang="sr-Latn-RS"/>
              <a:t>diti konzistentan prikaz komponenti </a:t>
            </a:r>
          </a:p>
          <a:p>
            <a:pPr lvl="1" eaLnBrk="1" hangingPunct="1"/>
            <a:r>
              <a:rPr lang="sr-Latn-CS" altLang="sr-Latn-RS"/>
              <a:t>pri promeni operativnog sistema</a:t>
            </a:r>
          </a:p>
          <a:p>
            <a:pPr lvl="1" eaLnBrk="1" hangingPunct="1"/>
            <a:r>
              <a:rPr lang="sr-Latn-CS" altLang="sr-Latn-RS"/>
              <a:t>pri promeni fonta</a:t>
            </a:r>
          </a:p>
          <a:p>
            <a:pPr lvl="1" eaLnBrk="1" hangingPunct="1"/>
            <a:r>
              <a:rPr lang="en-US" altLang="sr-Latn-RS"/>
              <a:t>pri promeni geometrije kontejnera</a:t>
            </a:r>
          </a:p>
          <a:p>
            <a:pPr lvl="1" eaLnBrk="1" hangingPunct="1"/>
            <a:r>
              <a:rPr lang="en-US" altLang="sr-Latn-RS"/>
              <a:t>pri promeni jezika </a:t>
            </a:r>
            <a:endParaRPr lang="sr-Latn-CS" altLang="sr-Latn-RS"/>
          </a:p>
          <a:p>
            <a:pPr lvl="1" eaLnBrk="1" hangingPunct="1"/>
            <a:r>
              <a:rPr lang="en-US" altLang="sr-Latn-RS"/>
              <a:t>na uređajima različite rezolucije</a:t>
            </a:r>
            <a:endParaRPr lang="sr-Latn-CS" altLang="sr-Latn-R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DD6BCBD-D455-32E7-DCE4-96D64ED6A7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/>
            <a:r>
              <a:rPr lang="sr-Latn-CS" altLang="sr-Latn-RS" sz="4000"/>
              <a:t>Upravljanje prostornim rasporedom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B255EDC6-9C67-BDA9-547A-E37C1BEC04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400675"/>
          </a:xfrm>
        </p:spPr>
        <p:txBody>
          <a:bodyPr/>
          <a:lstStyle/>
          <a:p>
            <a:pPr eaLnBrk="1" hangingPunct="1"/>
            <a:r>
              <a:rPr lang="sr-Latn-CS" altLang="sr-Latn-RS" sz="2400"/>
              <a:t>U zavisnosti od vrste, upravljači mogu a i ne moraju poštovati preferirane, minimalne i maksimalne dimenzije komponenti.</a:t>
            </a:r>
          </a:p>
          <a:p>
            <a:pPr eaLnBrk="1" hangingPunct="1"/>
            <a:r>
              <a:rPr lang="sr-Latn-CS" altLang="sr-Latn-RS" sz="2400"/>
              <a:t>Navedene dimenzije komponenti se mogu podešavati </a:t>
            </a:r>
            <a:r>
              <a:rPr lang="en-US" altLang="sr-Latn-RS" sz="2400"/>
              <a:t>metodama</a:t>
            </a:r>
            <a:r>
              <a:rPr lang="sr-Latn-CS" altLang="sr-Latn-RS" sz="2400"/>
              <a:t>:</a:t>
            </a:r>
            <a:endParaRPr lang="en-US" altLang="sr-Latn-RS" sz="2400"/>
          </a:p>
          <a:p>
            <a:pPr lvl="1" eaLnBrk="1" hangingPunct="1">
              <a:buFontTx/>
              <a:buNone/>
            </a:pPr>
            <a:r>
              <a:rPr lang="en-US" altLang="sr-Latn-RS" sz="2000" i="1"/>
              <a:t>void setMinimumSize</a:t>
            </a:r>
            <a:r>
              <a:rPr lang="sr-Latn-CS" altLang="sr-Latn-RS" sz="2000" i="1"/>
              <a:t>(Dimension </a:t>
            </a:r>
            <a:r>
              <a:rPr lang="en-US" altLang="sr-Latn-RS" sz="2000" i="1"/>
              <a:t>minimum</a:t>
            </a:r>
            <a:r>
              <a:rPr lang="sr-Latn-CS" altLang="sr-Latn-RS" sz="2000" i="1"/>
              <a:t>Size)</a:t>
            </a:r>
            <a:r>
              <a:rPr lang="en-US" altLang="sr-Latn-RS" sz="2000" i="1"/>
              <a:t> </a:t>
            </a:r>
          </a:p>
          <a:p>
            <a:pPr lvl="1" eaLnBrk="1" hangingPunct="1">
              <a:buFontTx/>
              <a:buNone/>
            </a:pPr>
            <a:r>
              <a:rPr lang="en-US" altLang="sr-Latn-RS" sz="2000" i="1"/>
              <a:t>void setMaximumSize</a:t>
            </a:r>
            <a:r>
              <a:rPr lang="sr-Latn-CS" altLang="sr-Latn-RS" sz="2000" i="1"/>
              <a:t>(Dimension </a:t>
            </a:r>
            <a:r>
              <a:rPr lang="en-US" altLang="sr-Latn-RS" sz="2000" i="1"/>
              <a:t>maximum</a:t>
            </a:r>
            <a:r>
              <a:rPr lang="sr-Latn-CS" altLang="sr-Latn-RS" sz="2000" i="1"/>
              <a:t>Size)</a:t>
            </a:r>
            <a:r>
              <a:rPr lang="en-US" altLang="sr-Latn-RS" sz="2000" i="1"/>
              <a:t> </a:t>
            </a:r>
          </a:p>
          <a:p>
            <a:pPr lvl="1" eaLnBrk="1" hangingPunct="1">
              <a:buFontTx/>
              <a:buNone/>
            </a:pPr>
            <a:r>
              <a:rPr lang="sr-Latn-CS" altLang="sr-Latn-RS" sz="2000" i="1"/>
              <a:t>void setPreferredSize(Dimension preferredSize)</a:t>
            </a:r>
            <a:endParaRPr lang="en-US" altLang="sr-Latn-RS" sz="2000" i="1"/>
          </a:p>
          <a:p>
            <a:pPr lvl="1" eaLnBrk="1" hangingPunct="1">
              <a:buFontTx/>
              <a:buNone/>
            </a:pPr>
            <a:r>
              <a:rPr lang="en-US" altLang="sr-Latn-RS" sz="2000" i="1"/>
              <a:t>Primer:</a:t>
            </a:r>
          </a:p>
          <a:p>
            <a:pPr lvl="1" eaLnBrk="1" hangingPunct="1"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JButton b = new JButton(“Test”);</a:t>
            </a:r>
          </a:p>
          <a:p>
            <a:pPr lvl="1" eaLnBrk="1" hangingPunct="1"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b.</a:t>
            </a:r>
            <a:r>
              <a:rPr lang="sr-Latn-CS" altLang="sr-Latn-RS" sz="1800" b="1">
                <a:latin typeface="Courier New" panose="02070309020205020404" pitchFamily="49" charset="0"/>
              </a:rPr>
              <a:t>setPreferredSize(</a:t>
            </a:r>
            <a:r>
              <a:rPr lang="en-US" altLang="sr-Latn-RS" sz="1800" b="1">
                <a:latin typeface="Courier New" panose="02070309020205020404" pitchFamily="49" charset="0"/>
              </a:rPr>
              <a:t>new </a:t>
            </a:r>
            <a:r>
              <a:rPr lang="sr-Latn-CS" altLang="sr-Latn-RS" sz="1800" b="1">
                <a:latin typeface="Courier New" panose="02070309020205020404" pitchFamily="49" charset="0"/>
              </a:rPr>
              <a:t>Dimension</a:t>
            </a:r>
            <a:r>
              <a:rPr lang="en-US" altLang="sr-Latn-RS" sz="1800" b="1">
                <a:latin typeface="Courier New" panose="02070309020205020404" pitchFamily="49" charset="0"/>
              </a:rPr>
              <a:t>(30, 10)</a:t>
            </a:r>
            <a:r>
              <a:rPr lang="sr-Latn-CS" altLang="sr-Latn-RS" sz="1800" b="1">
                <a:latin typeface="Courier New" panose="02070309020205020404" pitchFamily="49" charset="0"/>
              </a:rPr>
              <a:t>)</a:t>
            </a:r>
            <a:r>
              <a:rPr lang="en-US" altLang="sr-Latn-RS" sz="1800" b="1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buFontTx/>
              <a:buNone/>
            </a:pPr>
            <a:endParaRPr lang="en-US" altLang="sr-Latn-RS" sz="180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sr-Latn-RS" sz="2000" i="1"/>
              <a:t>void pack() – </a:t>
            </a:r>
            <a:r>
              <a:rPr lang="en-US" altLang="sr-Latn-RS" sz="2000"/>
              <a:t>za ra</a:t>
            </a:r>
            <a:r>
              <a:rPr lang="sr-Latn-CS" altLang="sr-Latn-RS" sz="2000"/>
              <a:t>č</a:t>
            </a:r>
            <a:r>
              <a:rPr lang="en-US" altLang="sr-Latn-RS" sz="2000"/>
              <a:t>unanje</a:t>
            </a:r>
            <a:r>
              <a:rPr lang="sr-Latn-CS" altLang="sr-Latn-RS" sz="2000"/>
              <a:t> optimalnih dimenzija prozora, u skladu sa navedenim dimenzijama komponenti</a:t>
            </a:r>
            <a:endParaRPr lang="sr-Latn-CS" altLang="sr-Latn-RS" sz="2000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C34A66F-A4DE-3C34-673C-B2AED5307D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Vrste upravlja</a:t>
            </a:r>
            <a:r>
              <a:rPr lang="sr-Latn-CS" altLang="sr-Latn-RS"/>
              <a:t>ča		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EF68C9F-56C1-7398-99F1-A0E852A09D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BorderLayout</a:t>
            </a:r>
            <a:endParaRPr lang="sr-Latn-CS" altLang="sr-Latn-RS"/>
          </a:p>
          <a:p>
            <a:pPr eaLnBrk="1" hangingPunct="1"/>
            <a:r>
              <a:rPr lang="sr-Latn-CS" altLang="sr-Latn-RS"/>
              <a:t>FlowLayout</a:t>
            </a:r>
          </a:p>
          <a:p>
            <a:pPr eaLnBrk="1" hangingPunct="1"/>
            <a:r>
              <a:rPr lang="sr-Latn-CS" altLang="sr-Latn-RS"/>
              <a:t>GridLayout</a:t>
            </a:r>
          </a:p>
          <a:p>
            <a:pPr eaLnBrk="1" hangingPunct="1"/>
            <a:r>
              <a:rPr lang="sr-Latn-CS" altLang="sr-Latn-RS"/>
              <a:t>GridBagLayout</a:t>
            </a:r>
          </a:p>
          <a:p>
            <a:pPr eaLnBrk="1" hangingPunct="1"/>
            <a:r>
              <a:rPr lang="sr-Latn-CS" altLang="sr-Latn-RS"/>
              <a:t>GroupLayout</a:t>
            </a:r>
          </a:p>
          <a:p>
            <a:pPr eaLnBrk="1" hangingPunct="1"/>
            <a:r>
              <a:rPr lang="sr-Latn-CS" altLang="sr-Latn-RS"/>
              <a:t>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542F55E-CA75-6208-4FA0-B13555875A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Ako nijedan ne odgovara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60372F4-B697-0027-0680-62FC19EF0B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 sz="2800"/>
              <a:t>T</a:t>
            </a:r>
            <a:r>
              <a:rPr lang="en-US" altLang="sr-Latn-RS" sz="2800"/>
              <a:t>ada </a:t>
            </a:r>
            <a:r>
              <a:rPr lang="sr-Latn-CS" altLang="sr-Latn-RS" sz="2800"/>
              <a:t>raditi bez upravljača.</a:t>
            </a:r>
          </a:p>
          <a:p>
            <a:pPr eaLnBrk="1" hangingPunct="1"/>
            <a:r>
              <a:rPr lang="sr-Latn-CS" altLang="sr-Latn-RS" sz="2800"/>
              <a:t>Primer</a:t>
            </a:r>
            <a:r>
              <a:rPr lang="en-US" altLang="sr-Latn-RS" sz="2800"/>
              <a:t>:</a:t>
            </a:r>
          </a:p>
          <a:p>
            <a:pPr lvl="1" eaLnBrk="1" hangingPunct="1">
              <a:buFontTx/>
              <a:buNone/>
            </a:pPr>
            <a:r>
              <a:rPr lang="en-US" altLang="sr-Latn-RS" sz="2000">
                <a:latin typeface="Courier New" panose="02070309020205020404" pitchFamily="49" charset="0"/>
              </a:rPr>
              <a:t>....</a:t>
            </a:r>
          </a:p>
          <a:p>
            <a:pPr lvl="1" eaLnBrk="1" hangingPunct="1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//Postaviti Layout na null:</a:t>
            </a:r>
          </a:p>
          <a:p>
            <a:pPr lvl="1"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setLayout(null); </a:t>
            </a:r>
            <a:endParaRPr lang="en-US" altLang="sr-Latn-RS" sz="2000" b="1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setResizable(false);</a:t>
            </a:r>
          </a:p>
          <a:p>
            <a:pPr lvl="1"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JButton ok = new JButton("Ok"); </a:t>
            </a:r>
            <a:endParaRPr lang="en-US" altLang="sr-Latn-RS" sz="2000" b="1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add(ok); </a:t>
            </a:r>
            <a:endParaRPr lang="en-US" altLang="sr-Latn-RS" sz="2000" b="1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//Postavljati komponente direktno na koordinate:</a:t>
            </a:r>
          </a:p>
          <a:p>
            <a:pPr lvl="1"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ok.setBounds(10, 10, 30, 15);</a:t>
            </a:r>
            <a:r>
              <a:rPr lang="sr-Latn-CS" altLang="sr-Latn-RS" sz="2000">
                <a:latin typeface="Courier New" panose="02070309020205020404" pitchFamily="49" charset="0"/>
              </a:rPr>
              <a:t> </a:t>
            </a:r>
            <a:endParaRPr lang="en-US" altLang="sr-Latn-RS" sz="200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sr-Latn-RS" sz="2000">
                <a:latin typeface="Courier New" panose="02070309020205020404" pitchFamily="49" charset="0"/>
              </a:rPr>
              <a:t>....</a:t>
            </a:r>
          </a:p>
        </p:txBody>
      </p:sp>
      <p:sp>
        <p:nvSpPr>
          <p:cNvPr id="10244" name="Text Box 5">
            <a:extLst>
              <a:ext uri="{FF2B5EF4-FFF2-40B4-BE49-F238E27FC236}">
                <a16:creationId xmlns:a16="http://schemas.microsoft.com/office/drawing/2014/main" id="{E436987E-F5E9-C8D1-5A51-08AF13123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6216650"/>
            <a:ext cx="31321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 00 – Bez layout managera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F88813D-49C6-BFE5-EE5C-9A87D87120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BorderLayout</a:t>
            </a:r>
          </a:p>
        </p:txBody>
      </p:sp>
      <p:graphicFrame>
        <p:nvGraphicFramePr>
          <p:cNvPr id="11267" name="Object 4">
            <a:extLst>
              <a:ext uri="{FF2B5EF4-FFF2-40B4-BE49-F238E27FC236}">
                <a16:creationId xmlns:a16="http://schemas.microsoft.com/office/drawing/2014/main" id="{1356B09F-79C1-FD79-96A1-BC0FC7997F0E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6494463" y="1600200"/>
          <a:ext cx="1893887" cy="189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2200582" imgH="2200582" progId="Paint.Picture">
                  <p:embed/>
                </p:oleObj>
              </mc:Choice>
              <mc:Fallback>
                <p:oleObj name="Bitmap Image" r:id="rId2" imgW="2200582" imgH="2200582" progId="Paint.Picture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4463" y="1600200"/>
                        <a:ext cx="1893887" cy="189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Rectangle 3">
            <a:extLst>
              <a:ext uri="{FF2B5EF4-FFF2-40B4-BE49-F238E27FC236}">
                <a16:creationId xmlns:a16="http://schemas.microsoft.com/office/drawing/2014/main" id="{DA509BC8-E486-20BE-AD6F-CE4A6282C1A7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600200"/>
            <a:ext cx="5605463" cy="4525963"/>
          </a:xfrm>
        </p:spPr>
        <p:txBody>
          <a:bodyPr/>
          <a:lstStyle/>
          <a:p>
            <a:pPr eaLnBrk="1" hangingPunct="1"/>
            <a:r>
              <a:rPr lang="sr-Latn-CS" altLang="sr-Latn-RS" sz="2000"/>
              <a:t>S</a:t>
            </a:r>
            <a:r>
              <a:rPr lang="en-US" altLang="sr-Latn-RS" sz="2000"/>
              <a:t>laže komponente po stranama sveta (</a:t>
            </a:r>
            <a:r>
              <a:rPr lang="sr-Latn-CS" altLang="sr-Latn-RS" sz="2000"/>
              <a:t>BorderLayout.</a:t>
            </a:r>
            <a:r>
              <a:rPr lang="en-US" altLang="sr-Latn-RS" sz="2000"/>
              <a:t>NORTH, </a:t>
            </a:r>
            <a:r>
              <a:rPr lang="sr-Latn-CS" altLang="sr-Latn-RS" sz="2000"/>
              <a:t>BorderLayout.S</a:t>
            </a:r>
            <a:r>
              <a:rPr lang="en-US" altLang="sr-Latn-RS" sz="2000"/>
              <a:t>OUTH, </a:t>
            </a:r>
            <a:r>
              <a:rPr lang="sr-Latn-CS" altLang="sr-Latn-RS" sz="2000"/>
              <a:t>BorderLayout.</a:t>
            </a:r>
            <a:r>
              <a:rPr lang="en-US" altLang="sr-Latn-RS" sz="2000"/>
              <a:t>EAST, </a:t>
            </a:r>
            <a:r>
              <a:rPr lang="sr-Latn-CS" altLang="sr-Latn-RS" sz="2000"/>
              <a:t>BorderLayout.</a:t>
            </a:r>
            <a:r>
              <a:rPr lang="en-US" altLang="sr-Latn-RS" sz="2000"/>
              <a:t>WEST i </a:t>
            </a:r>
            <a:r>
              <a:rPr lang="sr-Latn-CS" altLang="sr-Latn-RS" sz="2000"/>
              <a:t>BorderLayout.</a:t>
            </a:r>
            <a:r>
              <a:rPr lang="en-US" altLang="sr-Latn-RS" sz="2000"/>
              <a:t>CENTER).</a:t>
            </a:r>
          </a:p>
          <a:p>
            <a:pPr eaLnBrk="1" hangingPunct="1"/>
            <a:r>
              <a:rPr lang="sr-Latn-CS" altLang="sr-Latn-RS" sz="2000"/>
              <a:t>P</a:t>
            </a:r>
            <a:r>
              <a:rPr lang="en-US" altLang="sr-Latn-RS" sz="2000"/>
              <a:t>rvo podesi veličin</a:t>
            </a:r>
            <a:r>
              <a:rPr lang="sr-Latn-CS" altLang="sr-Latn-RS" sz="2000"/>
              <a:t>u</a:t>
            </a:r>
            <a:r>
              <a:rPr lang="en-US" altLang="sr-Latn-RS" sz="2000"/>
              <a:t> severne i južne komponente tako </a:t>
            </a:r>
            <a:r>
              <a:rPr lang="sr-Latn-CS" altLang="sr-Latn-RS" sz="2000"/>
              <a:t>što </a:t>
            </a:r>
            <a:r>
              <a:rPr lang="en-US" altLang="sr-Latn-RS" sz="2000"/>
              <a:t>uzme preferiran</a:t>
            </a:r>
            <a:r>
              <a:rPr lang="sr-Latn-CS" altLang="sr-Latn-RS" sz="2000"/>
              <a:t>u</a:t>
            </a:r>
            <a:r>
              <a:rPr lang="en-US" altLang="sr-Latn-RS" sz="2000"/>
              <a:t> visin</a:t>
            </a:r>
            <a:r>
              <a:rPr lang="sr-Latn-CS" altLang="sr-Latn-RS" sz="2000"/>
              <a:t>u</a:t>
            </a:r>
            <a:r>
              <a:rPr lang="en-US" altLang="sr-Latn-RS" sz="2000"/>
              <a:t> </a:t>
            </a:r>
            <a:r>
              <a:rPr lang="sr-Latn-CS" altLang="sr-Latn-RS" sz="2000"/>
              <a:t>komponti, </a:t>
            </a:r>
            <a:r>
              <a:rPr lang="en-US" altLang="sr-Latn-RS" sz="2000"/>
              <a:t>a za širinu uzima širin</a:t>
            </a:r>
            <a:r>
              <a:rPr lang="sr-Latn-CS" altLang="sr-Latn-RS" sz="2000"/>
              <a:t>u</a:t>
            </a:r>
            <a:r>
              <a:rPr lang="en-US" altLang="sr-Latn-RS" sz="2000"/>
              <a:t> kontejnera</a:t>
            </a:r>
            <a:r>
              <a:rPr lang="sr-Latn-CS" altLang="sr-Latn-RS" sz="2000"/>
              <a:t>. </a:t>
            </a:r>
          </a:p>
          <a:p>
            <a:pPr eaLnBrk="1" hangingPunct="1"/>
            <a:r>
              <a:rPr lang="en-US" altLang="sr-Latn-RS" sz="2000"/>
              <a:t>Zatim </a:t>
            </a:r>
            <a:r>
              <a:rPr lang="sr-Latn-CS" altLang="sr-Latn-RS" sz="2000"/>
              <a:t>postavi </a:t>
            </a:r>
            <a:r>
              <a:rPr lang="en-US" altLang="sr-Latn-RS" sz="2000"/>
              <a:t>veličin</a:t>
            </a:r>
            <a:r>
              <a:rPr lang="sr-Latn-CS" altLang="sr-Latn-RS" sz="2000"/>
              <a:t>u</a:t>
            </a:r>
            <a:r>
              <a:rPr lang="en-US" altLang="sr-Latn-RS" sz="2000"/>
              <a:t> istočne i zapadne komponente tako što </a:t>
            </a:r>
            <a:r>
              <a:rPr lang="sr-Latn-CS" altLang="sr-Latn-RS" sz="2000"/>
              <a:t>zadrži </a:t>
            </a:r>
            <a:r>
              <a:rPr lang="en-US" altLang="sr-Latn-RS" sz="2000"/>
              <a:t>njihov</a:t>
            </a:r>
            <a:r>
              <a:rPr lang="sr-Latn-CS" altLang="sr-Latn-RS" sz="2000"/>
              <a:t>u</a:t>
            </a:r>
            <a:r>
              <a:rPr lang="en-US" altLang="sr-Latn-RS" sz="2000"/>
              <a:t> preferiran</a:t>
            </a:r>
            <a:r>
              <a:rPr lang="sr-Latn-CS" altLang="sr-Latn-RS" sz="2000"/>
              <a:t>u</a:t>
            </a:r>
            <a:r>
              <a:rPr lang="en-US" altLang="sr-Latn-RS" sz="2000"/>
              <a:t> širin</a:t>
            </a:r>
            <a:r>
              <a:rPr lang="sr-Latn-CS" altLang="sr-Latn-RS" sz="2000"/>
              <a:t>u, dok</a:t>
            </a:r>
            <a:r>
              <a:rPr lang="en-US" altLang="sr-Latn-RS" sz="2000"/>
              <a:t> visinu </a:t>
            </a:r>
            <a:r>
              <a:rPr lang="sr-Latn-CS" altLang="sr-Latn-RS" sz="2000"/>
              <a:t>proširi na ceo preostali prostor.</a:t>
            </a:r>
          </a:p>
          <a:p>
            <a:pPr eaLnBrk="1" hangingPunct="1"/>
            <a:r>
              <a:rPr lang="sr-Latn-CS" altLang="sr-Latn-RS" sz="2000"/>
              <a:t>Ostatak u potpunosti </a:t>
            </a:r>
            <a:r>
              <a:rPr lang="en-US" altLang="sr-Latn-RS" sz="2000"/>
              <a:t>dodeljuje centralnoj komponenti</a:t>
            </a:r>
            <a:r>
              <a:rPr lang="sr-Latn-CS" altLang="sr-Latn-RS" sz="2000"/>
              <a:t>.</a:t>
            </a:r>
          </a:p>
        </p:txBody>
      </p:sp>
      <p:sp>
        <p:nvSpPr>
          <p:cNvPr id="11269" name="Text Box 5">
            <a:extLst>
              <a:ext uri="{FF2B5EF4-FFF2-40B4-BE49-F238E27FC236}">
                <a16:creationId xmlns:a16="http://schemas.microsoft.com/office/drawing/2014/main" id="{EA9BBE73-AB88-816C-A134-3612393D1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2980" y="6220942"/>
            <a:ext cx="31321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 01 - BorderLayoutTest.java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591FE99-E9C0-7A21-3612-B43F5CEE8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BorderLayout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14546CA-0728-68ED-9AD8-5E5A3AE8F7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Podrazumevani upravljač za JFrame je BorderLayout.</a:t>
            </a:r>
          </a:p>
          <a:p>
            <a:pPr eaLnBrk="1" hangingPunct="1"/>
            <a:r>
              <a:rPr lang="sr-Latn-CS" altLang="sr-Latn-RS"/>
              <a:t>Raspoloživi konstruktori</a:t>
            </a:r>
            <a:r>
              <a:rPr lang="en-US" altLang="sr-Latn-RS"/>
              <a:t>:</a:t>
            </a:r>
          </a:p>
          <a:p>
            <a:pPr lvl="1" eaLnBrk="1" hangingPunct="1"/>
            <a:r>
              <a:rPr lang="en-US" altLang="sr-Latn-RS"/>
              <a:t>BorderLayout()</a:t>
            </a:r>
          </a:p>
          <a:p>
            <a:pPr lvl="1" eaLnBrk="1" hangingPunct="1"/>
            <a:r>
              <a:rPr lang="en-US" altLang="sr-Latn-RS"/>
              <a:t>BorderLayout(i</a:t>
            </a:r>
            <a:r>
              <a:rPr lang="sr-Latn-CS" altLang="sr-Latn-RS"/>
              <a:t>nt hgap, int vgap</a:t>
            </a:r>
            <a:r>
              <a:rPr lang="en-US" altLang="sr-Latn-RS"/>
              <a:t>) pravi razmak</a:t>
            </a:r>
            <a:r>
              <a:rPr lang="sr-Latn-CS" altLang="sr-Latn-RS"/>
              <a:t> (hgap, vgap) u pikselima između zona)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DC7CD8F-46D3-7F78-63B6-546D2C85F1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FlowLayout</a:t>
            </a:r>
          </a:p>
        </p:txBody>
      </p:sp>
      <p:pic>
        <p:nvPicPr>
          <p:cNvPr id="13315" name="Picture 4">
            <a:extLst>
              <a:ext uri="{FF2B5EF4-FFF2-40B4-BE49-F238E27FC236}">
                <a16:creationId xmlns:a16="http://schemas.microsoft.com/office/drawing/2014/main" id="{210927BD-79BC-0DBD-7F19-CB2AF368BBA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87900" y="1916113"/>
            <a:ext cx="3362325" cy="1666875"/>
          </a:xfrm>
          <a:noFill/>
        </p:spPr>
      </p:pic>
      <p:sp>
        <p:nvSpPr>
          <p:cNvPr id="13316" name="Rectangle 3">
            <a:extLst>
              <a:ext uri="{FF2B5EF4-FFF2-40B4-BE49-F238E27FC236}">
                <a16:creationId xmlns:a16="http://schemas.microsoft.com/office/drawing/2014/main" id="{5D2361D3-50A2-A3BF-0DAF-DAA14AF078D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600200"/>
            <a:ext cx="4503738" cy="4525963"/>
          </a:xfrm>
        </p:spPr>
        <p:txBody>
          <a:bodyPr/>
          <a:lstStyle/>
          <a:p>
            <a:pPr eaLnBrk="1" hangingPunct="1"/>
            <a:r>
              <a:rPr lang="en-US" altLang="sr-Latn-RS" sz="2800"/>
              <a:t>Slaže komponente </a:t>
            </a:r>
            <a:r>
              <a:rPr lang="sr-Latn-CS" altLang="sr-Latn-RS" sz="2800"/>
              <a:t>po horizontali </a:t>
            </a:r>
            <a:r>
              <a:rPr lang="en-US" altLang="sr-Latn-RS" sz="2800"/>
              <a:t>poštujući preferiranu veličinu</a:t>
            </a:r>
            <a:r>
              <a:rPr lang="sr-Latn-CS" altLang="sr-Latn-RS" sz="2800"/>
              <a:t>.</a:t>
            </a:r>
          </a:p>
          <a:p>
            <a:pPr eaLnBrk="1" hangingPunct="1"/>
            <a:r>
              <a:rPr lang="en-US" altLang="sr-Latn-RS" sz="2800"/>
              <a:t>Kada više nema mesta u </a:t>
            </a:r>
            <a:r>
              <a:rPr lang="sr-Latn-CS" altLang="sr-Latn-RS" sz="2800"/>
              <a:t>tekućem </a:t>
            </a:r>
            <a:r>
              <a:rPr lang="en-US" altLang="sr-Latn-RS" sz="2800"/>
              <a:t>redu prelazi u novi</a:t>
            </a:r>
            <a:r>
              <a:rPr lang="sr-Latn-CS" altLang="sr-Latn-RS" sz="2800"/>
              <a:t>.</a:t>
            </a:r>
          </a:p>
          <a:p>
            <a:pPr eaLnBrk="1" hangingPunct="1"/>
            <a:r>
              <a:rPr lang="sr-Latn-CS" altLang="sr-Latn-RS" sz="2800"/>
              <a:t>Komponente može da slaže poravnato u levo, u desno i centrirano.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D7D0FB5-E9F9-D2AF-9CE5-4C6BEF6095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FlowLayout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B7770C51-A61D-8C9C-10EF-88EB2B8788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 sz="2800"/>
              <a:t>Podrazumevani upravljač za JPanel je FlowLayout.</a:t>
            </a:r>
          </a:p>
          <a:p>
            <a:pPr eaLnBrk="1" hangingPunct="1"/>
            <a:r>
              <a:rPr lang="en-US" altLang="sr-Latn-RS" sz="2800"/>
              <a:t>Kontruktori</a:t>
            </a:r>
          </a:p>
          <a:p>
            <a:pPr lvl="1" eaLnBrk="1" hangingPunct="1"/>
            <a:r>
              <a:rPr lang="sr-Latn-CS" altLang="sr-Latn-RS" sz="2400"/>
              <a:t>FlowLayout()</a:t>
            </a:r>
            <a:endParaRPr lang="en-US" altLang="sr-Latn-RS" sz="2400"/>
          </a:p>
          <a:p>
            <a:pPr lvl="1" eaLnBrk="1" hangingPunct="1"/>
            <a:r>
              <a:rPr lang="sr-Latn-CS" altLang="sr-Latn-RS" sz="2400"/>
              <a:t>FlowLayout(int align)</a:t>
            </a:r>
            <a:r>
              <a:rPr lang="en-US" altLang="sr-Latn-RS" sz="2400"/>
              <a:t>, gde je align poravnjanje komponenti: </a:t>
            </a:r>
            <a:r>
              <a:rPr lang="sr-Latn-CS" altLang="sr-Latn-RS" sz="2400"/>
              <a:t>FlowLayout</a:t>
            </a:r>
            <a:r>
              <a:rPr lang="en-US" altLang="sr-Latn-RS" sz="2400"/>
              <a:t>.</a:t>
            </a:r>
            <a:r>
              <a:rPr lang="sr-Latn-CS" altLang="sr-Latn-RS" sz="2400"/>
              <a:t>LEFT, FlowLayout</a:t>
            </a:r>
            <a:r>
              <a:rPr lang="en-US" altLang="sr-Latn-RS" sz="2400"/>
              <a:t>.</a:t>
            </a:r>
            <a:r>
              <a:rPr lang="sr-Latn-CS" altLang="sr-Latn-RS" sz="2400"/>
              <a:t>CENTER, FlowLayout</a:t>
            </a:r>
            <a:r>
              <a:rPr lang="en-US" altLang="sr-Latn-RS" sz="2400"/>
              <a:t>.</a:t>
            </a:r>
            <a:r>
              <a:rPr lang="sr-Latn-CS" altLang="sr-Latn-RS" sz="2400"/>
              <a:t>RIGHT</a:t>
            </a:r>
          </a:p>
          <a:p>
            <a:pPr lvl="1" eaLnBrk="1" hangingPunct="1"/>
            <a:r>
              <a:rPr lang="sr-Latn-CS" altLang="sr-Latn-RS" sz="2400"/>
              <a:t>FlowLayout(int align, int hgap, int vgap)</a:t>
            </a:r>
            <a:r>
              <a:rPr lang="en-US" altLang="sr-Latn-RS" sz="2400"/>
              <a:t>, gde je align poravnjanje, a hgap i vgap horizontalno i vertikalno rastojanje u pikselima izme</a:t>
            </a:r>
            <a:r>
              <a:rPr lang="sr-Latn-CS" altLang="sr-Latn-RS" sz="2400"/>
              <a:t>đu komponenti</a:t>
            </a:r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208F5EE1-D526-32A3-19FC-DB8CCF350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880" y="6204164"/>
            <a:ext cx="31321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 02 - FlowLayoutTest.java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693EFFE-5DA5-6637-2D41-5D6336F5A4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GridLayout</a:t>
            </a:r>
          </a:p>
        </p:txBody>
      </p:sp>
      <p:graphicFrame>
        <p:nvGraphicFramePr>
          <p:cNvPr id="15363" name="Object 4">
            <a:extLst>
              <a:ext uri="{FF2B5EF4-FFF2-40B4-BE49-F238E27FC236}">
                <a16:creationId xmlns:a16="http://schemas.microsoft.com/office/drawing/2014/main" id="{46BAE848-2AD5-D887-29B0-3D4ECF3503B1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5945188" y="1919288"/>
          <a:ext cx="179070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790476" imgH="1162212" progId="Paint.Picture">
                  <p:embed/>
                </p:oleObj>
              </mc:Choice>
              <mc:Fallback>
                <p:oleObj name="Bitmap Image" r:id="rId2" imgW="1790476" imgH="1162212" progId="Paint.Picture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5188" y="1919288"/>
                        <a:ext cx="1790700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Rectangle 3">
            <a:extLst>
              <a:ext uri="{FF2B5EF4-FFF2-40B4-BE49-F238E27FC236}">
                <a16:creationId xmlns:a16="http://schemas.microsoft.com/office/drawing/2014/main" id="{1BAB9D68-D51C-C37D-C827-36975116EB4F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600200"/>
            <a:ext cx="4697413" cy="5068888"/>
          </a:xfrm>
        </p:spPr>
        <p:txBody>
          <a:bodyPr/>
          <a:lstStyle/>
          <a:p>
            <a:pPr eaLnBrk="1" hangingPunct="1"/>
            <a:r>
              <a:rPr lang="en-US" altLang="sr-Latn-RS" sz="2400"/>
              <a:t>Raspoređuje komponente u mrežu </a:t>
            </a:r>
            <a:r>
              <a:rPr lang="sr-Latn-CS" altLang="sr-Latn-RS" sz="2400"/>
              <a:t>sa zadatim brojem redova i kolona.</a:t>
            </a:r>
          </a:p>
          <a:p>
            <a:pPr eaLnBrk="1" hangingPunct="1"/>
            <a:r>
              <a:rPr lang="sr-Latn-CS" altLang="sr-Latn-RS" sz="2400"/>
              <a:t>Sve </a:t>
            </a:r>
            <a:r>
              <a:rPr lang="en-US" altLang="sr-Latn-RS" sz="2400"/>
              <a:t>ćelije </a:t>
            </a:r>
            <a:r>
              <a:rPr lang="sr-Latn-CS" altLang="sr-Latn-RS" sz="2400"/>
              <a:t>mreže su </a:t>
            </a:r>
            <a:r>
              <a:rPr lang="en-US" altLang="sr-Latn-RS" sz="2400"/>
              <a:t>jednake veličine</a:t>
            </a:r>
            <a:r>
              <a:rPr lang="sr-Latn-CS" altLang="sr-Latn-RS" sz="2400"/>
              <a:t>.</a:t>
            </a:r>
          </a:p>
          <a:p>
            <a:pPr eaLnBrk="1" hangingPunct="1"/>
            <a:r>
              <a:rPr lang="en-US" altLang="sr-Latn-RS" sz="2400"/>
              <a:t>Ne poštuje preferirane, minimalne ni maksimalne veličine komponenti</a:t>
            </a:r>
            <a:r>
              <a:rPr lang="sr-Latn-CS" altLang="sr-Latn-RS" sz="2400"/>
              <a:t>.</a:t>
            </a:r>
          </a:p>
          <a:p>
            <a:pPr eaLnBrk="1" hangingPunct="1"/>
            <a:r>
              <a:rPr lang="sr-Latn-CS" altLang="sr-Latn-RS" sz="2400"/>
              <a:t>Pozicija komponente se određuje na osnovu redosleda ubacivanja u kontejner (raspored se vrši s leva na desno, odozgo na dole).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5D0F837-71CB-4C6A-C616-B05875EA2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GridLayout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5372C7F-86EC-35E4-7E43-EEAB68D59F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Konstruktori</a:t>
            </a:r>
          </a:p>
          <a:p>
            <a:pPr lvl="1" eaLnBrk="1" hangingPunct="1"/>
            <a:r>
              <a:rPr lang="sr-Latn-CS" altLang="sr-Latn-RS"/>
              <a:t>GridLayout()</a:t>
            </a:r>
            <a:endParaRPr lang="en-US" altLang="sr-Latn-RS"/>
          </a:p>
          <a:p>
            <a:pPr lvl="1" eaLnBrk="1" hangingPunct="1"/>
            <a:r>
              <a:rPr lang="sr-Latn-CS" altLang="sr-Latn-RS"/>
              <a:t>GridLayout(int rows, int cols)</a:t>
            </a:r>
            <a:r>
              <a:rPr lang="en-US" altLang="sr-Latn-RS"/>
              <a:t>, gde </a:t>
            </a:r>
            <a:r>
              <a:rPr lang="sr-Latn-CS" altLang="sr-Latn-RS"/>
              <a:t>su</a:t>
            </a:r>
            <a:r>
              <a:rPr lang="en-US" altLang="sr-Latn-RS"/>
              <a:t> </a:t>
            </a:r>
            <a:r>
              <a:rPr lang="sr-Latn-CS" altLang="sr-Latn-RS"/>
              <a:t>rows i cols broj redova i kolona</a:t>
            </a:r>
          </a:p>
          <a:p>
            <a:pPr lvl="1" eaLnBrk="1" hangingPunct="1"/>
            <a:r>
              <a:rPr lang="sr-Latn-CS" altLang="sr-Latn-RS"/>
              <a:t>GridLayout(int rows, int cols, int hgap, int vgap)</a:t>
            </a:r>
            <a:r>
              <a:rPr lang="en-US" altLang="sr-Latn-RS"/>
              <a:t>, gde </a:t>
            </a:r>
            <a:r>
              <a:rPr lang="sr-Latn-CS" altLang="sr-Latn-RS"/>
              <a:t>su rows i cols broj redova i kolona</a:t>
            </a:r>
            <a:r>
              <a:rPr lang="en-US" altLang="sr-Latn-RS"/>
              <a:t>, a hgap i vgap horizontalno i vertikalno rastojanje u pikselima izme</a:t>
            </a:r>
            <a:r>
              <a:rPr lang="sr-Latn-CS" altLang="sr-Latn-RS"/>
              <a:t>đu ćelija</a:t>
            </a:r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DFF04088-4F7D-70B0-6AE4-D6CFEE569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5805488"/>
            <a:ext cx="3241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 03 - GridLayoutTest.java</a:t>
            </a:r>
          </a:p>
        </p:txBody>
      </p:sp>
      <p:sp>
        <p:nvSpPr>
          <p:cNvPr id="16389" name="Text Box 5">
            <a:extLst>
              <a:ext uri="{FF2B5EF4-FFF2-40B4-BE49-F238E27FC236}">
                <a16:creationId xmlns:a16="http://schemas.microsoft.com/office/drawing/2014/main" id="{19326F3B-51BA-B3EF-C6CB-68A095C7E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6237288"/>
            <a:ext cx="35290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 04 - CalculatorFrame.java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D6A6791-6FFF-680B-C7CA-C1E1C9B871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GridBagLayout</a:t>
            </a:r>
            <a:endParaRPr lang="sr-Latn-CS" altLang="sr-Latn-RS"/>
          </a:p>
        </p:txBody>
      </p:sp>
      <p:graphicFrame>
        <p:nvGraphicFramePr>
          <p:cNvPr id="17411" name="Object 4">
            <a:extLst>
              <a:ext uri="{FF2B5EF4-FFF2-40B4-BE49-F238E27FC236}">
                <a16:creationId xmlns:a16="http://schemas.microsoft.com/office/drawing/2014/main" id="{36A46DA2-AEA7-DC7E-6A18-A8C8649C5FAF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5157788" y="3036888"/>
          <a:ext cx="3124200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123810" imgH="2076740" progId="Paint.Picture">
                  <p:embed/>
                </p:oleObj>
              </mc:Choice>
              <mc:Fallback>
                <p:oleObj name="Bitmap Image" r:id="rId2" imgW="3123810" imgH="2076740" progId="Paint.Picture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7788" y="3036888"/>
                        <a:ext cx="3124200" cy="207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Rectangle 3">
            <a:extLst>
              <a:ext uri="{FF2B5EF4-FFF2-40B4-BE49-F238E27FC236}">
                <a16:creationId xmlns:a16="http://schemas.microsoft.com/office/drawing/2014/main" id="{9D735D6C-1D16-B8B5-2F84-2DA504C4E677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600200"/>
            <a:ext cx="4046538" cy="4525963"/>
          </a:xfrm>
        </p:spPr>
        <p:txBody>
          <a:bodyPr/>
          <a:lstStyle/>
          <a:p>
            <a:pPr eaLnBrk="1" hangingPunct="1"/>
            <a:r>
              <a:rPr lang="en-US" altLang="sr-Latn-RS" sz="2800"/>
              <a:t>Kompleksan upravljač koji koristi mrežu slično GridLayout-u s tom razlikom što komponente mogu zauz</a:t>
            </a:r>
            <a:r>
              <a:rPr lang="sr-Latn-CS" altLang="sr-Latn-RS" sz="2800"/>
              <a:t>i</a:t>
            </a:r>
            <a:r>
              <a:rPr lang="en-US" altLang="sr-Latn-RS" sz="2800"/>
              <a:t>mati više ćelija</a:t>
            </a:r>
            <a:r>
              <a:rPr lang="sr-Latn-CS" altLang="sr-Latn-RS" sz="2800"/>
              <a:t>.</a:t>
            </a:r>
            <a:endParaRPr lang="en-US" altLang="sr-Latn-RS" sz="2800"/>
          </a:p>
          <a:p>
            <a:pPr eaLnBrk="1" hangingPunct="1"/>
            <a:r>
              <a:rPr lang="en-US" altLang="sr-Latn-RS" sz="2800"/>
              <a:t>Kolone i vrste mogu imati različite dimenzije</a:t>
            </a:r>
            <a:r>
              <a:rPr lang="sr-Latn-CS" altLang="sr-Latn-RS" sz="2800"/>
              <a:t>.</a:t>
            </a:r>
          </a:p>
          <a:p>
            <a:pPr eaLnBrk="1" hangingPunct="1"/>
            <a:endParaRPr lang="sr-Latn-CS" altLang="sr-Latn-RS" sz="2800"/>
          </a:p>
        </p:txBody>
      </p:sp>
      <p:sp>
        <p:nvSpPr>
          <p:cNvPr id="96261" name="Text Box 5">
            <a:extLst>
              <a:ext uri="{FF2B5EF4-FFF2-40B4-BE49-F238E27FC236}">
                <a16:creationId xmlns:a16="http://schemas.microsoft.com/office/drawing/2014/main" id="{35999450-E0C5-1285-B11D-920764AFF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1196975"/>
            <a:ext cx="18716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sr-Latn-CS" sz="360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D231D5F-BF01-AE55-163D-515FEAFEE2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GridBagLayout</a:t>
            </a:r>
            <a:r>
              <a:rPr lang="sr-Latn-CS" altLang="sr-Latn-RS"/>
              <a:t> – način unosa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BBE603A-D8B0-7AD0-3DD3-53837C280A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Kreirati GridBagLayout i pridružiti ga kontejneru.</a:t>
            </a:r>
          </a:p>
          <a:p>
            <a:pPr eaLnBrk="1" hangingPunct="1"/>
            <a:r>
              <a:rPr lang="sr-Latn-CS" altLang="sr-Latn-RS"/>
              <a:t>Za svaku komponentu</a:t>
            </a:r>
          </a:p>
          <a:p>
            <a:pPr lvl="1" eaLnBrk="1" hangingPunct="1"/>
            <a:r>
              <a:rPr lang="sr-Latn-CS" altLang="sr-Latn-RS"/>
              <a:t>kreirati komponentu,</a:t>
            </a:r>
          </a:p>
          <a:p>
            <a:pPr lvl="1" eaLnBrk="1" hangingPunct="1"/>
            <a:r>
              <a:rPr lang="sr-Latn-CS" altLang="sr-Latn-RS"/>
              <a:t>kreirati njen </a:t>
            </a:r>
            <a:r>
              <a:rPr lang="sr-Latn-CS" altLang="sr-Latn-RS" i="1"/>
              <a:t>constraint</a:t>
            </a:r>
            <a:r>
              <a:rPr lang="sr-Latn-CS" altLang="sr-Latn-RS"/>
              <a:t> objekat koji joj definiše položaj i ponašanje u okviru kontejnera i </a:t>
            </a:r>
          </a:p>
          <a:p>
            <a:pPr lvl="1" eaLnBrk="1" hangingPunct="1"/>
            <a:r>
              <a:rPr lang="sr-Latn-CS" altLang="sr-Latn-RS"/>
              <a:t>uneti je u kontejner.</a:t>
            </a:r>
          </a:p>
          <a:p>
            <a:pPr eaLnBrk="1" hangingPunct="1"/>
            <a:endParaRPr lang="sr-Latn-CS" altLang="sr-Latn-R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3D8B285-D20B-90EF-4647-84E8F5F111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GridBagLayout</a:t>
            </a:r>
            <a:endParaRPr lang="sr-Latn-CS" altLang="sr-Latn-R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17F2303-69C7-D712-3A94-B6B20ECDBD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/>
              <a:t>Primer</a:t>
            </a:r>
            <a:r>
              <a:rPr lang="en-US" altLang="sr-Latn-RS"/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/>
              <a:t>      ...........</a:t>
            </a:r>
            <a:endParaRPr lang="en-US" altLang="sr-Latn-RS" sz="200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GridBagLayout layout = new GridBagLayout(); </a:t>
            </a:r>
            <a:endParaRPr lang="en-US" altLang="sr-Latn-RS" sz="1800" b="1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setLayout(layout); </a:t>
            </a:r>
          </a:p>
          <a:p>
            <a:pPr lvl="1"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GridBagConstraints constraints = new GridBagConstraints(); </a:t>
            </a:r>
            <a:endParaRPr lang="en-US" altLang="sr-Latn-RS" sz="1800" b="1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constraints.gridx = 0; </a:t>
            </a:r>
            <a:r>
              <a:rPr lang="en-US" altLang="sr-Latn-RS" sz="1800" b="1">
                <a:latin typeface="Courier New" panose="02070309020205020404" pitchFamily="49" charset="0"/>
              </a:rPr>
              <a:t>//Kolona 0</a:t>
            </a:r>
            <a:endParaRPr lang="sr-Latn-CS" altLang="sr-Latn-RS" sz="1800" b="1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constraints.gridy = 2; </a:t>
            </a:r>
            <a:r>
              <a:rPr lang="en-US" altLang="sr-Latn-RS" sz="1800" b="1">
                <a:latin typeface="Courier New" panose="02070309020205020404" pitchFamily="49" charset="0"/>
              </a:rPr>
              <a:t>//Treci red</a:t>
            </a:r>
            <a:endParaRPr lang="sr-Latn-CS" altLang="sr-Latn-RS" sz="1800" b="1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constraints.gridwidth = 2; </a:t>
            </a:r>
            <a:r>
              <a:rPr lang="en-US" altLang="sr-Latn-RS" sz="1800" b="1">
                <a:latin typeface="Courier New" panose="02070309020205020404" pitchFamily="49" charset="0"/>
              </a:rPr>
              <a:t>//Zauzima 2 celije</a:t>
            </a:r>
            <a:endParaRPr lang="sr-Latn-CS" altLang="sr-Latn-RS" sz="1800" b="1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constraints.gridheight = 1; </a:t>
            </a:r>
            <a:r>
              <a:rPr lang="en-US" altLang="sr-Latn-RS" sz="1800" b="1">
                <a:latin typeface="Courier New" panose="02070309020205020404" pitchFamily="49" charset="0"/>
              </a:rPr>
              <a:t>// i jedan red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JButton butt</a:t>
            </a:r>
            <a:r>
              <a:rPr lang="en-US" altLang="sr-Latn-RS" sz="1800" b="1">
                <a:latin typeface="Courier New" panose="02070309020205020404" pitchFamily="49" charset="0"/>
              </a:rPr>
              <a:t>on</a:t>
            </a:r>
            <a:r>
              <a:rPr lang="sr-Latn-CS" altLang="sr-Latn-RS" sz="1800" b="1">
                <a:latin typeface="Courier New" panose="02070309020205020404" pitchFamily="49" charset="0"/>
              </a:rPr>
              <a:t> = new JButton("Ok"); </a:t>
            </a:r>
            <a:endParaRPr lang="en-US" altLang="sr-Latn-RS" sz="1800" b="1">
              <a:latin typeface="Courier New" panose="02070309020205020404" pitchFamily="49" charset="0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getContentPane().add(</a:t>
            </a:r>
            <a:r>
              <a:rPr lang="en-US" altLang="sr-Latn-RS" sz="1800" b="1">
                <a:latin typeface="Courier New" panose="02070309020205020404" pitchFamily="49" charset="0"/>
              </a:rPr>
              <a:t>button, </a:t>
            </a:r>
            <a:r>
              <a:rPr lang="sr-Latn-CS" altLang="sr-Latn-RS" sz="1800" b="1">
                <a:latin typeface="Courier New" panose="02070309020205020404" pitchFamily="49" charset="0"/>
              </a:rPr>
              <a:t>constraints); </a:t>
            </a:r>
            <a:endParaRPr lang="en-US" altLang="sr-Latn-RS" sz="1800" b="1">
              <a:latin typeface="Courier New" panose="02070309020205020404" pitchFamily="49" charset="0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sr-Latn-RS" sz="1800">
                <a:latin typeface="Courier New" panose="02070309020205020404" pitchFamily="49" charset="0"/>
              </a:rPr>
              <a:t>..............</a:t>
            </a:r>
            <a:endParaRPr lang="sr-Latn-CS" altLang="sr-Latn-RS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459BDC2-9776-1640-22A9-678B3D117D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GridBagLayout – parametri  constraint-a</a:t>
            </a:r>
            <a:endParaRPr lang="sr-Latn-CS" altLang="sr-Latn-RS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E51AE62-2BC9-B2F0-C983-F3881871D8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 sz="2000"/>
              <a:t>int </a:t>
            </a:r>
            <a:r>
              <a:rPr lang="sr-Latn-CS" altLang="sr-Latn-RS" sz="2000"/>
              <a:t>gridx, gridy</a:t>
            </a:r>
            <a:r>
              <a:rPr lang="en-US" altLang="sr-Latn-RS" sz="2000"/>
              <a:t> – </a:t>
            </a:r>
            <a:r>
              <a:rPr lang="sr-Latn-CS" altLang="sr-Latn-RS" sz="2000"/>
              <a:t>k</a:t>
            </a:r>
            <a:r>
              <a:rPr lang="en-US" altLang="sr-Latn-RS" sz="2000"/>
              <a:t>olona i vrsta komponente (po</a:t>
            </a:r>
            <a:r>
              <a:rPr lang="sr-Latn-CS" altLang="sr-Latn-RS" sz="2000"/>
              <a:t>čevši od nule)</a:t>
            </a:r>
            <a:endParaRPr lang="en-US" altLang="sr-Latn-RS" sz="2000"/>
          </a:p>
          <a:p>
            <a:pPr eaLnBrk="1" hangingPunct="1"/>
            <a:r>
              <a:rPr lang="en-US" altLang="sr-Latn-RS" sz="2000"/>
              <a:t>int </a:t>
            </a:r>
            <a:r>
              <a:rPr lang="sr-Latn-CS" altLang="sr-Latn-RS" sz="2000"/>
              <a:t>gridwidth, gridheight – u koliko kolona i redova se komponenta prostire</a:t>
            </a:r>
            <a:r>
              <a:rPr lang="en-US" altLang="sr-Latn-RS" sz="2000"/>
              <a:t> (default 1)</a:t>
            </a:r>
            <a:endParaRPr lang="sr-Latn-CS" altLang="sr-Latn-RS" sz="2000"/>
          </a:p>
          <a:p>
            <a:pPr eaLnBrk="1" hangingPunct="1"/>
            <a:r>
              <a:rPr lang="en-US" altLang="sr-Latn-RS" sz="2000"/>
              <a:t>int </a:t>
            </a:r>
            <a:r>
              <a:rPr lang="sr-Latn-CS" altLang="sr-Latn-RS" sz="2000"/>
              <a:t>weight</a:t>
            </a:r>
            <a:r>
              <a:rPr lang="en-US" altLang="sr-Latn-RS" sz="2000"/>
              <a:t>x, weighty</a:t>
            </a:r>
            <a:r>
              <a:rPr lang="sr-Latn-CS" altLang="sr-Latn-RS" sz="2000"/>
              <a:t> – da li se (i koliko) komponenta širi tokom promena dimenzija kontejnera</a:t>
            </a:r>
            <a:r>
              <a:rPr lang="en-US" altLang="sr-Latn-RS" sz="2000"/>
              <a:t> po x i y osi</a:t>
            </a:r>
            <a:r>
              <a:rPr lang="sr-Latn-CS" altLang="sr-Latn-RS" sz="2000"/>
              <a:t>. 0 – nema širenja</a:t>
            </a:r>
          </a:p>
          <a:p>
            <a:pPr eaLnBrk="1" hangingPunct="1"/>
            <a:r>
              <a:rPr lang="en-US" altLang="sr-Latn-RS" sz="2000"/>
              <a:t>int </a:t>
            </a:r>
            <a:r>
              <a:rPr lang="sr-Latn-CS" altLang="sr-Latn-RS" sz="2000"/>
              <a:t>fill – da li se dimenzije komponente šire da zauzmu ceo rezervisani prostor ćelije. Moguće vrednosti</a:t>
            </a:r>
            <a:r>
              <a:rPr lang="en-US" altLang="sr-Latn-RS" sz="2000"/>
              <a:t>:</a:t>
            </a:r>
          </a:p>
          <a:p>
            <a:pPr lvl="1" eaLnBrk="1" hangingPunct="1"/>
            <a:r>
              <a:rPr lang="sr-Latn-CS" altLang="sr-Latn-RS" sz="1800"/>
              <a:t>GridBagConstraints.NONE – nema širenja (default), GridBagConstraints.HORIZONTAL – zauzima sav horizontalni prostor</a:t>
            </a:r>
          </a:p>
          <a:p>
            <a:pPr lvl="1" eaLnBrk="1" hangingPunct="1"/>
            <a:r>
              <a:rPr lang="sr-Latn-CS" altLang="sr-Latn-RS" sz="1800"/>
              <a:t>GridBagConstraints.VERTICAL – zauzima sav vertikalni prostor</a:t>
            </a:r>
          </a:p>
          <a:p>
            <a:pPr lvl="1" eaLnBrk="1" hangingPunct="1"/>
            <a:r>
              <a:rPr lang="sr-Latn-CS" altLang="sr-Latn-RS" sz="1800"/>
              <a:t>GridBagConstraints.BOTH – zauzima celu ćeliju po horizontali i vertikali</a:t>
            </a:r>
            <a:endParaRPr lang="en-US" altLang="sr-Latn-RS"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E7CFC07-3FEA-299C-EC19-5F02693A9C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4638"/>
            <a:ext cx="8424862" cy="993775"/>
          </a:xfrm>
        </p:spPr>
        <p:txBody>
          <a:bodyPr/>
          <a:lstStyle/>
          <a:p>
            <a:pPr eaLnBrk="1" hangingPunct="1"/>
            <a:r>
              <a:rPr lang="en-US" altLang="sr-Latn-RS" sz="3600"/>
              <a:t>GridBagLayout – parametri  constraint-a</a:t>
            </a:r>
            <a:endParaRPr lang="sr-Latn-CS" altLang="sr-Latn-RS" sz="3600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7AB2BF6-22D8-DA55-7A1C-3CBEE4B4BE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4338" y="1341438"/>
            <a:ext cx="8075612" cy="5327650"/>
          </a:xfrm>
        </p:spPr>
        <p:txBody>
          <a:bodyPr/>
          <a:lstStyle/>
          <a:p>
            <a:pPr eaLnBrk="1" hangingPunct="1"/>
            <a:r>
              <a:rPr lang="en-US" altLang="sr-Latn-RS" sz="2800"/>
              <a:t>int </a:t>
            </a:r>
            <a:r>
              <a:rPr lang="sr-Latn-CS" altLang="sr-Latn-RS" sz="2800"/>
              <a:t>anchor </a:t>
            </a:r>
            <a:r>
              <a:rPr lang="en-US" altLang="sr-Latn-RS" sz="2800"/>
              <a:t>– ukoliko komponenta ne zauzima celu </a:t>
            </a:r>
            <a:r>
              <a:rPr lang="sr-Latn-CS" altLang="sr-Latn-RS" sz="2800"/>
              <a:t>ćeliju, može se definisati njen položaj u okviru ćelije. Moguće vrednosti</a:t>
            </a:r>
            <a:r>
              <a:rPr lang="en-US" altLang="sr-Latn-RS" sz="2800"/>
              <a:t>:</a:t>
            </a:r>
          </a:p>
          <a:p>
            <a:pPr lvl="1" eaLnBrk="1" hangingPunct="1"/>
            <a:r>
              <a:rPr lang="en-US" altLang="sr-Latn-RS" sz="2400"/>
              <a:t>GridBagLayout.</a:t>
            </a:r>
            <a:r>
              <a:rPr lang="sr-Latn-CS" altLang="sr-Latn-RS" sz="2400"/>
              <a:t>CENTER</a:t>
            </a:r>
            <a:r>
              <a:rPr lang="en-US" altLang="sr-Latn-RS" sz="2400"/>
              <a:t> (default)</a:t>
            </a:r>
            <a:r>
              <a:rPr lang="sr-Latn-CS" altLang="sr-Latn-RS" sz="2400"/>
              <a:t>, </a:t>
            </a:r>
            <a:endParaRPr lang="en-US" altLang="sr-Latn-RS" sz="2400"/>
          </a:p>
          <a:p>
            <a:pPr lvl="1" eaLnBrk="1" hangingPunct="1"/>
            <a:r>
              <a:rPr lang="en-US" altLang="sr-Latn-RS" sz="2400"/>
              <a:t>GridBagLayout.</a:t>
            </a:r>
            <a:r>
              <a:rPr lang="sr-Latn-CS" altLang="sr-Latn-RS" sz="2400"/>
              <a:t>NORTH, </a:t>
            </a:r>
            <a:endParaRPr lang="en-US" altLang="sr-Latn-RS" sz="2400"/>
          </a:p>
          <a:p>
            <a:pPr lvl="1" eaLnBrk="1" hangingPunct="1"/>
            <a:r>
              <a:rPr lang="en-US" altLang="sr-Latn-RS" sz="2400"/>
              <a:t>GridBagLayout.</a:t>
            </a:r>
            <a:r>
              <a:rPr lang="sr-Latn-CS" altLang="sr-Latn-RS" sz="2400"/>
              <a:t>NORTHEAST, </a:t>
            </a:r>
            <a:endParaRPr lang="en-US" altLang="sr-Latn-RS" sz="2400"/>
          </a:p>
          <a:p>
            <a:pPr lvl="1" eaLnBrk="1" hangingPunct="1"/>
            <a:r>
              <a:rPr lang="en-US" altLang="sr-Latn-RS" sz="2400"/>
              <a:t>GridBagLayout.</a:t>
            </a:r>
            <a:r>
              <a:rPr lang="sr-Latn-CS" altLang="sr-Latn-RS" sz="2400"/>
              <a:t>EAST, </a:t>
            </a:r>
            <a:endParaRPr lang="en-US" altLang="sr-Latn-RS" sz="2400"/>
          </a:p>
          <a:p>
            <a:pPr lvl="1" eaLnBrk="1" hangingPunct="1"/>
            <a:r>
              <a:rPr lang="en-US" altLang="sr-Latn-RS" sz="2400"/>
              <a:t>GridBagLayout.</a:t>
            </a:r>
            <a:r>
              <a:rPr lang="sr-Latn-CS" altLang="sr-Latn-RS" sz="2400"/>
              <a:t>SOUTHEAST, </a:t>
            </a:r>
            <a:endParaRPr lang="en-US" altLang="sr-Latn-RS" sz="2400"/>
          </a:p>
          <a:p>
            <a:pPr lvl="1" eaLnBrk="1" hangingPunct="1"/>
            <a:r>
              <a:rPr lang="en-US" altLang="sr-Latn-RS" sz="2400"/>
              <a:t>GridBagLayout.</a:t>
            </a:r>
            <a:r>
              <a:rPr lang="sr-Latn-CS" altLang="sr-Latn-RS" sz="2400"/>
              <a:t>SOUTH, </a:t>
            </a:r>
            <a:endParaRPr lang="en-US" altLang="sr-Latn-RS" sz="2400"/>
          </a:p>
          <a:p>
            <a:pPr lvl="1" eaLnBrk="1" hangingPunct="1"/>
            <a:r>
              <a:rPr lang="en-US" altLang="sr-Latn-RS" sz="2400"/>
              <a:t>GridBagLayout.</a:t>
            </a:r>
            <a:r>
              <a:rPr lang="sr-Latn-CS" altLang="sr-Latn-RS" sz="2400"/>
              <a:t>SOUTHWEST, </a:t>
            </a:r>
            <a:endParaRPr lang="en-US" altLang="sr-Latn-RS" sz="2400"/>
          </a:p>
          <a:p>
            <a:pPr lvl="1" eaLnBrk="1" hangingPunct="1"/>
            <a:r>
              <a:rPr lang="en-US" altLang="sr-Latn-RS" sz="2400"/>
              <a:t>GridBagLayout.</a:t>
            </a:r>
            <a:r>
              <a:rPr lang="sr-Latn-CS" altLang="sr-Latn-RS" sz="2400"/>
              <a:t>WEST</a:t>
            </a:r>
            <a:endParaRPr lang="en-US" altLang="sr-Latn-RS" sz="2400"/>
          </a:p>
          <a:p>
            <a:pPr lvl="1" eaLnBrk="1" hangingPunct="1"/>
            <a:r>
              <a:rPr lang="en-US" altLang="sr-Latn-RS" sz="2400"/>
              <a:t>GridBagLayout.</a:t>
            </a:r>
            <a:r>
              <a:rPr lang="sr-Latn-CS" altLang="sr-Latn-RS" sz="2400"/>
              <a:t>NORTHWEST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4B5F476-54E6-B9FD-7157-68C22D99C0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GridBagLayout – parametri  constraint-a</a:t>
            </a:r>
            <a:endParaRPr lang="sr-Latn-CS" altLang="sr-Latn-RS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086B036-32E6-6D4C-5441-1DDA43686B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Pravljenje praznog prostora oko komponente</a:t>
            </a:r>
          </a:p>
          <a:p>
            <a:pPr lvl="1" eaLnBrk="1" hangingPunct="1"/>
            <a:r>
              <a:rPr lang="sr-Latn-CS" altLang="sr-Latn-RS"/>
              <a:t>Insets insets</a:t>
            </a:r>
            <a:r>
              <a:rPr lang="en-US" altLang="sr-Latn-RS"/>
              <a:t> – minimalni razmak izme</a:t>
            </a:r>
            <a:r>
              <a:rPr lang="sr-Latn-CS" altLang="sr-Latn-RS"/>
              <a:t>đu ćelije i komponente</a:t>
            </a:r>
          </a:p>
          <a:p>
            <a:pPr lvl="2" eaLnBrk="1" hangingPunct="1"/>
            <a:r>
              <a:rPr lang="sr-Latn-CS" altLang="sr-Latn-RS"/>
              <a:t>Insets je klasa sa atributima</a:t>
            </a:r>
            <a:r>
              <a:rPr lang="en-US" altLang="sr-Latn-RS"/>
              <a:t>: int </a:t>
            </a:r>
            <a:r>
              <a:rPr lang="sr-Latn-CS" altLang="sr-Latn-RS"/>
              <a:t>bottom</a:t>
            </a:r>
            <a:r>
              <a:rPr lang="en-US" altLang="sr-Latn-RS"/>
              <a:t>, int </a:t>
            </a:r>
            <a:r>
              <a:rPr lang="sr-Latn-CS" altLang="sr-Latn-RS"/>
              <a:t>left</a:t>
            </a:r>
            <a:r>
              <a:rPr lang="en-US" altLang="sr-Latn-RS"/>
              <a:t>, int </a:t>
            </a:r>
            <a:r>
              <a:rPr lang="sr-Latn-CS" altLang="sr-Latn-RS"/>
              <a:t>right</a:t>
            </a:r>
            <a:r>
              <a:rPr lang="en-US" altLang="sr-Latn-RS"/>
              <a:t>, int </a:t>
            </a:r>
            <a:r>
              <a:rPr lang="sr-Latn-CS" altLang="sr-Latn-RS"/>
              <a:t>top </a:t>
            </a:r>
            <a:r>
              <a:rPr lang="en-US" altLang="sr-Latn-RS"/>
              <a:t> </a:t>
            </a:r>
            <a:r>
              <a:rPr lang="sr-Latn-CS" altLang="sr-Latn-RS"/>
              <a:t> </a:t>
            </a:r>
            <a:endParaRPr lang="en-US" altLang="sr-Latn-RS"/>
          </a:p>
          <a:p>
            <a:pPr lvl="1" eaLnBrk="1" hangingPunct="1"/>
            <a:r>
              <a:rPr lang="sr-Latn-CS" altLang="sr-Latn-RS"/>
              <a:t>int </a:t>
            </a:r>
            <a:r>
              <a:rPr lang="en-US" altLang="sr-Latn-RS"/>
              <a:t>ipadx, ipady – vrednosti koje se dodaju na minimalnu veli</a:t>
            </a:r>
            <a:r>
              <a:rPr lang="sr-Latn-CS" altLang="sr-Latn-RS"/>
              <a:t>činu komponente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BDDB92E-A939-530A-B4A3-62EA7D8167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GridBagLayout</a:t>
            </a:r>
            <a:r>
              <a:rPr lang="sr-Latn-CS" altLang="sr-Latn-RS"/>
              <a:t> – preporuke za korišćenje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1A8AF2D-EB18-C319-B536-A8D13C673E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 sz="2400"/>
              <a:t>Skicirati dijalog na papiru.</a:t>
            </a:r>
          </a:p>
          <a:p>
            <a:pPr eaLnBrk="1" hangingPunct="1"/>
            <a:r>
              <a:rPr lang="sr-Latn-CS" altLang="sr-Latn-RS" sz="2400"/>
              <a:t>Tako nacrtati matricu da najmanje komponente staju u jednu ćeliju, a veće komponente prekrivaju više redova</a:t>
            </a:r>
            <a:r>
              <a:rPr lang="en-US" altLang="sr-Latn-RS" sz="2400"/>
              <a:t>/kolona</a:t>
            </a:r>
            <a:r>
              <a:rPr lang="sr-Latn-CS" altLang="sr-Latn-RS" sz="2400"/>
              <a:t>.</a:t>
            </a:r>
            <a:endParaRPr lang="en-US" altLang="sr-Latn-RS" sz="2400"/>
          </a:p>
          <a:p>
            <a:pPr eaLnBrk="1" hangingPunct="1"/>
            <a:r>
              <a:rPr lang="sr-Latn-CS" altLang="sr-Latn-RS" sz="2400"/>
              <a:t>N</a:t>
            </a:r>
            <a:r>
              <a:rPr lang="en-US" altLang="sr-Latn-RS" sz="2400"/>
              <a:t>umerisati redove i kolone na papiru i o</a:t>
            </a:r>
            <a:r>
              <a:rPr lang="sr-Latn-CS" altLang="sr-Latn-RS" sz="2400"/>
              <a:t>čitati gridx, gridy, gridwidth, gridheight.</a:t>
            </a:r>
          </a:p>
          <a:p>
            <a:pPr eaLnBrk="1" hangingPunct="1"/>
            <a:r>
              <a:rPr lang="sr-Latn-CS" altLang="sr-Latn-RS" sz="2400"/>
              <a:t>Definisati poravnanje komponenti u okviru ćelija, ukoliko komponente ne treba da zauzimaju celu ćeliju.</a:t>
            </a:r>
          </a:p>
          <a:p>
            <a:pPr eaLnBrk="1" hangingPunct="1"/>
            <a:r>
              <a:rPr lang="sr-Latn-CS" altLang="sr-Latn-RS" sz="2400"/>
              <a:t>Staviti weight svih komponenti na 100. Pokrenuti prozor. Ukoliko se tada utvrdi da neke komponente ne treba da se šire, staviti im weight 0.</a:t>
            </a:r>
          </a:p>
        </p:txBody>
      </p:sp>
      <p:sp>
        <p:nvSpPr>
          <p:cNvPr id="23556" name="Text Box 5">
            <a:extLst>
              <a:ext uri="{FF2B5EF4-FFF2-40B4-BE49-F238E27FC236}">
                <a16:creationId xmlns:a16="http://schemas.microsoft.com/office/drawing/2014/main" id="{1565D151-4FD1-0AAF-6DCD-7D7BBBCB8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936" y="6119125"/>
            <a:ext cx="3241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 05 - GridBagLayoutTest.java</a:t>
            </a:r>
          </a:p>
        </p:txBody>
      </p:sp>
      <p:sp>
        <p:nvSpPr>
          <p:cNvPr id="23557" name="Text Box 6">
            <a:extLst>
              <a:ext uri="{FF2B5EF4-FFF2-40B4-BE49-F238E27FC236}">
                <a16:creationId xmlns:a16="http://schemas.microsoft.com/office/drawing/2014/main" id="{65A70DA6-43CF-FC5D-6949-38D820DFD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936" y="6479488"/>
            <a:ext cx="3241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 05 - FontDialogFrame.java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4F980-25EF-56D2-485D-CDC42F071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Event-driven model</a:t>
            </a:r>
            <a:endParaRPr lang="en-US"/>
          </a:p>
        </p:txBody>
      </p:sp>
      <p:sp>
        <p:nvSpPr>
          <p:cNvPr id="24579" name="Text Placeholder 2">
            <a:extLst>
              <a:ext uri="{FF2B5EF4-FFF2-40B4-BE49-F238E27FC236}">
                <a16:creationId xmlns:a16="http://schemas.microsoft.com/office/drawing/2014/main" id="{CB9A3E90-F774-ACB3-703C-D72C3B581A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98857B8-300A-E264-5884-84C1B08489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i="1"/>
              <a:t>E</a:t>
            </a:r>
            <a:r>
              <a:rPr lang="en-GB" altLang="sr-Latn-RS" i="1"/>
              <a:t>vent </a:t>
            </a:r>
            <a:r>
              <a:rPr lang="sr-Latn-CS" altLang="sr-Latn-RS" i="1"/>
              <a:t>d</a:t>
            </a:r>
            <a:r>
              <a:rPr lang="en-GB" altLang="sr-Latn-RS" i="1"/>
              <a:t>riven</a:t>
            </a:r>
            <a:r>
              <a:rPr lang="en-GB" altLang="sr-Latn-RS"/>
              <a:t> model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AEB7041-9F88-9323-A3A3-FE7A31B28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974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 sz="2800"/>
              <a:t>P</a:t>
            </a:r>
            <a:r>
              <a:rPr lang="en-GB" altLang="sr-Latn-RS" sz="2800"/>
              <a:t>rogram se ne izvršava</a:t>
            </a:r>
            <a:r>
              <a:rPr lang="en-GB" altLang="sr-Latn-RS" sz="2800" b="1"/>
              <a:t> </a:t>
            </a:r>
            <a:r>
              <a:rPr lang="en-GB" altLang="sr-Latn-RS" sz="2800"/>
              <a:t>linearno </a:t>
            </a:r>
            <a:r>
              <a:rPr lang="sr-Latn-CS" altLang="sr-Latn-RS" sz="2800"/>
              <a:t>(</a:t>
            </a:r>
            <a:r>
              <a:rPr lang="en-GB" altLang="sr-Latn-RS" sz="2800"/>
              <a:t>od gore </a:t>
            </a:r>
            <a:r>
              <a:rPr lang="sr-Latn-CS" altLang="sr-Latn-RS" sz="2800"/>
              <a:t>prema</a:t>
            </a:r>
            <a:r>
              <a:rPr lang="en-GB" altLang="sr-Latn-RS" sz="2800"/>
              <a:t> dole</a:t>
            </a:r>
            <a:r>
              <a:rPr lang="sr-Latn-CS" altLang="sr-Latn-RS" sz="2800"/>
              <a:t>)</a:t>
            </a:r>
            <a:endParaRPr lang="en-GB" altLang="sr-Latn-RS" sz="2800"/>
          </a:p>
          <a:p>
            <a:pPr eaLnBrk="1" hangingPunct="1">
              <a:lnSpc>
                <a:spcPct val="90000"/>
              </a:lnSpc>
            </a:pPr>
            <a:endParaRPr lang="sr-Latn-CS" altLang="sr-Latn-RS" sz="2800"/>
          </a:p>
          <a:p>
            <a:pPr eaLnBrk="1" hangingPunct="1">
              <a:lnSpc>
                <a:spcPct val="90000"/>
              </a:lnSpc>
            </a:pPr>
            <a:r>
              <a:rPr lang="sr-Latn-CS" altLang="sr-Latn-RS" sz="2800"/>
              <a:t>P</a:t>
            </a:r>
            <a:r>
              <a:rPr lang="en-GB" altLang="sr-Latn-RS" sz="2800"/>
              <a:t>išu se </a:t>
            </a:r>
            <a:r>
              <a:rPr lang="sr-Latn-CS" altLang="sr-Latn-RS" sz="2800"/>
              <a:t>metode</a:t>
            </a:r>
            <a:r>
              <a:rPr lang="en-GB" altLang="sr-Latn-RS" sz="2800"/>
              <a:t> koje se </a:t>
            </a:r>
            <a:r>
              <a:rPr lang="sr-Latn-CS" altLang="sr-Latn-RS" sz="2800"/>
              <a:t>automatski </a:t>
            </a:r>
            <a:r>
              <a:rPr lang="en-GB" altLang="sr-Latn-RS" sz="2800"/>
              <a:t>izvršavaju po pojavi nekog događaja korisničkog interfejsa (klik mišem, pritisak tastera)</a:t>
            </a:r>
          </a:p>
          <a:p>
            <a:pPr eaLnBrk="1" hangingPunct="1">
              <a:lnSpc>
                <a:spcPct val="90000"/>
              </a:lnSpc>
            </a:pPr>
            <a:endParaRPr lang="sr-Latn-CS" altLang="sr-Latn-RS" sz="2800"/>
          </a:p>
          <a:p>
            <a:pPr eaLnBrk="1" hangingPunct="1">
              <a:lnSpc>
                <a:spcPct val="90000"/>
              </a:lnSpc>
            </a:pPr>
            <a:r>
              <a:rPr lang="sr-Latn-CS" altLang="sr-Latn-RS" sz="2800"/>
              <a:t>P</a:t>
            </a:r>
            <a:r>
              <a:rPr lang="en-GB" altLang="sr-Latn-RS" sz="2800"/>
              <a:t>rogram ima </a:t>
            </a:r>
            <a:endParaRPr lang="sr-Latn-CS" altLang="sr-Latn-RS" sz="2800"/>
          </a:p>
          <a:p>
            <a:pPr lvl="1" eaLnBrk="1" hangingPunct="1">
              <a:lnSpc>
                <a:spcPct val="90000"/>
              </a:lnSpc>
            </a:pPr>
            <a:r>
              <a:rPr lang="en-GB" altLang="sr-Latn-RS" sz="2400"/>
              <a:t>inicijalizacioni blok i </a:t>
            </a:r>
            <a:endParaRPr lang="sr-Latn-CS" altLang="sr-Latn-RS" sz="2400"/>
          </a:p>
          <a:p>
            <a:pPr lvl="1" eaLnBrk="1" hangingPunct="1">
              <a:lnSpc>
                <a:spcPct val="90000"/>
              </a:lnSpc>
            </a:pPr>
            <a:r>
              <a:rPr lang="en-GB" altLang="sr-Latn-RS" sz="2400"/>
              <a:t>blokove koda koji reaguju na događaje korisničkog interfejsa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3066A7E-96BE-80B2-749C-01C6C81C6D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sr-Latn-RS" i="1"/>
              <a:t>Event </a:t>
            </a:r>
            <a:r>
              <a:rPr lang="sr-Latn-CS" altLang="sr-Latn-RS" i="1"/>
              <a:t>d</a:t>
            </a:r>
            <a:r>
              <a:rPr lang="en-GB" altLang="sr-Latn-RS" i="1"/>
              <a:t>riven</a:t>
            </a:r>
            <a:r>
              <a:rPr lang="en-GB" altLang="sr-Latn-RS"/>
              <a:t> model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38EB4CEF-FAE5-C38B-37FA-6EDE58F8CD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eaLnBrk="1" hangingPunct="1"/>
            <a:r>
              <a:rPr lang="sr-Latn-CS" altLang="sr-Latn-RS" sz="2400"/>
              <a:t>S</a:t>
            </a:r>
            <a:r>
              <a:rPr lang="en-GB" altLang="sr-Latn-RS" sz="2400"/>
              <a:t>vaka akcija nad komponentama korisničkog interfejsa izaziva generisanje </a:t>
            </a:r>
            <a:r>
              <a:rPr lang="sr-Latn-CS" altLang="sr-Latn-RS" sz="2400"/>
              <a:t>događaja (instanci </a:t>
            </a:r>
            <a:r>
              <a:rPr lang="en-GB" altLang="sr-Latn-RS" sz="2400"/>
              <a:t>nasledni</a:t>
            </a:r>
            <a:r>
              <a:rPr lang="sr-Latn-CS" altLang="sr-Latn-RS" sz="2400"/>
              <a:t>k</a:t>
            </a:r>
            <a:r>
              <a:rPr lang="en-GB" altLang="sr-Latn-RS" sz="2400"/>
              <a:t>a </a:t>
            </a:r>
            <a:r>
              <a:rPr lang="en-GB" altLang="sr-Latn-RS" sz="2400" i="1"/>
              <a:t>Event</a:t>
            </a:r>
            <a:r>
              <a:rPr lang="sr-Latn-CS" altLang="sr-Latn-RS" sz="2400" i="1"/>
              <a:t>Object</a:t>
            </a:r>
            <a:r>
              <a:rPr lang="en-GB" altLang="sr-Latn-RS" sz="2400"/>
              <a:t> klase</a:t>
            </a:r>
            <a:r>
              <a:rPr lang="sr-Latn-CS" altLang="sr-Latn-RS" sz="2400"/>
              <a:t>). </a:t>
            </a:r>
          </a:p>
          <a:p>
            <a:pPr lvl="1" eaLnBrk="1" hangingPunct="1"/>
            <a:r>
              <a:rPr lang="sr-Latn-CS" altLang="sr-Latn-RS" sz="2000"/>
              <a:t>navedene komponente korisničkog interfejsa se u ovom kontekstu nazivaju izvori događaja (</a:t>
            </a:r>
            <a:r>
              <a:rPr lang="sr-Latn-CS" altLang="sr-Latn-RS" sz="2000" i="1"/>
              <a:t>event sources</a:t>
            </a:r>
            <a:r>
              <a:rPr lang="sr-Latn-CS" altLang="sr-Latn-RS" sz="2000"/>
              <a:t>)</a:t>
            </a:r>
          </a:p>
          <a:p>
            <a:pPr eaLnBrk="1" hangingPunct="1"/>
            <a:endParaRPr lang="en-GB" altLang="sr-Latn-RS" sz="2400"/>
          </a:p>
          <a:p>
            <a:pPr eaLnBrk="1" hangingPunct="1"/>
            <a:r>
              <a:rPr lang="sr-Latn-CS" altLang="sr-Latn-RS" sz="2400"/>
              <a:t>Događaji </a:t>
            </a:r>
            <a:r>
              <a:rPr lang="en-GB" altLang="sr-Latn-RS" sz="2400"/>
              <a:t>se prosleđuju </a:t>
            </a:r>
            <a:r>
              <a:rPr lang="sr-Latn-CS" altLang="sr-Latn-RS" sz="2400"/>
              <a:t>svim </a:t>
            </a:r>
            <a:r>
              <a:rPr lang="en-US" altLang="sr-Latn-RS" sz="2400"/>
              <a:t>“</a:t>
            </a:r>
            <a:r>
              <a:rPr lang="sr-Latn-CS" altLang="sr-Latn-RS" sz="2400"/>
              <a:t>osluškivačima</a:t>
            </a:r>
            <a:r>
              <a:rPr lang="en-US" altLang="sr-Latn-RS" sz="2400"/>
              <a:t>”</a:t>
            </a:r>
            <a:r>
              <a:rPr lang="sr-Latn-CS" altLang="sr-Latn-RS" sz="2400"/>
              <a:t> događaja koji su se kod izvora događaja registrovali da ih dati događaj zanima. Registrovanje se obavlja u dva koraka</a:t>
            </a:r>
            <a:r>
              <a:rPr lang="en-US" altLang="sr-Latn-RS" sz="2400"/>
              <a:t>:</a:t>
            </a:r>
            <a:endParaRPr lang="sr-Latn-CS" altLang="sr-Latn-RS" sz="2400"/>
          </a:p>
          <a:p>
            <a:pPr lvl="1" eaLnBrk="1" hangingPunct="1"/>
            <a:r>
              <a:rPr lang="sr-Latn-CS" altLang="sr-Latn-RS" sz="2000"/>
              <a:t>implementacijom odgovarajućeg </a:t>
            </a:r>
            <a:r>
              <a:rPr lang="en-GB" altLang="sr-Latn-RS" sz="2000" i="1"/>
              <a:t>EventListener</a:t>
            </a:r>
            <a:r>
              <a:rPr lang="en-GB" altLang="sr-Latn-RS" sz="2000"/>
              <a:t> </a:t>
            </a:r>
            <a:r>
              <a:rPr lang="sr-Latn-CS" altLang="sr-Latn-RS" sz="2000"/>
              <a:t>interfejsa </a:t>
            </a:r>
            <a:r>
              <a:rPr lang="en-US" altLang="sr-Latn-RS" sz="2000"/>
              <a:t>(</a:t>
            </a:r>
            <a:r>
              <a:rPr lang="sr-Latn-CS" altLang="sr-Latn-RS" sz="2000"/>
              <a:t>čime određena klasa postaje osluškivač) i</a:t>
            </a:r>
            <a:endParaRPr lang="en-US" altLang="sr-Latn-RS" sz="2000"/>
          </a:p>
          <a:p>
            <a:pPr lvl="1" eaLnBrk="1" hangingPunct="1"/>
            <a:r>
              <a:rPr lang="sr-Latn-CS" altLang="sr-Latn-RS" sz="2000"/>
              <a:t>povezivanjem sa izvorom.</a:t>
            </a:r>
            <a:endParaRPr lang="en-GB" altLang="sr-Latn-RS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184A783-4872-CBAB-A12B-1D6DEF262C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/>
            <a:r>
              <a:rPr lang="sr-Latn-CS" altLang="sr-Latn-RS"/>
              <a:t>Realizacija</a:t>
            </a:r>
            <a:r>
              <a:rPr lang="en-GB" altLang="sr-Latn-RS"/>
              <a:t> Listener-a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3922FD7-6698-2492-B98C-BCB442F6B0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68413"/>
            <a:ext cx="9144000" cy="5400675"/>
          </a:xfrm>
        </p:spPr>
        <p:txBody>
          <a:bodyPr/>
          <a:lstStyle/>
          <a:p>
            <a:pPr eaLnBrk="1" hangingPunct="1"/>
            <a:r>
              <a:rPr lang="hr-HR" altLang="sr-Latn-RS" sz="2400"/>
              <a:t>Varijanta </a:t>
            </a:r>
            <a:r>
              <a:rPr lang="en-US" altLang="sr-Latn-RS" sz="2400"/>
              <a:t>1</a:t>
            </a:r>
            <a:r>
              <a:rPr lang="hr-HR" altLang="sr-Latn-RS" sz="2400"/>
              <a:t>:</a:t>
            </a:r>
          </a:p>
          <a:p>
            <a:pPr lvl="1" eaLnBrk="1" hangingPunct="1">
              <a:buFontTx/>
              <a:buNone/>
            </a:pPr>
            <a:r>
              <a:rPr lang="hr-HR" altLang="sr-Latn-RS" sz="1800" b="1">
                <a:latin typeface="Courier New" panose="02070309020205020404" pitchFamily="49" charset="0"/>
              </a:rPr>
              <a:t>JButton bOK = new JButton("</a:t>
            </a:r>
            <a:r>
              <a:rPr lang="en-US" altLang="sr-Latn-RS" sz="1800" b="1">
                <a:latin typeface="Courier New" panose="02070309020205020404" pitchFamily="49" charset="0"/>
              </a:rPr>
              <a:t>OK</a:t>
            </a:r>
            <a:r>
              <a:rPr lang="hr-HR" altLang="sr-Latn-RS" sz="1800" b="1">
                <a:latin typeface="Courier New" panose="02070309020205020404" pitchFamily="49" charset="0"/>
              </a:rPr>
              <a:t>");</a:t>
            </a:r>
          </a:p>
          <a:p>
            <a:pPr lvl="1" eaLnBrk="1" hangingPunct="1">
              <a:buFontTx/>
              <a:buNone/>
            </a:pPr>
            <a:r>
              <a:rPr lang="nb-NO" altLang="sr-Latn-RS" sz="1800" b="1">
                <a:latin typeface="Courier New" panose="02070309020205020404" pitchFamily="49" charset="0"/>
              </a:rPr>
              <a:t>MyListener listener = new MyListener();</a:t>
            </a:r>
          </a:p>
          <a:p>
            <a:pPr lvl="1" eaLnBrk="1" hangingPunct="1">
              <a:buFontTx/>
              <a:buNone/>
            </a:pPr>
            <a:r>
              <a:rPr lang="nb-NO" altLang="sr-Latn-RS" sz="1800" b="1">
                <a:latin typeface="Courier New" panose="02070309020205020404" pitchFamily="49" charset="0"/>
              </a:rPr>
              <a:t>bOK.addActionListener(listener);</a:t>
            </a:r>
          </a:p>
          <a:p>
            <a:pPr lvl="1" eaLnBrk="1" hangingPunct="1">
              <a:buFontTx/>
              <a:buNone/>
            </a:pPr>
            <a:endParaRPr lang="nb-NO" altLang="sr-Latn-RS" sz="1800" b="1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nb-NO" altLang="sr-Latn-RS" sz="1800" b="1">
                <a:latin typeface="Courier New" panose="02070309020205020404" pitchFamily="49" charset="0"/>
              </a:rPr>
              <a:t>...</a:t>
            </a:r>
          </a:p>
          <a:p>
            <a:pPr lvl="1" eaLnBrk="1" hangingPunct="1">
              <a:buFontTx/>
              <a:buNone/>
            </a:pPr>
            <a:endParaRPr lang="nb-NO" altLang="sr-Latn-RS" sz="1800" b="1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nb-NO" altLang="sr-Latn-RS" sz="1800" b="1">
                <a:latin typeface="Courier New" panose="02070309020205020404" pitchFamily="49" charset="0"/>
              </a:rPr>
              <a:t>public class MyListener implements ActionListener {</a:t>
            </a:r>
          </a:p>
          <a:p>
            <a:pPr lvl="1" eaLnBrk="1" hangingPunct="1">
              <a:buFontTx/>
              <a:buNone/>
            </a:pPr>
            <a:r>
              <a:rPr lang="nb-NO" altLang="sr-Latn-RS" sz="1800" b="1">
                <a:latin typeface="Courier New" panose="02070309020205020404" pitchFamily="49" charset="0"/>
              </a:rPr>
              <a:t>  //ActionPerformed je jedina metoda ActionListener interfejsa</a:t>
            </a:r>
          </a:p>
          <a:p>
            <a:pPr lvl="1" eaLnBrk="1" hangingPunct="1">
              <a:buFontTx/>
              <a:buNone/>
            </a:pPr>
            <a:r>
              <a:rPr lang="nb-NO" altLang="sr-Latn-RS" sz="1800" b="1">
                <a:latin typeface="Courier New" panose="02070309020205020404" pitchFamily="49" charset="0"/>
              </a:rPr>
              <a:t>  public void actionPerformed(ActionEvent ev) {</a:t>
            </a:r>
          </a:p>
          <a:p>
            <a:pPr lvl="1" eaLnBrk="1" hangingPunct="1">
              <a:buFontTx/>
              <a:buNone/>
            </a:pPr>
            <a:r>
              <a:rPr lang="nb-NO" altLang="sr-Latn-RS" sz="1800" b="1">
                <a:latin typeface="Courier New" panose="02070309020205020404" pitchFamily="49" charset="0"/>
              </a:rPr>
              <a:t>    // Ovde se smešta kod koji se izvršava kada se klikne</a:t>
            </a:r>
          </a:p>
          <a:p>
            <a:pPr lvl="1" eaLnBrk="1" hangingPunct="1">
              <a:buFontTx/>
              <a:buNone/>
            </a:pPr>
            <a:r>
              <a:rPr lang="nb-NO" altLang="sr-Latn-RS" sz="1800" b="1">
                <a:latin typeface="Courier New" panose="02070309020205020404" pitchFamily="49" charset="0"/>
              </a:rPr>
              <a:t>    System.exit(0); </a:t>
            </a:r>
          </a:p>
          <a:p>
            <a:pPr lvl="1" eaLnBrk="1" hangingPunct="1">
              <a:buFontTx/>
              <a:buNone/>
            </a:pPr>
            <a:r>
              <a:rPr lang="nb-NO" altLang="sr-Latn-RS" sz="1800" b="1">
                <a:latin typeface="Courier New" panose="02070309020205020404" pitchFamily="49" charset="0"/>
              </a:rPr>
              <a:t>  }</a:t>
            </a:r>
          </a:p>
          <a:p>
            <a:pPr lvl="1" eaLnBrk="1" hangingPunct="1">
              <a:buFontTx/>
              <a:buNone/>
            </a:pPr>
            <a:r>
              <a:rPr lang="nb-NO" altLang="sr-Latn-RS" sz="18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4A43E076-C34B-3A05-34BC-C11DC59A4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6237288"/>
            <a:ext cx="2917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>
                <a:latin typeface="Arial Narrow" panose="020B0606020202030204" pitchFamily="34" charset="0"/>
              </a:rPr>
              <a:t>Primer06 </a:t>
            </a:r>
            <a:r>
              <a:rPr lang="en-US" altLang="sr-Latn-RS" sz="1800">
                <a:latin typeface="Arial Narrow" panose="020B0606020202030204" pitchFamily="34" charset="0"/>
              </a:rPr>
              <a:t>Listener1</a:t>
            </a:r>
            <a:endParaRPr lang="sr-Latn-CS" altLang="sr-Latn-RS" sz="180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0A2AC01F-9CDF-FA17-D55B-2D631CE2EB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/>
            <a:r>
              <a:rPr lang="sr-Latn-CS" altLang="sr-Latn-RS"/>
              <a:t>Realizacija</a:t>
            </a:r>
            <a:r>
              <a:rPr lang="en-GB" altLang="sr-Latn-RS"/>
              <a:t> Listener-a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E9E4AB4-948A-5E2D-28B8-6A68963DFB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68413"/>
            <a:ext cx="9144000" cy="5400675"/>
          </a:xfrm>
        </p:spPr>
        <p:txBody>
          <a:bodyPr/>
          <a:lstStyle/>
          <a:p>
            <a:pPr eaLnBrk="1" hangingPunct="1"/>
            <a:r>
              <a:rPr lang="hr-HR" altLang="sr-Latn-RS" sz="2400"/>
              <a:t>Varijanta 2:</a:t>
            </a:r>
          </a:p>
          <a:p>
            <a:pPr lvl="2" eaLnBrk="1" hangingPunct="1">
              <a:buFontTx/>
              <a:buNone/>
            </a:pPr>
            <a:r>
              <a:rPr lang="hr-HR" altLang="sr-Latn-RS" sz="1800" b="1">
                <a:latin typeface="Courier New" panose="02070309020205020404" pitchFamily="49" charset="0"/>
              </a:rPr>
              <a:t>JButton b = new JButton("Pritisni me");</a:t>
            </a:r>
          </a:p>
          <a:p>
            <a:pPr lvl="2" eaLnBrk="1" hangingPunct="1">
              <a:buFontTx/>
              <a:buNone/>
            </a:pPr>
            <a:r>
              <a:rPr lang="hr-HR" altLang="sr-Latn-RS" sz="1800" b="1">
                <a:latin typeface="Courier New" panose="02070309020205020404" pitchFamily="49" charset="0"/>
              </a:rPr>
              <a:t>ActionListener al = new ActionListener() {</a:t>
            </a:r>
          </a:p>
          <a:p>
            <a:pPr lvl="2" eaLnBrk="1" hangingPunct="1">
              <a:buFontTx/>
              <a:buNone/>
            </a:pPr>
            <a:r>
              <a:rPr lang="hr-HR" altLang="sr-Latn-RS" sz="1800" b="1">
                <a:latin typeface="Courier New" panose="02070309020205020404" pitchFamily="49" charset="0"/>
              </a:rPr>
              <a:t>  public void actionPerformed(ActionEvent e) {</a:t>
            </a:r>
          </a:p>
          <a:p>
            <a:pPr lvl="2" eaLnBrk="1" hangingPunct="1">
              <a:buFontTx/>
              <a:buNone/>
            </a:pPr>
            <a:r>
              <a:rPr lang="hr-HR" altLang="sr-Latn-RS" sz="1800" b="1">
                <a:latin typeface="Courier New" panose="02070309020205020404" pitchFamily="49" charset="0"/>
              </a:rPr>
              <a:t>    ...</a:t>
            </a:r>
          </a:p>
          <a:p>
            <a:pPr lvl="2" eaLnBrk="1" hangingPunct="1">
              <a:buFontTx/>
              <a:buNone/>
            </a:pPr>
            <a:r>
              <a:rPr lang="hr-HR" altLang="sr-Latn-RS" sz="1800" b="1">
                <a:latin typeface="Courier New" panose="02070309020205020404" pitchFamily="49" charset="0"/>
              </a:rPr>
              <a:t>  }</a:t>
            </a:r>
          </a:p>
          <a:p>
            <a:pPr lvl="2" eaLnBrk="1" hangingPunct="1">
              <a:buFontTx/>
              <a:buNone/>
            </a:pPr>
            <a:r>
              <a:rPr lang="hr-HR" altLang="sr-Latn-RS" sz="1800" b="1">
                <a:latin typeface="Courier New" panose="02070309020205020404" pitchFamily="49" charset="0"/>
              </a:rPr>
              <a:t>};</a:t>
            </a:r>
          </a:p>
          <a:p>
            <a:pPr lvl="2" eaLnBrk="1" hangingPunct="1">
              <a:buFontTx/>
              <a:buNone/>
            </a:pPr>
            <a:r>
              <a:rPr lang="hr-HR" altLang="sr-Latn-RS" sz="1800" b="1">
                <a:latin typeface="Courier New" panose="02070309020205020404" pitchFamily="49" charset="0"/>
              </a:rPr>
              <a:t>b.addActionListener(al);</a:t>
            </a:r>
            <a:r>
              <a:rPr lang="en-US" altLang="sr-Latn-RS" sz="1800" b="1">
                <a:latin typeface="Courier New" panose="02070309020205020404" pitchFamily="49" charset="0"/>
              </a:rPr>
              <a:t>			</a:t>
            </a:r>
            <a:endParaRPr lang="hr-HR" altLang="sr-Latn-RS" sz="1800" b="1">
              <a:latin typeface="Courier New" panose="02070309020205020404" pitchFamily="49" charset="0"/>
            </a:endParaRPr>
          </a:p>
          <a:p>
            <a:pPr eaLnBrk="1" hangingPunct="1"/>
            <a:r>
              <a:rPr lang="sr-Latn-CS" altLang="sr-Latn-RS" sz="2400"/>
              <a:t>V</a:t>
            </a:r>
            <a:r>
              <a:rPr lang="en-GB" altLang="sr-Latn-RS" sz="2400"/>
              <a:t>arijanta </a:t>
            </a:r>
            <a:r>
              <a:rPr lang="sr-Latn-CS" altLang="sr-Latn-RS" sz="2400"/>
              <a:t>3</a:t>
            </a:r>
            <a:r>
              <a:rPr lang="en-GB" altLang="sr-Latn-RS" sz="2400"/>
              <a:t>:</a:t>
            </a:r>
          </a:p>
          <a:p>
            <a:pPr lvl="2" eaLnBrk="1" hangingPunct="1">
              <a:buFontTx/>
              <a:buNone/>
            </a:pPr>
            <a:r>
              <a:rPr lang="hr-HR" altLang="sr-Latn-RS" sz="1800" b="1">
                <a:latin typeface="Courier New" panose="02070309020205020404" pitchFamily="49" charset="0"/>
              </a:rPr>
              <a:t>JButton b = new JButton("Pritisni me");</a:t>
            </a:r>
          </a:p>
          <a:p>
            <a:pPr lvl="2" eaLnBrk="1" hangingPunct="1">
              <a:buFontTx/>
              <a:buNone/>
            </a:pPr>
            <a:r>
              <a:rPr lang="hr-HR" altLang="sr-Latn-RS" sz="1800" b="1">
                <a:latin typeface="Courier New" panose="02070309020205020404" pitchFamily="49" charset="0"/>
              </a:rPr>
              <a:t>b.addActionListener(new ActionListener() {</a:t>
            </a:r>
          </a:p>
          <a:p>
            <a:pPr lvl="2" eaLnBrk="1" hangingPunct="1">
              <a:buFontTx/>
              <a:buNone/>
            </a:pPr>
            <a:r>
              <a:rPr lang="hr-HR" altLang="sr-Latn-RS" sz="1800" b="1">
                <a:latin typeface="Courier New" panose="02070309020205020404" pitchFamily="49" charset="0"/>
              </a:rPr>
              <a:t>  public void actionPerformed(ActionEvent e) {</a:t>
            </a:r>
          </a:p>
          <a:p>
            <a:pPr lvl="2" eaLnBrk="1" hangingPunct="1">
              <a:buFontTx/>
              <a:buNone/>
            </a:pPr>
            <a:r>
              <a:rPr lang="hr-HR" altLang="sr-Latn-RS" sz="1800" b="1">
                <a:latin typeface="Courier New" panose="02070309020205020404" pitchFamily="49" charset="0"/>
              </a:rPr>
              <a:t>    ...</a:t>
            </a:r>
          </a:p>
          <a:p>
            <a:pPr lvl="2" eaLnBrk="1" hangingPunct="1">
              <a:buFontTx/>
              <a:buNone/>
            </a:pPr>
            <a:r>
              <a:rPr lang="hr-HR" altLang="sr-Latn-RS" sz="1800" b="1">
                <a:latin typeface="Courier New" panose="02070309020205020404" pitchFamily="49" charset="0"/>
              </a:rPr>
              <a:t>  }</a:t>
            </a:r>
          </a:p>
          <a:p>
            <a:pPr lvl="2" eaLnBrk="1" hangingPunct="1">
              <a:buFontTx/>
              <a:buNone/>
            </a:pPr>
            <a:r>
              <a:rPr lang="hr-HR" altLang="sr-Latn-RS" sz="1800" b="1">
                <a:latin typeface="Courier New" panose="02070309020205020404" pitchFamily="49" charset="0"/>
              </a:rPr>
              <a:t>});</a:t>
            </a:r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98831152-262D-EBFE-CF8F-5BCF02F63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5876925"/>
            <a:ext cx="2917825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sr-Latn-RS" sz="1800">
                <a:latin typeface="Arial Narrow" panose="020B0606020202030204" pitchFamily="34" charset="0"/>
              </a:rPr>
              <a:t>p</a:t>
            </a:r>
            <a:r>
              <a:rPr lang="sr-Latn-CS" altLang="sr-Latn-RS" sz="1800">
                <a:latin typeface="Arial Narrow" panose="020B0606020202030204" pitchFamily="34" charset="0"/>
              </a:rPr>
              <a:t>rimer07 </a:t>
            </a:r>
            <a:r>
              <a:rPr lang="en-US" altLang="sr-Latn-RS" sz="1800">
                <a:latin typeface="Arial Narrow" panose="020B0606020202030204" pitchFamily="34" charset="0"/>
              </a:rPr>
              <a:t> Listener2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sr-Latn-RS" sz="1800">
                <a:latin typeface="Arial Narrow" panose="020B0606020202030204" pitchFamily="34" charset="0"/>
              </a:rPr>
              <a:t>primer</a:t>
            </a:r>
            <a:r>
              <a:rPr lang="sr-Latn-CS" altLang="sr-Latn-RS" sz="1800">
                <a:latin typeface="Arial Narrow" panose="020B0606020202030204" pitchFamily="34" charset="0"/>
              </a:rPr>
              <a:t>08</a:t>
            </a:r>
            <a:r>
              <a:rPr lang="en-US" altLang="sr-Latn-RS" sz="1800">
                <a:latin typeface="Arial Narrow" panose="020B0606020202030204" pitchFamily="34" charset="0"/>
              </a:rPr>
              <a:t>  Listerner3</a:t>
            </a:r>
            <a:endParaRPr lang="sr-Latn-CS" altLang="sr-Latn-RS" sz="180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7643CB67-9284-5C9B-99D5-B112CC7B54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/>
            <a:r>
              <a:rPr lang="sr-Latn-CS" altLang="sr-Latn-RS"/>
              <a:t>Realizacija</a:t>
            </a:r>
            <a:r>
              <a:rPr lang="en-GB" altLang="sr-Latn-RS"/>
              <a:t> Listener-a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68D47858-3B98-C6A2-63C9-44B7E1B1F5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68413"/>
            <a:ext cx="9144000" cy="5400675"/>
          </a:xfrm>
        </p:spPr>
        <p:txBody>
          <a:bodyPr/>
          <a:lstStyle/>
          <a:p>
            <a:pPr eaLnBrk="1" hangingPunct="1"/>
            <a:r>
              <a:rPr lang="hr-HR" altLang="sr-Latn-RS" sz="2400"/>
              <a:t>Varijanta 4:</a:t>
            </a:r>
          </a:p>
          <a:p>
            <a:pPr lvl="2" eaLnBrk="1" hangingPunct="1">
              <a:buFontTx/>
              <a:buNone/>
            </a:pPr>
            <a:r>
              <a:rPr lang="hr-HR" altLang="sr-Latn-RS" sz="1800" b="1">
                <a:latin typeface="Courier New" panose="02070309020205020404" pitchFamily="49" charset="0"/>
              </a:rPr>
              <a:t>public class MainFrame extends JFrame implements ActionListener {</a:t>
            </a:r>
          </a:p>
          <a:p>
            <a:pPr lvl="2" eaLnBrk="1" hangingPunct="1">
              <a:buFontTx/>
              <a:buNone/>
            </a:pPr>
            <a:r>
              <a:rPr lang="hr-HR" altLang="sr-Latn-RS" sz="1800" b="1">
                <a:latin typeface="Courier New" panose="02070309020205020404" pitchFamily="49" charset="0"/>
              </a:rPr>
              <a:t>  ...</a:t>
            </a:r>
          </a:p>
          <a:p>
            <a:pPr lvl="2"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</a:t>
            </a:r>
            <a:r>
              <a:rPr lang="en-US" altLang="sr-Latn-RS" sz="1800" b="1">
                <a:latin typeface="Courier New" panose="02070309020205020404" pitchFamily="49" charset="0"/>
              </a:rPr>
              <a:t>@Override</a:t>
            </a:r>
          </a:p>
          <a:p>
            <a:pPr lvl="2"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</a:t>
            </a:r>
            <a:r>
              <a:rPr lang="en-US" altLang="sr-Latn-RS" sz="1800" b="1">
                <a:latin typeface="Courier New" panose="02070309020205020404" pitchFamily="49" charset="0"/>
              </a:rPr>
              <a:t>public void actionPerformed(ActionEvent ev) {</a:t>
            </a:r>
            <a:r>
              <a:rPr lang="sr-Latn-CS" altLang="sr-Latn-RS" sz="1800" b="1">
                <a:latin typeface="Courier New" panose="02070309020205020404" pitchFamily="49" charset="0"/>
              </a:rPr>
              <a:t>...}</a:t>
            </a:r>
          </a:p>
          <a:p>
            <a:pPr lvl="2" eaLnBrk="1" hangingPunct="1"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  <a:r>
              <a:rPr lang="en-US" altLang="sr-Latn-RS" sz="1800" b="1">
                <a:latin typeface="Courier New" panose="02070309020205020404" pitchFamily="49" charset="0"/>
              </a:rPr>
              <a:t>			</a:t>
            </a:r>
            <a:endParaRPr lang="hr-HR" altLang="sr-Latn-RS" sz="1800" b="1">
              <a:latin typeface="Courier New" panose="02070309020205020404" pitchFamily="49" charset="0"/>
            </a:endParaRPr>
          </a:p>
        </p:txBody>
      </p:sp>
      <p:sp>
        <p:nvSpPr>
          <p:cNvPr id="29700" name="Text Box 4">
            <a:extLst>
              <a:ext uri="{FF2B5EF4-FFF2-40B4-BE49-F238E27FC236}">
                <a16:creationId xmlns:a16="http://schemas.microsoft.com/office/drawing/2014/main" id="{4A0E4069-4EDB-FFDA-FAC7-AD1781B9B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5876925"/>
            <a:ext cx="2917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sr-Latn-RS" sz="1800">
                <a:latin typeface="Arial Narrow" panose="020B0606020202030204" pitchFamily="34" charset="0"/>
              </a:rPr>
              <a:t>p</a:t>
            </a:r>
            <a:r>
              <a:rPr lang="sr-Latn-CS" altLang="sr-Latn-RS" sz="1800">
                <a:latin typeface="Arial Narrow" panose="020B0606020202030204" pitchFamily="34" charset="0"/>
              </a:rPr>
              <a:t>rimer09 </a:t>
            </a:r>
            <a:r>
              <a:rPr lang="en-US" altLang="sr-Latn-RS" sz="1800">
                <a:latin typeface="Arial Narrow" panose="020B0606020202030204" pitchFamily="34" charset="0"/>
              </a:rPr>
              <a:t> Listener</a:t>
            </a:r>
            <a:r>
              <a:rPr lang="sr-Latn-CS" altLang="sr-Latn-RS" sz="1800">
                <a:latin typeface="Arial Narrow" panose="020B060602020203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3C071CF-5FC7-CA2E-8867-1C2CD071AD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633412"/>
          </a:xfrm>
        </p:spPr>
        <p:txBody>
          <a:bodyPr/>
          <a:lstStyle/>
          <a:p>
            <a:pPr eaLnBrk="1" hangingPunct="1"/>
            <a:r>
              <a:rPr lang="sr-Latn-CS" altLang="sr-Latn-RS" sz="4000"/>
              <a:t>Hijerarhija događaja</a:t>
            </a:r>
            <a:endParaRPr lang="en-GB" altLang="sr-Latn-RS" sz="4000"/>
          </a:p>
        </p:txBody>
      </p:sp>
      <p:graphicFrame>
        <p:nvGraphicFramePr>
          <p:cNvPr id="30723" name="Object 3">
            <a:extLst>
              <a:ext uri="{FF2B5EF4-FFF2-40B4-BE49-F238E27FC236}">
                <a16:creationId xmlns:a16="http://schemas.microsoft.com/office/drawing/2014/main" id="{2081BB5D-6224-9385-9674-EDA3E29C07A8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195513" y="1412875"/>
          <a:ext cx="4792662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800000" imgH="5266667" progId="Paint.Picture">
                  <p:embed/>
                </p:oleObj>
              </mc:Choice>
              <mc:Fallback>
                <p:oleObj name="Bitmap Image" r:id="rId2" imgW="4800000" imgH="5266667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412875"/>
                        <a:ext cx="4792662" cy="525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Rectangle 4">
            <a:extLst>
              <a:ext uri="{FF2B5EF4-FFF2-40B4-BE49-F238E27FC236}">
                <a16:creationId xmlns:a16="http://schemas.microsoft.com/office/drawing/2014/main" id="{B1A12F76-1123-BCAC-EAD4-AB91CE335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836613"/>
            <a:ext cx="7100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2400">
                <a:latin typeface="Arial Narrow" panose="020B0606020202030204" pitchFamily="34" charset="0"/>
              </a:rPr>
              <a:t>Za svaku vrstu događaja postoji odgovarajuća xxxEvent klasa</a:t>
            </a:r>
            <a:r>
              <a:rPr lang="en-US" altLang="sr-Latn-RS" sz="2400">
                <a:latin typeface="Arial Narrow" panose="020B0606020202030204" pitchFamily="34" charset="0"/>
              </a:rPr>
              <a:t>:</a:t>
            </a:r>
            <a:endParaRPr lang="sr-Latn-CS" altLang="sr-Latn-RS" sz="240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F929763C-3AB1-28AD-E376-FAB07F757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sr-Latn-CS" altLang="sr-Latn-RS" sz="4000"/>
              <a:t>Vrste događaja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981C98E-1A41-4762-6E92-020DE235E5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29600" cy="8921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sr-Latn-RS" sz="2400"/>
              <a:t>A z</a:t>
            </a:r>
            <a:r>
              <a:rPr lang="sr-Latn-CS" altLang="sr-Latn-RS" sz="2400"/>
              <a:t>a svaku xxxEvent klas</a:t>
            </a:r>
            <a:r>
              <a:rPr lang="en-US" altLang="sr-Latn-RS" sz="2400"/>
              <a:t>u postoji</a:t>
            </a:r>
            <a:r>
              <a:rPr lang="sr-Latn-CS" altLang="sr-Latn-RS" sz="2400"/>
              <a:t> </a:t>
            </a:r>
            <a:r>
              <a:rPr lang="en-US" altLang="sr-Latn-RS" sz="2400"/>
              <a:t>bar jedan</a:t>
            </a:r>
            <a:r>
              <a:rPr lang="sr-Latn-CS" altLang="sr-Latn-RS" sz="2400"/>
              <a:t> xxxListener interfejs, npr</a:t>
            </a:r>
            <a:r>
              <a:rPr lang="en-US" altLang="sr-Latn-RS" sz="2400"/>
              <a:t>:</a:t>
            </a:r>
            <a:endParaRPr lang="sr-Latn-CS" altLang="sr-Latn-RS" sz="2400"/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16FFCC9B-7D88-AAE7-1FB7-39659FA2E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916113"/>
            <a:ext cx="8496300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sr-Latn-RS" sz="2000" b="1" u="sng">
                <a:latin typeface="Courier New" panose="02070309020205020404" pitchFamily="49" charset="0"/>
              </a:rPr>
              <a:t>D</a:t>
            </a:r>
            <a:r>
              <a:rPr lang="sr-Latn-CS" altLang="sr-Latn-RS" sz="2000" b="1" u="sng">
                <a:latin typeface="Courier New" panose="02070309020205020404" pitchFamily="49" charset="0"/>
              </a:rPr>
              <a:t>ogađaj</a:t>
            </a:r>
            <a:r>
              <a:rPr lang="en-US" altLang="sr-Latn-RS" sz="2000" b="1" u="sng">
                <a:latin typeface="Courier New" panose="02070309020205020404" pitchFamily="49" charset="0"/>
              </a:rPr>
              <a:t>     </a:t>
            </a:r>
            <a:r>
              <a:rPr lang="sr-Latn-CS" altLang="sr-Latn-RS" sz="2000" b="1" u="sng">
                <a:latin typeface="Courier New" panose="02070309020205020404" pitchFamily="49" charset="0"/>
              </a:rPr>
              <a:t>      Dodeljeni Listener</a:t>
            </a:r>
            <a:r>
              <a:rPr lang="sr-Latn-CS" altLang="sr-Latn-RS" sz="2000" b="1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ActionEvent       ActionListener	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AdjustmentEvent   AdjustmentListener	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ComponentEvent    ComponentListener	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ContainerEvent    ContainerListener	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FocusEvent        FocusListener	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KeyEvent          KeyListener	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MouseEvent        MouseListener</a:t>
            </a:r>
            <a:r>
              <a:rPr lang="en-US" altLang="sr-Latn-RS" sz="2000" b="1">
                <a:latin typeface="Courier New" panose="02070309020205020404" pitchFamily="49" charset="0"/>
              </a:rPr>
              <a:t>, MouseMoveListener</a:t>
            </a:r>
            <a:r>
              <a:rPr lang="sr-Latn-CS" altLang="sr-Latn-RS" sz="2000" b="1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WindowEvent       WindowListener</a:t>
            </a:r>
            <a:r>
              <a:rPr lang="en-US" altLang="sr-Latn-RS" sz="2000" b="1">
                <a:latin typeface="Courier New" panose="02070309020205020404" pitchFamily="49" charset="0"/>
              </a:rPr>
              <a:t>, WindowStateListener</a:t>
            </a:r>
            <a:r>
              <a:rPr lang="sr-Latn-CS" altLang="sr-Latn-RS" sz="2000" b="1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ItemEvent         ItemListener	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TextEvent         TextListener	</a:t>
            </a:r>
          </a:p>
          <a:p>
            <a:pPr eaLnBrk="1" hangingPunct="1">
              <a:buFontTx/>
              <a:buNone/>
            </a:pPr>
            <a:endParaRPr lang="en-US" altLang="sr-Latn-RS" sz="20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A9C3905E-5CB4-21BA-9C04-A887F9FEB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Adapter klase</a:t>
            </a:r>
            <a:endParaRPr lang="sr-Latn-CS" altLang="sr-Latn-RS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872989CA-6564-BB5F-A9E3-FE4387B159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0608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sr-Latn-RS"/>
              <a:t>Adapter k</a:t>
            </a:r>
            <a:r>
              <a:rPr lang="sr-Latn-CS" altLang="sr-Latn-RS"/>
              <a:t>lase su </a:t>
            </a:r>
            <a:r>
              <a:rPr lang="en-US" altLang="sr-Latn-RS"/>
              <a:t>uvedene za </a:t>
            </a:r>
            <a:r>
              <a:rPr lang="sr-Latn-CS" altLang="sr-Latn-RS"/>
              <a:t>sve xxxListener interfejse koje imaju više od jedne metode</a:t>
            </a:r>
            <a:r>
              <a:rPr lang="en-US" altLang="sr-Latn-RS"/>
              <a:t>,</a:t>
            </a:r>
            <a:r>
              <a:rPr lang="sr-Latn-CS" altLang="sr-Latn-RS"/>
              <a:t> sa ciljem da olakšaju pisanje reakcija na događaje. 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One </a:t>
            </a:r>
            <a:r>
              <a:rPr lang="en-US" altLang="sr-Latn-RS"/>
              <a:t>implementiraju *Listener interfejse i obezbeđuju podrazumevane reakcije na događaje (najčešće prazna tela metoda)</a:t>
            </a:r>
            <a:endParaRPr lang="sr-Latn-CS" altLang="sr-Latn-RS" sz="1200">
              <a:latin typeface="Courier New" panose="02070309020205020404" pitchFamily="49" charset="0"/>
            </a:endParaRPr>
          </a:p>
        </p:txBody>
      </p:sp>
      <p:sp>
        <p:nvSpPr>
          <p:cNvPr id="32772" name="Text Box 4">
            <a:extLst>
              <a:ext uri="{FF2B5EF4-FFF2-40B4-BE49-F238E27FC236}">
                <a16:creationId xmlns:a16="http://schemas.microsoft.com/office/drawing/2014/main" id="{B493FA16-D837-28E2-D04E-4A6888B10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5876925"/>
            <a:ext cx="2917825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sr-Latn-RS" sz="1800">
                <a:latin typeface="Arial Narrow" panose="020B0606020202030204" pitchFamily="34" charset="0"/>
              </a:rPr>
              <a:t>p</a:t>
            </a:r>
            <a:r>
              <a:rPr lang="sr-Latn-CS" altLang="sr-Latn-RS" sz="1800">
                <a:latin typeface="Arial Narrow" panose="020B0606020202030204" pitchFamily="34" charset="0"/>
              </a:rPr>
              <a:t>rimer10 </a:t>
            </a:r>
            <a:r>
              <a:rPr lang="en-US" altLang="sr-Latn-RS" sz="1800">
                <a:latin typeface="Arial Narrow" panose="020B0606020202030204" pitchFamily="34" charset="0"/>
              </a:rPr>
              <a:t> WindowListener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sr-Latn-RS" sz="1800">
                <a:latin typeface="Arial Narrow" panose="020B0606020202030204" pitchFamily="34" charset="0"/>
              </a:rPr>
              <a:t>primer</a:t>
            </a:r>
            <a:r>
              <a:rPr lang="sr-Latn-CS" altLang="sr-Latn-RS" sz="1800">
                <a:latin typeface="Arial Narrow" panose="020B0606020202030204" pitchFamily="34" charset="0"/>
              </a:rPr>
              <a:t>11 </a:t>
            </a:r>
            <a:r>
              <a:rPr lang="en-US" altLang="sr-Latn-RS" sz="1800">
                <a:latin typeface="Arial Narrow" panose="020B0606020202030204" pitchFamily="34" charset="0"/>
              </a:rPr>
              <a:t> WindowAdapter</a:t>
            </a:r>
            <a:endParaRPr lang="sr-Latn-CS" altLang="sr-Latn-RS" sz="180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5ED0BED-64B0-C820-BF99-E785635657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Adapter klase</a:t>
            </a:r>
            <a:endParaRPr lang="sr-Latn-CS" altLang="sr-Latn-R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2FC962C7-288A-C9D0-7BC5-91D268B15C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Primeri Adapter klasa:</a:t>
            </a:r>
          </a:p>
          <a:p>
            <a:pPr lvl="1" eaLnBrk="1" hangingPunct="1"/>
            <a:r>
              <a:rPr lang="sr-Latn-CS" altLang="sr-Latn-RS"/>
              <a:t>FocusAdapter </a:t>
            </a:r>
            <a:endParaRPr lang="en-US" altLang="sr-Latn-RS"/>
          </a:p>
          <a:p>
            <a:pPr lvl="1" eaLnBrk="1" hangingPunct="1"/>
            <a:r>
              <a:rPr lang="sr-Latn-CS" altLang="sr-Latn-RS"/>
              <a:t>MouseMotionAdapter </a:t>
            </a:r>
            <a:endParaRPr lang="en-US" altLang="sr-Latn-RS"/>
          </a:p>
          <a:p>
            <a:pPr lvl="1" eaLnBrk="1" hangingPunct="1"/>
            <a:r>
              <a:rPr lang="sr-Latn-CS" altLang="sr-Latn-RS"/>
              <a:t>KeyAdapter </a:t>
            </a:r>
            <a:endParaRPr lang="en-US" altLang="sr-Latn-RS"/>
          </a:p>
          <a:p>
            <a:pPr lvl="1" eaLnBrk="1" hangingPunct="1"/>
            <a:r>
              <a:rPr lang="sr-Latn-CS" altLang="sr-Latn-RS"/>
              <a:t>WindowAdapter </a:t>
            </a:r>
            <a:endParaRPr lang="en-US" altLang="sr-Latn-RS"/>
          </a:p>
          <a:p>
            <a:pPr lvl="1" eaLnBrk="1" hangingPunct="1"/>
            <a:r>
              <a:rPr lang="sr-Latn-CS" altLang="sr-Latn-RS"/>
              <a:t>MouseAdapter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A1B5988F-84E0-E259-B6C6-C6D104368C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Šta se tačno dešava?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921DAF70-AF79-961E-375C-3BD142FFF4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229600" cy="4784725"/>
          </a:xfrm>
        </p:spPr>
        <p:txBody>
          <a:bodyPr/>
          <a:lstStyle/>
          <a:p>
            <a:pPr eaLnBrk="1" hangingPunct="1"/>
            <a:r>
              <a:rPr lang="en-US" altLang="sr-Latn-RS" sz="2400"/>
              <a:t>Klasa koja generiše događaje ima add*Listener metode i remove*Listener metode putem kojih se objekti zainteresovani za odgovarajuće događaje mogu registrovati/deregistrovati. </a:t>
            </a:r>
            <a:endParaRPr lang="sr-Latn-CS" altLang="sr-Latn-RS" sz="2400"/>
          </a:p>
          <a:p>
            <a:pPr eaLnBrk="1" hangingPunct="1"/>
            <a:r>
              <a:rPr lang="en-US" altLang="sr-Latn-RS" sz="2400"/>
              <a:t>Klase koje generišu događaje, za tu svrhu imaju metode fire* kojima se registrovanim osluškivačima javlja da se događaj desio. Metode za pristup registrovanim osluškivačima su</a:t>
            </a:r>
            <a:r>
              <a:rPr lang="sr-Latn-CS" altLang="sr-Latn-RS" sz="2400"/>
              <a:t>:</a:t>
            </a:r>
            <a:endParaRPr lang="en-US" altLang="sr-Latn-RS" sz="2400"/>
          </a:p>
          <a:p>
            <a:pPr lvl="1" eaLnBrk="1" hangingPunct="1"/>
            <a:r>
              <a:rPr lang="en-US" altLang="sr-Latn-RS" sz="2000"/>
              <a:t>getListeners - generička metoda koja prima kao parametar </a:t>
            </a:r>
            <a:r>
              <a:rPr lang="en-US" altLang="sr-Latn-RS" sz="2000" i="1"/>
              <a:t>class</a:t>
            </a:r>
            <a:r>
              <a:rPr lang="en-US" altLang="sr-Latn-RS" sz="2000"/>
              <a:t> objekat traženog listenera</a:t>
            </a:r>
            <a:r>
              <a:rPr lang="sr-Latn-CS" altLang="sr-Latn-RS" sz="2000"/>
              <a:t>,</a:t>
            </a:r>
            <a:endParaRPr lang="en-US" altLang="sr-Latn-RS" sz="2000"/>
          </a:p>
          <a:p>
            <a:pPr lvl="1" eaLnBrk="1" hangingPunct="1"/>
            <a:r>
              <a:rPr lang="en-US" altLang="sr-Latn-RS" sz="2000"/>
              <a:t>get*Listeners - specijalizovane metode za konkretne vrste osluškivača</a:t>
            </a:r>
            <a:r>
              <a:rPr lang="sr-Latn-CS" altLang="sr-Latn-RS" sz="2000"/>
              <a:t>.</a:t>
            </a:r>
            <a:endParaRPr lang="en-US" altLang="sr-Latn-RS"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C155683-FBB5-7A91-A05F-A83991430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Šta se tačno dešava?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F4B3CFF8-F71A-489A-3A74-273C9EB472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 sz="2800"/>
              <a:t>java.swing.event.EventListenerList - predstavlja pomo</a:t>
            </a:r>
            <a:r>
              <a:rPr lang="sr-Latn-CS" altLang="sr-Latn-RS" sz="2800"/>
              <a:t>ćnu</a:t>
            </a:r>
            <a:r>
              <a:rPr lang="en-US" altLang="sr-Latn-RS" sz="2800"/>
              <a:t> klasu koja u nizu čuva parove objekata </a:t>
            </a:r>
            <a:r>
              <a:rPr lang="sr-Latn-CS" altLang="sr-Latn-RS" sz="2800"/>
              <a:t>(</a:t>
            </a:r>
            <a:r>
              <a:rPr lang="en-US" altLang="sr-Latn-RS" sz="2800"/>
              <a:t>class objekat osluškivača</a:t>
            </a:r>
            <a:r>
              <a:rPr lang="sr-Latn-CS" altLang="sr-Latn-RS" sz="2800"/>
              <a:t>, </a:t>
            </a:r>
            <a:r>
              <a:rPr lang="en-US" altLang="sr-Latn-RS" sz="2800"/>
              <a:t> osluškivač</a:t>
            </a:r>
            <a:r>
              <a:rPr lang="sr-Latn-CS" altLang="sr-Latn-RS" sz="2800"/>
              <a:t>)</a:t>
            </a:r>
            <a:r>
              <a:rPr lang="en-US" altLang="sr-Latn-RS" sz="2800"/>
              <a:t>. </a:t>
            </a:r>
            <a:endParaRPr lang="sr-Latn-CS" altLang="sr-Latn-RS" sz="2800"/>
          </a:p>
          <a:p>
            <a:pPr eaLnBrk="1" hangingPunct="1"/>
            <a:r>
              <a:rPr lang="en-US" altLang="sr-Latn-RS" sz="2800"/>
              <a:t>Koristi se za podršku metodama add*Listener i fire*</a:t>
            </a:r>
            <a:r>
              <a:rPr lang="sr-Latn-CS" altLang="sr-Latn-RS" sz="2800"/>
              <a:t>.</a:t>
            </a:r>
          </a:p>
          <a:p>
            <a:pPr eaLnBrk="1" hangingPunct="1"/>
            <a:r>
              <a:rPr lang="en-US" altLang="sr-Latn-RS" sz="2800"/>
              <a:t>Ukoliko se pozove metoda fire* prolazi se kroz listu osluškivača i za svaki osluškivač koji pripada odgovarajućoj klasi kreira se event i prosleđuje odgovarajućoj metodi osluškivača.</a:t>
            </a:r>
            <a:endParaRPr lang="sr-Latn-CS" altLang="sr-Latn-RS" sz="2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D293-0D8D-8173-A831-F7F74395D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Event Dispatch Thread</a:t>
            </a:r>
            <a:endParaRPr lang="en-US"/>
          </a:p>
        </p:txBody>
      </p:sp>
      <p:sp>
        <p:nvSpPr>
          <p:cNvPr id="36867" name="Text Placeholder 2">
            <a:extLst>
              <a:ext uri="{FF2B5EF4-FFF2-40B4-BE49-F238E27FC236}">
                <a16:creationId xmlns:a16="http://schemas.microsoft.com/office/drawing/2014/main" id="{A0166930-070F-FD3B-0330-35411C285A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AC41D0FE-A5DE-49DC-7184-A9DAF1C194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 i="1"/>
              <a:t>java.awt.EventDispatchThread</a:t>
            </a:r>
            <a:endParaRPr lang="sr-Latn-CS" altLang="sr-Latn-RS" i="1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0F80BE9C-E049-351E-8B90-E48458A3CF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 sz="2800"/>
              <a:t>S</a:t>
            </a:r>
            <a:r>
              <a:rPr lang="en-US" altLang="sr-Latn-RS" sz="2800"/>
              <a:t>vaka awt ili swing aplikacija počinje sa dve niti. U jednoj se izvršava main metoda a u drugoj se obrađuju događaji(</a:t>
            </a:r>
            <a:r>
              <a:rPr lang="en-US" altLang="sr-Latn-RS" sz="2800" b="1">
                <a:solidFill>
                  <a:schemeClr val="hlink"/>
                </a:solidFill>
              </a:rPr>
              <a:t>E</a:t>
            </a:r>
            <a:r>
              <a:rPr lang="en-US" altLang="sr-Latn-RS" sz="2800"/>
              <a:t>vent-</a:t>
            </a:r>
            <a:r>
              <a:rPr lang="en-US" altLang="sr-Latn-RS" sz="2800" b="1">
                <a:solidFill>
                  <a:schemeClr val="hlink"/>
                </a:solidFill>
              </a:rPr>
              <a:t>D</a:t>
            </a:r>
            <a:r>
              <a:rPr lang="en-US" altLang="sr-Latn-RS" sz="2800"/>
              <a:t>ispatching </a:t>
            </a:r>
            <a:r>
              <a:rPr lang="en-US" altLang="sr-Latn-RS" sz="2800" b="1">
                <a:solidFill>
                  <a:schemeClr val="hlink"/>
                </a:solidFill>
              </a:rPr>
              <a:t>T</a:t>
            </a:r>
            <a:r>
              <a:rPr lang="en-US" altLang="sr-Latn-RS" sz="2800"/>
              <a:t>hrea</a:t>
            </a:r>
            <a:r>
              <a:rPr lang="sr-Latn-CS" altLang="sr-Latn-RS" sz="2800"/>
              <a:t>d).</a:t>
            </a:r>
          </a:p>
          <a:p>
            <a:pPr eaLnBrk="1" hangingPunct="1"/>
            <a:r>
              <a:rPr lang="en-US" altLang="sr-Latn-RS" sz="2800"/>
              <a:t>Događaji prolaze kroz FIFO koji je instanca java.awt.EventQueue klase. </a:t>
            </a:r>
            <a:endParaRPr lang="sr-Latn-CS" altLang="sr-Latn-RS" sz="2800"/>
          </a:p>
          <a:p>
            <a:pPr eaLnBrk="1" hangingPunct="1"/>
            <a:r>
              <a:rPr lang="en-US" altLang="sr-Latn-RS" sz="2800"/>
              <a:t>Zbog konzistentnosti događaji se obrađuju serijski i bitno je da se slanje svih događaja obavlja iz EDT</a:t>
            </a:r>
            <a:endParaRPr lang="sr-Latn-CS" altLang="sr-Latn-RS" sz="2800"/>
          </a:p>
          <a:p>
            <a:pPr lvl="1" eaLnBrk="1" hangingPunct="1"/>
            <a:r>
              <a:rPr lang="sr-Latn-CS" altLang="sr-Latn-RS" sz="2400"/>
              <a:t>z</a:t>
            </a:r>
            <a:r>
              <a:rPr lang="en-US" altLang="sr-Latn-RS" sz="2400"/>
              <a:t>godna statička metoda je SwingUtilities.isEventDispatchThread</a:t>
            </a:r>
            <a:endParaRPr lang="sr-Latn-CS" altLang="sr-Latn-RS" sz="2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B8CA8B3-9C7F-1B90-013F-E861F21B52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 i="1"/>
              <a:t>java.awt.EventDispatchThread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3F65FAE-046E-9AED-D805-F012608073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Problem je ako se iz listenera startuje dugotrajan posao sa potrebom da se ažurira stanje GUI komponenti.</a:t>
            </a:r>
          </a:p>
          <a:p>
            <a:pPr lvl="1" eaLnBrk="1" hangingPunct="1"/>
            <a:r>
              <a:rPr lang="sr-Latn-CS" altLang="sr-Latn-RS"/>
              <a:t>"zamrzava" ekran</a:t>
            </a:r>
          </a:p>
          <a:p>
            <a:pPr eaLnBrk="1" hangingPunct="1"/>
            <a:r>
              <a:rPr lang="sr-Latn-CS" altLang="sr-Latn-RS"/>
              <a:t>Jedno rešenje je uvođenje niti.</a:t>
            </a:r>
          </a:p>
          <a:p>
            <a:pPr eaLnBrk="1" hangingPunct="1"/>
            <a:r>
              <a:rPr lang="sr-Latn-CS" altLang="sr-Latn-RS"/>
              <a:t>Najbolje rešenje je upotreba SwingWorker klase</a:t>
            </a:r>
            <a:endParaRPr lang="en-US" altLang="sr-Latn-RS"/>
          </a:p>
        </p:txBody>
      </p:sp>
      <p:sp>
        <p:nvSpPr>
          <p:cNvPr id="38916" name="Text Box 4">
            <a:extLst>
              <a:ext uri="{FF2B5EF4-FFF2-40B4-BE49-F238E27FC236}">
                <a16:creationId xmlns:a16="http://schemas.microsoft.com/office/drawing/2014/main" id="{9E098B2A-0CA7-318E-ABED-217860AEC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5876925"/>
            <a:ext cx="3457575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sr-Latn-RS" sz="1800">
                <a:latin typeface="Arial Narrow" panose="020B0606020202030204" pitchFamily="34" charset="0"/>
              </a:rPr>
              <a:t>p</a:t>
            </a:r>
            <a:r>
              <a:rPr lang="sr-Latn-CS" altLang="sr-Latn-RS" sz="1800">
                <a:latin typeface="Arial Narrow" panose="020B0606020202030204" pitchFamily="34" charset="0"/>
              </a:rPr>
              <a:t>rimer12 </a:t>
            </a:r>
            <a:r>
              <a:rPr lang="en-US" altLang="sr-Latn-RS" sz="1800">
                <a:latin typeface="Arial Narrow" panose="020B0606020202030204" pitchFamily="34" charset="0"/>
              </a:rPr>
              <a:t> </a:t>
            </a:r>
            <a:r>
              <a:rPr lang="sr-Latn-CS" altLang="sr-Latn-RS" sz="1800">
                <a:latin typeface="Arial Narrow" panose="020B0606020202030204" pitchFamily="34" charset="0"/>
              </a:rPr>
              <a:t>Blokiran EDT</a:t>
            </a:r>
            <a:endParaRPr lang="en-US" altLang="sr-Latn-RS" sz="1800">
              <a:latin typeface="Arial Narrow" panose="020B0606020202030204" pitchFamily="34" charset="0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sr-Latn-RS" sz="1800">
                <a:latin typeface="Arial Narrow" panose="020B0606020202030204" pitchFamily="34" charset="0"/>
              </a:rPr>
              <a:t>primer</a:t>
            </a:r>
            <a:r>
              <a:rPr lang="sr-Latn-CS" altLang="sr-Latn-RS" sz="1800">
                <a:latin typeface="Arial Narrow" panose="020B0606020202030204" pitchFamily="34" charset="0"/>
              </a:rPr>
              <a:t>13 </a:t>
            </a:r>
            <a:r>
              <a:rPr lang="en-US" altLang="sr-Latn-RS" sz="1800">
                <a:latin typeface="Arial Narrow" panose="020B0606020202030204" pitchFamily="34" charset="0"/>
              </a:rPr>
              <a:t> </a:t>
            </a:r>
            <a:r>
              <a:rPr lang="sr-Latn-CS" altLang="sr-Latn-RS" sz="1800">
                <a:latin typeface="Arial Narrow" panose="020B0606020202030204" pitchFamily="34" charset="0"/>
              </a:rPr>
              <a:t>Resenje upotrebom niti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A45D9DC-3E0E-6BF2-6629-7EBAAC395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SwingWorker</a:t>
            </a:r>
            <a:endParaRPr lang="en-US" altLang="sr-Latn-R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FF23B329-67D8-98D8-D746-9802FE7980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Klasa napravljena za rešavanje problema blokiranja EDT.</a:t>
            </a:r>
          </a:p>
          <a:p>
            <a:pPr eaLnBrk="1" hangingPunct="1"/>
            <a:r>
              <a:rPr lang="sr-Latn-CS" altLang="sr-Latn-RS"/>
              <a:t>Nasledi se klasa SwingWorker i redefinišu se metode doInBackground, process i finished.</a:t>
            </a:r>
          </a:p>
          <a:p>
            <a:pPr eaLnBrk="1" hangingPunct="1"/>
            <a:r>
              <a:rPr lang="sr-Latn-CS" altLang="sr-Latn-RS"/>
              <a:t>Startuje se pozivom metode execute(), a zaustavlja pozivom metode cancel()</a:t>
            </a:r>
          </a:p>
          <a:p>
            <a:pPr lvl="1" eaLnBrk="1" hangingPunct="1"/>
            <a:r>
              <a:rPr lang="sr-Latn-CS" altLang="sr-Latn-RS"/>
              <a:t>metoda isCancelled() vraća true ako je rad prekinut</a:t>
            </a:r>
            <a:endParaRPr lang="en-US" altLang="sr-Latn-RS"/>
          </a:p>
        </p:txBody>
      </p:sp>
      <p:sp>
        <p:nvSpPr>
          <p:cNvPr id="39940" name="Text Box 4">
            <a:extLst>
              <a:ext uri="{FF2B5EF4-FFF2-40B4-BE49-F238E27FC236}">
                <a16:creationId xmlns:a16="http://schemas.microsoft.com/office/drawing/2014/main" id="{FA77F41E-8B10-766A-DD2D-37094DF85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4263" y="6302375"/>
            <a:ext cx="2917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sr-Latn-RS" sz="1800">
                <a:latin typeface="Arial Narrow" panose="020B0606020202030204" pitchFamily="34" charset="0"/>
              </a:rPr>
              <a:t>p</a:t>
            </a:r>
            <a:r>
              <a:rPr lang="sr-Latn-CS" altLang="sr-Latn-RS" sz="1800">
                <a:latin typeface="Arial Narrow" panose="020B0606020202030204" pitchFamily="34" charset="0"/>
              </a:rPr>
              <a:t>rimer14 </a:t>
            </a:r>
            <a:r>
              <a:rPr lang="en-US" altLang="sr-Latn-RS" sz="1800">
                <a:latin typeface="Arial Narrow" panose="020B0606020202030204" pitchFamily="34" charset="0"/>
              </a:rPr>
              <a:t> </a:t>
            </a:r>
            <a:r>
              <a:rPr lang="sr-Latn-CS" altLang="sr-Latn-RS" sz="1800">
                <a:latin typeface="Arial Narrow" panose="020B0606020202030204" pitchFamily="34" charset="0"/>
              </a:rPr>
              <a:t>SwingWorker</a:t>
            </a:r>
            <a:endParaRPr lang="en-US" altLang="sr-Latn-RS" sz="180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6DE291BE-3ED5-E6F1-33FD-EA0DEF2DEF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sr-Latn-CS" altLang="sr-Latn-RS"/>
              <a:t>Rezime1</a:t>
            </a:r>
            <a:r>
              <a:rPr lang="en-US" altLang="sr-Latn-RS"/>
              <a:t>/3</a:t>
            </a:r>
            <a:endParaRPr lang="sr-Latn-CS" altLang="sr-Latn-RS"/>
          </a:p>
        </p:txBody>
      </p:sp>
      <p:graphicFrame>
        <p:nvGraphicFramePr>
          <p:cNvPr id="63491" name="Group 3">
            <a:extLst>
              <a:ext uri="{FF2B5EF4-FFF2-40B4-BE49-F238E27FC236}">
                <a16:creationId xmlns:a16="http://schemas.microsoft.com/office/drawing/2014/main" id="{3C33201B-AC0D-0C05-5CC6-041B2FD261E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052513"/>
          <a:ext cx="8229600" cy="5257800"/>
        </p:xfrm>
        <a:graphic>
          <a:graphicData uri="http://schemas.openxmlformats.org/drawingml/2006/table">
            <a:tbl>
              <a:tblPr/>
              <a:tblGrid>
                <a:gridCol w="1738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6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0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Interfejs</a:t>
                      </a:r>
                      <a:endParaRPr kumimoji="0" lang="en-U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Metode interfejsa</a:t>
                      </a:r>
                      <a:endParaRPr kumimoji="0" lang="en-U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Doga</a:t>
                      </a:r>
                      <a:r>
                        <a:rPr kumimoji="0" lang="sr-Latn-C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đaj i njegove metode</a:t>
                      </a:r>
                      <a:endParaRPr kumimoji="0" lang="en-U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Komponenta koja generi</a:t>
                      </a:r>
                      <a:r>
                        <a:rPr kumimoji="0" lang="sr-Latn-C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š</a:t>
                      </a:r>
                      <a:r>
                        <a:rPr kumimoji="0" lang="sr-Latn-C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e događaj</a:t>
                      </a:r>
                      <a:endParaRPr kumimoji="0" lang="en-U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0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ActionListener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actionPerformed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ActionEvent</a:t>
                      </a:r>
                      <a:endParaRPr kumimoji="0" lang="sr-Latn-CS" altLang="sr-Latn-R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getActionCommand</a:t>
                      </a:r>
                      <a:endParaRPr kumimoji="0" lang="sr-Latn-C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getModifiers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AbstractButton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JComboBox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JTextField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Timer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49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AdjustmentListener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adjustmentValueChanged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AdjustmentEvent</a:t>
                      </a:r>
                      <a:endParaRPr kumimoji="0" lang="sr-Latn-CS" altLang="sr-Latn-R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getAdjustable</a:t>
                      </a:r>
                      <a:endParaRPr kumimoji="0" lang="sr-Latn-C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getAdjustmentType</a:t>
                      </a:r>
                      <a:endParaRPr kumimoji="0" lang="sr-Latn-C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getValue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JScrollbar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65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ItemListener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itemStateChanged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ItemEvent</a:t>
                      </a:r>
                      <a:endParaRPr kumimoji="0" lang="sr-Latn-CS" altLang="sr-Latn-R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getItem</a:t>
                      </a:r>
                      <a:endParaRPr kumimoji="0" lang="sr-Latn-C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getItemSelectable</a:t>
                      </a:r>
                      <a:endParaRPr kumimoji="0" lang="sr-Latn-C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getStateChange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AbstractButton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JComboBox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5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FocusListener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focusGained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focusLost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FocusEvent</a:t>
                      </a:r>
                      <a:endParaRPr kumimoji="0" lang="sr-Latn-CS" altLang="sr-Latn-R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isTemporary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Component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470B7BEC-6209-E862-2B76-A3517107AD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419100"/>
          </a:xfrm>
        </p:spPr>
        <p:txBody>
          <a:bodyPr/>
          <a:lstStyle/>
          <a:p>
            <a:pPr eaLnBrk="1" hangingPunct="1"/>
            <a:r>
              <a:rPr lang="sr-Latn-CS" altLang="sr-Latn-RS" sz="3600"/>
              <a:t>Rezime </a:t>
            </a:r>
            <a:r>
              <a:rPr lang="en-US" altLang="sr-Latn-RS" sz="3600"/>
              <a:t>2/3</a:t>
            </a:r>
            <a:endParaRPr lang="sr-Latn-CS" altLang="sr-Latn-RS" sz="3600"/>
          </a:p>
        </p:txBody>
      </p:sp>
      <p:graphicFrame>
        <p:nvGraphicFramePr>
          <p:cNvPr id="64515" name="Group 3">
            <a:extLst>
              <a:ext uri="{FF2B5EF4-FFF2-40B4-BE49-F238E27FC236}">
                <a16:creationId xmlns:a16="http://schemas.microsoft.com/office/drawing/2014/main" id="{E9B1DFCD-60E3-609C-4DDD-DE17F2A2CE4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79425" y="692150"/>
          <a:ext cx="8229599" cy="6049963"/>
        </p:xfrm>
        <a:graphic>
          <a:graphicData uri="http://schemas.openxmlformats.org/drawingml/2006/table">
            <a:tbl>
              <a:tblPr/>
              <a:tblGrid>
                <a:gridCol w="1831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5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6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5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6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Interfejs</a:t>
                      </a:r>
                      <a:endParaRPr kumimoji="0" lang="en-U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Metode interfejsa</a:t>
                      </a:r>
                      <a:endParaRPr kumimoji="0" lang="en-U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Doga</a:t>
                      </a:r>
                      <a:r>
                        <a:rPr kumimoji="0" lang="sr-Latn-C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đaj i njegove metode</a:t>
                      </a:r>
                      <a:endParaRPr kumimoji="0" lang="en-U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Komponenta koja generi</a:t>
                      </a:r>
                      <a:r>
                        <a:rPr kumimoji="0" lang="sr-Latn-C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š</a:t>
                      </a:r>
                      <a:r>
                        <a:rPr kumimoji="0" lang="sr-Latn-C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e događaj</a:t>
                      </a:r>
                      <a:endParaRPr kumimoji="0" lang="en-U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635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KeyListener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keyPressed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keyReleased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keyTyped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KeyEvent</a:t>
                      </a:r>
                    </a:p>
                    <a:p>
                      <a:pPr marL="742950" marR="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getKeyChar</a:t>
                      </a:r>
                      <a:endParaRPr kumimoji="0" lang="en-U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742950" marR="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getKeyCode</a:t>
                      </a:r>
                    </a:p>
                    <a:p>
                      <a:pPr marL="742950" marR="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getKeyModifiers</a:t>
                      </a:r>
                    </a:p>
                    <a:p>
                      <a:pPr marL="742950" marR="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getKeyText</a:t>
                      </a:r>
                    </a:p>
                    <a:p>
                      <a:pPr marL="742950" marR="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isActionKey</a:t>
                      </a:r>
                      <a:endParaRPr kumimoji="0" lang="sr-Latn-R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742950" marR="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kumimoji="0" lang="sr-Latn-R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isShiftDown</a:t>
                      </a:r>
                      <a:endParaRPr kumimoji="0" lang="en-U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Component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4767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MouseListener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mousePressed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mouseReleased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mouseEntered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mouseExited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mouseClicked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MouseEvent</a:t>
                      </a:r>
                    </a:p>
                    <a:p>
                      <a:pPr marL="742950" marR="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getClickCount</a:t>
                      </a:r>
                      <a:endParaRPr kumimoji="0" lang="en-U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742950" marR="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getX</a:t>
                      </a:r>
                    </a:p>
                    <a:p>
                      <a:pPr marL="742950" marR="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getY</a:t>
                      </a:r>
                    </a:p>
                    <a:p>
                      <a:pPr marL="742950" marR="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getPoint</a:t>
                      </a:r>
                    </a:p>
                    <a:p>
                      <a:pPr marL="742950" marR="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sr-Latn-C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anslatePoint</a:t>
                      </a:r>
                      <a:endParaRPr kumimoji="0" lang="en-U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Component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MouseMotionListener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mouseDragged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mouseMoved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MouseEvent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Component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89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MouseWheelListener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mouseWheelMoved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MouseWheelEvent</a:t>
                      </a:r>
                    </a:p>
                    <a:p>
                      <a:pPr marL="742950" marR="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getWheelRotation</a:t>
                      </a:r>
                      <a:endParaRPr kumimoji="0" lang="en-U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742950" marR="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getScrollAmount</a:t>
                      </a:r>
                      <a:endParaRPr kumimoji="0" lang="en-US" altLang="sr-Latn-R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Component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DD9D3F1B-FA4F-F7F4-A0B5-209781755F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sr-Latn-RS" sz="3600"/>
              <a:t>Rezime 3/3</a:t>
            </a:r>
            <a:endParaRPr lang="sr-Latn-CS" altLang="sr-Latn-RS" sz="3600"/>
          </a:p>
        </p:txBody>
      </p:sp>
      <p:graphicFrame>
        <p:nvGraphicFramePr>
          <p:cNvPr id="65569" name="Group 33">
            <a:extLst>
              <a:ext uri="{FF2B5EF4-FFF2-40B4-BE49-F238E27FC236}">
                <a16:creationId xmlns:a16="http://schemas.microsoft.com/office/drawing/2014/main" id="{28F5F011-F4FE-F850-3CD7-255DE3DB5C0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8313" y="750888"/>
          <a:ext cx="8229601" cy="5991225"/>
        </p:xfrm>
        <a:graphic>
          <a:graphicData uri="http://schemas.openxmlformats.org/drawingml/2006/table">
            <a:tbl>
              <a:tblPr/>
              <a:tblGrid>
                <a:gridCol w="2071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1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3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309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altLang="sr-Latn-R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Interfejs</a:t>
                      </a:r>
                      <a:endParaRPr kumimoji="0" lang="en-US" altLang="sr-Latn-R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Metode interfejsa</a:t>
                      </a:r>
                      <a:endParaRPr kumimoji="0" lang="en-US" altLang="sr-Latn-R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Doga</a:t>
                      </a:r>
                      <a:r>
                        <a:rPr kumimoji="0" lang="sr-Latn-CS" altLang="sr-Latn-R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đaj i njegove metode</a:t>
                      </a:r>
                      <a:endParaRPr kumimoji="0" lang="en-US" altLang="sr-Latn-R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sr-Latn-CS" altLang="sr-Latn-R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Komponenta koja generi</a:t>
                      </a:r>
                      <a:r>
                        <a:rPr kumimoji="0" lang="sr-Latn-CS" altLang="sr-Latn-R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š</a:t>
                      </a:r>
                      <a:r>
                        <a:rPr kumimoji="0" lang="sr-Latn-CS" altLang="sr-Latn-R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e događaj</a:t>
                      </a:r>
                      <a:endParaRPr kumimoji="0" lang="en-US" altLang="sr-Latn-R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8921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WindowListener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windowClosing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windowOpened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windowIconified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windowDeiconified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windowClosed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windowActivated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windowDeactivated 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WindowEvent</a:t>
                      </a:r>
                    </a:p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getWindow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endParaRPr kumimoji="0" lang="en-US" altLang="sr-Latn-R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Window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3097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WindowFocusListener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windowGainedFocus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windowLostFocus 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WindowEvent</a:t>
                      </a:r>
                    </a:p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getOppositeWindow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endParaRPr kumimoji="0" lang="en-US" altLang="sr-Latn-R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Window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610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WindowStateListener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sr-Latn-R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WindowStateChanged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WindowEvent</a:t>
                      </a:r>
                    </a:p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getOldState</a:t>
                      </a:r>
                    </a:p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getNewState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endParaRPr kumimoji="0" lang="en-US" altLang="sr-Latn-R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US" altLang="sr-Latn-R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Window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1986</Words>
  <Application>Microsoft Office PowerPoint</Application>
  <PresentationFormat>On-screen Show (4:3)</PresentationFormat>
  <Paragraphs>354</Paragraphs>
  <Slides>39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Arial Narrow</vt:lpstr>
      <vt:lpstr>Courier New</vt:lpstr>
      <vt:lpstr>Symbol</vt:lpstr>
      <vt:lpstr>Default Design</vt:lpstr>
      <vt:lpstr>Bitmap Image</vt:lpstr>
      <vt:lpstr>Objektno Orijentisano Programiranje 1</vt:lpstr>
      <vt:lpstr>Tema</vt:lpstr>
      <vt:lpstr>Šta nam je potrebno od prethodnog znanja?</vt:lpstr>
      <vt:lpstr>Upravljanje prostornim rasporedom</vt:lpstr>
      <vt:lpstr>Upravljanje prostornim rasporedom</vt:lpstr>
      <vt:lpstr>Vrste upravljača  </vt:lpstr>
      <vt:lpstr>Ako nijedan ne odgovara</vt:lpstr>
      <vt:lpstr>BorderLayout</vt:lpstr>
      <vt:lpstr>BorderLayout</vt:lpstr>
      <vt:lpstr>FlowLayout</vt:lpstr>
      <vt:lpstr>FlowLayout</vt:lpstr>
      <vt:lpstr>GridLayout</vt:lpstr>
      <vt:lpstr>GridLayout</vt:lpstr>
      <vt:lpstr>GridBagLayout</vt:lpstr>
      <vt:lpstr>GridBagLayout – način unosa</vt:lpstr>
      <vt:lpstr>GridBagLayout</vt:lpstr>
      <vt:lpstr>GridBagLayout – parametri  constraint-a</vt:lpstr>
      <vt:lpstr>GridBagLayout – parametri  constraint-a</vt:lpstr>
      <vt:lpstr>GridBagLayout – parametri  constraint-a</vt:lpstr>
      <vt:lpstr>GridBagLayout – preporuke za korišćenje</vt:lpstr>
      <vt:lpstr>Event-driven model</vt:lpstr>
      <vt:lpstr>Event driven model</vt:lpstr>
      <vt:lpstr>Event driven model</vt:lpstr>
      <vt:lpstr>Realizacija Listener-a</vt:lpstr>
      <vt:lpstr>Realizacija Listener-a</vt:lpstr>
      <vt:lpstr>Realizacija Listener-a</vt:lpstr>
      <vt:lpstr>Hijerarhija događaja</vt:lpstr>
      <vt:lpstr>Vrste događaja</vt:lpstr>
      <vt:lpstr>Adapter klase</vt:lpstr>
      <vt:lpstr>Adapter klase</vt:lpstr>
      <vt:lpstr>Šta se tačno dešava?</vt:lpstr>
      <vt:lpstr>Šta se tačno dešava?</vt:lpstr>
      <vt:lpstr>Event Dispatch Thread</vt:lpstr>
      <vt:lpstr>java.awt.EventDispatchThread</vt:lpstr>
      <vt:lpstr>java.awt.EventDispatchThread</vt:lpstr>
      <vt:lpstr>SwingWorker</vt:lpstr>
      <vt:lpstr>Rezime1/3</vt:lpstr>
      <vt:lpstr>Rezime 2/3</vt:lpstr>
      <vt:lpstr>Rezime 3/3</vt:lpstr>
    </vt:vector>
  </TitlesOfParts>
  <Company>asdf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Programiranje korisničkog interfejsa u Javi</dc:title>
  <dc:creator>asdf asdf</dc:creator>
  <cp:lastModifiedBy>Jovana Vidaković</cp:lastModifiedBy>
  <cp:revision>98</cp:revision>
  <dcterms:created xsi:type="dcterms:W3CDTF">2009-03-11T09:58:22Z</dcterms:created>
  <dcterms:modified xsi:type="dcterms:W3CDTF">2024-06-18T21:19:57Z</dcterms:modified>
</cp:coreProperties>
</file>