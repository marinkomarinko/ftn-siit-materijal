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392" r:id="rId3"/>
    <p:sldId id="393" r:id="rId4"/>
    <p:sldId id="345" r:id="rId5"/>
    <p:sldId id="350" r:id="rId6"/>
    <p:sldId id="363" r:id="rId7"/>
    <p:sldId id="368" r:id="rId8"/>
    <p:sldId id="376" r:id="rId9"/>
    <p:sldId id="369" r:id="rId10"/>
    <p:sldId id="365" r:id="rId11"/>
    <p:sldId id="374" r:id="rId12"/>
    <p:sldId id="375" r:id="rId13"/>
    <p:sldId id="332" r:id="rId14"/>
    <p:sldId id="355" r:id="rId15"/>
    <p:sldId id="356" r:id="rId16"/>
    <p:sldId id="357" r:id="rId17"/>
    <p:sldId id="358" r:id="rId18"/>
    <p:sldId id="360" r:id="rId19"/>
    <p:sldId id="359" r:id="rId20"/>
    <p:sldId id="361" r:id="rId21"/>
    <p:sldId id="372" r:id="rId22"/>
    <p:sldId id="390" r:id="rId23"/>
    <p:sldId id="391" r:id="rId24"/>
    <p:sldId id="373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86" r:id="rId35"/>
    <p:sldId id="387" r:id="rId36"/>
    <p:sldId id="389" r:id="rId37"/>
    <p:sldId id="388" r:id="rId38"/>
    <p:sldId id="362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7D74CB9-FFF7-3865-0B11-718B8B4B01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20A10AD-1E29-285A-69AE-9C83A394DFE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EBBF3F-379E-2508-3200-7E657C5ADBE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0108391B-8CAB-1CB7-A6DB-BB145BB10E2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76A60C37-1343-BA5F-8378-ED567CE4558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D611709B-53A0-41DA-537C-0C51EF8240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030FA26-4A46-42A4-BD78-B9CFDF98164E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0E99F-7393-3211-EDCA-F5CE6FDE4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4FD707-AD6E-885D-C2D7-BA942F3CA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B3C086-4D83-376E-48B2-113C98C9DA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E9A7E-1B11-489A-B1D4-8CF29DA811C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10548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3F7C78-134A-FEFF-416B-2CA0102518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00788" y="6245225"/>
            <a:ext cx="2386012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1B253706-3900-4E1F-A10F-FCEBB9BE3393}" type="slidenum">
              <a:rPr lang="en-US" altLang="en-US" smtClean="0"/>
              <a:pPr algn="r">
                <a:defRPr/>
              </a:pPr>
              <a:t>‹#›</a:t>
            </a:fld>
            <a:r>
              <a:rPr lang="sr-Latn-RS" altLang="en-US"/>
              <a:t>/38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D9AB9-56CF-2A27-4027-29ADE8BE2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FDDAE-7BF3-DA18-F0B2-3CF5902D97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4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E65987-96E2-88DB-2031-F66D154955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8A10B2-6705-45E9-9DB4-1D0578B0DE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778CB1-02C8-B732-4F00-AD7C42F39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93EE5-503F-4D46-9BB4-8CA884A6CF7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91937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8B608-137C-761E-55A9-B0EACE4B8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4CA28C-BC7D-3670-F57C-AA74DE8E7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78F97-DC11-82B9-03B9-C082A202B4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044FC-6B58-484A-B95F-B193125DBA8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85959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D2F028-4A21-8D68-302D-2CB54243FC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0B62734-B9A2-05C5-DB53-A0B08E46CF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E3AB33D-336C-D523-B92F-0BD37DF20B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2399C-7D47-4AAD-A9B5-DDEBD2940C81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00809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A75C80-E12E-F857-1965-EED011129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39DB26-4D12-394B-4930-4DB6278301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E2D262-FBDA-BB36-8B8B-D553ECFAC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AFA9F-BFE7-438B-8BA0-C29DDCC99DE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998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5DC45E-D4DF-3398-1CA6-C38AD2522D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6A94F9F-E879-AA92-EF46-0D2CEFBC6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D3A92F7-55E9-1756-2A3B-547F9C3B0C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0F676-36C0-4E00-9D7F-2FDD05B7844A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38699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27F5F-0540-BB38-3172-AB559479D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81EF1-5C65-B1B8-DD2C-A900EB1DD8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74F9B4-A5C8-65E8-D041-1BC857E23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984D-1DD7-4E58-9AEE-D09128C0A55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89582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D0489-177B-E122-05D8-3E1CA2703B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4FBD2-F2E7-18D8-5D55-593350C97C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15939-4CFD-DA3F-7D79-F5437483FA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52101-047D-4817-8075-2CFBB2913E4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926363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4C1A15-BE0D-3A7B-4442-37DFB4099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0CF3A7-FE6F-5C1B-97BA-6F446D62F7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B3988-CCFA-C1E0-85CA-3EB5BCDEBB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3D7ED-807C-4814-8CDE-DC3FB7A10559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33681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5C6C85-F0E7-EF47-BBF1-B2762B0F59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7F2AE4-FB2B-95A1-0AC0-463B3FCB3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AD18B6-CDAF-13FC-39E2-E58276B40A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0B63F9-502E-4100-AEDC-CE09672E5FC7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89831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798EF-4F8C-FA6A-ECF4-A3DB4BD76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2E8FC-F672-280F-DBD9-ED60014E70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7BDD78-7A45-BC9C-29FE-30E3B90614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BE57A-9618-46EE-A5B2-9A46EDE71C4B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31448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FD2CAD3-DF6B-BAE3-DD08-FD71892B0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257CF24-BC01-A80E-3806-62CA6F62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A760D8C-EB02-7DE2-D03D-ECEC663D52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18C715-A331-9E02-A495-B985721035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A01D76E-1919-B1E1-05E4-58530ACF70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8423EC8-EFA7-487F-8CDD-055F1C93343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/36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75CF8A8-F1EF-1B43-C358-6889E888B1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3750" y="2349500"/>
            <a:ext cx="7772400" cy="1470025"/>
          </a:xfrm>
        </p:spPr>
        <p:txBody>
          <a:bodyPr/>
          <a:lstStyle/>
          <a:p>
            <a:r>
              <a:rPr lang="sr-Latn-RS" altLang="sr-Latn-RS"/>
              <a:t>Objektno Orijentisano Programiranje 1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12EE52CD-AD5A-D19A-73A1-645024997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471988"/>
            <a:ext cx="6119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sr-Latn-CS" altLang="sr-Latn-RS"/>
              <a:t>Komponente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A5E66D3-1235-EA91-0D28-32E809D22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8C4AF37-36E4-6BF7-51C7-6AA9885B2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Komponente grafičkog korisničkog interfejsa</a:t>
            </a:r>
          </a:p>
          <a:p>
            <a:r>
              <a:rPr lang="sr-Latn-RS" altLang="en-US"/>
              <a:t>Dijalozi</a:t>
            </a:r>
          </a:p>
          <a:p>
            <a:r>
              <a:rPr lang="sr-Latn-RS" altLang="en-US"/>
              <a:t>Look &amp; Feel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0584754-5288-F550-EDF2-8F77416A3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je potrebno od prethodnog znanja?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31202C2-AA62-B618-A868-C8C9CB6D1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Interfejsi</a:t>
            </a:r>
          </a:p>
          <a:p>
            <a:r>
              <a:rPr lang="sr-Latn-RS" altLang="en-US"/>
              <a:t>Event-driven model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C815D67-8733-8F92-DF6F-99D26AF89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47713"/>
          </a:xfrm>
        </p:spPr>
        <p:txBody>
          <a:bodyPr/>
          <a:lstStyle/>
          <a:p>
            <a:pPr eaLnBrk="1" hangingPunct="1"/>
            <a:r>
              <a:rPr lang="en-US" altLang="sr-Latn-RS" sz="4000"/>
              <a:t>Komponente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B4BBCA7-43E0-2036-43E2-2954324AB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7724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JButton            Dugme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JTextField         Jednolinijsko Edit polje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JTextArea          Višelinij</a:t>
            </a:r>
            <a:r>
              <a:rPr lang="en-US" altLang="sr-Latn-RS" sz="2000" b="1">
                <a:latin typeface="Courier New" panose="02070309020205020404" pitchFamily="49" charset="0"/>
              </a:rPr>
              <a:t>s</a:t>
            </a:r>
            <a:r>
              <a:rPr lang="hr-HR" altLang="sr-Latn-RS" sz="2000" b="1">
                <a:latin typeface="Courier New" panose="02070309020205020404" pitchFamily="49" charset="0"/>
              </a:rPr>
              <a:t>ko Edit polje (Memo)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JLabel             Labela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JCheckBox          CheckBox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ButtonGroup        Kontejner za Radio Button-e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JRadioButton       Radio Button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JComboBox          ComboBox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JList              ListBox	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JTabbedPane        Kartice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JOptionPane        MessageBox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JMenu, JMenuItem   Meniji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JDialog            DialogBox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JFrame             Prozor</a:t>
            </a: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EE54EA2-2732-5E64-937E-4F82CB38F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Standardne komponente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E87C28A-73AD-A8AC-0444-E8A1F550E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343400"/>
          </a:xfrm>
        </p:spPr>
        <p:txBody>
          <a:bodyPr/>
          <a:lstStyle/>
          <a:p>
            <a:pPr eaLnBrk="1" hangingPunct="1"/>
            <a:r>
              <a:rPr lang="en-US" altLang="sr-Latn-RS"/>
              <a:t>Primeri:</a:t>
            </a:r>
          </a:p>
          <a:p>
            <a:pPr lvl="2" eaLnBrk="1" hangingPunct="1">
              <a:spcBef>
                <a:spcPts val="1200"/>
              </a:spcBef>
              <a:spcAft>
                <a:spcPts val="300"/>
              </a:spcAft>
            </a:pPr>
            <a:r>
              <a:rPr lang="en-US" altLang="sr-Latn-RS"/>
              <a:t>JTextField i KeyEvent (</a:t>
            </a:r>
            <a:r>
              <a:rPr lang="sr-Latn-CS" altLang="sr-Latn-RS" sz="2000"/>
              <a:t>primer0</a:t>
            </a:r>
            <a:r>
              <a:rPr lang="en-US" altLang="sr-Latn-RS" sz="2000"/>
              <a:t>1</a:t>
            </a:r>
            <a:r>
              <a:rPr lang="en-US" altLang="sr-Latn-RS"/>
              <a:t>)</a:t>
            </a:r>
          </a:p>
          <a:p>
            <a:pPr lvl="2" eaLnBrk="1" hangingPunct="1">
              <a:spcBef>
                <a:spcPts val="1200"/>
              </a:spcBef>
              <a:spcAft>
                <a:spcPts val="300"/>
              </a:spcAft>
            </a:pPr>
            <a:r>
              <a:rPr lang="hr-HR" altLang="sr-Latn-RS"/>
              <a:t>JTextArea i CaretEvent (</a:t>
            </a:r>
            <a:r>
              <a:rPr lang="hr-HR" altLang="sr-Latn-RS" sz="2000"/>
              <a:t>primer0</a:t>
            </a:r>
            <a:r>
              <a:rPr lang="en-US" altLang="sr-Latn-RS" sz="2000"/>
              <a:t>2</a:t>
            </a:r>
            <a:r>
              <a:rPr lang="hr-HR" altLang="sr-Latn-RS"/>
              <a:t>)</a:t>
            </a:r>
          </a:p>
          <a:p>
            <a:pPr lvl="2" eaLnBrk="1" hangingPunct="1">
              <a:spcBef>
                <a:spcPts val="1200"/>
              </a:spcBef>
              <a:spcAft>
                <a:spcPts val="300"/>
              </a:spcAft>
            </a:pPr>
            <a:r>
              <a:rPr lang="hr-HR" altLang="sr-Latn-RS"/>
              <a:t>JCheckBox, JRadioButton i ItemEvent (</a:t>
            </a:r>
            <a:r>
              <a:rPr lang="hr-HR" altLang="sr-Latn-RS" sz="2000"/>
              <a:t>primer0</a:t>
            </a:r>
            <a:r>
              <a:rPr lang="en-US" altLang="sr-Latn-RS" sz="2000"/>
              <a:t>3</a:t>
            </a:r>
            <a:r>
              <a:rPr lang="hr-HR" altLang="sr-Latn-RS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DBDA6B-4492-FDD1-C6AF-4D2B21323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JComboBox</a:t>
            </a:r>
            <a:endParaRPr lang="en-U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51F198C-5823-A8F1-D888-4BABC925E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78850" cy="4525963"/>
          </a:xfrm>
        </p:spPr>
        <p:txBody>
          <a:bodyPr/>
          <a:lstStyle/>
          <a:p>
            <a:pPr eaLnBrk="1" hangingPunct="1"/>
            <a:r>
              <a:rPr lang="en-US" altLang="sr-Latn-RS" sz="2800"/>
              <a:t>Karakteri</a:t>
            </a:r>
            <a:r>
              <a:rPr lang="sr-Latn-CS" altLang="sr-Latn-RS" sz="2800"/>
              <a:t>še je prisustvo dva koncepta:</a:t>
            </a:r>
          </a:p>
          <a:p>
            <a:pPr lvl="1" eaLnBrk="1" hangingPunct="1"/>
            <a:r>
              <a:rPr lang="sr-Latn-CS" altLang="sr-Latn-RS" sz="2400"/>
              <a:t>koncept modela podataka i</a:t>
            </a:r>
          </a:p>
          <a:p>
            <a:pPr lvl="1" eaLnBrk="1" hangingPunct="1"/>
            <a:r>
              <a:rPr lang="sr-Latn-CS" altLang="sr-Latn-RS" sz="2400"/>
              <a:t>koncept renderera.</a:t>
            </a:r>
          </a:p>
          <a:p>
            <a:pPr eaLnBrk="1" hangingPunct="1"/>
            <a:r>
              <a:rPr lang="sr-Latn-CS" altLang="sr-Latn-RS" sz="2800"/>
              <a:t>Najjednostavniji primer podrazumeva da su oba koncepta implementirana default klasama:</a:t>
            </a:r>
          </a:p>
          <a:p>
            <a:pPr lvl="1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JComboBox </a:t>
            </a:r>
            <a:r>
              <a:rPr lang="en-US" altLang="sr-Latn-RS" sz="2000" b="1">
                <a:latin typeface="Courier New" panose="02070309020205020404" pitchFamily="49" charset="0"/>
              </a:rPr>
              <a:t>comboBox = new JComboBox(</a:t>
            </a:r>
            <a:r>
              <a:rPr lang="sr-Latn-CS" altLang="sr-Latn-RS" sz="2000" b="1">
                <a:latin typeface="Courier New" panose="02070309020205020404" pitchFamily="49" charset="0"/>
              </a:rPr>
              <a:t>items);</a:t>
            </a:r>
          </a:p>
          <a:p>
            <a:pPr lvl="1" eaLnBrk="1" hangingPunct="1"/>
            <a:r>
              <a:rPr lang="sr-Latn-CS" altLang="sr-Latn-RS"/>
              <a:t>gde je:</a:t>
            </a:r>
          </a:p>
          <a:p>
            <a:pPr lvl="2" eaLnBrk="1" hangingPunct="1"/>
            <a:r>
              <a:rPr lang="sr-Latn-CS" altLang="sr-Latn-RS"/>
              <a:t>items – niz (ili vektor) podataka.</a:t>
            </a:r>
            <a:endParaRPr lang="en-US" altLang="sr-Latn-R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ABFE472A-851F-EA18-8007-0F5B66DB5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520" y="6381328"/>
            <a:ext cx="2233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</a:t>
            </a:r>
            <a:r>
              <a:rPr lang="en-US" altLang="sr-Latn-RS" sz="1800">
                <a:latin typeface="Arial Narrow" panose="020B0606020202030204" pitchFamily="34" charset="0"/>
              </a:rPr>
              <a:t>4</a:t>
            </a:r>
            <a:r>
              <a:rPr lang="sr-Latn-CS" altLang="sr-Latn-RS" sz="1800">
                <a:latin typeface="Arial Narrow" panose="020B0606020202030204" pitchFamily="34" charset="0"/>
              </a:rPr>
              <a:t> JComboBox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BBD2466-35DF-AEF9-7062-01E82A04D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JComboBox model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27A7C80-6EE5-D8F9-FB71-BED79DB43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08050"/>
            <a:ext cx="8856662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modelovati podatke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ComboBoxModel</a:t>
            </a:r>
            <a:r>
              <a:rPr lang="sr-Latn-CS" altLang="sr-Latn-RS" sz="1800"/>
              <a:t> i redefinisati metode: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Object getSelectedItem()</a:t>
            </a:r>
            <a:r>
              <a:rPr lang="sr-Latn-CS" altLang="sr-Latn-RS" sz="1600"/>
              <a:t> i 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void setSelectedItem(Object item)</a:t>
            </a:r>
            <a:r>
              <a:rPr lang="sr-Latn-CS" altLang="sr-Latn-RS" sz="1600"/>
              <a:t>,</a:t>
            </a:r>
          </a:p>
          <a:p>
            <a:pPr eaLnBrk="1" hangingPunct="1"/>
            <a:r>
              <a:rPr lang="sr-Latn-CS" altLang="sr-Latn-RS" sz="1800"/>
              <a:t>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ComboBoxModel</a:t>
            </a:r>
            <a:r>
              <a:rPr lang="sr-Latn-CS" altLang="sr-Latn-RS" sz="1800"/>
              <a:t> nasleđuje </a:t>
            </a:r>
            <a:r>
              <a:rPr lang="sr-Latn-CS" altLang="sr-Latn-RS" sz="1600" b="1">
                <a:latin typeface="Courier New" panose="02070309020205020404" pitchFamily="49" charset="0"/>
              </a:rPr>
              <a:t>ListModel</a:t>
            </a:r>
            <a:r>
              <a:rPr lang="sr-Latn-CS" altLang="sr-Latn-RS" sz="1800"/>
              <a:t> interfejs, pa je potrebno redefinisati i: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Object getElementAt(int i)</a:t>
            </a:r>
            <a:r>
              <a:rPr lang="sr-Latn-CS" altLang="sr-Latn-RS" sz="1600"/>
              <a:t>,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int getSize()</a:t>
            </a:r>
            <a:r>
              <a:rPr lang="sr-Latn-CS" altLang="sr-Latn-RS" sz="1600"/>
              <a:t>, kao i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add/removeListDataListener(ListDataListener l)</a:t>
            </a:r>
            <a:r>
              <a:rPr lang="sr-Latn-CS" altLang="sr-Latn-RS" sz="1600"/>
              <a:t>.</a:t>
            </a:r>
          </a:p>
          <a:p>
            <a:pPr eaLnBrk="1" hangingPunct="1"/>
            <a:r>
              <a:rPr lang="sr-Latn-CS" altLang="sr-Latn-RS" sz="1800"/>
              <a:t>Postoji već implementiran interfejs u vidu </a:t>
            </a:r>
            <a:r>
              <a:rPr lang="sr-Latn-CS" altLang="sr-Latn-RS" sz="1600" b="1">
                <a:latin typeface="Courier New" panose="02070309020205020404" pitchFamily="49" charset="0"/>
              </a:rPr>
              <a:t>AbstractListModel</a:t>
            </a:r>
            <a:r>
              <a:rPr lang="sr-Latn-CS" altLang="sr-Latn-RS" sz="1800"/>
              <a:t> klase, koju potrebno samo naslediti i redefinisati prve četiri navedene metode metode</a:t>
            </a:r>
          </a:p>
          <a:p>
            <a:pPr lvl="1" eaLnBrk="1" hangingPunct="1"/>
            <a:r>
              <a:rPr lang="sr-Latn-CS" altLang="sr-Latn-RS" sz="1600"/>
              <a:t>ona dodaje podršku za odgovarajuće osluškivače.</a:t>
            </a:r>
          </a:p>
          <a:p>
            <a:pPr eaLnBrk="1" hangingPunct="1"/>
            <a:r>
              <a:rPr lang="sr-Latn-CS" altLang="sr-Latn-RS" sz="1800"/>
              <a:t>Klasa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DefaultComboBoxModel</a:t>
            </a:r>
            <a:r>
              <a:rPr lang="sr-Latn-CS" altLang="sr-Latn-RS" sz="1800"/>
              <a:t> nasleđuje </a:t>
            </a:r>
            <a:r>
              <a:rPr lang="sr-Latn-CS" altLang="sr-Latn-RS" sz="1600" b="1">
                <a:latin typeface="Courier New" panose="02070309020205020404" pitchFamily="49" charset="0"/>
              </a:rPr>
              <a:t>AbstractListModel</a:t>
            </a:r>
            <a:r>
              <a:rPr lang="sr-Latn-CS" altLang="sr-Latn-RS" sz="1800"/>
              <a:t> i implementira smeštaj podataka preko vektora.</a:t>
            </a:r>
            <a:endParaRPr lang="sr-Latn-CS" altLang="sr-Latn-RS" sz="1400" b="1"/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ComboBoxModel</a:t>
            </a:r>
            <a:r>
              <a:rPr lang="sr-Latn-CS" altLang="sr-Latn-RS" sz="1800"/>
              <a:t> je uveden da bi se istakao koncept selektovane stavke, koja se prikazuje u ComboBox-u na poseban način.</a:t>
            </a:r>
            <a:endParaRPr lang="en-US" altLang="sr-Latn-RS" sz="1800">
              <a:latin typeface="Courier New" panose="02070309020205020404" pitchFamily="49" charset="0"/>
            </a:endParaRPr>
          </a:p>
        </p:txBody>
      </p:sp>
      <p:sp>
        <p:nvSpPr>
          <p:cNvPr id="10244" name="Text Box 30">
            <a:extLst>
              <a:ext uri="{FF2B5EF4-FFF2-40B4-BE49-F238E27FC236}">
                <a16:creationId xmlns:a16="http://schemas.microsoft.com/office/drawing/2014/main" id="{8C09692F-48D1-2379-EFE3-436539397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381750"/>
            <a:ext cx="4465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Primer04 JCombobox model renderer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B8609EF-FC0D-84B6-600E-137C2E4F9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ComputerComponent.java</a:t>
            </a:r>
            <a:endParaRPr lang="en-U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6A5995F-7F1D-B9CF-1555-5DE3E9620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6370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200" b="1">
                <a:latin typeface="Courier New" panose="02070309020205020404" pitchFamily="49" charset="0"/>
              </a:rPr>
              <a:t>public class ComputerComponent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private ImageIcon icon;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public ComputerComponent(String 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</a:t>
            </a:r>
            <a:r>
              <a:rPr lang="en-US" altLang="sr-Latn-RS" sz="1200" b="1">
                <a:latin typeface="Courier New" panose="02070309020205020404" pitchFamily="49" charset="0"/>
              </a:rPr>
              <a:t>this.name =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</a:t>
            </a:r>
            <a:r>
              <a:rPr lang="en-US" altLang="sr-Latn-RS" sz="1200" b="1">
                <a:latin typeface="Courier New" panose="02070309020205020404" pitchFamily="49" charset="0"/>
              </a:rPr>
              <a:t>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  </a:t>
            </a:r>
            <a:r>
              <a:rPr lang="en-US" altLang="sr-Latn-RS" sz="1200" b="1">
                <a:latin typeface="Courier New" panose="02070309020205020404" pitchFamily="49" charset="0"/>
              </a:rPr>
              <a:t>icon = new ImageIcon(ComputerComponent.class.getResource("/img/" + name + ".png"));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  <a:r>
              <a:rPr lang="sr-Latn-CS" altLang="sr-Latn-RS" sz="1200" b="1">
                <a:latin typeface="Courier New" panose="02070309020205020404" pitchFamily="49" charset="0"/>
              </a:rPr>
              <a:t> </a:t>
            </a:r>
            <a:r>
              <a:rPr lang="en-US" altLang="sr-Latn-RS" sz="1200" b="1">
                <a:latin typeface="Courier New" panose="02070309020205020404" pitchFamily="49" charset="0"/>
              </a:rPr>
              <a:t>catch (Exception 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  </a:t>
            </a:r>
            <a:r>
              <a:rPr lang="en-US" altLang="sr-Latn-RS" sz="1200" b="1">
                <a:latin typeface="Courier New" panose="02070309020205020404" pitchFamily="49" charset="0"/>
              </a:rPr>
              <a:t>this.icon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public String getName()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	return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public void setName(String 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200" b="1">
                <a:latin typeface="Courier New" panose="02070309020205020404" pitchFamily="49" charset="0"/>
              </a:rPr>
              <a:t>	this.name =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public ImageIcon getIcon()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200" b="1">
                <a:latin typeface="Courier New" panose="02070309020205020404" pitchFamily="49" charset="0"/>
              </a:rPr>
              <a:t>	return icon;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public void setIcon(ImageIcon icon)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200" b="1">
                <a:latin typeface="Courier New" panose="02070309020205020404" pitchFamily="49" charset="0"/>
              </a:rPr>
              <a:t>	this.icon = icon;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200" b="1">
                <a:latin typeface="Courier New" panose="02070309020205020404" pitchFamily="49" charset="0"/>
              </a:rPr>
              <a:t>  </a:t>
            </a: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2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F87DD3B-1E30-94D9-9C94-4A0A8A551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JComboBox renderer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F9A6A4C-BBB3-4D12-A552-68DA4346E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prikazati podatke iz ćelije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ListCellRenderer</a:t>
            </a:r>
            <a:r>
              <a:rPr lang="sr-Latn-CS" altLang="sr-Latn-RS" sz="1800"/>
              <a:t>.</a:t>
            </a:r>
          </a:p>
          <a:p>
            <a:pPr eaLnBrk="1" hangingPunct="1"/>
            <a:r>
              <a:rPr lang="sr-Latn-CS" altLang="sr-Latn-RS" sz="1800"/>
              <a:t>Renderer je vezan za stavku koja se prikazuje.</a:t>
            </a:r>
          </a:p>
          <a:p>
            <a:pPr eaLnBrk="1" hangingPunct="1"/>
            <a:r>
              <a:rPr lang="sr-Latn-CS" altLang="sr-Latn-RS" sz="1800"/>
              <a:t>Postoji već implementiran renderer u vidu klase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DefaultListCellRenderer</a:t>
            </a:r>
            <a:r>
              <a:rPr lang="sr-Latn-CS" altLang="sr-Latn-RS" sz="1800"/>
              <a:t> koja podatke prikazuje upotrebom </a:t>
            </a:r>
            <a:r>
              <a:rPr lang="sr-Latn-CS" altLang="sr-Latn-RS" sz="1600" b="1">
                <a:latin typeface="Courier New" panose="02070309020205020404" pitchFamily="49" charset="0"/>
              </a:rPr>
              <a:t>JLabel</a:t>
            </a:r>
            <a:r>
              <a:rPr lang="sr-Latn-CS" altLang="sr-Latn-RS" sz="1800"/>
              <a:t> komponente.  </a:t>
            </a:r>
          </a:p>
        </p:txBody>
      </p:sp>
      <p:graphicFrame>
        <p:nvGraphicFramePr>
          <p:cNvPr id="138258" name="Group 18">
            <a:extLst>
              <a:ext uri="{FF2B5EF4-FFF2-40B4-BE49-F238E27FC236}">
                <a16:creationId xmlns:a16="http://schemas.microsoft.com/office/drawing/2014/main" id="{C6A8C0BC-76BE-510E-8C8F-1B3DEA467520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3716338"/>
          <a:ext cx="8569325" cy="639810"/>
        </p:xfrm>
        <a:graphic>
          <a:graphicData uri="http://schemas.openxmlformats.org/drawingml/2006/table">
            <a:tbl>
              <a:tblPr/>
              <a:tblGrid>
                <a:gridCol w="42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Component get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CellRendererComponent(J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, Object value,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 index,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 isSelected, boolean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cellH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asFocus)</a:t>
                      </a:r>
                    </a:p>
                  </a:txBody>
                  <a:tcPr marT="45585" marB="455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komponentu kojom se prikazuje data stavka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585" marB="455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00" name="Text Box 13">
            <a:extLst>
              <a:ext uri="{FF2B5EF4-FFF2-40B4-BE49-F238E27FC236}">
                <a16:creationId xmlns:a16="http://schemas.microsoft.com/office/drawing/2014/main" id="{EC83BB84-FD85-C448-886F-B34D0E2A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381750"/>
            <a:ext cx="4465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Primer04 JCombobox model renderer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5B53D71-9E17-7B4E-3D86-1331D26C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JList</a:t>
            </a:r>
            <a:endParaRPr lang="en-US" altLang="sr-Latn-R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515A347-A297-2115-4500-93E3770F8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Karakteri</a:t>
            </a:r>
            <a:r>
              <a:rPr lang="sr-Latn-CS" altLang="sr-Latn-RS"/>
              <a:t>še je prisustvo dva koncepta: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koncept modela podataka 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koncept renderera.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Najjednostavniji primer podrazumeva da su oba koncepta implementirana default klasama: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JList list</a:t>
            </a:r>
            <a:r>
              <a:rPr lang="en-US" altLang="sr-Latn-RS" sz="2400" b="1">
                <a:latin typeface="Courier New" panose="02070309020205020404" pitchFamily="49" charset="0"/>
              </a:rPr>
              <a:t> = new J</a:t>
            </a:r>
            <a:r>
              <a:rPr lang="sr-Latn-CS" altLang="sr-Latn-RS" sz="2400" b="1">
                <a:latin typeface="Courier New" panose="02070309020205020404" pitchFamily="49" charset="0"/>
              </a:rPr>
              <a:t>List</a:t>
            </a:r>
            <a:r>
              <a:rPr lang="en-US" altLang="sr-Latn-RS" sz="2400" b="1">
                <a:latin typeface="Courier New" panose="02070309020205020404" pitchFamily="49" charset="0"/>
              </a:rPr>
              <a:t>(</a:t>
            </a:r>
            <a:r>
              <a:rPr lang="sr-Latn-CS" altLang="sr-Latn-RS" sz="2400" b="1">
                <a:latin typeface="Courier New" panose="02070309020205020404" pitchFamily="49" charset="0"/>
              </a:rPr>
              <a:t>items);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3200"/>
              <a:t>gde je: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2800"/>
              <a:t>items – niz (ili vektor) podataka.</a:t>
            </a:r>
            <a:endParaRPr lang="en-US" altLang="sr-Latn-R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B9389BE6-D52C-6DA7-BB74-12E94021F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6381328"/>
            <a:ext cx="2233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Primer05 JList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65C66C-EF9A-6D96-F554-FEF85D94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JList model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D3D6AB3-C511-53F2-AADF-CB543E30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08050"/>
            <a:ext cx="8856662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modelovati podatke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ListModel</a:t>
            </a:r>
            <a:r>
              <a:rPr lang="sr-Latn-CS" altLang="sr-Latn-RS" sz="1600"/>
              <a:t>:</a:t>
            </a:r>
            <a:endParaRPr lang="sr-Latn-CS" altLang="sr-Latn-RS" sz="1800"/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Object getElementAt(int i)</a:t>
            </a:r>
            <a:r>
              <a:rPr lang="sr-Latn-CS" altLang="sr-Latn-RS" sz="1600"/>
              <a:t>, 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int getSize()</a:t>
            </a:r>
            <a:r>
              <a:rPr lang="sr-Latn-CS" altLang="sr-Latn-RS" sz="1600"/>
              <a:t>, kao i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add/removeListDataListener(ListDataListener l)</a:t>
            </a:r>
            <a:r>
              <a:rPr lang="sr-Latn-CS" altLang="sr-Latn-RS" sz="1600"/>
              <a:t>.</a:t>
            </a:r>
          </a:p>
          <a:p>
            <a:pPr eaLnBrk="1" hangingPunct="1"/>
            <a:r>
              <a:rPr lang="sr-Latn-CS" altLang="sr-Latn-RS" sz="1800"/>
              <a:t>Postoji već implementiran interfejs u vidu </a:t>
            </a:r>
            <a:r>
              <a:rPr lang="sr-Latn-CS" altLang="sr-Latn-RS" sz="1600" b="1">
                <a:latin typeface="Courier New" panose="02070309020205020404" pitchFamily="49" charset="0"/>
              </a:rPr>
              <a:t>AbstractListModel</a:t>
            </a:r>
            <a:r>
              <a:rPr lang="sr-Latn-CS" altLang="sr-Latn-RS" sz="1800"/>
              <a:t> klase, koju potrebno samo naslediti i redefinisati prve dve navedene metode metode</a:t>
            </a:r>
          </a:p>
          <a:p>
            <a:pPr lvl="1" eaLnBrk="1" hangingPunct="1"/>
            <a:r>
              <a:rPr lang="sr-Latn-CS" altLang="sr-Latn-RS" sz="1600"/>
              <a:t>ona dodaje podršku za odgovarajuće osluškivače.</a:t>
            </a:r>
          </a:p>
          <a:p>
            <a:pPr eaLnBrk="1" hangingPunct="1"/>
            <a:r>
              <a:rPr lang="sr-Latn-CS" altLang="sr-Latn-RS" sz="1800"/>
              <a:t>Klasa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DefaultListModel</a:t>
            </a:r>
            <a:r>
              <a:rPr lang="sr-Latn-CS" altLang="sr-Latn-RS" sz="1800"/>
              <a:t> nasleđuje </a:t>
            </a:r>
            <a:r>
              <a:rPr lang="sr-Latn-CS" altLang="sr-Latn-RS" sz="1600" b="1">
                <a:latin typeface="Courier New" panose="02070309020205020404" pitchFamily="49" charset="0"/>
              </a:rPr>
              <a:t>AbstractListModel</a:t>
            </a:r>
            <a:r>
              <a:rPr lang="sr-Latn-CS" altLang="sr-Latn-RS" sz="1800"/>
              <a:t> i implementira smeštaj podataka preko vektora.</a:t>
            </a:r>
            <a:r>
              <a:rPr lang="sr-Latn-CS" altLang="sr-Latn-RS" sz="1400" b="1"/>
              <a:t>		</a:t>
            </a:r>
            <a:endParaRPr lang="en-US" altLang="sr-Latn-RS" sz="1400" b="1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C07284CF-E06A-5AD3-8203-93EE3971B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381750"/>
            <a:ext cx="4465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Primer05 JList model renderer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2F97A1C-FA62-33B5-B04D-64277495B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JList renderer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989A21-C2BE-BAC9-0821-0F7F9C45C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prikazati podatke iz ćelije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ListCellRenderer</a:t>
            </a:r>
            <a:r>
              <a:rPr lang="sr-Latn-CS" altLang="sr-Latn-RS" sz="1800"/>
              <a:t>.</a:t>
            </a:r>
          </a:p>
          <a:p>
            <a:pPr eaLnBrk="1" hangingPunct="1"/>
            <a:r>
              <a:rPr lang="sr-Latn-CS" altLang="sr-Latn-RS" sz="1800"/>
              <a:t>Renderer je vezan za stavku koja se prikazuje.</a:t>
            </a:r>
          </a:p>
          <a:p>
            <a:pPr eaLnBrk="1" hangingPunct="1"/>
            <a:r>
              <a:rPr lang="sr-Latn-CS" altLang="sr-Latn-RS" sz="1800"/>
              <a:t>Postoji već implementiran renderer u vidu klase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DefaultTableCellRenderer</a:t>
            </a:r>
            <a:r>
              <a:rPr lang="sr-Latn-CS" altLang="sr-Latn-RS" sz="1800"/>
              <a:t> koja podatke prikazuje upotrebom </a:t>
            </a:r>
            <a:r>
              <a:rPr lang="sr-Latn-CS" altLang="sr-Latn-RS" sz="1600" b="1">
                <a:latin typeface="Courier New" panose="02070309020205020404" pitchFamily="49" charset="0"/>
              </a:rPr>
              <a:t>JLabel</a:t>
            </a:r>
            <a:r>
              <a:rPr lang="sr-Latn-CS" altLang="sr-Latn-RS" sz="1800"/>
              <a:t> komponente.  </a:t>
            </a:r>
          </a:p>
        </p:txBody>
      </p:sp>
      <p:graphicFrame>
        <p:nvGraphicFramePr>
          <p:cNvPr id="144388" name="Group 4">
            <a:extLst>
              <a:ext uri="{FF2B5EF4-FFF2-40B4-BE49-F238E27FC236}">
                <a16:creationId xmlns:a16="http://schemas.microsoft.com/office/drawing/2014/main" id="{CFD10474-7A16-1826-1320-3D3F1BDD555E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3716338"/>
          <a:ext cx="8569325" cy="639810"/>
        </p:xfrm>
        <a:graphic>
          <a:graphicData uri="http://schemas.openxmlformats.org/drawingml/2006/table">
            <a:tbl>
              <a:tblPr/>
              <a:tblGrid>
                <a:gridCol w="42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Component get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CellRendererComponent(J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list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, Object value,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 index,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 isSelected, boolean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cellH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asFocus)</a:t>
                      </a:r>
                    </a:p>
                  </a:txBody>
                  <a:tcPr marT="45585" marB="455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komponentu kojom se prikazuje data stavka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585" marB="455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72" name="Text Box 12">
            <a:extLst>
              <a:ext uri="{FF2B5EF4-FFF2-40B4-BE49-F238E27FC236}">
                <a16:creationId xmlns:a16="http://schemas.microsoft.com/office/drawing/2014/main" id="{733FD574-D3AC-9B4E-0028-78AB4ACDC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381750"/>
            <a:ext cx="4465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Primer05 JList model renderer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D895A58-215C-C8C4-6438-983E57143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JTabbedPane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5638D4C-2217-3D23-EEE9-8108720E4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84650"/>
          </a:xfrm>
        </p:spPr>
        <p:txBody>
          <a:bodyPr/>
          <a:lstStyle/>
          <a:p>
            <a:pPr eaLnBrk="1" hangingPunct="1"/>
            <a:r>
              <a:rPr lang="en-US" altLang="sr-Latn-RS"/>
              <a:t>Reprezentuje sistem me</a:t>
            </a:r>
            <a:r>
              <a:rPr lang="sr-Latn-CS" altLang="sr-Latn-RS"/>
              <a:t>đusobno preklopljenih prozora do kojih se dolazi klikom po odgovarajućoj “kartici”.</a:t>
            </a:r>
            <a:endParaRPr lang="en-US" altLang="sr-Latn-RS"/>
          </a:p>
          <a:p>
            <a:pPr eaLnBrk="1" hangingPunct="1"/>
            <a:r>
              <a:rPr lang="en-US" altLang="sr-Latn-RS"/>
              <a:t>Kartice su reprezentovane panelima (JPanel) i dodaju se metodom add</a:t>
            </a:r>
            <a:r>
              <a:rPr lang="sr-Latn-CS" altLang="sr-Latn-RS"/>
              <a:t>:</a:t>
            </a:r>
          </a:p>
          <a:p>
            <a:pPr lvl="1"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tabbedPane.addTab(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	</a:t>
            </a:r>
            <a:r>
              <a:rPr lang="en-US" altLang="sr-Latn-RS" sz="2400" b="1">
                <a:latin typeface="Courier New" panose="02070309020205020404" pitchFamily="49" charset="0"/>
              </a:rPr>
              <a:t>“</a:t>
            </a:r>
            <a:r>
              <a:rPr lang="sr-Latn-CS" altLang="sr-Latn-RS" sz="2400" b="1">
                <a:latin typeface="Courier New" panose="02070309020205020404" pitchFamily="49" charset="0"/>
              </a:rPr>
              <a:t>Naslov na kartici</a:t>
            </a:r>
            <a:r>
              <a:rPr lang="en-US" altLang="sr-Latn-RS" sz="2400" b="1">
                <a:latin typeface="Courier New" panose="02070309020205020404" pitchFamily="49" charset="0"/>
              </a:rPr>
              <a:t>", icon, panel, “</a:t>
            </a:r>
            <a:r>
              <a:rPr lang="sr-Latn-CS" altLang="sr-Latn-RS" sz="2400" b="1">
                <a:latin typeface="Courier New" panose="02070309020205020404" pitchFamily="49" charset="0"/>
              </a:rPr>
              <a:t>Tooltip tekst</a:t>
            </a:r>
            <a:r>
              <a:rPr lang="en-US" altLang="sr-Latn-RS" sz="2400" b="1">
                <a:latin typeface="Courier New" panose="02070309020205020404" pitchFamily="49" charset="0"/>
              </a:rPr>
              <a:t>");</a:t>
            </a:r>
          </a:p>
          <a:p>
            <a:pPr lvl="1" eaLnBrk="1" hangingPunct="1"/>
            <a:endParaRPr lang="en-US" altLang="sr-Latn-RS" sz="3200"/>
          </a:p>
        </p:txBody>
      </p:sp>
      <p:sp>
        <p:nvSpPr>
          <p:cNvPr id="16388" name="Text Box 5">
            <a:extLst>
              <a:ext uri="{FF2B5EF4-FFF2-40B4-BE49-F238E27FC236}">
                <a16:creationId xmlns:a16="http://schemas.microsoft.com/office/drawing/2014/main" id="{AD8320A4-32A1-8A94-348B-0A92201D6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630932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21FC5210-C5D8-5DA1-DAC7-B4B3D1CB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JMenu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EDBDF2FE-A74C-A8A3-63F4-41E6ACD31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885666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2400"/>
              <a:t>Reprezentuje pull-down meni.</a:t>
            </a:r>
            <a:r>
              <a:rPr lang="en-GB" altLang="sr-Latn-RS" sz="2400"/>
              <a:t> </a:t>
            </a:r>
            <a:endParaRPr lang="sr-Latn-CS" altLang="sr-Latn-RS" sz="2400"/>
          </a:p>
          <a:p>
            <a:pPr eaLnBrk="1" hangingPunct="1"/>
            <a:r>
              <a:rPr lang="sr-Latn-CS" altLang="sr-Latn-RS" sz="2400"/>
              <a:t>Proces kreiranja menija počinje kreiranjem trake menija:</a:t>
            </a:r>
          </a:p>
          <a:p>
            <a:pPr lvl="1" eaLnBrk="1" hangingPunct="1"/>
            <a:r>
              <a:rPr lang="sr-Latn-CS" altLang="sr-Latn-RS" sz="2000" b="1">
                <a:latin typeface="Courier New" panose="02070309020205020404" pitchFamily="49" charset="0"/>
              </a:rPr>
              <a:t>menuBar = new JMenuBar();</a:t>
            </a:r>
          </a:p>
          <a:p>
            <a:pPr eaLnBrk="1" hangingPunct="1"/>
            <a:r>
              <a:rPr lang="sr-Latn-CS" altLang="sr-Latn-RS" sz="2400"/>
              <a:t>Opcije menija su reprezentovane klasom JMenu: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menu = new JMenu(“Edit");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menu.setMnemonic(KeyEvent.VK_E);</a:t>
            </a:r>
          </a:p>
          <a:p>
            <a:pPr lvl="1" eaLnBrk="1" hangingPunct="1"/>
            <a:r>
              <a:rPr lang="sr-Latn-CS" altLang="sr-Latn-RS" sz="1600" b="1">
                <a:latin typeface="Courier New" panose="02070309020205020404" pitchFamily="49" charset="0"/>
              </a:rPr>
              <a:t>menuBar.add(menu);</a:t>
            </a:r>
          </a:p>
          <a:p>
            <a:pPr eaLnBrk="1" hangingPunct="1"/>
            <a:r>
              <a:rPr lang="sr-Latn-CS" altLang="sr-Latn-RS" sz="2400"/>
              <a:t>Opcije menija su reprezentovane klasom JMenuItem: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menuItem = new JMenuItem(“Copy", KeyEvent.VK_C);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//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menuItem.setMnemonic(KeyEvent.VK_C);</a:t>
            </a:r>
          </a:p>
          <a:p>
            <a:pPr eaLnBrk="1" hangingPunct="1">
              <a:buFontTx/>
              <a:buNone/>
            </a:pPr>
            <a:r>
              <a:rPr lang="sr-Latn-CS" altLang="sr-Latn-RS" sz="1300" b="1">
                <a:latin typeface="Courier New" panose="02070309020205020404" pitchFamily="49" charset="0"/>
              </a:rPr>
              <a:t>menuItem.setAccelerator(KeyStroke.getKeyStroke(KeyEvent.VK_C,</a:t>
            </a:r>
            <a:r>
              <a:rPr lang="en-US" altLang="sr-Latn-RS" sz="1300" b="1">
                <a:latin typeface="Courier New" panose="02070309020205020404" pitchFamily="49" charset="0"/>
              </a:rPr>
              <a:t> </a:t>
            </a:r>
            <a:r>
              <a:rPr lang="sr-Latn-CS" altLang="sr-Latn-RS" sz="1300" b="1">
                <a:latin typeface="Courier New" panose="02070309020205020404" pitchFamily="49" charset="0"/>
              </a:rPr>
              <a:t>ActionEvent.CTRL_MASK));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menu.add(menuItem);</a:t>
            </a:r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DE27D9DE-C5AF-3796-E020-D0F3D893C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6302375"/>
            <a:ext cx="1081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2B0ADAE2-273E-38A2-54A8-14C17ABBA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77724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4400">
                <a:solidFill>
                  <a:schemeClr val="tx2"/>
                </a:solidFill>
              </a:rPr>
              <a:t>JPopupMenu</a:t>
            </a:r>
          </a:p>
        </p:txBody>
      </p:sp>
      <p:sp>
        <p:nvSpPr>
          <p:cNvPr id="18435" name="Rectangle 5">
            <a:extLst>
              <a:ext uri="{FF2B5EF4-FFF2-40B4-BE49-F238E27FC236}">
                <a16:creationId xmlns:a16="http://schemas.microsoft.com/office/drawing/2014/main" id="{A28ECE4F-53FE-A1E6-7BA8-A160ED6FC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68413"/>
            <a:ext cx="8856662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2800"/>
              <a:t>Reprezentuje </a:t>
            </a:r>
            <a:r>
              <a:rPr lang="en-US" altLang="sr-Latn-RS" sz="2800"/>
              <a:t>popup </a:t>
            </a:r>
            <a:r>
              <a:rPr lang="sr-Latn-CS" altLang="sr-Latn-RS" sz="2800"/>
              <a:t>meni.</a:t>
            </a:r>
            <a:r>
              <a:rPr lang="en-GB" altLang="sr-Latn-RS" sz="2800"/>
              <a:t> </a:t>
            </a:r>
          </a:p>
          <a:p>
            <a:pPr eaLnBrk="1" hangingPunct="1"/>
            <a:r>
              <a:rPr lang="en-GB" altLang="sr-Latn-RS" sz="2800"/>
              <a:t>Kreiranje: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latin typeface="Courier New" panose="02070309020205020404" pitchFamily="49" charset="0"/>
              </a:rPr>
              <a:t>JPopupMenu popup = new JPopupMenu();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menuItem = new JMenuItem("A popup menu item");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menuItem.addActionListener(this);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popup.add(menuItem);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menuItem = new JMenuItem("Another popup menu item");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menuItem.addActionListener(this);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popup.add(menuItem);</a:t>
            </a: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latin typeface="Courier New" panose="02070309020205020404" pitchFamily="49" charset="0"/>
              </a:rPr>
              <a:t>MouseListener popupListener = new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latin typeface="Courier New" panose="02070309020205020404" pitchFamily="49" charset="0"/>
              </a:rPr>
              <a:t>PopupListener(popup);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onaj_na_koji_treba_kliknuti_za_popup.</a:t>
            </a:r>
            <a:r>
              <a:rPr lang="sr-Latn-CS" altLang="sr-Latn-RS" sz="2000" b="1">
                <a:latin typeface="Courier New" panose="02070309020205020404" pitchFamily="49" charset="0"/>
              </a:rPr>
              <a:t>addMouseListener(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					    </a:t>
            </a:r>
            <a:r>
              <a:rPr lang="sr-Latn-CS" altLang="sr-Latn-RS" sz="2000" b="1">
                <a:latin typeface="Courier New" panose="02070309020205020404" pitchFamily="49" charset="0"/>
              </a:rPr>
              <a:t>popupListener);</a:t>
            </a:r>
            <a:endParaRPr lang="sr-Latn-CS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18436" name="Text Box 7">
            <a:extLst>
              <a:ext uri="{FF2B5EF4-FFF2-40B4-BE49-F238E27FC236}">
                <a16:creationId xmlns:a16="http://schemas.microsoft.com/office/drawing/2014/main" id="{459A1F87-8357-A008-55E5-74DC94584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76250"/>
            <a:ext cx="1081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C4C4471-AE37-B518-B7E1-07B682121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4400">
                <a:solidFill>
                  <a:schemeClr val="tx2"/>
                </a:solidFill>
              </a:rPr>
              <a:t>JTable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D1C2593-610E-8EEA-B4F3-5C78CAC40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196975"/>
            <a:ext cx="8856662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sr-Latn-RS" sz="2800"/>
              <a:t>Reprezentuje tabelu.</a:t>
            </a:r>
          </a:p>
          <a:p>
            <a:pPr eaLnBrk="1" hangingPunct="1"/>
            <a:r>
              <a:rPr lang="en-US" altLang="sr-Latn-RS" sz="2800"/>
              <a:t>Karakteri</a:t>
            </a:r>
            <a:r>
              <a:rPr lang="sr-Latn-CS" altLang="sr-Latn-RS" sz="2800"/>
              <a:t>še je prisustvo tri koncepta:</a:t>
            </a:r>
          </a:p>
          <a:p>
            <a:pPr lvl="1" eaLnBrk="1" hangingPunct="1"/>
            <a:r>
              <a:rPr lang="sr-Latn-CS" altLang="sr-Latn-RS" sz="2400"/>
              <a:t>koncept modela podataka,</a:t>
            </a:r>
          </a:p>
          <a:p>
            <a:pPr lvl="1" eaLnBrk="1" hangingPunct="1"/>
            <a:r>
              <a:rPr lang="sr-Latn-CS" altLang="sr-Latn-RS" sz="2400"/>
              <a:t>koncept editora i</a:t>
            </a:r>
          </a:p>
          <a:p>
            <a:pPr lvl="1" eaLnBrk="1" hangingPunct="1"/>
            <a:r>
              <a:rPr lang="sr-Latn-CS" altLang="sr-Latn-RS" sz="2400"/>
              <a:t>koncept renderera.</a:t>
            </a:r>
          </a:p>
          <a:p>
            <a:pPr eaLnBrk="1" hangingPunct="1"/>
            <a:r>
              <a:rPr lang="sr-Latn-CS" altLang="sr-Latn-RS" sz="2800"/>
              <a:t>Najjednostavniji primer podrazumeva da su sva tri koncepta implementirana default klasama:</a:t>
            </a:r>
          </a:p>
          <a:p>
            <a:pPr lvl="1" eaLnBrk="1" hangingPunct="1"/>
            <a:r>
              <a:rPr lang="en-US" altLang="sr-Latn-RS" sz="2000" b="1">
                <a:latin typeface="Courier New" panose="02070309020205020404" pitchFamily="49" charset="0"/>
              </a:rPr>
              <a:t>JTable jTable1 = new JTable(data, columnNames);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lvl="1" eaLnBrk="1" hangingPunct="1"/>
            <a:r>
              <a:rPr lang="sr-Latn-CS" altLang="sr-Latn-RS"/>
              <a:t>gde su:</a:t>
            </a:r>
          </a:p>
          <a:p>
            <a:pPr lvl="2" eaLnBrk="1" hangingPunct="1"/>
            <a:r>
              <a:rPr lang="sr-Latn-CS" altLang="sr-Latn-RS"/>
              <a:t>data – dvodimenzionalni niz podataka,</a:t>
            </a:r>
          </a:p>
          <a:p>
            <a:pPr lvl="2" eaLnBrk="1" hangingPunct="1"/>
            <a:r>
              <a:rPr lang="sr-Latn-CS" altLang="sr-Latn-RS"/>
              <a:t>columnNames – niz stringova koji reprezentuju nazive kolona (zaglavlje).</a:t>
            </a:r>
            <a:endParaRPr lang="sr-Latn-CS" altLang="sr-Latn-RS" sz="2000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5E9C2C9-138A-6441-6C55-E97134560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76250"/>
            <a:ext cx="1081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EA3B0BD-64CC-AB7E-52A7-E5E27CF7A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3600">
                <a:solidFill>
                  <a:schemeClr val="tx2"/>
                </a:solidFill>
              </a:rPr>
              <a:t>Model podataka (TableModel)</a:t>
            </a:r>
            <a:endParaRPr lang="en-US" altLang="sr-Latn-RS" sz="3600">
              <a:solidFill>
                <a:schemeClr val="tx2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2EECD9F-FC1B-2C6F-319E-A18C67D82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08050"/>
            <a:ext cx="8856662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600"/>
              <a:t>Ako je potrebno modelovati podatke na specifičan način, implementira se interfejs </a:t>
            </a:r>
            <a:r>
              <a:rPr lang="sr-Latn-CS" altLang="sr-Latn-RS" sz="1400" b="1">
                <a:latin typeface="Courier New" panose="02070309020205020404" pitchFamily="49" charset="0"/>
              </a:rPr>
              <a:t>TableModel</a:t>
            </a:r>
            <a:r>
              <a:rPr lang="sr-Latn-CS" altLang="sr-Latn-RS" sz="1600"/>
              <a:t>.</a:t>
            </a:r>
          </a:p>
          <a:p>
            <a:pPr eaLnBrk="1" hangingPunct="1"/>
            <a:r>
              <a:rPr lang="sr-Latn-CS" altLang="sr-Latn-RS" sz="1600"/>
              <a:t>Postoji već implementiran interfejs u vidu </a:t>
            </a:r>
            <a:r>
              <a:rPr lang="sr-Latn-CS" altLang="sr-Latn-RS" sz="1400" b="1">
                <a:latin typeface="Courier New" panose="02070309020205020404" pitchFamily="49" charset="0"/>
              </a:rPr>
              <a:t>AbstractTableModel</a:t>
            </a:r>
            <a:r>
              <a:rPr lang="sr-Latn-CS" altLang="sr-Latn-RS" sz="1600"/>
              <a:t> klase, koju potrebno samo naslediti i redefinisati odgovarajuće metode (minimalno </a:t>
            </a:r>
            <a:r>
              <a:rPr lang="sr-Latn-CS" altLang="sr-Latn-RS" sz="1400" b="1">
                <a:latin typeface="Courier New" panose="02070309020205020404" pitchFamily="49" charset="0"/>
              </a:rPr>
              <a:t>getRowCount()</a:t>
            </a:r>
            <a:r>
              <a:rPr lang="sr-Latn-CS" altLang="sr-Latn-RS" sz="1600"/>
              <a:t>, </a:t>
            </a:r>
            <a:r>
              <a:rPr lang="sr-Latn-CS" altLang="sr-Latn-RS" sz="1400" b="1">
                <a:latin typeface="Courier New" panose="02070309020205020404" pitchFamily="49" charset="0"/>
              </a:rPr>
              <a:t>getColumnCount()</a:t>
            </a:r>
            <a:r>
              <a:rPr lang="sr-Latn-CS" altLang="sr-Latn-RS" sz="1600"/>
              <a:t> i </a:t>
            </a:r>
            <a:r>
              <a:rPr lang="sr-Latn-CS" altLang="sr-Latn-RS" sz="1400" b="1">
                <a:latin typeface="Courier New" panose="02070309020205020404" pitchFamily="49" charset="0"/>
              </a:rPr>
              <a:t>getValueAt()</a:t>
            </a:r>
            <a:r>
              <a:rPr lang="sr-Latn-CS" altLang="sr-Latn-RS" sz="1600"/>
              <a:t>).</a:t>
            </a:r>
          </a:p>
          <a:p>
            <a:pPr eaLnBrk="1" hangingPunct="1"/>
            <a:r>
              <a:rPr lang="sr-Latn-CS" altLang="sr-Latn-RS" sz="1600"/>
              <a:t>Klasa </a:t>
            </a:r>
            <a:r>
              <a:rPr lang="sr-Latn-CS" altLang="sr-Latn-RS" sz="1400" b="1">
                <a:latin typeface="Courier New" panose="02070309020205020404" pitchFamily="49" charset="0"/>
              </a:rPr>
              <a:t>DefaultTableModel</a:t>
            </a:r>
            <a:r>
              <a:rPr lang="sr-Latn-CS" altLang="sr-Latn-RS" sz="1600"/>
              <a:t> nasleđuje </a:t>
            </a:r>
            <a:r>
              <a:rPr lang="sr-Latn-CS" altLang="sr-Latn-RS" sz="1400" b="1">
                <a:latin typeface="Courier New" panose="02070309020205020404" pitchFamily="49" charset="0"/>
              </a:rPr>
              <a:t>AbstractTableModel</a:t>
            </a:r>
            <a:r>
              <a:rPr lang="sr-Latn-CS" altLang="sr-Latn-RS" sz="1600"/>
              <a:t> i implementira smeštaj podataka preko vektora.</a:t>
            </a:r>
            <a:r>
              <a:rPr lang="sr-Latn-CS" altLang="sr-Latn-RS" sz="1200" b="1"/>
              <a:t>		</a:t>
            </a:r>
            <a:endParaRPr lang="en-US" altLang="sr-Latn-RS" sz="1200" b="1">
              <a:latin typeface="Courier New" panose="02070309020205020404" pitchFamily="49" charset="0"/>
            </a:endParaRPr>
          </a:p>
        </p:txBody>
      </p:sp>
      <p:graphicFrame>
        <p:nvGraphicFramePr>
          <p:cNvPr id="108548" name="Group 4">
            <a:extLst>
              <a:ext uri="{FF2B5EF4-FFF2-40B4-BE49-F238E27FC236}">
                <a16:creationId xmlns:a16="http://schemas.microsoft.com/office/drawing/2014/main" id="{2DC85C20-2191-54CC-3375-D7A1DEF2D4F6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97200"/>
          <a:ext cx="8569325" cy="3300415"/>
        </p:xfrm>
        <a:graphic>
          <a:graphicData uri="http://schemas.openxmlformats.org/drawingml/2006/table">
            <a:tbl>
              <a:tblPr/>
              <a:tblGrid>
                <a:gridCol w="367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7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Class getColumnClass(int columnIndex)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klasu koja reprezentuje zadatu kolonu. Na osnovu ove informacije, tabela određuje koji će editor i renderer da koristi za kolonu.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</a:t>
                      </a: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nt getColumnCount()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broj kolona u tabeli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String getColumnName(int columnIndex)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naziv zadate kolone.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kumimoji="0" lang="en-US" altLang="sr-Latn-R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int getRowCount()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broj vrsta u tabeli.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kumimoji="0" lang="en-US" altLang="sr-Latn-R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Object getValueAt(int rowIndex, int columnIndex)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vrednost iz tabele za zadatu vrstu i kolonu.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kumimoji="0" lang="en-US" altLang="sr-Latn-R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boolean isCellEditable(int rowIndex, int columnIndex)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Vraća true ako zadata ćelija može da se menja (edituje)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void setValueAt(Object aValue, int rowIndex, int columnIndex) 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Postavlja vrednost podatka u ćeliju datu vrstom i kolonom.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10" name="Text Box 30">
            <a:extLst>
              <a:ext uri="{FF2B5EF4-FFF2-40B4-BE49-F238E27FC236}">
                <a16:creationId xmlns:a16="http://schemas.microsoft.com/office/drawing/2014/main" id="{C6876E4C-5D18-F974-07A3-7CBF9B4AC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6375399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0A0E9BC7-5EA8-9777-E73A-11536D677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3600">
                <a:solidFill>
                  <a:schemeClr val="tx2"/>
                </a:solidFill>
              </a:rPr>
              <a:t>P</a:t>
            </a:r>
            <a:r>
              <a:rPr lang="sr-Latn-CS" altLang="sr-Latn-RS" sz="3600">
                <a:solidFill>
                  <a:schemeClr val="tx2"/>
                </a:solidFill>
              </a:rPr>
              <a:t>rikaz ćelije (TableCellRenderer)</a:t>
            </a:r>
            <a:endParaRPr lang="en-US" altLang="sr-Latn-RS" sz="3600">
              <a:solidFill>
                <a:schemeClr val="tx2"/>
              </a:solidFill>
            </a:endParaRPr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C4A0E211-5C13-985F-06CD-B78B12C41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prikazati podatke iz ćelije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TableCellRenderer</a:t>
            </a:r>
            <a:r>
              <a:rPr lang="sr-Latn-CS" altLang="sr-Latn-RS" sz="1800"/>
              <a:t>.</a:t>
            </a:r>
          </a:p>
          <a:p>
            <a:pPr eaLnBrk="1" hangingPunct="1"/>
            <a:r>
              <a:rPr lang="sr-Latn-CS" altLang="sr-Latn-RS" sz="1800"/>
              <a:t>Renderer je vezan za kolonu.</a:t>
            </a:r>
          </a:p>
          <a:p>
            <a:pPr eaLnBrk="1" hangingPunct="1"/>
            <a:r>
              <a:rPr lang="sr-Latn-CS" altLang="sr-Latn-RS" sz="1800"/>
              <a:t>Postoji već implementiran renderer u vidu klase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DefaultTableCellRenderer</a:t>
            </a:r>
            <a:r>
              <a:rPr lang="sr-Latn-CS" altLang="sr-Latn-RS" sz="1800"/>
              <a:t> koja podatke prikazuje upotrebom </a:t>
            </a:r>
            <a:r>
              <a:rPr lang="sr-Latn-CS" altLang="sr-Latn-RS" sz="1600" b="1">
                <a:latin typeface="Courier New" panose="02070309020205020404" pitchFamily="49" charset="0"/>
              </a:rPr>
              <a:t>JLabel</a:t>
            </a:r>
            <a:r>
              <a:rPr lang="sr-Latn-CS" altLang="sr-Latn-RS" sz="1800"/>
              <a:t> komponente.  </a:t>
            </a:r>
          </a:p>
        </p:txBody>
      </p:sp>
      <p:graphicFrame>
        <p:nvGraphicFramePr>
          <p:cNvPr id="110598" name="Group 6">
            <a:extLst>
              <a:ext uri="{FF2B5EF4-FFF2-40B4-BE49-F238E27FC236}">
                <a16:creationId xmlns:a16="http://schemas.microsoft.com/office/drawing/2014/main" id="{0B0834FA-9682-2819-32CF-A1BCBDC3433A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3716338"/>
          <a:ext cx="8569325" cy="822480"/>
        </p:xfrm>
        <a:graphic>
          <a:graphicData uri="http://schemas.openxmlformats.org/drawingml/2006/table">
            <a:tbl>
              <a:tblPr/>
              <a:tblGrid>
                <a:gridCol w="42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Component getTableCellRendererComponent(JTable table, Object value, boolean isSelected, boolean hasFocus, int row, int column)</a:t>
                      </a:r>
                    </a:p>
                  </a:txBody>
                  <a:tcPr marT="45480" marB="45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komponentu kojom se prikazuje data ćelija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480" marB="45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16" name="Text Box 14">
            <a:extLst>
              <a:ext uri="{FF2B5EF4-FFF2-40B4-BE49-F238E27FC236}">
                <a16:creationId xmlns:a16="http://schemas.microsoft.com/office/drawing/2014/main" id="{C86A32D7-8FD2-A0FD-A98C-23574A9DF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630932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7AD5505F-8AC5-C9FD-FB73-0E3CD804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3600">
                <a:solidFill>
                  <a:schemeClr val="tx2"/>
                </a:solidFill>
              </a:rPr>
              <a:t>Editovanje ćelije (TableCellEditor)</a:t>
            </a:r>
            <a:endParaRPr lang="en-US" altLang="sr-Latn-RS" sz="3600">
              <a:solidFill>
                <a:schemeClr val="tx2"/>
              </a:solidFill>
            </a:endParaRP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B27D4074-C348-DF0B-D741-521177E69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editovati podatke iz ćelije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TableCellEditor</a:t>
            </a:r>
            <a:r>
              <a:rPr lang="sr-Latn-CS" altLang="sr-Latn-RS" sz="1800"/>
              <a:t>.</a:t>
            </a:r>
          </a:p>
          <a:p>
            <a:pPr eaLnBrk="1" hangingPunct="1"/>
            <a:r>
              <a:rPr lang="sr-Latn-CS" altLang="sr-Latn-RS" sz="1800"/>
              <a:t>Editor je vezan za kolonu.</a:t>
            </a:r>
          </a:p>
          <a:p>
            <a:pPr eaLnBrk="1" hangingPunct="1"/>
            <a:r>
              <a:rPr lang="sr-Latn-CS" altLang="sr-Latn-RS" sz="1800"/>
              <a:t>Postoji već implementiran editor u vidu klase </a:t>
            </a:r>
            <a:r>
              <a:rPr lang="sr-Latn-CS" altLang="sr-Latn-RS" sz="1600" b="1">
                <a:latin typeface="Courier New" panose="02070309020205020404" pitchFamily="49" charset="0"/>
              </a:rPr>
              <a:t>AbstractCellEditor</a:t>
            </a:r>
            <a:r>
              <a:rPr lang="sr-Latn-CS" altLang="sr-Latn-RS" sz="1800"/>
              <a:t>. </a:t>
            </a:r>
          </a:p>
          <a:p>
            <a:pPr eaLnBrk="1" hangingPunct="1"/>
            <a:r>
              <a:rPr lang="sr-Latn-CS" altLang="sr-Latn-RS" sz="1800"/>
              <a:t>Klasa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DefaultCellEditor</a:t>
            </a:r>
            <a:r>
              <a:rPr lang="sr-Latn-CS" altLang="sr-Latn-RS" sz="1800"/>
              <a:t> nasleđuje ovu klasu i implementira elementarno editovanje ćelija (</a:t>
            </a:r>
            <a:r>
              <a:rPr lang="sr-Latn-CS" altLang="sr-Latn-RS" sz="1600" b="1">
                <a:latin typeface="Courier New" panose="02070309020205020404" pitchFamily="49" charset="0"/>
              </a:rPr>
              <a:t>JTexField</a:t>
            </a:r>
            <a:r>
              <a:rPr lang="sr-Latn-CS" altLang="sr-Latn-RS" sz="1800"/>
              <a:t>, </a:t>
            </a:r>
            <a:r>
              <a:rPr lang="sr-Latn-CS" altLang="sr-Latn-RS" sz="1600" b="1">
                <a:latin typeface="Courier New" panose="02070309020205020404" pitchFamily="49" charset="0"/>
              </a:rPr>
              <a:t>JCheckBox</a:t>
            </a:r>
            <a:r>
              <a:rPr lang="sr-Latn-CS" altLang="sr-Latn-RS" sz="1800"/>
              <a:t> i </a:t>
            </a:r>
            <a:r>
              <a:rPr lang="sr-Latn-CS" altLang="sr-Latn-RS" sz="1600" b="1">
                <a:latin typeface="Courier New" panose="02070309020205020404" pitchFamily="49" charset="0"/>
              </a:rPr>
              <a:t>JComboBox</a:t>
            </a:r>
            <a:r>
              <a:rPr lang="sr-Latn-CS" altLang="sr-Latn-RS" sz="1800"/>
              <a:t> komponente).</a:t>
            </a:r>
          </a:p>
        </p:txBody>
      </p:sp>
      <p:graphicFrame>
        <p:nvGraphicFramePr>
          <p:cNvPr id="109590" name="Group 22">
            <a:extLst>
              <a:ext uri="{FF2B5EF4-FFF2-40B4-BE49-F238E27FC236}">
                <a16:creationId xmlns:a16="http://schemas.microsoft.com/office/drawing/2014/main" id="{3AA55F7A-C346-D061-8149-5D10C3E715DE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3213100"/>
          <a:ext cx="8569325" cy="3441699"/>
        </p:xfrm>
        <a:graphic>
          <a:graphicData uri="http://schemas.openxmlformats.org/drawingml/2006/table">
            <a:tbl>
              <a:tblPr/>
              <a:tblGrid>
                <a:gridCol w="428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Component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getTableCellEditorComponent(JTable table, Object value, boolean isSelected, int row, int column) 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komponentu kojom se edituje dati tip ćelije.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4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Object getCellEditorValue()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Ova metoda se automatski poziva kada editor celije zavr</a:t>
                      </a: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š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editovanje (nakon </a:t>
                      </a: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š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 je zavr</a:t>
                      </a: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š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etak potvr</a:t>
                      </a: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đ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 metodom stopCellEditing()). Posao ove metode je da prihvati vrednost iz editora i da je prosledi u tabelu.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 stopCellEditing()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Ova metoda se automatski poziva kada korisnik proba da zavrsi editovanje.</a:t>
                      </a: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Vraća true ako dozvoljava završetak editovanja.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49" name="Text Box 21">
            <a:extLst>
              <a:ext uri="{FF2B5EF4-FFF2-40B4-BE49-F238E27FC236}">
                <a16:creationId xmlns:a16="http://schemas.microsoft.com/office/drawing/2014/main" id="{FABFF1BF-DC8F-90BC-5639-23B4E604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616585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55D20021-E967-E81C-DECC-B8BB35E2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4400">
                <a:solidFill>
                  <a:schemeClr val="tx2"/>
                </a:solidFill>
              </a:rPr>
              <a:t>JTree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92C59A60-64E4-3596-EFCF-5D89CE0E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28775"/>
            <a:ext cx="8856662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sr-Latn-RS" sz="2800"/>
              <a:t>Slu</a:t>
            </a:r>
            <a:r>
              <a:rPr lang="sr-Latn-CS" altLang="sr-Latn-RS" sz="2800"/>
              <a:t>ži za hijerarhijski prikaz (</a:t>
            </a:r>
            <a:r>
              <a:rPr lang="en-US" altLang="sr-Latn-RS" sz="2800"/>
              <a:t>stablo</a:t>
            </a:r>
            <a:r>
              <a:rPr lang="sr-Latn-CS" altLang="sr-Latn-RS" sz="2800"/>
              <a:t>)</a:t>
            </a:r>
            <a:r>
              <a:rPr lang="en-US" altLang="sr-Latn-RS" sz="2800"/>
              <a:t>.</a:t>
            </a:r>
            <a:endParaRPr lang="sr-Latn-CS" altLang="sr-Latn-RS" sz="2800"/>
          </a:p>
          <a:p>
            <a:pPr eaLnBrk="1" hangingPunct="1"/>
            <a:r>
              <a:rPr lang="sr-Latn-CS" altLang="sr-Latn-RS" sz="2800"/>
              <a:t>Stablo se kreira dodavanjem čvorova, počev od prvog (root).</a:t>
            </a:r>
          </a:p>
          <a:p>
            <a:pPr lvl="1" eaLnBrk="1" hangingPunct="1"/>
            <a:r>
              <a:rPr lang="sr-Latn-CS" altLang="sr-Latn-RS" sz="2400"/>
              <a:t>Čvorovi su reprezentovani klasama koje implementiraju interfejs </a:t>
            </a:r>
            <a:r>
              <a:rPr lang="sr-Latn-CS" altLang="sr-Latn-RS" sz="2000" b="1">
                <a:latin typeface="Courier New" panose="02070309020205020404" pitchFamily="49" charset="0"/>
              </a:rPr>
              <a:t>TreeNode</a:t>
            </a:r>
            <a:r>
              <a:rPr lang="sr-Latn-CS" altLang="sr-Latn-RS" sz="2400"/>
              <a:t> – osnovna klasa koja implementira ovaj interfejs je </a:t>
            </a:r>
            <a:r>
              <a:rPr lang="sr-Latn-CS" altLang="sr-Latn-RS" sz="2000" b="1">
                <a:latin typeface="Courier New" panose="02070309020205020404" pitchFamily="49" charset="0"/>
              </a:rPr>
              <a:t>DefaultMutableTreeNode</a:t>
            </a:r>
            <a:r>
              <a:rPr lang="sr-Latn-CS" altLang="sr-Latn-RS" sz="2400"/>
              <a:t>.</a:t>
            </a:r>
          </a:p>
          <a:p>
            <a:pPr lvl="1" eaLnBrk="1" hangingPunct="1"/>
            <a:r>
              <a:rPr lang="sr-Latn-CS" altLang="sr-Latn-RS" sz="2400"/>
              <a:t>dodavanje podčvora – metoda </a:t>
            </a:r>
            <a:r>
              <a:rPr lang="sr-Latn-CS" altLang="sr-Latn-RS" sz="2000" b="1">
                <a:latin typeface="Courier New" panose="02070309020205020404" pitchFamily="49" charset="0"/>
              </a:rPr>
              <a:t>add(newChild)</a:t>
            </a:r>
            <a:r>
              <a:rPr lang="sr-Latn-CS" altLang="sr-Latn-RS" sz="2400"/>
              <a:t>.</a:t>
            </a:r>
          </a:p>
          <a:p>
            <a:pPr eaLnBrk="1" hangingPunct="1"/>
            <a:r>
              <a:rPr lang="sr-Latn-CS" altLang="sr-Latn-RS" sz="2800"/>
              <a:t>Reakcija na klik mišem – </a:t>
            </a:r>
            <a:r>
              <a:rPr lang="sr-Latn-CS" altLang="sr-Latn-RS" sz="2400" b="1">
                <a:latin typeface="Courier New" panose="02070309020205020404" pitchFamily="49" charset="0"/>
              </a:rPr>
              <a:t>TreeSelectionListener</a:t>
            </a:r>
            <a:r>
              <a:rPr lang="sr-Latn-CS" altLang="sr-Latn-RS" sz="2800"/>
              <a:t>.</a:t>
            </a:r>
          </a:p>
          <a:p>
            <a:pPr eaLnBrk="1" hangingPunct="1"/>
            <a:endParaRPr lang="en-US" altLang="sr-Latn-RS" sz="2800"/>
          </a:p>
        </p:txBody>
      </p:sp>
      <p:sp>
        <p:nvSpPr>
          <p:cNvPr id="23556" name="Text Box 7">
            <a:extLst>
              <a:ext uri="{FF2B5EF4-FFF2-40B4-BE49-F238E27FC236}">
                <a16:creationId xmlns:a16="http://schemas.microsoft.com/office/drawing/2014/main" id="{DA50C693-50E5-FBD7-CB7C-A7B9E0780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616585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E8F0713-7759-312D-2704-BC266B845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JTree model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3A72627-85D6-4804-100E-3EEA3FA3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08050"/>
            <a:ext cx="86772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600"/>
              <a:t>Ako je potrebno modelovati podatke na specifičan način, implementira se interfejs </a:t>
            </a:r>
            <a:r>
              <a:rPr lang="sr-Latn-CS" altLang="sr-Latn-RS" sz="1400" b="1">
                <a:latin typeface="Courier New" panose="02070309020205020404" pitchFamily="49" charset="0"/>
              </a:rPr>
              <a:t>TreeModel</a:t>
            </a:r>
            <a:r>
              <a:rPr lang="sr-Latn-CS" altLang="sr-Latn-RS" sz="1600"/>
              <a:t>.</a:t>
            </a:r>
          </a:p>
          <a:p>
            <a:pPr eaLnBrk="1" hangingPunct="1"/>
            <a:r>
              <a:rPr lang="sr-Latn-CS" altLang="sr-Latn-RS" sz="1600"/>
              <a:t>Ovaj model je proširen interfejsom </a:t>
            </a:r>
            <a:r>
              <a:rPr lang="sr-Latn-CS" altLang="sr-Latn-RS" sz="1400" b="1">
                <a:latin typeface="Courier New" panose="02070309020205020404" pitchFamily="49" charset="0"/>
              </a:rPr>
              <a:t>MutableTreeNode</a:t>
            </a:r>
            <a:r>
              <a:rPr lang="sr-Latn-CS" altLang="sr-Latn-RS" sz="1600"/>
              <a:t>, koji dodaje svojstvo izmene čvora preko dodavanja i uklanjanja čvorova, kao i izmene objekta smeštenog u čvor.</a:t>
            </a:r>
          </a:p>
          <a:p>
            <a:pPr eaLnBrk="1" hangingPunct="1"/>
            <a:r>
              <a:rPr lang="sr-Latn-CS" altLang="sr-Latn-RS" sz="1600"/>
              <a:t>Klasa </a:t>
            </a:r>
            <a:r>
              <a:rPr lang="sr-Latn-CS" altLang="sr-Latn-RS" sz="1400" b="1">
                <a:latin typeface="Courier New" panose="02070309020205020404" pitchFamily="49" charset="0"/>
              </a:rPr>
              <a:t>DefaultTreeModel</a:t>
            </a:r>
            <a:r>
              <a:rPr lang="sr-Latn-CS" altLang="sr-Latn-RS" sz="1600"/>
              <a:t> implementira </a:t>
            </a:r>
            <a:r>
              <a:rPr lang="sr-Latn-CS" altLang="sr-Latn-RS" sz="1400" b="1">
                <a:latin typeface="Courier New" panose="02070309020205020404" pitchFamily="49" charset="0"/>
              </a:rPr>
              <a:t>TreeModel</a:t>
            </a:r>
            <a:r>
              <a:rPr lang="sr-Latn-CS" altLang="sr-Latn-RS" sz="1600"/>
              <a:t> i implementira smeštaj podataka preko hijerarhije </a:t>
            </a:r>
            <a:r>
              <a:rPr lang="sr-Latn-CS" altLang="sr-Latn-RS" sz="1400" b="1">
                <a:latin typeface="Courier New" panose="02070309020205020404" pitchFamily="49" charset="0"/>
              </a:rPr>
              <a:t>TreeNode</a:t>
            </a:r>
            <a:r>
              <a:rPr lang="sr-Latn-CS" altLang="sr-Latn-RS" sz="1600"/>
              <a:t> objekata.</a:t>
            </a:r>
            <a:r>
              <a:rPr lang="sr-Latn-CS" altLang="sr-Latn-RS" sz="1200" b="1"/>
              <a:t>		</a:t>
            </a:r>
            <a:endParaRPr lang="en-US" altLang="sr-Latn-RS" sz="1200" b="1">
              <a:latin typeface="Courier New" panose="02070309020205020404" pitchFamily="49" charset="0"/>
            </a:endParaRPr>
          </a:p>
        </p:txBody>
      </p:sp>
      <p:graphicFrame>
        <p:nvGraphicFramePr>
          <p:cNvPr id="141363" name="Group 51">
            <a:extLst>
              <a:ext uri="{FF2B5EF4-FFF2-40B4-BE49-F238E27FC236}">
                <a16:creationId xmlns:a16="http://schemas.microsoft.com/office/drawing/2014/main" id="{1E1B7400-6F9B-7E3E-BE7B-1C6B77AA333B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2708275"/>
          <a:ext cx="8569325" cy="3781427"/>
        </p:xfrm>
        <a:graphic>
          <a:graphicData uri="http://schemas.openxmlformats.org/drawingml/2006/table">
            <a:tbl>
              <a:tblPr/>
              <a:tblGrid>
                <a:gridCol w="396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public Object getChild(Object parent, int index)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čvor zadat indeksom.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public int getChildCount(Object parent)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broj direktnih potomaka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public int getIndexOfChild(Object parent, Object child)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redni broj zadatog čvora.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Object getRoot()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koren.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public boolean isLeaf(Object node)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true ako je list.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addTreeModelListener(TreeModelListener l)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Dodaje osluškivač promena strukture stabla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removeTreeModelListener(TreeModelListener l)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Uklanja osluškivač promena strukture stabla.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void valueForPathChanged(TreePath path, Object newValue)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Poziva se kada je promenjena vrednost čvora </a:t>
                      </a:r>
                      <a:b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sr-Latn-C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(identifikovanog putanjom) na novu vrednost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609" name="Text Box 30">
            <a:extLst>
              <a:ext uri="{FF2B5EF4-FFF2-40B4-BE49-F238E27FC236}">
                <a16:creationId xmlns:a16="http://schemas.microsoft.com/office/drawing/2014/main" id="{55DD4EAC-2811-7AC3-0D2D-6084569CF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6491288"/>
            <a:ext cx="1081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2C1AE63-B64E-1BBC-D9D0-647B45A11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TreeNode interfejs</a:t>
            </a:r>
            <a:endParaRPr lang="en-US" altLang="sr-Latn-R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94D053D-6EB6-D861-DAD4-B0668B44C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Definiše metode koje bi trebalo da implementira objekat koji se smešta u stablo: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Enumeration children();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boolean getAllowsChildren();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int getChildCount();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int getIndex(TreeNode node);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TreeNode getParent();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boolean isLeaf();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85D9503-F43B-D429-DB34-BAA0B92C7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MutableTreeNode interfejs</a:t>
            </a:r>
            <a:endParaRPr lang="en-US" altLang="sr-Latn-R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4DCC952-612F-D1A7-18C2-B48880BE1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Definiše izmenjiv element stabla, u smislu da je moguće dodavanje i uklanjanje čvorova, kao i izmena sadržaja čvora: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insert(MutableTreeNode node);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remove(int index);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remove(MutableTreeNode node);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removeFromParent();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setParent(MutableTreeNode node);</a:t>
            </a:r>
          </a:p>
          <a:p>
            <a:pPr lvl="1" eaLnBrk="1" hangingPunct="1"/>
            <a:r>
              <a:rPr lang="sr-Latn-CS" altLang="sr-Latn-RS" sz="2400" b="1">
                <a:latin typeface="Courier New" panose="02070309020205020404" pitchFamily="49" charset="0"/>
              </a:rPr>
              <a:t>void setUserObject(Object object);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4717EF8-6839-4113-6DA6-B76ACF7D9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5888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3600">
                <a:solidFill>
                  <a:schemeClr val="tx2"/>
                </a:solidFill>
              </a:rPr>
              <a:t>JTree renderer</a:t>
            </a:r>
            <a:endParaRPr lang="en-US" altLang="sr-Latn-RS" sz="3600">
              <a:solidFill>
                <a:schemeClr val="tx2"/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A4619DE-BE53-4893-8F55-865033FE5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856662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 sz="1800"/>
              <a:t>Ako je potrebno prikazati podatke iz čvora na specifičan način, implementira se interfejs </a:t>
            </a:r>
            <a:r>
              <a:rPr lang="sr-Latn-CS" altLang="sr-Latn-RS" sz="1600" b="1">
                <a:latin typeface="Courier New" panose="02070309020205020404" pitchFamily="49" charset="0"/>
              </a:rPr>
              <a:t>TreeCellRenderer</a:t>
            </a:r>
            <a:r>
              <a:rPr lang="sr-Latn-CS" altLang="sr-Latn-RS" sz="1800"/>
              <a:t>.</a:t>
            </a:r>
          </a:p>
          <a:p>
            <a:pPr eaLnBrk="1" hangingPunct="1"/>
            <a:r>
              <a:rPr lang="sr-Latn-CS" altLang="sr-Latn-RS" sz="1800"/>
              <a:t>Renderer je vezan za čvor stabla.</a:t>
            </a:r>
          </a:p>
          <a:p>
            <a:pPr eaLnBrk="1" hangingPunct="1"/>
            <a:r>
              <a:rPr lang="sr-Latn-CS" altLang="sr-Latn-RS" sz="1800"/>
              <a:t>Postoji već implementiran renderer u vidu klase </a:t>
            </a:r>
            <a:r>
              <a:rPr lang="sr-Latn-CS" altLang="sr-Latn-RS" sz="1600" b="1">
                <a:latin typeface="Courier New" panose="02070309020205020404" pitchFamily="49" charset="0"/>
              </a:rPr>
              <a:t>DefaultTreeCellRenderer</a:t>
            </a:r>
            <a:r>
              <a:rPr lang="sr-Latn-CS" altLang="sr-Latn-RS" sz="1800"/>
              <a:t> koja podatke prikazuje upotrebom </a:t>
            </a:r>
            <a:r>
              <a:rPr lang="sr-Latn-CS" altLang="sr-Latn-RS" sz="1600" b="1">
                <a:latin typeface="Courier New" panose="02070309020205020404" pitchFamily="49" charset="0"/>
              </a:rPr>
              <a:t>JLabel</a:t>
            </a:r>
            <a:r>
              <a:rPr lang="sr-Latn-CS" altLang="sr-Latn-RS" sz="1800"/>
              <a:t> komponente.  </a:t>
            </a:r>
          </a:p>
        </p:txBody>
      </p:sp>
      <p:graphicFrame>
        <p:nvGraphicFramePr>
          <p:cNvPr id="142352" name="Group 16">
            <a:extLst>
              <a:ext uri="{FF2B5EF4-FFF2-40B4-BE49-F238E27FC236}">
                <a16:creationId xmlns:a16="http://schemas.microsoft.com/office/drawing/2014/main" id="{2902D1B7-87B2-366A-6869-158A7E4A8BFC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3716338"/>
          <a:ext cx="8569325" cy="822480"/>
        </p:xfrm>
        <a:graphic>
          <a:graphicData uri="http://schemas.openxmlformats.org/drawingml/2006/table">
            <a:tbl>
              <a:tblPr/>
              <a:tblGrid>
                <a:gridCol w="42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Component getTableCellRendererComponent(JT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tree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, boolean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elected,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 expanded, boolean leaf,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 row, </a:t>
                      </a:r>
                      <a:r>
                        <a:rPr kumimoji="0" lang="sr-Latn-C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boolean hasFocus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)</a:t>
                      </a:r>
                    </a:p>
                  </a:txBody>
                  <a:tcPr marT="45480" marB="45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Vraća komponentu kojom se prikazuje dati čvor stabla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480" marB="45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660" name="Text Box 12">
            <a:extLst>
              <a:ext uri="{FF2B5EF4-FFF2-40B4-BE49-F238E27FC236}">
                <a16:creationId xmlns:a16="http://schemas.microsoft.com/office/drawing/2014/main" id="{3240C617-A376-B791-5C2B-6E370D918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630932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2602771-78D7-7F5B-B696-294CF7E22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Dijalozi	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B11CC57-EF98-8999-6E53-EC88B6F8D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Služe za interakciju sa korisnikom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Mogu biti: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modalni (ne može se preći na glavni ekran dok se ne ugasi dijalog)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nemodalni (može se preći na glavni ekran).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Postoje 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predefinisani dijalozi (JOptionPane)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dijalozi koje kreira korisnik (JDialog)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Dijalozi kreirani pomoću JOptionPane su uvek modalni (blokiraju izvršavanje dok se dijalog ne zatvori)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Naslednici klase JDialog mogu a i ne moraju biti modalni, u zavisnosti od parametra konstruktora</a:t>
            </a:r>
            <a:r>
              <a:rPr lang="en-US" altLang="sr-Latn-RS" sz="2400"/>
              <a:t>:</a:t>
            </a:r>
            <a:endParaRPr lang="sr-Latn-CS" altLang="sr-Latn-RS" sz="2400"/>
          </a:p>
          <a:p>
            <a:pPr eaLnBrk="1" hangingPunct="1">
              <a:lnSpc>
                <a:spcPct val="80000"/>
              </a:lnSpc>
            </a:pPr>
            <a:endParaRPr lang="en-US" altLang="sr-Latn-RS" sz="24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JDialog(Dialog owner, String title, boolean modal)</a:t>
            </a:r>
            <a:r>
              <a:rPr lang="sr-Latn-CS" altLang="sr-Latn-RS" sz="1800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C5A4DE-6188-C348-0B8A-204B69A22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en-US" altLang="sr-Latn-RS"/>
              <a:t>JOptio</a:t>
            </a:r>
            <a:r>
              <a:rPr lang="sr-Latn-CS" altLang="sr-Latn-RS"/>
              <a:t>nPane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34A57B1-0C6C-A3A9-5E20-5D5FAE112C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67675" cy="3629025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Najčešće korišćene metode</a:t>
            </a:r>
            <a:r>
              <a:rPr lang="en-US" altLang="sr-Latn-RS" sz="2800"/>
              <a:t>:</a:t>
            </a:r>
            <a:endParaRPr lang="sr-Latn-CS" altLang="sr-Latn-RS" sz="2800"/>
          </a:p>
          <a:p>
            <a:pPr lvl="1" eaLnBrk="1" hangingPunct="1"/>
            <a:r>
              <a:rPr lang="sr-Latn-CS" altLang="sr-Latn-RS" sz="2000" b="1">
                <a:latin typeface="Courier New" panose="02070309020205020404" pitchFamily="49" charset="0"/>
              </a:rPr>
              <a:t>showMessageDialog</a:t>
            </a:r>
            <a:r>
              <a:rPr lang="en-US" altLang="sr-Latn-RS" sz="2400"/>
              <a:t> – </a:t>
            </a:r>
            <a:r>
              <a:rPr lang="sr-Latn-CS" altLang="sr-Latn-RS" sz="2400"/>
              <a:t>koristi se </a:t>
            </a:r>
            <a:r>
              <a:rPr lang="en-US" altLang="sr-Latn-RS" sz="2400"/>
              <a:t>za prikaz poruke, sadr</a:t>
            </a:r>
            <a:r>
              <a:rPr lang="sr-Latn-CS" altLang="sr-Latn-RS" sz="2400"/>
              <a:t>ži samo OK dugme</a:t>
            </a:r>
          </a:p>
          <a:p>
            <a:pPr lvl="1" eaLnBrk="1" hangingPunct="1"/>
            <a:r>
              <a:rPr lang="sr-Latn-CS" altLang="sr-Latn-RS" sz="1800" b="1">
                <a:latin typeface="Courier New" panose="02070309020205020404" pitchFamily="49" charset="0"/>
              </a:rPr>
              <a:t>s</a:t>
            </a:r>
            <a:r>
              <a:rPr lang="sr-Latn-CS" altLang="sr-Latn-RS" sz="2000" b="1">
                <a:latin typeface="Courier New" panose="02070309020205020404" pitchFamily="49" charset="0"/>
              </a:rPr>
              <a:t>howConfirmDialog</a:t>
            </a:r>
            <a:r>
              <a:rPr lang="sr-Latn-CS" altLang="sr-Latn-RS" sz="2000">
                <a:latin typeface="Courier New" panose="02070309020205020404" pitchFamily="49" charset="0"/>
              </a:rPr>
              <a:t> </a:t>
            </a:r>
            <a:r>
              <a:rPr lang="sr-Latn-CS" altLang="sr-Latn-RS" sz="2400"/>
              <a:t>– prikazuje poruku i traži odgovor od korisnika (može da sadrži dugmad OK, Cancel, Yes, No)</a:t>
            </a:r>
          </a:p>
          <a:p>
            <a:pPr lvl="1" eaLnBrk="1" hangingPunct="1"/>
            <a:r>
              <a:rPr lang="sr-Latn-CS" altLang="sr-Latn-RS" sz="2000" b="1">
                <a:latin typeface="Courier New" panose="02070309020205020404" pitchFamily="49" charset="0"/>
              </a:rPr>
              <a:t>showInputDialog</a:t>
            </a:r>
            <a:r>
              <a:rPr lang="sr-Latn-CS" altLang="sr-Latn-RS" sz="2400"/>
              <a:t> – prikazuje poruku i komponentu korisničkog interfejsa u okviru koje korisnik unosi svoj odgovor (linija za unos ili combo-box)</a:t>
            </a: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5CCF76BB-5655-DD34-A837-F0591183C88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411413" y="5373688"/>
          <a:ext cx="2846387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542857" imgH="1114581" progId="Paint.Picture">
                  <p:embed/>
                </p:oleObj>
              </mc:Choice>
              <mc:Fallback>
                <p:oleObj name="Bitmap Image" r:id="rId2" imgW="2542857" imgH="111458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373688"/>
                        <a:ext cx="2846387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B0E9954-914A-4E42-327C-80CFD2586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en-US" altLang="sr-Latn-RS"/>
              <a:t>JOptio</a:t>
            </a:r>
            <a:r>
              <a:rPr lang="sr-Latn-CS" altLang="sr-Latn-RS"/>
              <a:t>nPane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FC63474-710F-EEEE-5703-18F25043F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72112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Izgled ikone zavisi od prosleđenog tipa</a:t>
            </a:r>
            <a:r>
              <a:rPr lang="en-US" altLang="sr-Latn-RS" sz="2800"/>
              <a:t> poruke (konstante definisane u okviru klase JOptionPane):</a:t>
            </a:r>
          </a:p>
          <a:p>
            <a:pPr lvl="1" eaLnBrk="1" hangingPunct="1"/>
            <a:r>
              <a:rPr lang="sr-Latn-CS" altLang="sr-Latn-RS" sz="2000"/>
              <a:t>ERROR_MESSAGE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INFORMATION_MESSAGE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WARNING_MESSAGE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QUESTION_MESSAGE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PLAIN_MESSAGE </a:t>
            </a:r>
            <a:endParaRPr lang="en-US" altLang="sr-Latn-RS" sz="2000"/>
          </a:p>
          <a:p>
            <a:pPr eaLnBrk="1" hangingPunct="1"/>
            <a:r>
              <a:rPr lang="en-US" altLang="sr-Latn-RS" sz="2800"/>
              <a:t>Raspolo</a:t>
            </a:r>
            <a:r>
              <a:rPr lang="sr-Latn-CS" altLang="sr-Latn-RS" sz="2800"/>
              <a:t>živa dugmad zavise od prosleđene opcije</a:t>
            </a:r>
            <a:r>
              <a:rPr lang="en-US" altLang="sr-Latn-RS" sz="2800"/>
              <a:t> </a:t>
            </a:r>
            <a:endParaRPr lang="sr-Latn-CS" altLang="sr-Latn-RS" sz="2800"/>
          </a:p>
          <a:p>
            <a:pPr lvl="1" eaLnBrk="1" hangingPunct="1"/>
            <a:r>
              <a:rPr lang="sr-Latn-CS" altLang="sr-Latn-RS" sz="2000"/>
              <a:t>DEFAULT_OPTION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YES_NO_OPTION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YES_NO_CANCEL_OPTION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OK_CANCEL_OPTION </a:t>
            </a:r>
            <a:endParaRPr lang="sr-Latn-CS" altLang="sr-Latn-R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F60563A-F590-B452-5F9E-1414EFF85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en-US" altLang="sr-Latn-RS"/>
              <a:t>JOptio</a:t>
            </a:r>
            <a:r>
              <a:rPr lang="sr-Latn-CS" altLang="sr-Latn-RS"/>
              <a:t>nPane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5B51A75-9444-6752-0915-68DA3000B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</a:t>
            </a:r>
            <a:r>
              <a:rPr lang="sr-Latn-CS" altLang="sr-Latn-RS"/>
              <a:t>a</a:t>
            </a:r>
            <a:r>
              <a:rPr lang="en-US" altLang="sr-Latn-RS"/>
              <a:t> </a:t>
            </a:r>
            <a:r>
              <a:rPr lang="sr-Latn-CS" altLang="sr-Latn-RS" sz="2400" b="1">
                <a:latin typeface="Courier New" panose="02070309020205020404" pitchFamily="49" charset="0"/>
              </a:rPr>
              <a:t>s</a:t>
            </a:r>
            <a:r>
              <a:rPr lang="sr-Latn-CS" altLang="sr-Latn-RS" sz="2800" b="1">
                <a:latin typeface="Courier New" panose="02070309020205020404" pitchFamily="49" charset="0"/>
              </a:rPr>
              <a:t>howConfirmDialog</a:t>
            </a:r>
            <a:r>
              <a:rPr lang="en-US" altLang="sr-Latn-RS" sz="2800">
                <a:latin typeface="Courier New" panose="02070309020205020404" pitchFamily="49" charset="0"/>
              </a:rPr>
              <a:t> </a:t>
            </a:r>
            <a:r>
              <a:rPr lang="sr-Latn-CS" altLang="sr-Latn-RS" sz="2800"/>
              <a:t>vraća integer koji označava izabrano dugme</a:t>
            </a:r>
            <a:r>
              <a:rPr lang="en-US" altLang="sr-Latn-RS" sz="2800"/>
              <a:t>:</a:t>
            </a:r>
            <a:endParaRPr lang="en-US" altLang="sr-Latn-RS"/>
          </a:p>
          <a:p>
            <a:pPr lvl="1" eaLnBrk="1" hangingPunct="1"/>
            <a:r>
              <a:rPr lang="sr-Latn-CS" altLang="sr-Latn-RS" sz="2000"/>
              <a:t>OK_OPTION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CANCEL_OPTION </a:t>
            </a:r>
            <a:endParaRPr lang="en-US" altLang="sr-Latn-RS" sz="2000"/>
          </a:p>
          <a:p>
            <a:pPr lvl="1" eaLnBrk="1" hangingPunct="1"/>
            <a:r>
              <a:rPr lang="en-US" altLang="sr-Latn-RS" sz="2000"/>
              <a:t>Y</a:t>
            </a:r>
            <a:r>
              <a:rPr lang="sr-Latn-CS" altLang="sr-Latn-RS" sz="2000"/>
              <a:t>ES_OPTION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NO_OPTION 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CLOSED_OPTION </a:t>
            </a:r>
            <a:r>
              <a:rPr lang="en-US" altLang="sr-Latn-RS" sz="2000"/>
              <a:t> (dijalog zatvoren bez izbora dugmi</a:t>
            </a:r>
            <a:r>
              <a:rPr lang="sr-Latn-CS" altLang="sr-Latn-RS" sz="2000"/>
              <a:t>ća</a:t>
            </a:r>
            <a:r>
              <a:rPr lang="en-US" altLang="sr-Latn-RS" sz="2000"/>
              <a:t>)</a:t>
            </a:r>
            <a:endParaRPr lang="sr-Latn-CS" altLang="sr-Latn-RS" sz="2000"/>
          </a:p>
          <a:p>
            <a:pPr lvl="1" eaLnBrk="1" hangingPunct="1">
              <a:buFontTx/>
              <a:buNone/>
            </a:pPr>
            <a:endParaRPr lang="en-US" altLang="sr-Latn-RS" sz="2000"/>
          </a:p>
          <a:p>
            <a:pPr eaLnBrk="1" hangingPunct="1"/>
            <a:r>
              <a:rPr lang="en-US" altLang="sr-Latn-RS"/>
              <a:t>Metoda </a:t>
            </a:r>
            <a:r>
              <a:rPr lang="sr-Latn-CS" altLang="sr-Latn-RS" sz="2800" b="1">
                <a:latin typeface="Courier New" panose="02070309020205020404" pitchFamily="49" charset="0"/>
              </a:rPr>
              <a:t>showInputDialog</a:t>
            </a:r>
            <a:r>
              <a:rPr lang="sr-Latn-CS" altLang="sr-Latn-RS" sz="2800">
                <a:latin typeface="Courier New" panose="02070309020205020404" pitchFamily="49" charset="0"/>
              </a:rPr>
              <a:t> </a:t>
            </a:r>
            <a:r>
              <a:rPr lang="sr-Latn-CS" altLang="sr-Latn-RS" sz="2800"/>
              <a:t>vraća String koji je korisnik uneo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E564479-5A24-2EA2-449B-F85800384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Primeri korišćenja klase JOptionPane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3310208-3E36-662E-0D6A-C6A6BD9414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sz="2400">
                <a:latin typeface="Courier New" panose="02070309020205020404" pitchFamily="49" charset="0"/>
              </a:rPr>
              <a:t>import javax.swing.*;</a:t>
            </a:r>
          </a:p>
          <a:p>
            <a:pPr eaLnBrk="1" hangingPunct="1">
              <a:buFontTx/>
              <a:buNone/>
            </a:pPr>
            <a:endParaRPr lang="en-US" altLang="sr-Latn-RS" sz="24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400">
                <a:latin typeface="Courier New" panose="02070309020205020404" pitchFamily="49" charset="0"/>
              </a:rPr>
              <a:t>class MessageDialogExample {</a:t>
            </a:r>
          </a:p>
          <a:p>
            <a:pPr eaLnBrk="1" hangingPunct="1">
              <a:buFontTx/>
              <a:buNone/>
            </a:pPr>
            <a:r>
              <a:rPr lang="en-US" altLang="sr-Latn-RS" sz="240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		</a:t>
            </a:r>
            <a:r>
              <a:rPr lang="en-US" altLang="sr-Latn-RS" sz="2400" b="1">
                <a:latin typeface="Courier New" panose="02070309020205020404" pitchFamily="49" charset="0"/>
              </a:rPr>
              <a:t>JOptionPane.showMessageDialog</a:t>
            </a:r>
            <a:r>
              <a:rPr lang="en-US" altLang="sr-Latn-RS" sz="2400">
                <a:latin typeface="Courier New" panose="02070309020205020404" pitchFamily="49" charset="0"/>
              </a:rPr>
              <a:t>(null, </a:t>
            </a:r>
            <a:br>
              <a:rPr lang="en-US" altLang="sr-Latn-RS" sz="2400">
                <a:latin typeface="Courier New" panose="02070309020205020404" pitchFamily="49" charset="0"/>
              </a:rPr>
            </a:br>
            <a:r>
              <a:rPr lang="en-US" altLang="sr-Latn-RS" sz="2400">
                <a:latin typeface="Courier New" panose="02070309020205020404" pitchFamily="49" charset="0"/>
              </a:rPr>
              <a:t>    "First message");</a:t>
            </a:r>
          </a:p>
          <a:p>
            <a:pPr eaLnBrk="1" hangingPunct="1">
              <a:buFontTx/>
              <a:buNone/>
            </a:pPr>
            <a:r>
              <a:rPr lang="en-US" altLang="sr-Latn-RS" sz="240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en-US" altLang="sr-Latn-RS" sz="2400">
                <a:latin typeface="Courier New" panose="02070309020205020404" pitchFamily="49" charset="0"/>
              </a:rPr>
              <a:t>}</a:t>
            </a:r>
            <a:endParaRPr lang="sr-Latn-CS" altLang="sr-Latn-RS" sz="24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2400">
              <a:latin typeface="Courier New" panose="02070309020205020404" pitchFamily="49" charset="0"/>
            </a:endParaRP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32CF9BAA-91BB-4454-B5DD-A61657B9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6092825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Primer14</a:t>
            </a: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20118422-53F8-8E37-3F3B-3095E25F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5589588"/>
            <a:ext cx="25527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EFA306A-4909-FBB0-71A6-B731FD7FD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Primeri korišćenja klase JOptionPane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3BD0D663-7883-0224-1B7E-12BED669C0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5468781"/>
            <a:ext cx="2553056" cy="1114581"/>
          </a:xfrm>
          <a:noFill/>
        </p:spPr>
      </p:pic>
      <p:sp>
        <p:nvSpPr>
          <p:cNvPr id="33795" name="Rectangle 3">
            <a:extLst>
              <a:ext uri="{FF2B5EF4-FFF2-40B4-BE49-F238E27FC236}">
                <a16:creationId xmlns:a16="http://schemas.microsoft.com/office/drawing/2014/main" id="{C0317932-FA78-96E2-8A36-FB79E07ED7E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8460431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import javax.swing.*;</a:t>
            </a:r>
          </a:p>
          <a:p>
            <a:pPr eaLnBrk="1" hangingPunct="1">
              <a:buFontTx/>
              <a:buNone/>
            </a:pPr>
            <a:endParaRPr lang="en-US" altLang="sr-Latn-R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class ConfirmDialogExample {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int choice = </a:t>
            </a:r>
            <a:r>
              <a:rPr lang="en-US" altLang="sr-Latn-RS" sz="1800" b="1">
                <a:latin typeface="Courier New" panose="02070309020205020404" pitchFamily="49" charset="0"/>
              </a:rPr>
              <a:t>JOptionPane.showConfirmDialog</a:t>
            </a:r>
            <a:r>
              <a:rPr lang="en-US" altLang="sr-Latn-RS" sz="1800">
                <a:latin typeface="Courier New" panose="02070309020205020404" pitchFamily="49" charset="0"/>
              </a:rPr>
              <a:t>(null,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               "Erase your hard disk?");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if (choice == </a:t>
            </a:r>
            <a:r>
              <a:rPr lang="en-US" altLang="sr-Latn-RS" sz="1800" b="1">
                <a:latin typeface="Courier New" panose="02070309020205020404" pitchFamily="49" charset="0"/>
              </a:rPr>
              <a:t>JOptionPane.YES_OPTION</a:t>
            </a:r>
            <a:r>
              <a:rPr lang="en-US" altLang="sr-Latn-RS" sz="180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  JOptionPane.showMessageDialog(null, "Disk erased!");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} else {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  JOptionPane.showMessageDialog(null, "Cancelled.");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}</a:t>
            </a:r>
            <a:endParaRPr lang="en-US" altLang="sr-Latn-RS" sz="1800"/>
          </a:p>
          <a:p>
            <a:pPr eaLnBrk="1" hangingPunct="1"/>
            <a:endParaRPr lang="sr-Latn-CS" altLang="sr-Latn-RS" sz="1800"/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AE27B879-153C-353F-D50F-75FA3CDC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152" y="6219538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809D97D-B746-8A98-71E1-A708D4503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Primeri korišćenja klase JOptionPane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216F296-096F-7EC4-B8F6-A954298C8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import javax.swing.*;</a:t>
            </a:r>
          </a:p>
          <a:p>
            <a:pPr eaLnBrk="1" hangingPunct="1">
              <a:buFontTx/>
              <a:buNone/>
            </a:pPr>
            <a:endParaRPr lang="en-US" altLang="sr-Latn-RS" sz="20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class InputDialogExample {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  public static void main(String[] args) {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    String name = </a:t>
            </a:r>
            <a:r>
              <a:rPr lang="en-US" altLang="sr-Latn-RS" sz="2000" b="1">
                <a:latin typeface="Courier New" panose="02070309020205020404" pitchFamily="49" charset="0"/>
              </a:rPr>
              <a:t>JOptionPane.showInputDialog</a:t>
            </a:r>
            <a:r>
              <a:rPr lang="en-US" altLang="sr-Latn-RS" sz="2000">
                <a:latin typeface="Courier New" panose="02070309020205020404" pitchFamily="49" charset="0"/>
              </a:rPr>
              <a:t>(null,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                     "What's yer name, pardner?");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    JOptionPane.showMessageDialog(null, "Yeehaw, " + name);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sr-Latn-CS" altLang="sr-Latn-RS" sz="2000"/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359401F7-295D-9C29-A0A3-4C04EBECD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445125"/>
            <a:ext cx="28289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>
            <a:extLst>
              <a:ext uri="{FF2B5EF4-FFF2-40B4-BE49-F238E27FC236}">
                <a16:creationId xmlns:a16="http://schemas.microsoft.com/office/drawing/2014/main" id="{2B66AD8A-BBE3-CD8E-85B1-A5D54E2A1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5445125"/>
            <a:ext cx="25527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 Box 6">
            <a:extLst>
              <a:ext uri="{FF2B5EF4-FFF2-40B4-BE49-F238E27FC236}">
                <a16:creationId xmlns:a16="http://schemas.microsoft.com/office/drawing/2014/main" id="{2CBA8A57-D85C-7FEC-9646-DD2176F04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6092825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EA0F06E-B837-C228-AC0D-2CF23956D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Raspolo</a:t>
            </a:r>
            <a:r>
              <a:rPr lang="sr-Latn-CS" altLang="sr-Latn-RS"/>
              <a:t>žive metode </a:t>
            </a:r>
            <a:r>
              <a:rPr lang="sr-Latn-CS" altLang="sr-Latn-RS" sz="3200">
                <a:latin typeface="Courier New" panose="02070309020205020404" pitchFamily="49" charset="0"/>
              </a:rPr>
              <a:t>showMessageDialog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4DCD61E-8216-9ADD-A8F4-FBA9503C1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static void showMessageDialog(Component parent, Object message, String title, int messageType, Icon icon)</a:t>
            </a:r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static void showMessageDialog(Component parent, Object message, String title, int messageType)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sr-Latn-RS" sz="1800" b="1">
                <a:latin typeface="Courier New" panose="02070309020205020404" pitchFamily="49" charset="0"/>
              </a:rPr>
              <a:t>static void showMessageDialog(Component parent, Object message)</a:t>
            </a:r>
            <a:r>
              <a:rPr lang="sr-Latn-CS" altLang="sr-Latn-RS" sz="1800">
                <a:latin typeface="Courier New" panose="02070309020205020404" pitchFamily="49" charset="0"/>
              </a:rPr>
              <a:t> </a:t>
            </a:r>
            <a:endParaRPr lang="en-US" altLang="sr-Latn-R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1800"/>
          </a:p>
          <a:p>
            <a:pPr eaLnBrk="1" hangingPunct="1">
              <a:buFontTx/>
              <a:buNone/>
            </a:pPr>
            <a:r>
              <a:rPr lang="sr-Latn-CS" altLang="sr-Latn-RS" sz="1800"/>
              <a:t>Parametri</a:t>
            </a:r>
            <a:r>
              <a:rPr lang="en-US" altLang="sr-Latn-RS" sz="1800"/>
              <a:t>:</a:t>
            </a:r>
            <a:endParaRPr lang="sr-Latn-CS" altLang="sr-Latn-RS" sz="1800"/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parent</a:t>
            </a:r>
            <a:r>
              <a:rPr lang="sr-Latn-CS" altLang="sr-Latn-RS" sz="1800"/>
              <a:t> - </a:t>
            </a:r>
            <a:r>
              <a:rPr lang="en-US" altLang="sr-Latn-RS" sz="1800"/>
              <a:t>“roditelj” dijaloga (mo</a:t>
            </a:r>
            <a:r>
              <a:rPr lang="sr-Latn-CS" altLang="sr-Latn-RS" sz="1800"/>
              <a:t>že biti null)</a:t>
            </a:r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message</a:t>
            </a:r>
            <a:r>
              <a:rPr lang="en-US" altLang="sr-Latn-RS" sz="1800"/>
              <a:t> - </a:t>
            </a:r>
            <a:r>
              <a:rPr lang="sr-Latn-CS" altLang="sr-Latn-RS" sz="1800"/>
              <a:t>Poruka koja se prikazuje u okviru dijaloga</a:t>
            </a:r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title</a:t>
            </a:r>
            <a:r>
              <a:rPr lang="en-US" altLang="sr-Latn-RS" sz="1800"/>
              <a:t> - </a:t>
            </a:r>
            <a:r>
              <a:rPr lang="sr-Latn-CS" altLang="sr-Latn-RS" sz="1800"/>
              <a:t>Naslov dijaloga</a:t>
            </a:r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messageType</a:t>
            </a:r>
            <a:r>
              <a:rPr lang="en-US" altLang="sr-Latn-RS" sz="1800"/>
              <a:t> - </a:t>
            </a:r>
            <a:r>
              <a:rPr lang="sr-Latn-CS" altLang="sr-Latn-RS" sz="1800"/>
              <a:t>ERROR_MESSAGE, INFORMATION_MESSAGE, WARNING_MESSAGE, QUESTION_MESSAGE, PLAIN_MESSAGE</a:t>
            </a:r>
          </a:p>
          <a:p>
            <a:pPr eaLnBrk="1" hangingPunct="1"/>
            <a:r>
              <a:rPr lang="sr-Latn-CS" altLang="sr-Latn-RS" sz="1800" b="1">
                <a:latin typeface="Courier New" panose="02070309020205020404" pitchFamily="49" charset="0"/>
              </a:rPr>
              <a:t>icon</a:t>
            </a:r>
            <a:r>
              <a:rPr lang="en-US" altLang="sr-Latn-RS" sz="1800"/>
              <a:t> - </a:t>
            </a:r>
            <a:r>
              <a:rPr lang="sr-Latn-CS" altLang="sr-Latn-RS" sz="1800"/>
              <a:t>Ikona koja se prikazuje umesto DEFAULT ikone za taj tip poruke</a:t>
            </a:r>
          </a:p>
          <a:p>
            <a:pPr eaLnBrk="1" hangingPunct="1"/>
            <a:endParaRPr lang="sr-Latn-CS" altLang="sr-Latn-RS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358DD13-9ECF-B87D-F4B4-634E1F4EC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Raspolo</a:t>
            </a:r>
            <a:r>
              <a:rPr lang="sr-Latn-CS" altLang="sr-Latn-RS"/>
              <a:t>žive metode </a:t>
            </a:r>
            <a:r>
              <a:rPr lang="sr-Latn-CS" altLang="sr-Latn-RS" sz="3200">
                <a:latin typeface="Courier New" panose="02070309020205020404" pitchFamily="49" charset="0"/>
              </a:rPr>
              <a:t>showConfirmDialog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22AB6B9-E2D8-6FEE-1D4C-96604F66F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42350" cy="4708525"/>
          </a:xfrm>
        </p:spPr>
        <p:txBody>
          <a:bodyPr/>
          <a:lstStyle/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static int showConfirmDialog(Component parent, Object message, String title, int optionType, int messageType, Icon icon)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static int showConfirmDialog(Component parent, Object message, String title, int optionType, int messageType)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static int showConfirmDialog(Component parent, Object message, String title, int optionType)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static int showConfirmDialog(Component parent, Object message)</a:t>
            </a:r>
            <a:endParaRPr lang="en-US" altLang="sr-Latn-RS" sz="1600" b="1"/>
          </a:p>
          <a:p>
            <a:pPr eaLnBrk="1" hangingPunct="1">
              <a:buFontTx/>
              <a:buNone/>
            </a:pPr>
            <a:r>
              <a:rPr lang="sr-Latn-CS" altLang="sr-Latn-RS" sz="1600"/>
              <a:t>Parametri</a:t>
            </a:r>
            <a:r>
              <a:rPr lang="en-US" altLang="sr-Latn-RS" sz="1600"/>
              <a:t>:</a:t>
            </a:r>
            <a:endParaRPr lang="sr-Latn-CS" altLang="sr-Latn-RS" sz="1600"/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parent</a:t>
            </a:r>
            <a:r>
              <a:rPr lang="sr-Latn-CS" altLang="sr-Latn-RS" sz="1600"/>
              <a:t> - </a:t>
            </a:r>
            <a:r>
              <a:rPr lang="en-US" altLang="sr-Latn-RS" sz="1600"/>
              <a:t>“roditelj” dijaloga (mo</a:t>
            </a:r>
            <a:r>
              <a:rPr lang="sr-Latn-CS" altLang="sr-Latn-RS" sz="1600"/>
              <a:t>že biti null)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message</a:t>
            </a:r>
            <a:r>
              <a:rPr lang="en-US" altLang="sr-Latn-RS" sz="1600"/>
              <a:t> - </a:t>
            </a:r>
            <a:r>
              <a:rPr lang="sr-Latn-CS" altLang="sr-Latn-RS" sz="1600"/>
              <a:t>Poruka koja se prikazuje u okviru dijaloga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title</a:t>
            </a:r>
            <a:r>
              <a:rPr lang="en-US" altLang="sr-Latn-RS" sz="1600"/>
              <a:t> - </a:t>
            </a:r>
            <a:r>
              <a:rPr lang="sr-Latn-CS" altLang="sr-Latn-RS" sz="1600"/>
              <a:t>Naslov dijaloga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messageType</a:t>
            </a:r>
            <a:r>
              <a:rPr lang="en-US" altLang="sr-Latn-RS" sz="1600"/>
              <a:t> - </a:t>
            </a:r>
            <a:r>
              <a:rPr lang="sr-Latn-CS" altLang="sr-Latn-RS" sz="1600"/>
              <a:t>ERROR_MESSAGE, INFORMATION_MESSAGE, WARNING_MESSAGE, QUESTION_MESSAGE, PLAIN_MESSAGE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optionType</a:t>
            </a:r>
            <a:r>
              <a:rPr lang="sr-Latn-CS" altLang="sr-Latn-RS" sz="1600"/>
              <a:t> - DEFAULT_OPTION, YES_NO_OPTION, YES_NO_CANCEL_OPTION, OK_CANCEL_OPTION</a:t>
            </a:r>
          </a:p>
          <a:p>
            <a:pPr eaLnBrk="1" hangingPunct="1"/>
            <a:r>
              <a:rPr lang="sr-Latn-CS" altLang="sr-Latn-RS" sz="1600" b="1">
                <a:latin typeface="Courier New" panose="02070309020205020404" pitchFamily="49" charset="0"/>
              </a:rPr>
              <a:t>icon</a:t>
            </a:r>
            <a:r>
              <a:rPr lang="en-US" altLang="sr-Latn-RS" sz="1600"/>
              <a:t> - </a:t>
            </a:r>
            <a:r>
              <a:rPr lang="sr-Latn-CS" altLang="sr-Latn-RS" sz="1600"/>
              <a:t>Ikona koja se prikazuje umesto DEFAULT ikone za taj tip poruke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654E821-C27B-3E3C-08A8-78EC3A987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Raspolo</a:t>
            </a:r>
            <a:r>
              <a:rPr lang="sr-Latn-CS" altLang="sr-Latn-RS"/>
              <a:t>žive metode </a:t>
            </a:r>
            <a:r>
              <a:rPr lang="sr-Latn-CS" altLang="sr-Latn-RS" sz="3200">
                <a:latin typeface="Courier New" panose="02070309020205020404" pitchFamily="49" charset="0"/>
              </a:rPr>
              <a:t>showInputDialog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2972AE7-458C-83D6-5BBC-E86FB9FA8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Object showInputDialog(Component parent, Object message, String title, int messageType, Icon icon, Object[] values, Object default)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String showInputDialog(Component parent, Object message, String title, int messageType)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String showInputDialog(Component parent, Object message)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String showInputDialog(Object message)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String showInputDialog(Component parent, Object message, Object default) 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static String showInputDialog(Object message, Object default)</a:t>
            </a:r>
            <a:r>
              <a:rPr lang="sr-Latn-CS" altLang="sr-Latn-RS" sz="1200" b="1">
                <a:latin typeface="Courier New" panose="02070309020205020404" pitchFamily="49" charset="0"/>
              </a:rPr>
              <a:t> </a:t>
            </a:r>
            <a:endParaRPr lang="en-US" altLang="sr-Latn-RS" sz="12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1400"/>
              <a:t>Parametri</a:t>
            </a:r>
            <a:r>
              <a:rPr lang="en-US" altLang="sr-Latn-RS" sz="1400"/>
              <a:t>:</a:t>
            </a:r>
            <a:endParaRPr lang="sr-Latn-CS" altLang="sr-Latn-RS" sz="1400"/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parent</a:t>
            </a:r>
            <a:r>
              <a:rPr lang="sr-Latn-CS" altLang="sr-Latn-RS" sz="1400"/>
              <a:t> - </a:t>
            </a:r>
            <a:r>
              <a:rPr lang="en-US" altLang="sr-Latn-RS" sz="1400"/>
              <a:t>“roditelj” dijaloga (mo</a:t>
            </a:r>
            <a:r>
              <a:rPr lang="sr-Latn-CS" altLang="sr-Latn-RS" sz="1400"/>
              <a:t>že biti null)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message</a:t>
            </a:r>
            <a:r>
              <a:rPr lang="en-US" altLang="sr-Latn-RS" sz="1400"/>
              <a:t> - </a:t>
            </a:r>
            <a:r>
              <a:rPr lang="sr-Latn-CS" altLang="sr-Latn-RS" sz="1400"/>
              <a:t>Poruka koja se prikazuje u okviru dijaloga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title</a:t>
            </a:r>
            <a:r>
              <a:rPr lang="en-US" altLang="sr-Latn-RS" sz="1400"/>
              <a:t> - </a:t>
            </a:r>
            <a:r>
              <a:rPr lang="sr-Latn-CS" altLang="sr-Latn-RS" sz="1400"/>
              <a:t>Naslov dijaloga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messageType</a:t>
            </a:r>
            <a:r>
              <a:rPr lang="en-US" altLang="sr-Latn-RS" sz="1400"/>
              <a:t> - </a:t>
            </a:r>
            <a:r>
              <a:rPr lang="sr-Latn-CS" altLang="sr-Latn-RS" sz="1400"/>
              <a:t>ERROR_MESSAGE, INFORMATION_MESSAGE, WARNING_MESSAGE, QUESTION_MESSAGE, PLAIN_MESSAGE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values</a:t>
            </a:r>
            <a:r>
              <a:rPr lang="sr-Latn-CS" altLang="sr-Latn-RS" sz="1400"/>
              <a:t> - Niz vrednosti koje se prikazuju u combo-boxu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default</a:t>
            </a:r>
            <a:r>
              <a:rPr lang="sr-Latn-CS" altLang="sr-Latn-RS" sz="1400"/>
              <a:t> - Default vrednost koja se prikazuje u komponenti za unos</a:t>
            </a:r>
          </a:p>
          <a:p>
            <a:pPr eaLnBrk="1" hangingPunct="1"/>
            <a:r>
              <a:rPr lang="sr-Latn-CS" altLang="sr-Latn-RS" sz="1400" b="1">
                <a:latin typeface="Courier New" panose="02070309020205020404" pitchFamily="49" charset="0"/>
              </a:rPr>
              <a:t>icon</a:t>
            </a:r>
            <a:r>
              <a:rPr lang="en-US" altLang="sr-Latn-RS" sz="1400"/>
              <a:t> - </a:t>
            </a:r>
            <a:r>
              <a:rPr lang="sr-Latn-CS" altLang="sr-Latn-RS" sz="1400"/>
              <a:t>Ikona koja se prikazuje umesto DEFAULT ikone za taj tip poruke</a:t>
            </a:r>
          </a:p>
          <a:p>
            <a:pPr eaLnBrk="1" hangingPunct="1"/>
            <a:endParaRPr lang="sr-Latn-CS" altLang="sr-Latn-R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8282E39-1C26-C29B-7E1E-0A4AD060F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Primer lokalizovanja JOptionPane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EAB4DEB-6A64-8D8A-CF2C-5FF8D6462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55451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public class UIExample {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public static void main(String[] args) {</a:t>
            </a:r>
          </a:p>
          <a:p>
            <a:pPr eaLnBrk="1" hangingPunct="1"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sr-Latn-CS" altLang="sr-Latn-RS" sz="1400" b="1">
                <a:latin typeface="Courier New" panose="02070309020205020404" pitchFamily="49" charset="0"/>
              </a:rPr>
              <a:t>// tekst na default dugmicima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UIManager.put("OptionPane.yesButtonText", "Da");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UIManager.put("OptionPane.noButtonText", "Ne");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UIManager.put("OptionPane.cancelButtonText", "Otka\u017ei");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UIManager.put("OptionPane.okButtonText", "OK");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int answer1 = JOptionPane.showConfirmDialog(null, "Da li ste sigurni?",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   "Pitanje", JOptionPane.YES_NO_CANCEL_OPTION);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int answer2 = JOptionPane.showConfirmDialog(null, "Da li ste sigurni?",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   "Pitanje", JOptionPane.OK_CANCEL_OPTION);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id="{81CBEA39-61B4-FE7F-01C5-FE5538FD3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516563"/>
            <a:ext cx="25527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6">
            <a:extLst>
              <a:ext uri="{FF2B5EF4-FFF2-40B4-BE49-F238E27FC236}">
                <a16:creationId xmlns:a16="http://schemas.microsoft.com/office/drawing/2014/main" id="{066C9DA2-107B-2185-6D97-E3095D2E8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5516563"/>
            <a:ext cx="25527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107618A-6716-970D-ED19-7DAE27807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Unicode karakteri slova sa dijakriticima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2E7380B-BE65-0DBD-E172-12B168454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18488" cy="5068888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Za ispisivanje na menijima, dugmićima i labelama radi prenosivosti koristiti unicode kodove za slova sa dijakriticima ("naša" slova):</a:t>
            </a:r>
          </a:p>
          <a:p>
            <a:pPr lvl="2" eaLnBrk="1" hangingPunct="1"/>
            <a:r>
              <a:rPr lang="sr-Latn-CS" altLang="sr-Latn-RS" sz="2000"/>
              <a:t>Š  0160</a:t>
            </a:r>
          </a:p>
          <a:p>
            <a:pPr lvl="2" eaLnBrk="1" hangingPunct="1"/>
            <a:r>
              <a:rPr lang="sr-Latn-CS" altLang="sr-Latn-RS" sz="2000"/>
              <a:t>š  0161</a:t>
            </a:r>
          </a:p>
          <a:p>
            <a:pPr lvl="2" eaLnBrk="1" hangingPunct="1"/>
            <a:r>
              <a:rPr lang="sr-Latn-CS" altLang="sr-Latn-RS" sz="2000"/>
              <a:t>Ć  0106</a:t>
            </a:r>
          </a:p>
          <a:p>
            <a:pPr lvl="2" eaLnBrk="1" hangingPunct="1"/>
            <a:r>
              <a:rPr lang="sr-Latn-CS" altLang="sr-Latn-RS" sz="2000"/>
              <a:t>ć  0107</a:t>
            </a:r>
          </a:p>
          <a:p>
            <a:pPr lvl="2" eaLnBrk="1" hangingPunct="1"/>
            <a:r>
              <a:rPr lang="sr-Latn-CS" altLang="sr-Latn-RS" sz="2000"/>
              <a:t>Ž  017d</a:t>
            </a:r>
          </a:p>
          <a:p>
            <a:pPr lvl="2" eaLnBrk="1" hangingPunct="1"/>
            <a:r>
              <a:rPr lang="sr-Latn-CS" altLang="sr-Latn-RS" sz="2000"/>
              <a:t>ž  017e</a:t>
            </a:r>
          </a:p>
          <a:p>
            <a:pPr lvl="2" eaLnBrk="1" hangingPunct="1"/>
            <a:r>
              <a:rPr lang="sr-Latn-CS" altLang="sr-Latn-RS" sz="2000"/>
              <a:t>Č  010c</a:t>
            </a:r>
          </a:p>
          <a:p>
            <a:pPr lvl="2" eaLnBrk="1" hangingPunct="1"/>
            <a:r>
              <a:rPr lang="sr-Latn-CS" altLang="sr-Latn-RS" sz="2000"/>
              <a:t>č  010d</a:t>
            </a:r>
          </a:p>
          <a:p>
            <a:pPr lvl="2" eaLnBrk="1" hangingPunct="1"/>
            <a:r>
              <a:rPr lang="sr-Latn-CS" altLang="sr-Latn-RS" sz="2000"/>
              <a:t>Đ  0110</a:t>
            </a:r>
          </a:p>
          <a:p>
            <a:pPr lvl="2" eaLnBrk="1" hangingPunct="1"/>
            <a:r>
              <a:rPr lang="sr-Latn-CS" altLang="sr-Latn-RS" sz="2000"/>
              <a:t>đ  0111</a:t>
            </a:r>
          </a:p>
          <a:p>
            <a:pPr eaLnBrk="1" hangingPunct="1"/>
            <a:endParaRPr lang="sr-Latn-CS" altLang="sr-Latn-RS" sz="1400">
              <a:latin typeface="Courier New" panose="02070309020205020404" pitchFamily="49" charset="0"/>
            </a:endParaRP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C017E950-71F1-8993-B934-497E5F38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6309320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FEA914D-2EF8-4DD7-78E3-84C2B2E88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JDialog</a:t>
            </a:r>
            <a:endParaRPr lang="en-GB" altLang="sr-Latn-R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ADEBA8B-52FD-8C6B-F4C0-423DA98C4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Reprezentuje dijalog ekran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Dijalog može biti: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modalan (ne može se preći na glavni ekran dok se ne ugasi dijalog)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nemodalan (može se preći na glavni ekran).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Obično u okviru aplikacije postoji jedna instanca klase JFrame (osnovni prozor), a ostalo su dijalozi, mada je moguće da postoji i više instanci klase JFrame ako je potrebno</a:t>
            </a:r>
            <a:endParaRPr lang="en-US" altLang="sr-Latn-RS" sz="2800"/>
          </a:p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Obično se kreira u glavnom prozoru, pa se poziva metodom </a:t>
            </a:r>
            <a:r>
              <a:rPr lang="sr-Latn-CS" altLang="sr-Latn-RS" sz="2400" b="1">
                <a:latin typeface="Courier New" panose="02070309020205020404" pitchFamily="49" charset="0"/>
              </a:rPr>
              <a:t>setVisible(true)</a:t>
            </a:r>
            <a:r>
              <a:rPr lang="sr-Latn-CS" altLang="sr-Latn-RS" sz="2800"/>
              <a:t>, a gasi metodom </a:t>
            </a:r>
            <a:r>
              <a:rPr lang="sr-Latn-CS" altLang="sr-Latn-RS" sz="2400" b="1">
                <a:latin typeface="Courier New" panose="02070309020205020404" pitchFamily="49" charset="0"/>
              </a:rPr>
              <a:t>setVisible(false)</a:t>
            </a:r>
            <a:endParaRPr lang="en-GB" altLang="sr-Latn-RS" sz="2800"/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D00CD428-25D0-9157-4B8F-FFF2CBB50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6400005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>
            <a:extLst>
              <a:ext uri="{FF2B5EF4-FFF2-40B4-BE49-F238E27FC236}">
                <a16:creationId xmlns:a16="http://schemas.microsoft.com/office/drawing/2014/main" id="{D4BA42EC-607F-504A-02E8-BF525F0E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LookAndFeel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69199D49-2822-5A0D-B68B-0862296D5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r-Latn-CS" altLang="sr-Latn-RS"/>
              <a:t>Java poseduje mehanizam definisanja izgleda GUI komponenti.</a:t>
            </a:r>
          </a:p>
          <a:p>
            <a:pPr eaLnBrk="1" hangingPunct="1"/>
            <a:r>
              <a:rPr lang="sr-Latn-CS" altLang="sr-Latn-RS" sz="2800" b="1">
                <a:latin typeface="Courier New" panose="02070309020205020404" pitchFamily="49" charset="0"/>
              </a:rPr>
              <a:t>LookAndFeel</a:t>
            </a:r>
            <a:r>
              <a:rPr lang="sr-Latn-CS" altLang="sr-Latn-RS"/>
              <a:t> mehanizam omogućuje promenu izgleda aplikacije bez restarta.</a:t>
            </a:r>
          </a:p>
          <a:p>
            <a:pPr eaLnBrk="1" hangingPunct="1"/>
            <a:r>
              <a:rPr lang="sr-Latn-CS" altLang="sr-Latn-RS"/>
              <a:t>Postoje ugrađene </a:t>
            </a:r>
            <a:r>
              <a:rPr lang="sr-Latn-CS" altLang="sr-Latn-RS" sz="2800" b="1">
                <a:latin typeface="Courier New" panose="02070309020205020404" pitchFamily="49" charset="0"/>
              </a:rPr>
              <a:t>LookAndFeel</a:t>
            </a:r>
            <a:r>
              <a:rPr lang="sr-Latn-CS" altLang="sr-Latn-RS"/>
              <a:t> klase.</a:t>
            </a:r>
          </a:p>
          <a:p>
            <a:pPr eaLnBrk="1" hangingPunct="1"/>
            <a:r>
              <a:rPr lang="sr-Latn-CS" altLang="sr-Latn-RS"/>
              <a:t>Korisnički definisane </a:t>
            </a:r>
            <a:r>
              <a:rPr lang="sr-Latn-CS" altLang="sr-Latn-RS" sz="2800" b="1">
                <a:latin typeface="Courier New" panose="02070309020205020404" pitchFamily="49" charset="0"/>
              </a:rPr>
              <a:t>LookAndFeel</a:t>
            </a:r>
            <a:r>
              <a:rPr lang="sr-Latn-CS" altLang="sr-Latn-RS"/>
              <a:t> klase.</a:t>
            </a:r>
          </a:p>
          <a:p>
            <a:pPr eaLnBrk="1" hangingPunct="1"/>
            <a:r>
              <a:rPr lang="sr-Latn-CS" altLang="sr-Latn-RS"/>
              <a:t>Dekoracija prozora upotrebom:</a:t>
            </a:r>
          </a:p>
          <a:p>
            <a:pPr lvl="1" eaLnBrk="1" hangingPunct="1"/>
            <a:r>
              <a:rPr lang="en-US" altLang="sr-Latn-RS" sz="2000" b="1">
                <a:latin typeface="Courier New" panose="02070309020205020404" pitchFamily="49" charset="0"/>
              </a:rPr>
              <a:t>JFrame.setDefaultLookAndFeelDecorated(true);</a:t>
            </a:r>
            <a:r>
              <a:rPr lang="en-US" altLang="sr-Latn-RS"/>
              <a:t> </a:t>
            </a:r>
            <a:endParaRPr lang="en-US" altLang="sr-Latn-RS" sz="3200"/>
          </a:p>
        </p:txBody>
      </p:sp>
      <p:sp>
        <p:nvSpPr>
          <p:cNvPr id="41988" name="Text Box 7">
            <a:extLst>
              <a:ext uri="{FF2B5EF4-FFF2-40B4-BE49-F238E27FC236}">
                <a16:creationId xmlns:a16="http://schemas.microsoft.com/office/drawing/2014/main" id="{E884BDC4-73F6-A547-1639-97201B4E9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37019"/>
            <a:ext cx="1081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</a:t>
            </a:r>
            <a:r>
              <a:rPr lang="en-US" altLang="sr-Latn-RS" sz="1800">
                <a:latin typeface="Arial Narrow" panose="020B0606020202030204" pitchFamily="34" charset="0"/>
              </a:rPr>
              <a:t>1</a:t>
            </a:r>
            <a:r>
              <a:rPr lang="sr-Latn-CS" altLang="sr-Latn-RS" sz="1800">
                <a:latin typeface="Arial Narrow" panose="020B0606020202030204" pitchFamily="34" charset="0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3004</Words>
  <Application>Microsoft Office PowerPoint</Application>
  <PresentationFormat>On-screen Show (4:3)</PresentationFormat>
  <Paragraphs>401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Arial Narrow</vt:lpstr>
      <vt:lpstr>Courier New</vt:lpstr>
      <vt:lpstr>Default Design</vt:lpstr>
      <vt:lpstr>Bitmap Image</vt:lpstr>
      <vt:lpstr>Objektno Orijentisano Programiranje 1</vt:lpstr>
      <vt:lpstr>Tema</vt:lpstr>
      <vt:lpstr>Šta nam je potrebno od prethodnog znanja?</vt:lpstr>
      <vt:lpstr>Komponente</vt:lpstr>
      <vt:lpstr>Standardne komponente</vt:lpstr>
      <vt:lpstr>JComboBox</vt:lpstr>
      <vt:lpstr>PowerPoint Presentation</vt:lpstr>
      <vt:lpstr>ComputerComponent.java</vt:lpstr>
      <vt:lpstr>PowerPoint Presentation</vt:lpstr>
      <vt:lpstr>JList</vt:lpstr>
      <vt:lpstr>PowerPoint Presentation</vt:lpstr>
      <vt:lpstr>PowerPoint Presentation</vt:lpstr>
      <vt:lpstr>JTabbedPane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TreeNode interfejs</vt:lpstr>
      <vt:lpstr>MutableTreeNode interfejs</vt:lpstr>
      <vt:lpstr>PowerPoint Presentation</vt:lpstr>
      <vt:lpstr>Dijalozi </vt:lpstr>
      <vt:lpstr>Klasa JOptionPane</vt:lpstr>
      <vt:lpstr>Klasa JOptionPane</vt:lpstr>
      <vt:lpstr>Klasa JOptionPane</vt:lpstr>
      <vt:lpstr>Primeri korišćenja klase JOptionPane</vt:lpstr>
      <vt:lpstr>Primeri korišćenja klase JOptionPane</vt:lpstr>
      <vt:lpstr>Primeri korišćenja klase JOptionPane</vt:lpstr>
      <vt:lpstr>Raspoložive metode showMessageDialog</vt:lpstr>
      <vt:lpstr>Raspoložive metode showConfirmDialog</vt:lpstr>
      <vt:lpstr>Raspoložive metode showInputDialog</vt:lpstr>
      <vt:lpstr>Primer lokalizovanja JOptionPane </vt:lpstr>
      <vt:lpstr>Unicode karakteri slova sa dijakriticima </vt:lpstr>
      <vt:lpstr>JDialog</vt:lpstr>
      <vt:lpstr>PowerPoint Presentation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Programiranje korisničkog interfejsa u Javi</dc:title>
  <dc:creator>asdf asdf</dc:creator>
  <cp:lastModifiedBy>Jovana Vidaković</cp:lastModifiedBy>
  <cp:revision>194</cp:revision>
  <dcterms:created xsi:type="dcterms:W3CDTF">2009-03-11T09:58:22Z</dcterms:created>
  <dcterms:modified xsi:type="dcterms:W3CDTF">2024-06-18T21:22:17Z</dcterms:modified>
</cp:coreProperties>
</file>