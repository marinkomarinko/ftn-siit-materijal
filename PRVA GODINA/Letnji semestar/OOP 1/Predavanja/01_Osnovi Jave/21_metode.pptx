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3" r:id="rId3"/>
    <p:sldId id="324" r:id="rId4"/>
    <p:sldId id="295" r:id="rId5"/>
    <p:sldId id="296" r:id="rId6"/>
    <p:sldId id="316" r:id="rId7"/>
    <p:sldId id="315" r:id="rId8"/>
    <p:sldId id="317" r:id="rId9"/>
    <p:sldId id="318" r:id="rId10"/>
    <p:sldId id="300" r:id="rId11"/>
    <p:sldId id="319" r:id="rId12"/>
    <p:sldId id="302" r:id="rId13"/>
    <p:sldId id="303" r:id="rId14"/>
    <p:sldId id="304" r:id="rId15"/>
    <p:sldId id="320" r:id="rId16"/>
    <p:sldId id="307" r:id="rId17"/>
    <p:sldId id="308" r:id="rId18"/>
    <p:sldId id="309" r:id="rId19"/>
    <p:sldId id="310" r:id="rId20"/>
    <p:sldId id="321" r:id="rId21"/>
    <p:sldId id="314" r:id="rId22"/>
    <p:sldId id="322" r:id="rId23"/>
    <p:sldId id="325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767" autoAdjust="0"/>
  </p:normalViewPr>
  <p:slideViewPr>
    <p:cSldViewPr snapToGrid="0">
      <p:cViewPr varScale="1">
        <p:scale>
          <a:sx n="117" d="100"/>
          <a:sy n="117" d="100"/>
        </p:scale>
        <p:origin x="8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A2F7-605E-4CF5-B620-793E90D5D821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AEE3B-5729-4B92-8CE9-9885B5D1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71EA-252A-B9F8-E32B-99E9BAA34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02DFB-730B-8B60-3FE4-9FE476A08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C8DE-B934-43C1-FC6E-606BABCA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D20D-F6CB-CF36-BDEF-38FE9B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4074-BD5C-B5C1-2F6F-825000F4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/23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E04A-526B-2FAE-DF3A-692E367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D7F4-05AC-C927-FA13-05B219AD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3F76-8B02-27FA-A4AC-2370F1B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A8E5-0F73-A233-2CA1-FA78392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75DD-21DD-4E10-3C7A-584739A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034-5501-038E-8052-290E8A70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F63-EAF1-96AA-E549-63970C20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6E5CE-D72A-BF8D-9569-80A8AB0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DBE52-0BDB-6404-630B-2A581F01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3767-F0BA-AA81-FAB4-6BF762A7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2A14-12DE-B7D1-527F-0E60D60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FED-B9EB-E2E4-E2B7-6E01752F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03AD-582B-F2BE-3DBA-84F703C5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4BE7B-AB06-819E-FC01-8B7669E78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185A-B951-2053-8108-296F64CA5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9AC96-A571-489F-8636-3ADF8073B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87BEB-F829-1D00-7EDF-1E18F487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40CD-A839-8A19-10E9-BD89A71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6181-99EB-A136-76BA-3B17A79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FFC0-DAC9-AFE1-0932-C4128CAB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20E5-34EC-8930-4D44-79F7A72F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ADC8F-EA5C-2DDA-77CF-EFD22F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F2EE-769E-ACFE-4E6F-95C54CE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CED2-7605-1476-548B-C48DE08F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BDCC-D75D-3B0A-2C26-EB1119C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B038-EF8A-A84C-07EF-3C049DFD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DD74-0832-E18C-825A-B050141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3500-98D3-6876-584B-4F418B1D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71E63-7231-22C7-35FE-8E7920283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8BD-6652-35EE-7CEF-CF8AA99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3BF24-1928-5B57-40A7-729001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AF96-0896-F9D6-DD18-A3A633FE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FE1-F12C-2A7B-4D22-CB2BF96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F13D3-5717-1DE3-C638-1E8DCB08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0863D-F4B3-BE1D-D6BE-205F3248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B1E6-A274-C8AB-2BED-D184A1E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C98F8-C0C7-6CCE-5D28-0CD9C75B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3131-1DA3-D8C4-C4DB-BC13F12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3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FDB5-948B-8FAE-6475-2C16A18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EE27-EF7F-D20F-D417-56055EDC7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4988-70BD-22BE-5581-DB3427A4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036-5ECB-F0E1-4FCB-C43F1658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8AD-C2DF-6D0B-61E0-D50338D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E7E6-DA4F-7CD4-E903-82887969C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286A-FB86-5AE0-C6F1-DA88B0E9F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E38A-B4B0-FD05-EED4-C749FA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CC4D-25C3-D507-A5F1-E326DC7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190-3356-F6D3-9789-063C4E40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09CC-7A7D-C592-22AC-2303DA7EE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D817-285B-B2C2-B73A-FCEADBC8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A07583-960C-AC9B-801D-601F8641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12C9D-E296-688E-3C29-E848ADE271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9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E7E85-213A-B927-E0C6-89AB0A14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B172-392E-34D0-47F2-FE86232A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9B73-7734-E86A-4970-E6426F8BE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CC9C-BFE4-4386-8C54-B81E4330E6DB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4EE7-6507-A848-DC63-8009062A3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5272-511B-9FD4-D996-383466C9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73A2659-CF38-E51F-B8FA-99E4EE4CB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3FDE80-FD13-244E-2F9D-AB8152DC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F0D55884-B028-3A20-36FC-D67295973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4005263"/>
            <a:ext cx="568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Metode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9B008F1A-12C7-3770-045D-E1D36C651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12C14DA-633A-21A6-7DDA-7E36BE5F2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Šta su funkcije i zašta one služe?</a:t>
            </a:r>
          </a:p>
          <a:p>
            <a:r>
              <a:rPr lang="sr-Latn-RS" altLang="en-US"/>
              <a:t>Definicija funkcija</a:t>
            </a:r>
          </a:p>
          <a:p>
            <a:r>
              <a:rPr lang="sr-Latn-RS" altLang="en-US"/>
              <a:t>Prenos parametara</a:t>
            </a:r>
          </a:p>
          <a:p>
            <a:r>
              <a:rPr lang="sr-Latn-RS" altLang="en-US"/>
              <a:t>Opseg vidljivosti promenljivih</a:t>
            </a:r>
          </a:p>
          <a:p>
            <a:r>
              <a:rPr lang="sr-Latn-RS" altLang="en-US"/>
              <a:t>Rekurzivne funkcije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A6669CA-5F37-A09D-C7DA-C6AFD865C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Šta nam treba od prethodnog znanja?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6542E7D6-B4F2-45B8-37F2-8BE13C779A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Tipovi podataka</a:t>
            </a:r>
          </a:p>
          <a:p>
            <a:r>
              <a:rPr lang="sr-Latn-RS" altLang="en-US"/>
              <a:t>Operatori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04EDD1C-5449-5113-DDF2-D216CFB3F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Funkcije</a:t>
            </a:r>
            <a:r>
              <a:rPr lang="sr-Latn-RS" altLang="sr-Latn-RS"/>
              <a:t> ili Metode</a:t>
            </a:r>
            <a:endParaRPr lang="en-US" altLang="sr-Latn-R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41B992C-8629-E429-7336-1F3157613B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Motivacija:</a:t>
            </a:r>
          </a:p>
          <a:p>
            <a:pPr lvl="1" eaLnBrk="1" hangingPunct="1"/>
            <a:r>
              <a:rPr lang="en-US" altLang="sr-Latn-RS"/>
              <a:t>ponavljanje koda</a:t>
            </a:r>
          </a:p>
          <a:p>
            <a:pPr lvl="1" eaLnBrk="1" hangingPunct="1"/>
            <a:r>
              <a:rPr lang="en-US" altLang="sr-Latn-RS"/>
              <a:t>dekompozicija na manje celine</a:t>
            </a:r>
          </a:p>
          <a:p>
            <a:pPr eaLnBrk="1" hangingPunct="1"/>
            <a:r>
              <a:rPr lang="en-US" altLang="sr-Latn-RS"/>
              <a:t>Osnovni elementi:</a:t>
            </a:r>
          </a:p>
          <a:p>
            <a:pPr lvl="1" eaLnBrk="1" hangingPunct="1"/>
            <a:r>
              <a:rPr lang="sr-Latn-CS" altLang="sr-Latn-RS"/>
              <a:t>definicija</a:t>
            </a:r>
          </a:p>
          <a:p>
            <a:pPr lvl="1" eaLnBrk="1" hangingPunct="1"/>
            <a:r>
              <a:rPr lang="sr-Latn-CS" altLang="sr-Latn-RS"/>
              <a:t>poziv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50FD44-BB26-5603-C776-846496976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Definicija</a:t>
            </a:r>
            <a:endParaRPr lang="en-US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5D6AA77-B3A5-DE3D-F15E-F425DE4F7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Opšta sintaksa: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povratni_tip ime_metode(parametri)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Povratni tip je bilo koji tip podatka ili </a:t>
            </a:r>
            <a:r>
              <a:rPr lang="sr-Latn-CS" altLang="sr-Latn-RS" sz="2400" i="1"/>
              <a:t>void</a:t>
            </a:r>
            <a:r>
              <a:rPr lang="sr-Latn-CS" altLang="sr-Latn-RS" sz="2400"/>
              <a:t> ako metoda ne vraća vrednost.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metoda vraća najviše jednu vrednost!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Parametri (argumenti) se deklarišu na isti način kao i promenljive.</a:t>
            </a:r>
            <a:endParaRPr lang="en-US" altLang="sr-Latn-RS" sz="2400"/>
          </a:p>
          <a:p>
            <a:pPr lvl="1" eaLnBrk="1" hangingPunct="1">
              <a:lnSpc>
                <a:spcPct val="80000"/>
              </a:lnSpc>
            </a:pPr>
            <a:r>
              <a:rPr lang="en-US" altLang="sr-Latn-RS" sz="2000"/>
              <a:t>ako metoda nema parametara</a:t>
            </a:r>
            <a:r>
              <a:rPr lang="sr-Latn-CS" altLang="sr-Latn-RS" sz="2000"/>
              <a:t> </a:t>
            </a:r>
            <a:r>
              <a:rPr lang="en-US" altLang="sr-Latn-RS" sz="2000"/>
              <a:t>ostave </a:t>
            </a:r>
            <a:r>
              <a:rPr lang="sr-Latn-CS" altLang="sr-Latn-RS" sz="2000"/>
              <a:t>se </a:t>
            </a:r>
            <a:r>
              <a:rPr lang="en-US" altLang="sr-Latn-RS" sz="2000"/>
              <a:t>prazne zagrade.</a:t>
            </a:r>
            <a:endParaRPr lang="sr-Latn-CS" altLang="sr-Latn-RS" sz="2000"/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Ako metoda vraća vrednost, to se postiže </a:t>
            </a:r>
            <a:r>
              <a:rPr lang="sr-Latn-CS" altLang="sr-Latn-RS" sz="2400" i="1"/>
              <a:t>return</a:t>
            </a:r>
            <a:r>
              <a:rPr lang="sr-Latn-CS" altLang="sr-Latn-RS" sz="2400"/>
              <a:t> naredbom: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return a;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return (a);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12539E21-F336-25C0-4DAC-AC99A72EA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</a:t>
            </a:r>
            <a:endParaRPr lang="en-US" altLang="sr-Latn-R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45230577-D941-2D2B-2FC1-7C3341ECB9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saberi(int a, int b)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return a + b;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x = 5, y = 6;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c = saberi(x, y);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System.out.println(c);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A3EA40-B1BD-B60F-A9C1-CCB3AAE67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Parametri i rezultat metoda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7641A7F-DD7D-828D-389F-6CB0894BB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sr-Latn-RS"/>
              <a:t>Parametri mogu biti: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/>
              <a:t>primitivni tipovi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/>
              <a:t>reference na objekte</a:t>
            </a:r>
          </a:p>
          <a:p>
            <a:pPr eaLnBrk="1" hangingPunct="1">
              <a:lnSpc>
                <a:spcPct val="80000"/>
              </a:lnSpc>
            </a:pPr>
            <a:endParaRPr lang="en-US" altLang="sr-Latn-RS"/>
          </a:p>
          <a:p>
            <a:pPr eaLnBrk="1" hangingPunct="1">
              <a:lnSpc>
                <a:spcPct val="80000"/>
              </a:lnSpc>
            </a:pPr>
            <a:r>
              <a:rPr lang="en-US" altLang="sr-Latn-RS"/>
              <a:t>Rezultat može biti: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/>
              <a:t>primitivni tip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sr-Latn-RS"/>
              <a:t>referenca na objekat</a:t>
            </a:r>
          </a:p>
          <a:p>
            <a:pPr eaLnBrk="1" hangingPunct="1">
              <a:lnSpc>
                <a:spcPct val="80000"/>
              </a:lnSpc>
            </a:pPr>
            <a:endParaRPr lang="sr-Latn-CS" altLang="sr-Latn-RS"/>
          </a:p>
          <a:p>
            <a:pPr eaLnBrk="1" hangingPunct="1">
              <a:lnSpc>
                <a:spcPct val="80000"/>
              </a:lnSpc>
            </a:pPr>
            <a:r>
              <a:rPr lang="en-US" altLang="sr-Latn-RS"/>
              <a:t>Metoda vra</a:t>
            </a:r>
            <a:r>
              <a:rPr lang="sr-Latn-CS" altLang="sr-Latn-RS"/>
              <a:t>ća vrednost naredbom: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/>
              <a:t>return vrednost;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/>
              <a:t>ili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sr-Latn-CS" altLang="sr-Latn-RS"/>
              <a:t>return (vrednost); 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5D3CC28-F608-0900-93B9-D3F756B54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 metode bez parametara</a:t>
            </a:r>
            <a:endParaRPr lang="en-US" altLang="sr-Latn-RS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DEEC7F0-6D95-6353-3AEA-FC9076A34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double vratiSlucajanBroj()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return Math.random() * 100;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System.out.println(vratiSlucajanBroj());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424A238-FB99-D3EA-5DEB-9430D1871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Primer više return naredbi</a:t>
            </a:r>
            <a:endParaRPr lang="en-US" altLang="sr-Latn-R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2B78BCF6-83BF-3998-EE75-2AC78391F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max(int a, int b)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if (a &gt; b)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return a;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return b;</a:t>
            </a:r>
          </a:p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 m = max(4, 5);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4FFBE2-B85A-690C-F8CD-B5D02C91F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Primer</a:t>
            </a:r>
            <a:r>
              <a:rPr lang="sr-Latn-RS" altLang="sr-Latn-RS"/>
              <a:t> složene metode</a:t>
            </a:r>
            <a:endParaRPr lang="en-US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A9557BF-522D-7F66-3A8D-4BF493367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Napisati metodu sinus koja izračunava sinus razvojem u Tejlorov red, tačnosti 10</a:t>
            </a:r>
            <a:r>
              <a:rPr lang="en-US" altLang="sr-Latn-RS" sz="2400" baseline="30000"/>
              <a:t>-6</a:t>
            </a:r>
            <a:r>
              <a:rPr lang="en-US" altLang="sr-Latn-RS" sz="2400"/>
              <a:t>, po formuli: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br>
              <a:rPr lang="en-US" altLang="sr-Latn-RS" sz="2400"/>
            </a:br>
            <a:r>
              <a:rPr lang="en-US" altLang="sr-Latn-RS" sz="2400"/>
              <a:t>sinus(x) = x/1! - x</a:t>
            </a:r>
            <a:r>
              <a:rPr lang="en-US" altLang="sr-Latn-RS" sz="2400" baseline="30000"/>
              <a:t>3</a:t>
            </a:r>
            <a:r>
              <a:rPr lang="en-US" altLang="sr-Latn-RS" sz="2400"/>
              <a:t>/3! + x</a:t>
            </a:r>
            <a:r>
              <a:rPr lang="en-US" altLang="sr-Latn-RS" sz="2400" baseline="30000"/>
              <a:t>5</a:t>
            </a:r>
            <a:r>
              <a:rPr lang="en-US" altLang="sr-Latn-RS" sz="2400"/>
              <a:t>/5! - x</a:t>
            </a:r>
            <a:r>
              <a:rPr lang="en-US" altLang="sr-Latn-RS" sz="2400" baseline="30000"/>
              <a:t>7</a:t>
            </a:r>
            <a:r>
              <a:rPr lang="en-US" altLang="sr-Latn-RS" sz="2400"/>
              <a:t>/7! + ...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4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s = 0</a:t>
            </a:r>
            <a:r>
              <a:rPr lang="sr-Latn-RS" altLang="sr-Latn-RS" sz="2400" b="1">
                <a:latin typeface="Courier New" panose="02070309020205020404" pitchFamily="49" charset="0"/>
              </a:rPr>
              <a:t>;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sabirak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x</a:t>
            </a:r>
            <a:r>
              <a:rPr lang="en-US" altLang="sr-Latn-RS" sz="2400" b="1">
                <a:latin typeface="Courier New" panose="02070309020205020404" pitchFamily="49" charset="0"/>
              </a:rPr>
              <a:t>;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</a:rPr>
              <a:t>znak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</a:rPr>
              <a:t>; 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stepen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1</a:t>
            </a:r>
            <a:r>
              <a:rPr lang="en-US" altLang="sr-Latn-RS" sz="24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while (</a:t>
            </a:r>
            <a:r>
              <a:rPr lang="sr-Latn-CS" altLang="sr-Latn-RS" sz="2400" b="1">
                <a:solidFill>
                  <a:srgbClr val="7030A0"/>
                </a:solidFill>
                <a:latin typeface="Courier New" panose="02070309020205020404" pitchFamily="49" charset="0"/>
              </a:rPr>
              <a:t>Math.</a:t>
            </a:r>
            <a:r>
              <a:rPr lang="en-US" altLang="sr-Latn-RS" sz="2400" b="1">
                <a:solidFill>
                  <a:srgbClr val="7030A0"/>
                </a:solidFill>
                <a:latin typeface="Courier New" panose="02070309020205020404" pitchFamily="49" charset="0"/>
              </a:rPr>
              <a:t>abs(sabirak) &gt; 1E-6</a:t>
            </a:r>
            <a:r>
              <a:rPr lang="en-US" altLang="sr-Latn-RS" sz="2400" b="1">
                <a:latin typeface="Courier New" panose="02070309020205020404" pitchFamily="49" charset="0"/>
              </a:rPr>
              <a:t>)</a:t>
            </a: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s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s</a:t>
            </a:r>
            <a:r>
              <a:rPr lang="en-US" altLang="sr-Latn-RS" sz="2400" b="1">
                <a:latin typeface="Courier New" panose="02070309020205020404" pitchFamily="49" charset="0"/>
              </a:rPr>
              <a:t> +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sabirak</a:t>
            </a:r>
            <a:r>
              <a:rPr lang="en-US" altLang="sr-Latn-RS" sz="24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</a:rPr>
              <a:t>znak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chemeClr val="accent1"/>
                </a:solidFill>
                <a:latin typeface="Courier New" panose="02070309020205020404" pitchFamily="49" charset="0"/>
              </a:rPr>
              <a:t>znak</a:t>
            </a:r>
            <a:r>
              <a:rPr lang="sr-Latn-RS" altLang="sr-Latn-RS" sz="2400" b="1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*</a:t>
            </a: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stepen</a:t>
            </a:r>
            <a:r>
              <a:rPr lang="en-US" altLang="sr-Latn-RS" sz="2400" b="1">
                <a:latin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stepen</a:t>
            </a:r>
            <a:r>
              <a:rPr lang="en-US" altLang="sr-Latn-RS" sz="2400" b="1">
                <a:latin typeface="Courier New" panose="02070309020205020404" pitchFamily="49" charset="0"/>
              </a:rPr>
              <a:t> + 2;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sabirak</a:t>
            </a:r>
            <a:r>
              <a:rPr lang="en-US" altLang="sr-Latn-RS" sz="2400" b="1">
                <a:latin typeface="Courier New" panose="02070309020205020404" pitchFamily="49" charset="0"/>
              </a:rPr>
              <a:t> = znak * </a:t>
            </a:r>
            <a:r>
              <a:rPr lang="sr-Latn-CS" altLang="sr-Latn-RS" sz="2400" b="1">
                <a:latin typeface="Courier New" panose="02070309020205020404" pitchFamily="49" charset="0"/>
              </a:rPr>
              <a:t>Math.</a:t>
            </a:r>
            <a:r>
              <a:rPr lang="en-US" altLang="sr-Latn-RS" sz="2400" b="1">
                <a:latin typeface="Courier New" panose="02070309020205020404" pitchFamily="49" charset="0"/>
              </a:rPr>
              <a:t>pow(x,</a:t>
            </a:r>
            <a:r>
              <a:rPr lang="sr-Latn-R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stepen</a:t>
            </a:r>
            <a:r>
              <a:rPr lang="en-US" altLang="sr-Latn-RS" sz="2400" b="1">
                <a:latin typeface="Courier New" panose="02070309020205020404" pitchFamily="49" charset="0"/>
              </a:rPr>
              <a:t>)/fakt(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stepen</a:t>
            </a:r>
            <a:r>
              <a:rPr lang="en-US" altLang="sr-Latn-RS" sz="24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C5F08698-9358-29E4-28E2-7452F56BF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5863" y="6308725"/>
            <a:ext cx="1655762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S</a:t>
            </a:r>
            <a:r>
              <a:rPr lang="en-US" altLang="sr-Latn-RS" sz="1800"/>
              <a:t>inus.</a:t>
            </a:r>
            <a:r>
              <a:rPr lang="sr-Latn-CS" altLang="sr-Latn-RS" sz="1800"/>
              <a:t>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E290AE11-7094-25BA-2063-D0F8BB9FD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Lokalne promenljive</a:t>
            </a:r>
            <a:endParaRPr lang="en-US" altLang="sr-Latn-R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A81D2C87-97D6-D817-4C64-A8C5D11FB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sr-Latn-RS"/>
              <a:t>Sve promenljive deklarisane unutar metoda su lokalne promenljive. </a:t>
            </a:r>
            <a:endParaRPr lang="sr-Latn-RS" altLang="sr-Latn-RS"/>
          </a:p>
          <a:p>
            <a:r>
              <a:rPr lang="en-US" altLang="sr-Latn-RS"/>
              <a:t>Takve</a:t>
            </a:r>
            <a:r>
              <a:rPr lang="sr-Latn-RS" altLang="sr-Latn-RS"/>
              <a:t> </a:t>
            </a:r>
            <a:r>
              <a:rPr lang="en-US" altLang="sr-Latn-RS"/>
              <a:t>promenljive se ne vide u drugim metodama </a:t>
            </a:r>
            <a:r>
              <a:rPr lang="sr-Latn-RS" altLang="sr-Latn-RS"/>
              <a:t>i</a:t>
            </a:r>
          </a:p>
          <a:p>
            <a:pPr lvl="1"/>
            <a:r>
              <a:rPr lang="en-US" altLang="sr-Latn-RS"/>
              <a:t>svaki put </a:t>
            </a:r>
            <a:r>
              <a:rPr lang="sr-Latn-RS" altLang="sr-Latn-RS"/>
              <a:t>se </a:t>
            </a:r>
            <a:r>
              <a:rPr lang="en-US" altLang="sr-Latn-RS"/>
              <a:t>prave</a:t>
            </a:r>
            <a:r>
              <a:rPr lang="sr-Latn-RS" altLang="sr-Latn-RS"/>
              <a:t> </a:t>
            </a:r>
            <a:r>
              <a:rPr lang="pt-BR" altLang="sr-Latn-RS"/>
              <a:t>kada program pozove metodu, </a:t>
            </a:r>
            <a:endParaRPr lang="sr-Latn-RS" altLang="sr-Latn-RS"/>
          </a:p>
          <a:p>
            <a:pPr lvl="1"/>
            <a:r>
              <a:rPr lang="sr-Latn-RS" altLang="sr-Latn-RS"/>
              <a:t>„</a:t>
            </a:r>
            <a:r>
              <a:rPr lang="pt-BR" altLang="sr-Latn-RS"/>
              <a:t>uništavaju</a:t>
            </a:r>
            <a:r>
              <a:rPr lang="sr-Latn-RS" altLang="sr-Latn-RS"/>
              <a:t>“</a:t>
            </a:r>
            <a:r>
              <a:rPr lang="pt-BR" altLang="sr-Latn-RS"/>
              <a:t> se kada se metoda završi.</a:t>
            </a:r>
            <a:endParaRPr lang="sr-Latn-RS" altLang="sr-Latn-RS"/>
          </a:p>
          <a:p>
            <a:r>
              <a:rPr lang="en-US" altLang="sr-Latn-RS"/>
              <a:t>Lokalne promenljive nemaju predefinisanu (</a:t>
            </a:r>
            <a:r>
              <a:rPr lang="en-US" altLang="sr-Latn-RS" i="1"/>
              <a:t>default</a:t>
            </a:r>
            <a:r>
              <a:rPr lang="en-US" altLang="sr-Latn-RS"/>
              <a:t>) vrednost!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A84302F-2B19-D1C0-84B2-635F250E521B}"/>
              </a:ext>
            </a:extLst>
          </p:cNvPr>
          <p:cNvSpPr/>
          <p:nvPr/>
        </p:nvSpPr>
        <p:spPr>
          <a:xfrm>
            <a:off x="8328696" y="2995448"/>
            <a:ext cx="3175627" cy="612648"/>
          </a:xfrm>
          <a:prstGeom prst="wedgeRoundRectCallout">
            <a:avLst>
              <a:gd name="adj1" fmla="val -111348"/>
              <a:gd name="adj2" fmla="val 1029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Uništavanje shvatiti uslovno!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4BCB5A6-2040-05D8-2E83-9959562CA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Parametri metoda</a:t>
            </a:r>
            <a:endParaRPr lang="en-US" altLang="sr-Latn-R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BC48247-A0E5-07C3-C1BE-D895A0A605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Parametri metoda se u nekim programskim jezicima prenose po vrednosti ili po referenci</a:t>
            </a:r>
          </a:p>
          <a:p>
            <a:pPr lvl="1" eaLnBrk="1" hangingPunct="1"/>
            <a:r>
              <a:rPr lang="sr-Latn-CS" altLang="sr-Latn-RS"/>
              <a:t>u programskom jeziku Java, prenos je </a:t>
            </a:r>
            <a:r>
              <a:rPr lang="sr-Latn-CS" altLang="sr-Latn-RS" b="1"/>
              <a:t>isključivo</a:t>
            </a:r>
            <a:r>
              <a:rPr lang="sr-Latn-CS" altLang="sr-Latn-RS"/>
              <a:t> po vrednosti</a:t>
            </a:r>
          </a:p>
          <a:p>
            <a:pPr eaLnBrk="1" hangingPunct="1">
              <a:buFontTx/>
              <a:buNone/>
            </a:pPr>
            <a:endParaRPr lang="sr-Latn-C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ECF0D-1223-F42A-7057-DCFC43CF7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Prenos parametara </a:t>
            </a:r>
            <a:br>
              <a:rPr lang="sr-Latn-CS" altLang="sr-Latn-RS" sz="4000"/>
            </a:br>
            <a:r>
              <a:rPr lang="sr-Latn-CS" altLang="sr-Latn-RS" sz="4000"/>
              <a:t>po vrednosti</a:t>
            </a:r>
            <a:endParaRPr lang="en-US" altLang="sr-Latn-RS" sz="400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1AD1120-9048-36FF-20CC-AC4DBAF3E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Prenos parametara po vrednosti:</a:t>
            </a:r>
          </a:p>
          <a:p>
            <a:pPr lvl="1" eaLnBrk="1" hangingPunct="1"/>
            <a:r>
              <a:rPr lang="sr-Latn-CS" altLang="sr-Latn-RS"/>
              <a:t>prave se kopije parametara i te kopije se prosleđuju metodi</a:t>
            </a:r>
          </a:p>
          <a:p>
            <a:pPr lvl="1" eaLnBrk="1" hangingPunct="1"/>
            <a:r>
              <a:rPr lang="sr-Latn-CS" altLang="sr-Latn-RS"/>
              <a:t>posledica: nije moguće promeniti prosleđenu promenljivu iz metode</a:t>
            </a:r>
            <a:endParaRPr lang="en-US" altLang="sr-Latn-RS"/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4B1DEC6-F4B7-BBE3-49A5-29B870A28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Prenos parametara po vrednosti</a:t>
            </a:r>
            <a:endParaRPr lang="en-US" altLang="sr-Latn-RS" sz="400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0D7C36A-2872-18A0-6946-4FE7B67E14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static </a:t>
            </a:r>
            <a:r>
              <a:rPr lang="en-US" altLang="sr-Latn-RS" b="1">
                <a:latin typeface="Courier New" panose="02070309020205020404" pitchFamily="49" charset="0"/>
              </a:rPr>
              <a:t>void f(int </a:t>
            </a:r>
            <a:r>
              <a:rPr lang="sr-Latn-RS" altLang="sr-Latn-RS" b="1">
                <a:latin typeface="Courier New" panose="02070309020205020404" pitchFamily="49" charset="0"/>
              </a:rPr>
              <a:t>x</a:t>
            </a:r>
            <a:r>
              <a:rPr lang="en-US" altLang="sr-Latn-RS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RS" altLang="sr-Latn-RS" b="1">
                <a:latin typeface="Courier New" panose="02070309020205020404" pitchFamily="49" charset="0"/>
              </a:rPr>
              <a:t>  x = 1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public static </a:t>
            </a:r>
            <a:r>
              <a:rPr lang="en-US" altLang="sr-Latn-RS" b="1">
                <a:latin typeface="Courier New" panose="02070309020205020404" pitchFamily="49" charset="0"/>
              </a:rPr>
              <a:t>void main(</a:t>
            </a:r>
            <a:r>
              <a:rPr lang="sr-Latn-CS" altLang="sr-Latn-RS" b="1">
                <a:latin typeface="Courier New" panose="02070309020205020404" pitchFamily="49" charset="0"/>
              </a:rPr>
              <a:t>String[] s</a:t>
            </a:r>
            <a:r>
              <a:rPr lang="en-US" altLang="sr-Latn-RS" b="1">
                <a:latin typeface="Courier New" panose="02070309020205020404" pitchFamily="49" charset="0"/>
              </a:rPr>
              <a:t>)</a:t>
            </a:r>
            <a:r>
              <a:rPr lang="sr-Latn-CS" altLang="sr-Latn-RS" b="1">
                <a:latin typeface="Courier New" panose="02070309020205020404" pitchFamily="49" charset="0"/>
              </a:rPr>
              <a:t> </a:t>
            </a:r>
            <a:r>
              <a:rPr lang="en-US" altLang="sr-Latn-RS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int </a:t>
            </a:r>
            <a:r>
              <a:rPr lang="sr-Latn-RS" altLang="sr-Latn-RS" b="1">
                <a:latin typeface="Courier New" panose="02070309020205020404" pitchFamily="49" charset="0"/>
              </a:rPr>
              <a:t>a</a:t>
            </a:r>
            <a:r>
              <a:rPr lang="en-US" altLang="sr-Latn-RS" b="1">
                <a:latin typeface="Courier New" panose="02070309020205020404" pitchFamily="49" charset="0"/>
              </a:rPr>
              <a:t> = </a:t>
            </a:r>
            <a:r>
              <a:rPr lang="sr-Latn-RS" altLang="sr-Latn-RS" b="1">
                <a:latin typeface="Courier New" panose="02070309020205020404" pitchFamily="49" charset="0"/>
              </a:rPr>
              <a:t>0</a:t>
            </a:r>
            <a:r>
              <a:rPr lang="en-U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f(</a:t>
            </a:r>
            <a:r>
              <a:rPr lang="sr-Latn-RS" altLang="sr-Latn-RS" b="1">
                <a:latin typeface="Courier New" panose="02070309020205020404" pitchFamily="49" charset="0"/>
              </a:rPr>
              <a:t>a</a:t>
            </a:r>
            <a:r>
              <a:rPr lang="en-US" altLang="sr-Latn-RS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  </a:t>
            </a:r>
            <a:r>
              <a:rPr lang="sr-Latn-CS" altLang="sr-Latn-RS" b="1">
                <a:latin typeface="Courier New" panose="02070309020205020404" pitchFamily="49" charset="0"/>
              </a:rPr>
              <a:t>System.out.</a:t>
            </a:r>
            <a:r>
              <a:rPr lang="en-US" altLang="sr-Latn-RS" b="1">
                <a:latin typeface="Courier New" panose="02070309020205020404" pitchFamily="49" charset="0"/>
              </a:rPr>
              <a:t>print</a:t>
            </a:r>
            <a:r>
              <a:rPr lang="sr-Latn-RS" altLang="sr-Latn-RS" b="1">
                <a:latin typeface="Courier New" panose="02070309020205020404" pitchFamily="49" charset="0"/>
              </a:rPr>
              <a:t>ln</a:t>
            </a:r>
            <a:r>
              <a:rPr lang="en-US" altLang="sr-Latn-RS" b="1">
                <a:latin typeface="Courier New" panose="02070309020205020404" pitchFamily="49" charset="0"/>
              </a:rPr>
              <a:t>(</a:t>
            </a:r>
            <a:r>
              <a:rPr lang="sr-Latn-RS" altLang="sr-Latn-RS" b="1">
                <a:latin typeface="Courier New" panose="02070309020205020404" pitchFamily="49" charset="0"/>
              </a:rPr>
              <a:t>a</a:t>
            </a:r>
            <a:r>
              <a:rPr lang="en-US" altLang="sr-Latn-RS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1770641F-902B-F8AB-F4CE-D1EBF587D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0006" y="611408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Vrednost</a:t>
            </a:r>
            <a:r>
              <a:rPr lang="en-US" altLang="sr-Latn-RS" sz="1800"/>
              <a:t>.</a:t>
            </a:r>
            <a:r>
              <a:rPr lang="sr-Latn-CS" altLang="sr-Latn-RS" sz="1800"/>
              <a:t>java</a:t>
            </a:r>
          </a:p>
        </p:txBody>
      </p:sp>
      <p:sp>
        <p:nvSpPr>
          <p:cNvPr id="15365" name="AutoShape 5">
            <a:extLst>
              <a:ext uri="{FF2B5EF4-FFF2-40B4-BE49-F238E27FC236}">
                <a16:creationId xmlns:a16="http://schemas.microsoft.com/office/drawing/2014/main" id="{7BB9D3D2-A923-4141-3304-C6DC9E30B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5805488"/>
            <a:ext cx="2089150" cy="792162"/>
          </a:xfrm>
          <a:prstGeom prst="wedgeRoundRectCallout">
            <a:avLst>
              <a:gd name="adj1" fmla="val -119489"/>
              <a:gd name="adj2" fmla="val -12772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/>
              <a:t>Šta će biti odštampano?</a:t>
            </a:r>
            <a:endParaRPr lang="en-US" altLang="sr-Latn-RS" sz="1800"/>
          </a:p>
        </p:txBody>
      </p:sp>
      <p:sp>
        <p:nvSpPr>
          <p:cNvPr id="15366" name="AutoShape 5">
            <a:extLst>
              <a:ext uri="{FF2B5EF4-FFF2-40B4-BE49-F238E27FC236}">
                <a16:creationId xmlns:a16="http://schemas.microsoft.com/office/drawing/2014/main" id="{3CD68582-1536-2F76-E176-535070FE5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4889" y="2133600"/>
            <a:ext cx="2486025" cy="863600"/>
          </a:xfrm>
          <a:prstGeom prst="wedgeRoundRectCallout">
            <a:avLst>
              <a:gd name="adj1" fmla="val -144135"/>
              <a:gd name="adj2" fmla="val -5593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/>
              <a:t>Ne vredi ni da promenljivu ’x’ nazovemo ’a’</a:t>
            </a:r>
            <a:endParaRPr lang="en-US" altLang="sr-Latn-R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15365" grpId="0" animBg="1"/>
      <p:bldP spid="153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B5AB1DD-8D46-6172-A60D-2E7CA36EA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CS" altLang="sr-Latn-RS" sz="3600"/>
              <a:t>Prenos parametara po vrednosti</a:t>
            </a:r>
            <a:endParaRPr lang="sr-Latn-RS" altLang="sr-Latn-RS" sz="36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D641D1-13DF-603F-D2FF-B8340195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8" name="Picture 3">
            <a:extLst>
              <a:ext uri="{FF2B5EF4-FFF2-40B4-BE49-F238E27FC236}">
                <a16:creationId xmlns:a16="http://schemas.microsoft.com/office/drawing/2014/main" id="{6F30FA90-537D-E9B9-97E8-7D16E435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6" y="2133601"/>
            <a:ext cx="3052763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B8EA604-162F-3353-D3BA-1976D4F61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Nizovi kao parametri metoda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2948F30-A124-DDB9-D6B1-1F5F3903C5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U listi parametara metoda ne navode se dimenzije.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Primer: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void f(int a[])</a:t>
            </a:r>
            <a:r>
              <a:rPr lang="sr-Latn-C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</a:rPr>
              <a:t>...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a[3] = 5;  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je potrebna veličina niza, ona se može saznati iz atributa </a:t>
            </a:r>
            <a:r>
              <a:rPr lang="sr-Latn-CS" altLang="sr-Latn-RS">
                <a:solidFill>
                  <a:srgbClr val="FF0000"/>
                </a:solidFill>
              </a:rPr>
              <a:t>length</a:t>
            </a:r>
            <a:r>
              <a:rPr lang="sr-Latn-CS" altLang="sr-Latn-RS"/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CS" altLang="sr-Latn-RS"/>
              <a:t>a.</a:t>
            </a:r>
            <a:r>
              <a:rPr lang="sr-Latn-CS" altLang="sr-Latn-RS">
                <a:solidFill>
                  <a:srgbClr val="FF0000"/>
                </a:solidFill>
              </a:rPr>
              <a:t>length</a:t>
            </a:r>
            <a:endParaRPr lang="en-US" altLang="sr-Latn-RS">
              <a:solidFill>
                <a:srgbClr val="FF0000"/>
              </a:solidFill>
            </a:endParaRPr>
          </a:p>
        </p:txBody>
      </p:sp>
      <p:sp>
        <p:nvSpPr>
          <p:cNvPr id="17412" name="AutoShape 4">
            <a:extLst>
              <a:ext uri="{FF2B5EF4-FFF2-40B4-BE49-F238E27FC236}">
                <a16:creationId xmlns:a16="http://schemas.microsoft.com/office/drawing/2014/main" id="{41400073-1840-9EE2-84ED-F2C45A00A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64" y="2833289"/>
            <a:ext cx="5723953" cy="1613417"/>
          </a:xfrm>
          <a:prstGeom prst="wedgeRoundRectCallout">
            <a:avLst>
              <a:gd name="adj1" fmla="val -85936"/>
              <a:gd name="adj2" fmla="val 1989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 b="1"/>
              <a:t>Ovo će promeniti a[3] u pozivajućoj metodi!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800"/>
              <a:t>POSLEDICA:</a:t>
            </a:r>
          </a:p>
          <a:p>
            <a:pPr eaLnBrk="1" hangingPunct="1">
              <a:spcBef>
                <a:spcPct val="0"/>
              </a:spcBef>
            </a:pPr>
            <a:r>
              <a:rPr lang="sr-Latn-CS" altLang="sr-Latn-RS" sz="1800"/>
              <a:t> Elementi niza se mogu promeniti iz metode!</a:t>
            </a:r>
          </a:p>
          <a:p>
            <a:pPr eaLnBrk="1" hangingPunct="1">
              <a:spcBef>
                <a:spcPct val="0"/>
              </a:spcBef>
            </a:pPr>
            <a:r>
              <a:rPr lang="sr-Latn-CS" altLang="sr-Latn-RS" sz="1800"/>
              <a:t> Nizovi se ne prosleđuju po vrednosti, tj. ne pravi se kopija niza!</a:t>
            </a:r>
            <a:endParaRPr lang="en-US" altLang="sr-Latn-RS" sz="1800"/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9B8EFBF8-33CC-A7C2-8AC7-5DD32D38C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1" y="6092825"/>
            <a:ext cx="1655763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Nizovi</a:t>
            </a:r>
            <a:r>
              <a:rPr lang="en-US" altLang="sr-Latn-RS" sz="1800"/>
              <a:t>.</a:t>
            </a:r>
            <a:r>
              <a:rPr lang="sr-Latn-CS" altLang="sr-Latn-RS" sz="1800"/>
              <a:t>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  <p:bldP spid="174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2A05475-99A4-F31F-2354-A45E2EA78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Vi</a:t>
            </a:r>
            <a:r>
              <a:rPr lang="sr-Latn-CS" altLang="sr-Latn-RS" sz="4000"/>
              <a:t>šedimenzionalni n</a:t>
            </a:r>
            <a:r>
              <a:rPr lang="en-US" altLang="sr-Latn-RS" sz="4000"/>
              <a:t>izovi kao parametri metoda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72E1137-0ACD-82F3-4CF2-049D2EB10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 listi parametara metode </a:t>
            </a:r>
            <a:r>
              <a:rPr lang="sr-Latn-CS" altLang="sr-Latn-RS"/>
              <a:t>se ne navode</a:t>
            </a:r>
            <a:r>
              <a:rPr lang="en-US" altLang="sr-Latn-RS"/>
              <a:t> </a:t>
            </a:r>
            <a:r>
              <a:rPr lang="sr-Latn-CS" altLang="sr-Latn-RS"/>
              <a:t>dimenzije</a:t>
            </a:r>
          </a:p>
          <a:p>
            <a:pPr lvl="1" eaLnBrk="1" hangingPunct="1"/>
            <a:r>
              <a:rPr lang="sr-Latn-CS" altLang="sr-Latn-RS"/>
              <a:t>ta informacija se može saznati iz same promenljive</a:t>
            </a:r>
          </a:p>
          <a:p>
            <a:pPr lvl="2" eaLnBrk="1" hangingPunct="1"/>
            <a:r>
              <a:rPr lang="sr-Latn-CS" altLang="sr-Latn-RS"/>
              <a:t>a.</a:t>
            </a:r>
            <a:r>
              <a:rPr lang="sr-Latn-CS" altLang="sr-Latn-RS">
                <a:solidFill>
                  <a:srgbClr val="FF0000"/>
                </a:solidFill>
              </a:rPr>
              <a:t>length</a:t>
            </a:r>
            <a:r>
              <a:rPr lang="sr-Latn-CS" altLang="sr-Latn-RS"/>
              <a:t> – broj vrsta</a:t>
            </a:r>
          </a:p>
          <a:p>
            <a:pPr lvl="2" eaLnBrk="1" hangingPunct="1"/>
            <a:r>
              <a:rPr lang="sr-Latn-CS" altLang="sr-Latn-RS"/>
              <a:t>a[0].</a:t>
            </a:r>
            <a:r>
              <a:rPr lang="sr-Latn-CS" altLang="sr-Latn-RS">
                <a:solidFill>
                  <a:srgbClr val="FF0000"/>
                </a:solidFill>
              </a:rPr>
              <a:t>length</a:t>
            </a:r>
            <a:r>
              <a:rPr lang="sr-Latn-CS" altLang="sr-Latn-RS"/>
              <a:t> – broj kolona</a:t>
            </a:r>
            <a:endParaRPr lang="en-US" altLang="sr-Latn-RS"/>
          </a:p>
          <a:p>
            <a:pPr eaLnBrk="1" hangingPunct="1"/>
            <a:r>
              <a:rPr lang="en-U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void f(int a[]</a:t>
            </a:r>
            <a:r>
              <a:rPr lang="sr-Latn-CS" altLang="sr-Latn-RS" sz="2400" b="1">
                <a:latin typeface="Courier New" panose="02070309020205020404" pitchFamily="49" charset="0"/>
              </a:rPr>
              <a:t>[]</a:t>
            </a:r>
            <a:r>
              <a:rPr lang="en-US" altLang="sr-Latn-RS" sz="2400" b="1">
                <a:latin typeface="Courier New" panose="02070309020205020404" pitchFamily="49" charset="0"/>
              </a:rPr>
              <a:t>)</a:t>
            </a:r>
            <a:r>
              <a:rPr lang="sr-Latn-CS" altLang="sr-Latn-RS" sz="2400" b="1">
                <a:latin typeface="Courier New" panose="02070309020205020404" pitchFamily="49" charset="0"/>
              </a:rPr>
              <a:t> </a:t>
            </a:r>
            <a:r>
              <a:rPr lang="en-US" altLang="sr-Latn-RS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</a:rPr>
              <a:t>...</a:t>
            </a:r>
            <a:endParaRPr lang="sr-Latn-CS" altLang="sr-Latn-R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a[3][3] = 5;  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6A3566BD-810D-BB7C-7740-8A5E3BC43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1" y="6092825"/>
            <a:ext cx="1655763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Nizovi</a:t>
            </a:r>
            <a:r>
              <a:rPr lang="en-US" altLang="sr-Latn-RS" sz="1800"/>
              <a:t>.</a:t>
            </a:r>
            <a:r>
              <a:rPr lang="sr-Latn-CS" altLang="sr-Latn-RS" sz="1800"/>
              <a:t>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1D8A3B7-10D8-65DB-843C-C7F6B669E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Opseg vidljivosti promenljivih</a:t>
            </a:r>
            <a:endParaRPr lang="en-U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2C8E11A-BFC5-4536-8E98-34FADFA009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Promenljive deklarisane unutar metode se “vide” samo u metodi</a:t>
            </a:r>
          </a:p>
          <a:p>
            <a:pPr lvl="1" eaLnBrk="1" hangingPunct="1"/>
            <a:r>
              <a:rPr lang="sr-Latn-CS" altLang="sr-Latn-RS"/>
              <a:t>to su lokalne promenljive</a:t>
            </a:r>
          </a:p>
          <a:p>
            <a:pPr eaLnBrk="1" hangingPunct="1"/>
            <a:r>
              <a:rPr lang="sr-Latn-CS" altLang="sr-Latn-RS"/>
              <a:t>Pomenljive deklarisane izvan metode se “vide” i u ostalim metodama </a:t>
            </a:r>
          </a:p>
          <a:p>
            <a:pPr lvl="1" eaLnBrk="1" hangingPunct="1"/>
            <a:r>
              <a:rPr lang="sr-Latn-CS" altLang="sr-Latn-RS"/>
              <a:t>to su atributi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C7D6544-B9A7-36C7-ECFA-368299870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Opseg vidljivosti promenljivih</a:t>
            </a:r>
            <a:endParaRPr lang="en-US" altLang="sr-Latn-R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045824A-1265-78A6-4F74-9840D740A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static void f(int i)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 = 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static int a;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static void f2(int i)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int b;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a = 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 = 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static void f3(int i)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int a</a:t>
            </a:r>
            <a:r>
              <a:rPr lang="en-US" altLang="sr-Latn-RS" sz="20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a = 5;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 = 3;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D61F145-407E-AA40-323A-775CE94E7DE0}"/>
              </a:ext>
            </a:extLst>
          </p:cNvPr>
          <p:cNvSpPr/>
          <p:nvPr/>
        </p:nvSpPr>
        <p:spPr>
          <a:xfrm>
            <a:off x="2932386" y="5644055"/>
            <a:ext cx="3387333" cy="558550"/>
          </a:xfrm>
          <a:prstGeom prst="wedgeRoundRectCallout">
            <a:avLst>
              <a:gd name="adj1" fmla="val -73585"/>
              <a:gd name="adj2" fmla="val -40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Lokalna promenljiva „a“ ili globalna promenljiva „a“?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70D292A-8DE2-BB93-A69D-D30C880B8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Rekurzivne metode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DD2FFC-EBDC-A86C-8F02-060D314913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Rekurzija: metoda poziva samu sebe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Svaka rekurzivna metoda mora da ima uslov za izlaz iz rekurzije!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Pozitivno: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razumljivije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ponekad i jedino moguće</a:t>
            </a:r>
            <a:r>
              <a:rPr lang="en-US" altLang="sr-Latn-RS" sz="2000"/>
              <a:t> (Akermanova funkcija)</a:t>
            </a:r>
            <a:endParaRPr lang="sr-Latn-CS" altLang="sr-Latn-RS" sz="20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Mana: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opterećuje stek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brzina</a:t>
            </a:r>
            <a:endParaRPr lang="en-US" altLang="sr-Latn-RS" sz="2000"/>
          </a:p>
          <a:p>
            <a:endParaRPr lang="sr-Latn-RS" altLang="sr-Latn-RS"/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290797D-566D-E824-5DB1-434A291CC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866" y="3429000"/>
            <a:ext cx="4038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B202AD9-9259-14EC-8D49-849D6E305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Rekurzivne metode</a:t>
            </a:r>
            <a:endParaRPr lang="en-US" altLang="sr-Latn-R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3D08D75-3341-C71F-F7A3-6FD6222FF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int fakt(int n)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int i, f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=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for (i = 1; i &lt;= n; i++)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f *= 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return f;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B0BAFAC9-0883-4643-ADD7-7ACD0DD99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1557338"/>
            <a:ext cx="4321176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int fakt(int n)</a:t>
            </a:r>
            <a:r>
              <a:rPr lang="sr-Latn-R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if (n &lt; 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return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return n * fakt(n-1);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D38B26C4-3618-AF42-8971-97F780FD7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542" y="4437064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Fakt1</a:t>
            </a:r>
            <a:r>
              <a:rPr lang="en-US" altLang="sr-Latn-RS" sz="1800"/>
              <a:t>.</a:t>
            </a:r>
            <a:r>
              <a:rPr lang="sr-Latn-CS" altLang="sr-Latn-RS" sz="1800"/>
              <a:t>java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15B0DE83-02C3-FDA3-C495-CD81C0C8D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4437064"/>
            <a:ext cx="1655763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800"/>
              <a:t>Fakt2</a:t>
            </a:r>
            <a:r>
              <a:rPr lang="en-US" altLang="sr-Latn-RS" sz="1800"/>
              <a:t>.</a:t>
            </a:r>
            <a:r>
              <a:rPr lang="sr-Latn-CS" altLang="sr-Latn-RS" sz="1800"/>
              <a:t>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nimBg="1"/>
      <p:bldP spid="225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A12329FD-B632-34F5-B4D8-43A65F7B4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Rekurzivne metode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439E56B-0387-9F2E-D3D7-E4993F543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555826"/>
              </p:ext>
            </p:extLst>
          </p:nvPr>
        </p:nvGraphicFramePr>
        <p:xfrm>
          <a:off x="1001109" y="2352675"/>
          <a:ext cx="9533151" cy="4201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76800" imgH="2148686" progId="">
                  <p:embed/>
                </p:oleObj>
              </mc:Choice>
              <mc:Fallback>
                <p:oleObj r:id="rId2" imgW="4876800" imgH="2148686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1109" y="2352675"/>
                        <a:ext cx="9533151" cy="4201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28B0-C2C6-4ECD-B9EE-F61B01591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Rekurzivne metode</a:t>
            </a:r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CDB40E7-63EF-7C20-3AC0-16B1DF7E1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601343"/>
              </p:ext>
            </p:extLst>
          </p:nvPr>
        </p:nvGraphicFramePr>
        <p:xfrm>
          <a:off x="1049692" y="1936102"/>
          <a:ext cx="8542178" cy="3685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07269" imgH="1254841" progId="">
                  <p:embed/>
                </p:oleObj>
              </mc:Choice>
              <mc:Fallback>
                <p:oleObj r:id="rId2" imgW="2907269" imgH="1254841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9692" y="1936102"/>
                        <a:ext cx="8542178" cy="3685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3428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FE075EE-82CF-E470-F2AB-66B1C5591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 sz="4000"/>
              <a:t>Promenljiv </a:t>
            </a:r>
            <a:r>
              <a:rPr lang="en-US" altLang="sr-Latn-RS" sz="4000"/>
              <a:t>broj parametara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83B8A64-4B97-C580-955F-5C784C2355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Ako </a:t>
            </a:r>
            <a:r>
              <a:rPr lang="sr-Latn-CS" altLang="sr-Latn-RS"/>
              <a:t>želimo da metoda ima promenljiv broj parametara, definišemo je na sledeći način: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void f(int... params) {...}</a:t>
            </a:r>
          </a:p>
          <a:p>
            <a:pPr eaLnBrk="1" hangingPunct="1"/>
            <a:r>
              <a:rPr lang="sr-Latn-CS" altLang="sr-Latn-RS"/>
              <a:t>Parametrima se pristupa kao elementima niza: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a = params[2];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992</Words>
  <Application>Microsoft Office PowerPoint</Application>
  <PresentationFormat>Widescreen</PresentationFormat>
  <Paragraphs>190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Courier New</vt:lpstr>
      <vt:lpstr>Tahoma</vt:lpstr>
      <vt:lpstr>Office Theme</vt:lpstr>
      <vt:lpstr>Objektno Orijentisano Programiranje 1</vt:lpstr>
      <vt:lpstr>Tema</vt:lpstr>
      <vt:lpstr>Šta nam treba od prethodnog znanja?</vt:lpstr>
      <vt:lpstr>Funkcije ili Metode</vt:lpstr>
      <vt:lpstr>Definicija</vt:lpstr>
      <vt:lpstr>Primer</vt:lpstr>
      <vt:lpstr>Parametri i rezultat metoda</vt:lpstr>
      <vt:lpstr>Primer metode bez parametara</vt:lpstr>
      <vt:lpstr>Primer više return naredbi</vt:lpstr>
      <vt:lpstr>Primer složene metode</vt:lpstr>
      <vt:lpstr>Lokalne promenljive</vt:lpstr>
      <vt:lpstr>Parametri metoda</vt:lpstr>
      <vt:lpstr>Prenos parametara  po vrednosti</vt:lpstr>
      <vt:lpstr>Prenos parametara po vrednosti</vt:lpstr>
      <vt:lpstr>Prenos parametara po vrednosti</vt:lpstr>
      <vt:lpstr>Nizovi kao parametri metoda</vt:lpstr>
      <vt:lpstr>Višedimenzionalni nizovi kao parametri metoda</vt:lpstr>
      <vt:lpstr>Opseg vidljivosti promenljivih</vt:lpstr>
      <vt:lpstr>Opseg vidljivosti promenljivih</vt:lpstr>
      <vt:lpstr>Rekurzivne metode</vt:lpstr>
      <vt:lpstr>Rekurzivne metode</vt:lpstr>
      <vt:lpstr>Rekurzivne metode</vt:lpstr>
      <vt:lpstr>Rekurzivne metode</vt:lpstr>
      <vt:lpstr>Promenljiv broj parametara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Inženjerstvo softvera za Internet-Web of Things</dc:title>
  <dc:creator>Milan Vidaković</dc:creator>
  <cp:lastModifiedBy>Jovana Vidaković</cp:lastModifiedBy>
  <cp:revision>261</cp:revision>
  <dcterms:created xsi:type="dcterms:W3CDTF">2023-06-19T19:18:07Z</dcterms:created>
  <dcterms:modified xsi:type="dcterms:W3CDTF">2025-06-23T07:59:06Z</dcterms:modified>
</cp:coreProperties>
</file>