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2"/>
  </p:notesMasterIdLst>
  <p:sldIdLst>
    <p:sldId id="281" r:id="rId2"/>
    <p:sldId id="293" r:id="rId3"/>
    <p:sldId id="294" r:id="rId4"/>
    <p:sldId id="282" r:id="rId5"/>
    <p:sldId id="287" r:id="rId6"/>
    <p:sldId id="288" r:id="rId7"/>
    <p:sldId id="283" r:id="rId8"/>
    <p:sldId id="290" r:id="rId9"/>
    <p:sldId id="292" r:id="rId10"/>
    <p:sldId id="291" r:id="rId11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0" autoAdjust="0"/>
    <p:restoredTop sz="94683" autoAdjust="0"/>
  </p:normalViewPr>
  <p:slideViewPr>
    <p:cSldViewPr>
      <p:cViewPr varScale="1">
        <p:scale>
          <a:sx n="152" d="100"/>
          <a:sy n="152" d="100"/>
        </p:scale>
        <p:origin x="2056" y="10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42" name="Rectangle 2">
            <a:extLst>
              <a:ext uri="{FF2B5EF4-FFF2-40B4-BE49-F238E27FC236}">
                <a16:creationId xmlns:a16="http://schemas.microsoft.com/office/drawing/2014/main" id="{931E94C5-603D-D318-BFCB-AD464163888A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8243" name="Rectangle 3">
            <a:extLst>
              <a:ext uri="{FF2B5EF4-FFF2-40B4-BE49-F238E27FC236}">
                <a16:creationId xmlns:a16="http://schemas.microsoft.com/office/drawing/2014/main" id="{08EA06EC-7FB9-4E10-5003-E2DE08BE8BF7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2292" name="Rectangle 4">
            <a:extLst>
              <a:ext uri="{FF2B5EF4-FFF2-40B4-BE49-F238E27FC236}">
                <a16:creationId xmlns:a16="http://schemas.microsoft.com/office/drawing/2014/main" id="{4BC42A62-AC20-62E3-62B2-72CD82CAA670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38245" name="Rectangle 5">
            <a:extLst>
              <a:ext uri="{FF2B5EF4-FFF2-40B4-BE49-F238E27FC236}">
                <a16:creationId xmlns:a16="http://schemas.microsoft.com/office/drawing/2014/main" id="{B87DDFE3-246E-7EB4-A90B-6E0866BE26A4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38246" name="Rectangle 6">
            <a:extLst>
              <a:ext uri="{FF2B5EF4-FFF2-40B4-BE49-F238E27FC236}">
                <a16:creationId xmlns:a16="http://schemas.microsoft.com/office/drawing/2014/main" id="{A2584E83-68F7-6641-6DE9-B63B6D4BDEF5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8247" name="Rectangle 7">
            <a:extLst>
              <a:ext uri="{FF2B5EF4-FFF2-40B4-BE49-F238E27FC236}">
                <a16:creationId xmlns:a16="http://schemas.microsoft.com/office/drawing/2014/main" id="{BAFB159A-363E-35DF-A2B1-1AB9D69EFE6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6C49FF5-7372-4ED4-9E4D-AE73EBB877EA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6">
            <a:extLst>
              <a:ext uri="{FF2B5EF4-FFF2-40B4-BE49-F238E27FC236}">
                <a16:creationId xmlns:a16="http://schemas.microsoft.com/office/drawing/2014/main" id="{EBE23EFC-F579-F14C-1D30-F7A477D19955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6659563" y="6237288"/>
            <a:ext cx="2233612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/>
            <a:fld id="{BE26CC3A-ED68-465C-97C1-6823A5989234}" type="slidenum">
              <a:rPr lang="en-US" altLang="en-US"/>
              <a:pPr algn="r" eaLnBrk="1" hangingPunct="1"/>
              <a:t>‹#›</a:t>
            </a:fld>
            <a:r>
              <a:rPr lang="sr-Latn-RS" altLang="en-US"/>
              <a:t>/8</a:t>
            </a:r>
            <a:endParaRPr lang="en-US" alt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012BB4-46AE-33E3-E2B7-A45E702EC77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5D57CF-843A-D77E-1D5F-70ADC34F42F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71644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6">
            <a:extLst>
              <a:ext uri="{FF2B5EF4-FFF2-40B4-BE49-F238E27FC236}">
                <a16:creationId xmlns:a16="http://schemas.microsoft.com/office/drawing/2014/main" id="{4BF0F57F-A70A-4A88-DE12-4C4C9C4FFD0D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6516688" y="6308725"/>
            <a:ext cx="22320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/>
            <a:fld id="{A3ADB0BD-EE22-46A0-A569-47A241CF20A4}" type="slidenum">
              <a:rPr lang="en-US" altLang="en-US"/>
              <a:pPr algn="r" eaLnBrk="1" hangingPunct="1"/>
              <a:t>‹#›</a:t>
            </a:fld>
            <a:r>
              <a:rPr lang="sr-Latn-RS" altLang="en-US"/>
              <a:t>/10</a:t>
            </a:r>
            <a:endParaRPr lang="en-US" alt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9B0937-18CC-3AB2-D430-F49EC5067F1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FA29804-6529-5650-3CFF-BCABE5BDDEF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60085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6">
            <a:extLst>
              <a:ext uri="{FF2B5EF4-FFF2-40B4-BE49-F238E27FC236}">
                <a16:creationId xmlns:a16="http://schemas.microsoft.com/office/drawing/2014/main" id="{4BF0F57F-A70A-4A88-DE12-4C4C9C4FFD0D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6516688" y="6308725"/>
            <a:ext cx="22320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/>
            <a:fld id="{A3ADB0BD-EE22-46A0-A569-47A241CF20A4}" type="slidenum">
              <a:rPr lang="en-US" altLang="en-US"/>
              <a:pPr algn="r" eaLnBrk="1" hangingPunct="1"/>
              <a:t>‹#›</a:t>
            </a:fld>
            <a:r>
              <a:rPr lang="sr-Latn-RS" altLang="en-US"/>
              <a:t>/10</a:t>
            </a:r>
            <a:endParaRPr lang="en-US" alt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9B0937-18CC-3AB2-D430-F49EC5067F1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FA29804-6529-5650-3CFF-BCABE5BDDEF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30832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>
        <p:tmplLst>
          <p:tmpl lvl="1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4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5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E0C461BB-D8CB-DC42-9C84-AFA65ACE6E3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673F4E4B-60C9-C308-0FC2-C5F0E75E4F8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DD015BDE-2500-7ADE-C31D-E2FF257442E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AD2F7FA-7A55-44DF-AADF-BCA4AAE0D4A5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957213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B1321F0-44E1-F6CD-417B-273B69537C8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F7C7237-1487-8969-0383-A4CA4DC6FBB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6F4A004-7F9D-F615-B269-B2F7F96EB85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C53CB45-FF09-4C93-B388-EE32A69CB655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253503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3ED0CA90-3C54-98E3-0E88-74963D07550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A65A6C95-C335-6CC0-3F48-88CD777BA58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6274803D-90CD-0560-E184-C6398CC901E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4AE6D4B-84F7-4CB7-9BDE-85F1335B20FA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712956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18B8CB31-B92A-973A-2FAE-29A8A54F71A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1A2F3E8D-579E-0CE0-095C-EBA02C4077B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C4830028-139A-7FEA-660C-AF2AC083AF3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EFFBBA2-2557-45A5-8132-4E8AF3A3462F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092605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CD32EB7E-2ADA-DF92-DAB8-AF2077CC537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C9FD1CD4-BCD1-D785-1543-C56B2069787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CC45A155-F0DD-F11C-8A6F-9197A568CD9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4E3CF29-78A8-405E-8417-4B5673758301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317263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A1B6445-5479-F341-807D-A2556798DFA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88F8361-3E9C-9184-366B-24308302F59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F74B96C-16E8-2014-D4AB-1D637215E37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22E8813-526E-46B2-AAC0-43D62CE8EA09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050882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A02DB6F-2EBD-4E8D-3F2C-5A7CE8C21A6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BDC13FD-E549-16B5-607B-B1F92F3E256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FDD460A-6323-E30D-D256-F5D7550D755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EA6A888-82BE-420B-B67D-0073E3E27BA6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775573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BD3613AF-0F1D-613E-A912-17B5EA15765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385F57C0-2D60-796E-BC8D-A4018F64FDE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97ACEEC6-0415-681E-81BF-146EEA4AACB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ECD0713-1ABA-407D-968A-6B028725F8AB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6661348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D1C090B8-2D9C-FDA2-831D-45121FDDFC5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259702EE-0706-8028-5873-FBE3F3F0023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38498519-A045-9DAD-C558-199B0EB44E9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C286A79-FBAA-45DC-AC8C-D4EFFE97AF8C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2221704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48200" y="3938588"/>
            <a:ext cx="4038600" cy="21875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A8E569AA-4171-8487-86F7-EA3663C1C4B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5E28CB50-0712-2490-E69F-E20CA7698F7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013F8AAB-73CA-8F78-02C9-17759B41B44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4B5A7AB-2D4C-4C02-8893-D50CC25807A5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539846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768335CC-E87E-3F9B-65FF-2FBDCDCD622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sr-Latn-R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858E52AA-A535-B059-866E-5D590F556AE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sr-Latn-RS"/>
              <a:t>Click to edit Master text styles</a:t>
            </a:r>
          </a:p>
          <a:p>
            <a:pPr lvl="1"/>
            <a:r>
              <a:rPr lang="en-US" altLang="sr-Latn-RS"/>
              <a:t>Second level</a:t>
            </a:r>
          </a:p>
          <a:p>
            <a:pPr lvl="2"/>
            <a:r>
              <a:rPr lang="en-US" altLang="sr-Latn-RS"/>
              <a:t>Third level</a:t>
            </a:r>
          </a:p>
          <a:p>
            <a:pPr lvl="3"/>
            <a:r>
              <a:rPr lang="en-US" altLang="sr-Latn-RS"/>
              <a:t>Fourth level</a:t>
            </a:r>
          </a:p>
          <a:p>
            <a:pPr lvl="4"/>
            <a:r>
              <a:rPr lang="en-US" altLang="sr-Latn-R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C6C584FD-1412-E346-4BFB-20EDE14BCD09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4923427E-ECE2-7A4B-534F-0655DF872112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4DCA5B88-96B2-6CB7-4643-0674A54163E2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43B6E2F3-9845-464E-8B36-EA7AA097539B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1" r:id="rId1"/>
    <p:sldLayoutId id="2147483702" r:id="rId2"/>
    <p:sldLayoutId id="2147483703" r:id="rId3"/>
    <p:sldLayoutId id="2147483691" r:id="rId4"/>
    <p:sldLayoutId id="2147483692" r:id="rId5"/>
    <p:sldLayoutId id="2147483693" r:id="rId6"/>
    <p:sldLayoutId id="2147483694" r:id="rId7"/>
    <p:sldLayoutId id="2147483695" r:id="rId8"/>
    <p:sldLayoutId id="2147483696" r:id="rId9"/>
    <p:sldLayoutId id="2147483697" r:id="rId10"/>
    <p:sldLayoutId id="2147483698" r:id="rId11"/>
    <p:sldLayoutId id="2147483699" r:id="rId12"/>
    <p:sldLayoutId id="2147483700" r:id="rId13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4">
            <a:extLst>
              <a:ext uri="{FF2B5EF4-FFF2-40B4-BE49-F238E27FC236}">
                <a16:creationId xmlns:a16="http://schemas.microsoft.com/office/drawing/2014/main" id="{82C9D933-9DF4-2BF4-0067-C153DB39412A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sr-Latn-RS" altLang="sr-Latn-RS"/>
              <a:t>Objektno Orijentisano Programiranje 1</a:t>
            </a:r>
            <a:endParaRPr lang="sr-Latn-CS" altLang="sr-Latn-RS"/>
          </a:p>
        </p:txBody>
      </p:sp>
      <p:sp>
        <p:nvSpPr>
          <p:cNvPr id="4099" name="Rectangle 5">
            <a:extLst>
              <a:ext uri="{FF2B5EF4-FFF2-40B4-BE49-F238E27FC236}">
                <a16:creationId xmlns:a16="http://schemas.microsoft.com/office/drawing/2014/main" id="{79885F50-08D8-18C9-009D-29D197EF058C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r>
              <a:rPr lang="sr-Latn-CS" altLang="sr-Latn-RS"/>
              <a:t>Algoritmi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>
            <a:extLst>
              <a:ext uri="{FF2B5EF4-FFF2-40B4-BE49-F238E27FC236}">
                <a16:creationId xmlns:a16="http://schemas.microsoft.com/office/drawing/2014/main" id="{E75D69EB-89CC-67E3-C46C-B31BBA93DA0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sr-Latn-RS" altLang="en-US"/>
              <a:t>Tema</a:t>
            </a:r>
            <a:endParaRPr lang="en-US" altLang="en-US"/>
          </a:p>
        </p:txBody>
      </p:sp>
      <p:sp>
        <p:nvSpPr>
          <p:cNvPr id="6147" name="Content Placeholder 2">
            <a:extLst>
              <a:ext uri="{FF2B5EF4-FFF2-40B4-BE49-F238E27FC236}">
                <a16:creationId xmlns:a16="http://schemas.microsoft.com/office/drawing/2014/main" id="{B38B29C0-01B5-06F3-BACB-8F2A064C6283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sr-Latn-RS" altLang="en-US"/>
              <a:t>Sortiranje nizova</a:t>
            </a:r>
          </a:p>
          <a:p>
            <a:r>
              <a:rPr lang="sr-Latn-RS" altLang="en-US"/>
              <a:t>Pretraga nizova</a:t>
            </a:r>
            <a:endParaRPr lang="en-US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itle 1">
            <a:extLst>
              <a:ext uri="{FF2B5EF4-FFF2-40B4-BE49-F238E27FC236}">
                <a16:creationId xmlns:a16="http://schemas.microsoft.com/office/drawing/2014/main" id="{F17B3511-B80A-6444-50E6-47E714CF09F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sr-Latn-RS" altLang="en-US"/>
              <a:t>Šta nam treba od prethodnog znanja?</a:t>
            </a:r>
            <a:endParaRPr lang="en-US" altLang="en-US"/>
          </a:p>
        </p:txBody>
      </p:sp>
      <p:sp>
        <p:nvSpPr>
          <p:cNvPr id="7171" name="Content Placeholder 2">
            <a:extLst>
              <a:ext uri="{FF2B5EF4-FFF2-40B4-BE49-F238E27FC236}">
                <a16:creationId xmlns:a16="http://schemas.microsoft.com/office/drawing/2014/main" id="{8001860D-7D0A-9331-1FE8-CCFDE2A5D304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sr-Latn-RS" altLang="en-US"/>
              <a:t>Nizovi</a:t>
            </a:r>
          </a:p>
          <a:p>
            <a:r>
              <a:rPr lang="sr-Latn-RS" altLang="en-US"/>
              <a:t>Tipovi podataka</a:t>
            </a:r>
          </a:p>
          <a:p>
            <a:r>
              <a:rPr lang="sr-Latn-RS" altLang="en-US"/>
              <a:t>Operatori</a:t>
            </a:r>
          </a:p>
          <a:p>
            <a:r>
              <a:rPr lang="sr-Latn-RS" altLang="en-US"/>
              <a:t>Petlje</a:t>
            </a:r>
            <a:endParaRPr lang="en-US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87F7F0D8-BEFC-518F-DD4F-2765F8C8BD5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sr-Latn-RS"/>
              <a:t>Sortiranje</a:t>
            </a:r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763CF950-949D-778B-285C-F39FBA8A6A55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sr-Latn-RS"/>
              <a:t>Sortiranje ili ure</a:t>
            </a:r>
            <a:r>
              <a:rPr lang="sr-Latn-CS" altLang="sr-Latn-RS"/>
              <a:t>đenje</a:t>
            </a:r>
          </a:p>
          <a:p>
            <a:pPr eaLnBrk="1" hangingPunct="1"/>
            <a:r>
              <a:rPr lang="sr-Latn-CS" altLang="sr-Latn-RS"/>
              <a:t>Preuređenje niza tako da svi elementi nakon toga zauzimaju rastući ili opadajući poredak</a:t>
            </a:r>
          </a:p>
          <a:p>
            <a:pPr eaLnBrk="1" hangingPunct="1"/>
            <a:r>
              <a:rPr lang="sr-Latn-CS" altLang="sr-Latn-RS"/>
              <a:t>Vreme za sortiranje raste sa brojem elemenata u nizu</a:t>
            </a:r>
          </a:p>
          <a:p>
            <a:pPr lvl="1" eaLnBrk="1" hangingPunct="1"/>
            <a:r>
              <a:rPr lang="sr-Latn-CS" altLang="sr-Latn-RS" sz="2400"/>
              <a:t>kvadratno (n</a:t>
            </a:r>
            <a:r>
              <a:rPr lang="sr-Latn-CS" altLang="sr-Latn-RS" sz="2400" baseline="30000"/>
              <a:t>2</a:t>
            </a:r>
            <a:r>
              <a:rPr lang="sr-Latn-CS" altLang="sr-Latn-RS" sz="2400"/>
              <a:t>): selection sort, bubble sort, itd.</a:t>
            </a:r>
          </a:p>
          <a:p>
            <a:pPr lvl="1" eaLnBrk="1" hangingPunct="1"/>
            <a:r>
              <a:rPr lang="sr-Latn-CS" altLang="sr-Latn-RS" sz="2400"/>
              <a:t>logaritamski (n log n): quick sort, merge sort, itd.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C06CF23D-912A-1D96-2DDB-790DA01C060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sr-Latn-CS" altLang="sr-Latn-RS"/>
              <a:t>Kvadratna zavisnost vremena</a:t>
            </a:r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49C1AA32-1370-F847-9CD7-7F366CD131C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229600" cy="965200"/>
          </a:xfrm>
        </p:spPr>
        <p:txBody>
          <a:bodyPr/>
          <a:lstStyle/>
          <a:p>
            <a:pPr eaLnBrk="1" hangingPunct="1"/>
            <a:r>
              <a:rPr lang="sr-Latn-CS" altLang="sr-Latn-RS" sz="2800"/>
              <a:t>Vreme za sortiranje raste kvadratno sa rastom broja elemenata niza</a:t>
            </a:r>
          </a:p>
        </p:txBody>
      </p:sp>
      <p:pic>
        <p:nvPicPr>
          <p:cNvPr id="6148" name="Picture 4">
            <a:extLst>
              <a:ext uri="{FF2B5EF4-FFF2-40B4-BE49-F238E27FC236}">
                <a16:creationId xmlns:a16="http://schemas.microsoft.com/office/drawing/2014/main" id="{5C812118-CE38-F393-31EB-31C79E9B29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9250" y="2552700"/>
            <a:ext cx="6048375" cy="4133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B9D09F90-062B-35CB-4C8B-6B6C575774A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sr-Latn-CS" altLang="sr-Latn-RS" sz="4000"/>
              <a:t>Logaritamska zavisnost vremena</a:t>
            </a:r>
          </a:p>
        </p:txBody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676BA3C8-9D98-8827-6C2B-2C89339FCF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147050" cy="1036638"/>
          </a:xfrm>
        </p:spPr>
        <p:txBody>
          <a:bodyPr/>
          <a:lstStyle/>
          <a:p>
            <a:pPr eaLnBrk="1" hangingPunct="1"/>
            <a:r>
              <a:rPr lang="sr-Latn-CS" altLang="sr-Latn-RS" sz="2800"/>
              <a:t>Vreme za sortiranje raste u skladu sa formulom n * log(n), gde je n broj elemenata niza</a:t>
            </a:r>
          </a:p>
        </p:txBody>
      </p:sp>
      <p:pic>
        <p:nvPicPr>
          <p:cNvPr id="7172" name="Picture 4">
            <a:extLst>
              <a:ext uri="{FF2B5EF4-FFF2-40B4-BE49-F238E27FC236}">
                <a16:creationId xmlns:a16="http://schemas.microsoft.com/office/drawing/2014/main" id="{176A1DC8-7041-8E39-9420-B8F65E7AED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2275" y="2686050"/>
            <a:ext cx="6119813" cy="4171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AD64DAE5-07E4-940F-A79D-2EB2EE24F40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sr-Latn-CS" altLang="sr-Latn-RS"/>
              <a:t>Selection sort</a:t>
            </a:r>
            <a:endParaRPr lang="en-US" altLang="sr-Latn-RS"/>
          </a:p>
        </p:txBody>
      </p:sp>
      <p:sp>
        <p:nvSpPr>
          <p:cNvPr id="8195" name="Rectangle 3">
            <a:extLst>
              <a:ext uri="{FF2B5EF4-FFF2-40B4-BE49-F238E27FC236}">
                <a16:creationId xmlns:a16="http://schemas.microsoft.com/office/drawing/2014/main" id="{66DBD7BE-CEED-6DD0-62BE-C9D591DEC36D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sr-Latn-CS" altLang="sr-Latn-RS"/>
              <a:t>Prolazi se kroz niz i traži se najmanji element. </a:t>
            </a:r>
          </a:p>
          <a:p>
            <a:pPr eaLnBrk="1" hangingPunct="1">
              <a:lnSpc>
                <a:spcPct val="90000"/>
              </a:lnSpc>
            </a:pPr>
            <a:r>
              <a:rPr lang="sr-Latn-CS" altLang="sr-Latn-RS"/>
              <a:t>Najmanji element se stavlja na prvo mesto niza.</a:t>
            </a:r>
          </a:p>
          <a:p>
            <a:pPr eaLnBrk="1" hangingPunct="1">
              <a:lnSpc>
                <a:spcPct val="90000"/>
              </a:lnSpc>
            </a:pPr>
            <a:r>
              <a:rPr lang="sr-Latn-CS" altLang="sr-Latn-RS"/>
              <a:t>Zatim se prođe kroz preostali niz (od drugog elementa, pa na dalje) i traži se najmanji element.</a:t>
            </a:r>
          </a:p>
          <a:p>
            <a:pPr eaLnBrk="1" hangingPunct="1">
              <a:lnSpc>
                <a:spcPct val="90000"/>
              </a:lnSpc>
            </a:pPr>
            <a:r>
              <a:rPr lang="sr-Latn-CS" altLang="sr-Latn-RS"/>
              <a:t>Ovo se ponavlja dok se ne dođe do kraja niza.</a:t>
            </a:r>
          </a:p>
        </p:txBody>
      </p:sp>
      <p:sp>
        <p:nvSpPr>
          <p:cNvPr id="8196" name="Text Box 4">
            <a:extLst>
              <a:ext uri="{FF2B5EF4-FFF2-40B4-BE49-F238E27FC236}">
                <a16:creationId xmlns:a16="http://schemas.microsoft.com/office/drawing/2014/main" id="{DCBB6065-5E13-83E0-65AB-CEE06BE89E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40425" y="6237288"/>
            <a:ext cx="1655763" cy="37623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sr-Latn-CS" altLang="sr-Latn-RS" sz="1800"/>
              <a:t>Select.java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1F86FA44-4572-C1E8-286C-6CA638A0044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sr-Latn-CS" altLang="sr-Latn-RS"/>
              <a:t>Selection sort</a:t>
            </a:r>
          </a:p>
        </p:txBody>
      </p:sp>
      <p:sp>
        <p:nvSpPr>
          <p:cNvPr id="9219" name="Rectangle 3">
            <a:extLst>
              <a:ext uri="{FF2B5EF4-FFF2-40B4-BE49-F238E27FC236}">
                <a16:creationId xmlns:a16="http://schemas.microsoft.com/office/drawing/2014/main" id="{29941506-C426-1C13-3CA3-FDF6507D405A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sr-Latn-CS" altLang="sr-Latn-RS"/>
              <a:t>Pronalaženje najmanjeg elementa:</a:t>
            </a:r>
          </a:p>
          <a:p>
            <a:pPr lvl="1" eaLnBrk="1" hangingPunct="1"/>
            <a:r>
              <a:rPr lang="sr-Latn-CS" altLang="sr-Latn-RS"/>
              <a:t>prvi element se fiksira</a:t>
            </a:r>
          </a:p>
          <a:p>
            <a:pPr lvl="1" eaLnBrk="1" hangingPunct="1"/>
            <a:r>
              <a:rPr lang="sr-Latn-CS" altLang="sr-Latn-RS"/>
              <a:t>polazi se od drugog, pa do kraja</a:t>
            </a:r>
          </a:p>
          <a:p>
            <a:pPr lvl="1" eaLnBrk="1" hangingPunct="1"/>
            <a:r>
              <a:rPr lang="sr-Latn-CS" altLang="sr-Latn-RS"/>
              <a:t>traženje najmanjeg elementa se odvija uzastopnom zamenom ova dva elementa kada god se ustanovi da je drugi manji od prvog.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A0696934-6674-7290-575B-115B1EB2171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sr-Latn-CS" altLang="sr-Latn-RS"/>
              <a:t>Bubble sort</a:t>
            </a:r>
          </a:p>
        </p:txBody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75631CC7-40F9-50A5-55A8-047703EEF104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sr-Latn-CS" altLang="sr-Latn-RS" sz="2800"/>
              <a:t>Porede se dva uzastopna elementa niza i zam</a:t>
            </a:r>
            <a:r>
              <a:rPr lang="en-US" altLang="sr-Latn-RS" sz="2800"/>
              <a:t>e</a:t>
            </a:r>
            <a:r>
              <a:rPr lang="sr-Latn-CS" altLang="sr-Latn-RS" sz="2800"/>
              <a:t>njuju se ako je drugi manji od prvog.</a:t>
            </a:r>
          </a:p>
          <a:p>
            <a:pPr eaLnBrk="1" hangingPunct="1"/>
            <a:r>
              <a:rPr lang="sr-Latn-CS" altLang="sr-Latn-RS" sz="2800"/>
              <a:t>Nakon prvog prolaza, na kraju niza je najveći element.</a:t>
            </a:r>
          </a:p>
          <a:p>
            <a:pPr eaLnBrk="1" hangingPunct="1"/>
            <a:r>
              <a:rPr lang="sr-Latn-CS" altLang="sr-Latn-RS" sz="2800"/>
              <a:t>Algoritam se ponavlja za preostali deo niza (od prvog do pretposlednjeg elementa) i na mestu pretposlednjeg elementa će ostati najveći element iz tog podniza.</a:t>
            </a:r>
          </a:p>
          <a:p>
            <a:pPr eaLnBrk="1" hangingPunct="1"/>
            <a:r>
              <a:rPr lang="sr-Latn-CS" altLang="sr-Latn-RS" sz="2800"/>
              <a:t>Algoritam se ponavlja dok ne smanjimo podniz na prva dva elementa.</a:t>
            </a:r>
            <a:endParaRPr lang="en-US" altLang="sr-Latn-RS" sz="2800"/>
          </a:p>
        </p:txBody>
      </p:sp>
      <p:sp>
        <p:nvSpPr>
          <p:cNvPr id="10244" name="Text Box 76">
            <a:extLst>
              <a:ext uri="{FF2B5EF4-FFF2-40B4-BE49-F238E27FC236}">
                <a16:creationId xmlns:a16="http://schemas.microsoft.com/office/drawing/2014/main" id="{AB2E9DB6-C185-CB4E-B416-A3E86F9058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67400" y="6237288"/>
            <a:ext cx="1655763" cy="37623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sr-Latn-CS" altLang="sr-Latn-RS" sz="1800"/>
              <a:t>Bubble.java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6B2C201D-A74C-7CEC-3D7B-0A2514DA700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sr-Latn-RS"/>
              <a:t>Pretraga niza</a:t>
            </a:r>
          </a:p>
        </p:txBody>
      </p:sp>
      <p:sp>
        <p:nvSpPr>
          <p:cNvPr id="11267" name="Rectangle 3">
            <a:extLst>
              <a:ext uri="{FF2B5EF4-FFF2-40B4-BE49-F238E27FC236}">
                <a16:creationId xmlns:a16="http://schemas.microsoft.com/office/drawing/2014/main" id="{839C8411-DBB4-4D0B-F15E-7AFA478077AD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sr-Latn-RS"/>
              <a:t>Tra</a:t>
            </a:r>
            <a:r>
              <a:rPr lang="sr-Latn-CS" altLang="sr-Latn-RS"/>
              <a:t>žimo element u nizu</a:t>
            </a:r>
          </a:p>
          <a:p>
            <a:pPr eaLnBrk="1" hangingPunct="1">
              <a:lnSpc>
                <a:spcPct val="80000"/>
              </a:lnSpc>
            </a:pPr>
            <a:r>
              <a:rPr lang="sr-Latn-CS" altLang="sr-Latn-RS"/>
              <a:t>Razlika između pretrage u uređenom i neuređenom nizu</a:t>
            </a:r>
          </a:p>
          <a:p>
            <a:pPr lvl="1" eaLnBrk="1" hangingPunct="1">
              <a:lnSpc>
                <a:spcPct val="80000"/>
              </a:lnSpc>
            </a:pPr>
            <a:r>
              <a:rPr lang="sr-Latn-CS" altLang="sr-Latn-RS" sz="2400"/>
              <a:t>ako je neuređen, nemamo izbora	</a:t>
            </a:r>
          </a:p>
          <a:p>
            <a:pPr lvl="2" eaLnBrk="1" hangingPunct="1">
              <a:lnSpc>
                <a:spcPct val="80000"/>
              </a:lnSpc>
            </a:pPr>
            <a:r>
              <a:rPr lang="sr-Latn-CS" altLang="sr-Latn-RS" sz="2000"/>
              <a:t>prolazimo kroz sve elemente niza dok ne nađemo element ili stignemo do kraja</a:t>
            </a:r>
          </a:p>
          <a:p>
            <a:pPr lvl="1" eaLnBrk="1" hangingPunct="1">
              <a:lnSpc>
                <a:spcPct val="80000"/>
              </a:lnSpc>
            </a:pPr>
            <a:r>
              <a:rPr lang="sr-Latn-CS" altLang="sr-Latn-RS" sz="2400"/>
              <a:t>ako je niz uređen, imamo dve mogućnosti:</a:t>
            </a:r>
          </a:p>
          <a:p>
            <a:pPr lvl="2" eaLnBrk="1" hangingPunct="1">
              <a:lnSpc>
                <a:spcPct val="80000"/>
              </a:lnSpc>
            </a:pPr>
            <a:r>
              <a:rPr lang="sr-Latn-CS" altLang="sr-Latn-RS" sz="2000"/>
              <a:t>prolazimo kroz sve elemente niza dok ne nađemo element ili stignemo do kraja</a:t>
            </a:r>
            <a:endParaRPr lang="en-US" altLang="sr-Latn-RS" sz="2000"/>
          </a:p>
          <a:p>
            <a:pPr lvl="2" eaLnBrk="1" hangingPunct="1">
              <a:lnSpc>
                <a:spcPct val="80000"/>
              </a:lnSpc>
            </a:pPr>
            <a:r>
              <a:rPr lang="en-US" altLang="sr-Latn-RS" sz="2000"/>
              <a:t>krenemo od sredine niza i proverimo koji je element tu</a:t>
            </a:r>
          </a:p>
          <a:p>
            <a:pPr lvl="3" eaLnBrk="1" hangingPunct="1">
              <a:lnSpc>
                <a:spcPct val="80000"/>
              </a:lnSpc>
            </a:pPr>
            <a:r>
              <a:rPr lang="en-US" altLang="sr-Latn-RS" sz="1800"/>
              <a:t>ako je tra</a:t>
            </a:r>
            <a:r>
              <a:rPr lang="sr-Latn-CS" altLang="sr-Latn-RS" sz="1800"/>
              <a:t>ženi element </a:t>
            </a:r>
            <a:r>
              <a:rPr lang="en-US" altLang="sr-Latn-RS" sz="1800"/>
              <a:t>ve</a:t>
            </a:r>
            <a:r>
              <a:rPr lang="sr-Latn-CS" altLang="sr-Latn-RS" sz="1800"/>
              <a:t>ći od tekućeg, znači da moramo da tražimo u gornjoj polovini niza</a:t>
            </a:r>
          </a:p>
          <a:p>
            <a:pPr lvl="3" eaLnBrk="1" hangingPunct="1">
              <a:lnSpc>
                <a:spcPct val="80000"/>
              </a:lnSpc>
            </a:pPr>
            <a:r>
              <a:rPr lang="sr-Latn-CS" altLang="sr-Latn-RS" sz="1800"/>
              <a:t>ako je traženi element manji od te</a:t>
            </a:r>
            <a:r>
              <a:rPr lang="en-US" altLang="sr-Latn-RS" sz="1800"/>
              <a:t>k</a:t>
            </a:r>
            <a:r>
              <a:rPr lang="sr-Latn-CS" altLang="sr-Latn-RS" sz="1800"/>
              <a:t>ućeg, znači da moramo da tražimo donjoj polovini niza</a:t>
            </a:r>
          </a:p>
          <a:p>
            <a:pPr lvl="3" eaLnBrk="1" hangingPunct="1">
              <a:lnSpc>
                <a:spcPct val="80000"/>
              </a:lnSpc>
            </a:pPr>
            <a:r>
              <a:rPr lang="sr-Latn-CS" altLang="sr-Latn-RS" sz="1800"/>
              <a:t>ponavljamo ovu proceduru za odabranu polovinu niza dok ne nađemo element, ili dok ne iscrpimo niz</a:t>
            </a:r>
          </a:p>
        </p:txBody>
      </p:sp>
      <p:sp>
        <p:nvSpPr>
          <p:cNvPr id="11268" name="Text Box 4">
            <a:extLst>
              <a:ext uri="{FF2B5EF4-FFF2-40B4-BE49-F238E27FC236}">
                <a16:creationId xmlns:a16="http://schemas.microsoft.com/office/drawing/2014/main" id="{1B2693EF-C47F-ABE0-40E9-56E41B8624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288" y="333375"/>
            <a:ext cx="1584325" cy="37623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sr-Latn-CS" altLang="sr-Latn-RS" sz="1800"/>
              <a:t>S</a:t>
            </a:r>
            <a:r>
              <a:rPr lang="en-US" altLang="sr-Latn-RS" sz="1800"/>
              <a:t>earch</a:t>
            </a:r>
            <a:r>
              <a:rPr lang="sr-Latn-CS" altLang="sr-Latn-RS" sz="1800"/>
              <a:t>L.java</a:t>
            </a:r>
          </a:p>
        </p:txBody>
      </p:sp>
      <p:sp>
        <p:nvSpPr>
          <p:cNvPr id="11269" name="Text Box 5">
            <a:extLst>
              <a:ext uri="{FF2B5EF4-FFF2-40B4-BE49-F238E27FC236}">
                <a16:creationId xmlns:a16="http://schemas.microsoft.com/office/drawing/2014/main" id="{72E78750-015E-E0FB-A7FB-7428E82E2A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32588" y="260350"/>
            <a:ext cx="1943100" cy="37623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sr-Latn-CS" altLang="sr-Latn-RS" sz="1800"/>
              <a:t>S</a:t>
            </a:r>
            <a:r>
              <a:rPr lang="en-US" altLang="sr-Latn-RS" sz="1800"/>
              <a:t>earch</a:t>
            </a:r>
            <a:r>
              <a:rPr lang="sr-Latn-CS" altLang="sr-Latn-RS" sz="1800"/>
              <a:t>B.java</a:t>
            </a:r>
            <a:endParaRPr lang="en-US" altLang="sr-Latn-RS" sz="18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1240</TotalTime>
  <Words>410</Words>
  <Application>Microsoft Office PowerPoint</Application>
  <PresentationFormat>On-screen Show (4:3)</PresentationFormat>
  <Paragraphs>50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2" baseType="lpstr">
      <vt:lpstr>Arial</vt:lpstr>
      <vt:lpstr>Default Design</vt:lpstr>
      <vt:lpstr>Objektno Orijentisano Programiranje 1</vt:lpstr>
      <vt:lpstr>Tema</vt:lpstr>
      <vt:lpstr>Šta nam treba od prethodnog znanja?</vt:lpstr>
      <vt:lpstr>Sortiranje</vt:lpstr>
      <vt:lpstr>Kvadratna zavisnost vremena</vt:lpstr>
      <vt:lpstr>Logaritamska zavisnost vremena</vt:lpstr>
      <vt:lpstr>Selection sort</vt:lpstr>
      <vt:lpstr>Selection sort</vt:lpstr>
      <vt:lpstr>Bubble sort</vt:lpstr>
      <vt:lpstr>Pretraga niza</vt:lpstr>
    </vt:vector>
  </TitlesOfParts>
  <Company>none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Programiranje i programski jezici</dc:title>
  <dc:creator>asdf asdf</dc:creator>
  <cp:lastModifiedBy>Jovana Vidaković</cp:lastModifiedBy>
  <cp:revision>478</cp:revision>
  <dcterms:created xsi:type="dcterms:W3CDTF">2005-09-06T10:52:59Z</dcterms:created>
  <dcterms:modified xsi:type="dcterms:W3CDTF">2024-06-18T14:30:37Z</dcterms:modified>
</cp:coreProperties>
</file>