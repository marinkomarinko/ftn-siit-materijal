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86" r:id="rId3"/>
    <p:sldId id="287" r:id="rId4"/>
    <p:sldId id="257" r:id="rId5"/>
    <p:sldId id="274" r:id="rId6"/>
    <p:sldId id="277" r:id="rId7"/>
    <p:sldId id="279" r:id="rId8"/>
    <p:sldId id="282" r:id="rId9"/>
    <p:sldId id="283" r:id="rId10"/>
    <p:sldId id="284" r:id="rId11"/>
    <p:sldId id="275" r:id="rId12"/>
    <p:sldId id="276" r:id="rId13"/>
    <p:sldId id="285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6433069-94B6-8607-B58B-D8D749DAC7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BC57AFD-3D27-4B82-0BCC-55F1361562D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DFE781B-FC62-BDE8-D88D-059BA186C43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CF409ED7-3A68-40C9-DF0F-F4031052095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CD8EDE0B-9719-4FD9-59E9-ACCF3D237D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30B0903E-9ED8-131D-8AA9-57DA3688A9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81641E2-4EBA-4849-9C7D-01D29778212B}" type="slidenum">
              <a:rPr lang="en-US" altLang="sr-Latn-RS"/>
              <a:pPr/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58F82D-4A09-22C8-4736-1FC48739BE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140D8-D3FA-8EC9-5A4B-436E0A85C5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1EDFCB-25B3-3E64-7830-5296F320E4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AF63F-657C-4A08-9830-188971942578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8170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1B2648-9133-8343-D74E-C39A9164BC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04025" y="6308725"/>
            <a:ext cx="1871663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A094E00-FA1C-40A3-8D7C-F956AEF7E118}" type="slidenum">
              <a:rPr lang="sr-Latn-RS" altLang="sr-Latn-RS"/>
              <a:pPr algn="r" eaLnBrk="1" hangingPunct="1"/>
              <a:t>‹#›</a:t>
            </a:fld>
            <a:r>
              <a:rPr lang="sr-Latn-RS" altLang="sr-Latn-RS"/>
              <a:t>/13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43D7-0C7E-E9B8-E073-0841015EE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8F30A-2088-ABE7-E54D-5A69CFA75D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1B2648-9133-8343-D74E-C39A9164BC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04025" y="6308725"/>
            <a:ext cx="1871663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A094E00-FA1C-40A3-8D7C-F956AEF7E118}" type="slidenum">
              <a:rPr lang="sr-Latn-RS" altLang="sr-Latn-RS"/>
              <a:pPr algn="r" eaLnBrk="1" hangingPunct="1"/>
              <a:t>‹#›</a:t>
            </a:fld>
            <a:r>
              <a:rPr lang="sr-Latn-RS" altLang="sr-Latn-RS"/>
              <a:t>/13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43D7-0C7E-E9B8-E073-0841015EE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8F30A-2088-ABE7-E54D-5A69CFA75D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2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BF10C7-420A-37C3-9D8B-51784D0E9E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CDC9A0-6B3E-B057-1C51-18E538AC8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1A7BFE-4756-CA18-0342-5A0732CC98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9EE9B-11F7-4FE7-88F1-B78801A05A32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66469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884F3-1B52-4143-1AD5-77EED9D718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330DA-48D6-7ACF-B024-5BCCD737F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37BCE-685E-6D5D-C586-D23B5D22B4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CB5673-7AC0-4C6D-93AD-0D050B2D730C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75368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9A9FFD5-21B8-9344-F54E-3A0D1E26C7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D9D596A-2120-CD74-300E-132BB463C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C7EEE6-9D74-6481-1B3B-86FF8A39A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D730C6-FA76-4899-B8A1-FA914DDD9F18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5912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BFA47E-2731-DC0C-8E4C-382F31DC27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77B85C-CECE-284E-10BA-19F97A92AF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414A35-D8ED-6AAF-9B99-B39798AA39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C196C-AC9C-4AC7-98AE-952CF0743899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8376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7194917-37DD-6D21-DB42-F6AB5E5F96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94DD5BE-082D-D085-B5EA-3F352E399D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2FB309-2E2A-CD2A-D772-6BF09C1BD4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437CF1-F87E-4171-AE69-4CA1560D591E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53036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E177CB-4E3B-D824-E020-3CF21630DA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E206C-9226-1E87-137A-3A1069BC3B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19DF9-AB9A-F114-63B6-985A3523CC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E8E3CD-4511-4093-8196-468E46CEA3B8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82980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144709-3097-4FC7-A4AA-21123C4DFA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0A9ED-E954-0692-8853-0F4567EBB2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D45BD-5AC3-B00F-1ECC-06EED03325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248E64-A932-4DDB-B1E9-AA5309DD3AD2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412933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D5B042-5100-B2E1-053D-7CA635FF4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29E057-8788-10D3-D999-67A01CB0E6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4FD3BD-5918-D494-5FA5-EC1EF33AF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184647-DDEE-4D45-87FA-DA96CED97C56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938877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B612ED-697A-97BA-FD2B-3A242CED2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78BC73-D0D1-130B-0E98-7C4B930F17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1186B-CE5A-F84B-5630-EFAE1BF16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716549-F2BF-4B44-A211-D259BCC6D092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418200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75F1BC-347C-27E8-5941-4BA3FDEF4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315AE80-DB39-ADFB-9804-2E52380D9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700AC53-8E10-CE27-FCE5-94B8FC70C6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2FF309-1169-C142-8C01-9C9E1DBD2F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CF40E26-6EEF-1D5A-F153-CEF2E4EFF0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EB94C2A-75D8-432F-B8F1-191ED8079C22}" type="slidenum">
              <a:rPr lang="en-US" altLang="sr-Latn-RS"/>
              <a:pPr/>
              <a:t>‹#›</a:t>
            </a:fld>
            <a:r>
              <a:rPr lang="sr-Latn-CS" altLang="sr-Latn-RS"/>
              <a:t>/20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1" r:id="rId2"/>
    <p:sldLayoutId id="2147483732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D509200-770F-24BD-B7F3-F5E7A29308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A186D6E4-8CA8-B8D7-6042-C5B40818A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78936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sr-Latn-RS" sz="2400">
                <a:latin typeface="Tahoma" panose="020B0604030504040204" pitchFamily="34" charset="0"/>
              </a:rPr>
              <a:t>Ulazno izlazni podsistem</a:t>
            </a:r>
            <a:endParaRPr lang="sr-Latn-C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B551-72DA-5574-0B87-BE5C99D6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6DECC-E593-31A4-EAFA-80D802E06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Kako pisati po ekranu?</a:t>
            </a:r>
          </a:p>
          <a:p>
            <a:r>
              <a:rPr lang="sr-Latn-RS"/>
              <a:t>Kako čitati tastaturu?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1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B162-E8B7-B265-A637-C24CC1F1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nam treba od prethodnog znanja?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F8EA1-85E9-3F40-7F8B-4B571EA6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Tipovi podataka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D35490E-2937-63C3-2960-3266B5A9F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5400"/>
              <a:t>Ulazno izlazni podsistem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A330EBCA-6D4D-7507-7B9F-AD5076995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636713"/>
            <a:ext cx="7391400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SzPct val="80000"/>
            </a:pPr>
            <a:r>
              <a:rPr lang="en-US" altLang="sr-Latn-RS" sz="2400"/>
              <a:t>Standardna biblioteka za ulazno/izlazne operacije</a:t>
            </a:r>
            <a:endParaRPr lang="sr-Latn-CS" altLang="sr-Latn-RS" sz="2400"/>
          </a:p>
          <a:p>
            <a:pPr>
              <a:spcBef>
                <a:spcPct val="50000"/>
              </a:spcBef>
              <a:buSzPct val="80000"/>
            </a:pPr>
            <a:r>
              <a:rPr lang="sr-Latn-CS" altLang="sr-Latn-RS" sz="2400"/>
              <a:t>Izvorišta/odredišta: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tastatura/konzola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fajl sistem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memorija</a:t>
            </a:r>
          </a:p>
          <a:p>
            <a:pPr lvl="1">
              <a:spcBef>
                <a:spcPct val="50000"/>
              </a:spcBef>
              <a:buSzPct val="80000"/>
              <a:buFontTx/>
              <a:buChar char="•"/>
            </a:pPr>
            <a:r>
              <a:rPr lang="sr-Latn-CS" altLang="sr-Latn-RS" sz="2400"/>
              <a:t>mrežne konekcije</a:t>
            </a:r>
          </a:p>
          <a:p>
            <a:pPr>
              <a:spcBef>
                <a:spcPct val="50000"/>
              </a:spcBef>
              <a:buSzPct val="80000"/>
            </a:pPr>
            <a:r>
              <a:rPr lang="sr-Latn-CS" altLang="sr-Latn-RS" sz="2400"/>
              <a:t>Oslanja se na tokove (streams) i čitače/pisače (reader/writer)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762670-8060-AA16-F308-13A20F08AF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Štampanje na ekran</a:t>
            </a:r>
            <a:endParaRPr lang="en-US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10627BC-9F23-1BCF-F801-8D7EAA1D6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System.out je izlazni tok: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System.out.print(“Poruka”);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System.out.println(“Poruka”);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Ispis se može i formatirati: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System.out.printf(“format”, argumenti);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System.out.printf(“Težina je: %.2f, a obim je: %d”, (10000.0 / 3), 5);</a:t>
            </a: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A63624E-818E-6183-4895-03A99500C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Štampanje na ekran</a:t>
            </a:r>
            <a:endParaRPr lang="en-US" altLang="sr-Latn-R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C302B-93BD-B39F-1859-EF85084DFA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 </a:t>
            </a:r>
            <a:r>
              <a:rPr lang="sr-Latn-CS" altLang="sr-Latn-RS" b="1">
                <a:latin typeface="Courier New" panose="02070309020205020404" pitchFamily="49" charset="0"/>
              </a:rPr>
              <a:t>printf</a:t>
            </a:r>
          </a:p>
          <a:p>
            <a:pPr eaLnBrk="1" hangingPunct="1"/>
            <a:r>
              <a:rPr lang="sr-Latn-CS" altLang="sr-Latn-RS"/>
              <a:t>Prvi parametar je specifikator formata ispisa, a ostali parametri su varijable čija se vrednost štampa.</a:t>
            </a:r>
          </a:p>
          <a:p>
            <a:pPr eaLnBrk="1" hangingPunct="1"/>
            <a:r>
              <a:rPr lang="sr-Latn-CS" altLang="sr-Latn-RS"/>
              <a:t>Specifikator formata: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%[prefiks][širina][.preciznost]tip</a:t>
            </a:r>
          </a:p>
          <a:p>
            <a:pPr eaLnBrk="1" hangingPunct="1"/>
            <a:r>
              <a:rPr lang="sr-Latn-CS" altLang="sr-Latn-RS" sz="2400"/>
              <a:t>Prefiks: + ili –</a:t>
            </a:r>
          </a:p>
          <a:p>
            <a:pPr lvl="1" eaLnBrk="1" hangingPunct="1"/>
            <a:r>
              <a:rPr lang="sr-Latn-CS" altLang="sr-Latn-RS" sz="2000"/>
              <a:t>kada je +, rezultat prikazuje i znak (i pozitivan i negativan)</a:t>
            </a:r>
          </a:p>
          <a:p>
            <a:pPr lvl="1" eaLnBrk="1" hangingPunct="1"/>
            <a:r>
              <a:rPr lang="sr-Latn-CS" altLang="sr-Latn-RS" sz="2000"/>
              <a:t>kada je -, rezultat je poravnat na levu stranu</a:t>
            </a:r>
          </a:p>
          <a:p>
            <a:pPr eaLnBrk="1" hangingPunct="1"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/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CD4EAA-931D-0A79-1286-3B9628C62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- širina</a:t>
            </a:r>
            <a:endParaRPr lang="en-U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4835CD3-961B-4171-A37A-E508DE434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000"/>
              <a:t>Definiše broj cifara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[</a:t>
            </a:r>
            <a:r>
              <a:rPr lang="sr-Latn-CS" altLang="sr-Latn-RS" sz="1400" b="1">
                <a:latin typeface="Courier New" panose="02070309020205020404" pitchFamily="49" charset="0"/>
              </a:rPr>
              <a:t>širina</a:t>
            </a:r>
            <a:r>
              <a:rPr lang="en-US" altLang="sr-Latn-RS" sz="1400" b="1">
                <a:latin typeface="Courier New" panose="02070309020205020404" pitchFamily="49" charset="0"/>
              </a:rPr>
              <a:t>]¦ Kako utiče na preciznost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---------+--------------------------------------------------------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n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zadati broj cifara.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0n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zadati broj cifara. 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Ako broj nema toliko cifara, sa leve se popunjava nulama.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' 'n  | Štampa zadati broj cifara, sa leve popunjava razmacima.</a:t>
            </a:r>
          </a:p>
          <a:p>
            <a:pPr eaLnBrk="1" hangingPunct="1">
              <a:lnSpc>
                <a:spcPct val="90000"/>
              </a:lnSpc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7B682CF-E04F-D40F-64B4-5C3A0B955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– tip - brojevi</a:t>
            </a:r>
            <a:endParaRPr lang="en-U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87CC5BF-21C1-EA6A-92CF-977641D9B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Tip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Očekivan ulaz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Format rezultat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</a:t>
            </a:r>
            <a:r>
              <a:rPr lang="sr-Latn-CS" altLang="sr-Latn-RS" sz="1400" b="1">
                <a:latin typeface="Courier New" panose="02070309020205020404" pitchFamily="49" charset="0"/>
              </a:rPr>
              <a:t>Brojevi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b</a:t>
            </a:r>
            <a:r>
              <a:rPr lang="en-US" altLang="sr-Latn-RS" sz="1400" b="1">
                <a:latin typeface="Courier New" panose="02070309020205020404" pitchFamily="49" charset="0"/>
              </a:rPr>
              <a:t>  ¦ </a:t>
            </a:r>
            <a:r>
              <a:rPr lang="sr-Latn-CS" altLang="sr-Latn-RS" sz="1400" b="1">
                <a:latin typeface="Courier New" panose="02070309020205020404" pitchFamily="49" charset="0"/>
              </a:rPr>
              <a:t>Boolean</a:t>
            </a:r>
            <a:r>
              <a:rPr lang="en-US" altLang="sr-Latn-RS" sz="1400" b="1">
                <a:latin typeface="Courier New" panose="02070309020205020404" pitchFamily="49" charset="0"/>
              </a:rPr>
              <a:t>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Boolean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d  ¦ Integer        ¦ Signed decimal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o  ¦ Integer        ¦ Unsigned octal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u  ¦ Integer        ¦ Unsigned decimal integer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</a:t>
            </a:r>
            <a:r>
              <a:rPr lang="sr-Latn-CS" altLang="sr-Latn-RS" sz="1400" b="1">
                <a:latin typeface="Courier New" panose="02070309020205020404" pitchFamily="49" charset="0"/>
              </a:rPr>
              <a:t>h,x</a:t>
            </a:r>
            <a:r>
              <a:rPr lang="en-US" altLang="sr-Latn-RS" sz="1400" b="1">
                <a:latin typeface="Courier New" panose="02070309020205020404" pitchFamily="49" charset="0"/>
              </a:rPr>
              <a:t>¦ Integer        ¦ Unsigned hexadecimal int (with a, b, c, d, e, f)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</a:t>
            </a:r>
            <a:r>
              <a:rPr lang="sr-Latn-CS" altLang="sr-Latn-RS" sz="1400" b="1">
                <a:latin typeface="Courier New" panose="02070309020205020404" pitchFamily="49" charset="0"/>
              </a:rPr>
              <a:t>H,X</a:t>
            </a:r>
            <a:r>
              <a:rPr lang="en-US" altLang="sr-Latn-RS" sz="1400" b="1">
                <a:latin typeface="Courier New" panose="02070309020205020404" pitchFamily="49" charset="0"/>
              </a:rPr>
              <a:t>¦ Integer        ¦ Unsigned hexadecimal int (with A, B, C, D, E, F)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f  ¦ Floating point ¦ Signed value </a:t>
            </a:r>
            <a:r>
              <a:rPr lang="sr-Latn-CS" altLang="sr-Latn-RS" sz="1400" b="1">
                <a:latin typeface="Courier New" panose="02070309020205020404" pitchFamily="49" charset="0"/>
              </a:rPr>
              <a:t>oblika</a:t>
            </a:r>
            <a:r>
              <a:rPr lang="en-US" altLang="sr-Latn-RS" sz="1400" b="1">
                <a:latin typeface="Courier New" panose="02070309020205020404" pitchFamily="49" charset="0"/>
              </a:rPr>
              <a:t> [-]dddd.dddd.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e  ¦ Floating point ¦ Signed value </a:t>
            </a:r>
            <a:r>
              <a:rPr lang="sr-Latn-CS" altLang="sr-Latn-RS" sz="1400" b="1">
                <a:latin typeface="Courier New" panose="02070309020205020404" pitchFamily="49" charset="0"/>
              </a:rPr>
              <a:t>oblika</a:t>
            </a:r>
            <a:r>
              <a:rPr lang="en-US" altLang="sr-Latn-RS" sz="1400" b="1">
                <a:latin typeface="Courier New" panose="02070309020205020404" pitchFamily="49" charset="0"/>
              </a:rPr>
              <a:t> [-]d.dddd or e[+/-]ddd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g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Kraći zapis od %f i %e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E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Isto kao </a:t>
            </a:r>
            <a:r>
              <a:rPr lang="en-US" altLang="sr-Latn-RS" sz="1400" b="1">
                <a:latin typeface="Courier New" panose="02070309020205020404" pitchFamily="49" charset="0"/>
              </a:rPr>
              <a:t>e; </a:t>
            </a:r>
            <a:r>
              <a:rPr lang="sr-Latn-CS" altLang="sr-Latn-RS" sz="1400" b="1">
                <a:latin typeface="Courier New" panose="02070309020205020404" pitchFamily="49" charset="0"/>
              </a:rPr>
              <a:t>samo ima ‘</a:t>
            </a:r>
            <a:r>
              <a:rPr lang="en-US" altLang="sr-Latn-RS" sz="1400" b="1">
                <a:latin typeface="Courier New" panose="02070309020205020404" pitchFamily="49" charset="0"/>
              </a:rPr>
              <a:t>E</a:t>
            </a:r>
            <a:r>
              <a:rPr lang="sr-Latn-CS" altLang="sr-Latn-RS" sz="1400" b="1">
                <a:latin typeface="Courier New" panose="02070309020205020404" pitchFamily="49" charset="0"/>
              </a:rPr>
              <a:t>’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za eksponent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G  ¦ Floating point ¦ </a:t>
            </a:r>
            <a:r>
              <a:rPr lang="sr-Latn-CS" altLang="sr-Latn-RS" sz="1400" b="1">
                <a:latin typeface="Courier New" panose="02070309020205020404" pitchFamily="49" charset="0"/>
              </a:rPr>
              <a:t>Isto kao </a:t>
            </a:r>
            <a:r>
              <a:rPr lang="en-US" altLang="sr-Latn-RS" sz="1400" b="1">
                <a:latin typeface="Courier New" panose="02070309020205020404" pitchFamily="49" charset="0"/>
              </a:rPr>
              <a:t>e; </a:t>
            </a:r>
            <a:r>
              <a:rPr lang="sr-Latn-CS" altLang="sr-Latn-RS" sz="1400" b="1">
                <a:latin typeface="Courier New" panose="02070309020205020404" pitchFamily="49" charset="0"/>
              </a:rPr>
              <a:t>samo ima ‘</a:t>
            </a:r>
            <a:r>
              <a:rPr lang="en-US" altLang="sr-Latn-RS" sz="1400" b="1">
                <a:latin typeface="Courier New" panose="02070309020205020404" pitchFamily="49" charset="0"/>
              </a:rPr>
              <a:t>E</a:t>
            </a:r>
            <a:r>
              <a:rPr lang="sr-Latn-CS" altLang="sr-Latn-RS" sz="1400" b="1">
                <a:latin typeface="Courier New" panose="02070309020205020404" pitchFamily="49" charset="0"/>
              </a:rPr>
              <a:t>’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za eksponent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ako je e format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  <a:r>
              <a:rPr lang="sr-Latn-CS" altLang="sr-Latn-RS" sz="1400" b="1">
                <a:latin typeface="Courier New" panose="02070309020205020404" pitchFamily="49" charset="0"/>
              </a:rPr>
              <a:t>---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C37335-5EA8-2E9B-4C37-43D55A306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– tip - karakteri</a:t>
            </a:r>
            <a:endParaRPr lang="en-US" altLang="sr-Latn-R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DB8AC22-1CCC-64E0-027E-1D2BEA079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Tip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Očekivan ulaz </a:t>
            </a:r>
            <a:r>
              <a:rPr lang="en-US" altLang="sr-Latn-RS" sz="1400" b="1">
                <a:latin typeface="Courier New" panose="02070309020205020404" pitchFamily="49" charset="0"/>
              </a:rPr>
              <a:t> ¦ </a:t>
            </a:r>
            <a:r>
              <a:rPr lang="sr-Latn-CS" altLang="sr-Latn-RS" sz="1400" b="1">
                <a:latin typeface="Courier New" panose="02070309020205020404" pitchFamily="49" charset="0"/>
              </a:rPr>
              <a:t>Format rezultat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</a:t>
            </a:r>
            <a:r>
              <a:rPr lang="sr-Latn-CS" altLang="sr-Latn-RS" sz="1400" b="1">
                <a:latin typeface="Courier New" panose="02070309020205020404" pitchFamily="49" charset="0"/>
              </a:rPr>
              <a:t>Karakteri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c  ¦ Character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Jedno slovo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s  ¦ String </a:t>
            </a:r>
            <a:r>
              <a:rPr lang="sr-Latn-CS" altLang="sr-Latn-RS" sz="1400" b="1">
                <a:latin typeface="Courier New" panose="02070309020205020404" pitchFamily="49" charset="0"/>
              </a:rPr>
              <a:t>        </a:t>
            </a:r>
            <a:r>
              <a:rPr lang="en-US" altLang="sr-Latn-RS" sz="1400" b="1">
                <a:latin typeface="Courier New" panose="02070309020205020404" pitchFamily="49" charset="0"/>
              </a:rPr>
              <a:t>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string do kraja ili do zadatog broja slova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%  ¦ </a:t>
            </a:r>
            <a:r>
              <a:rPr lang="sr-Latn-CS" altLang="sr-Latn-RS" sz="1400" b="1">
                <a:latin typeface="Courier New" panose="02070309020205020404" pitchFamily="49" charset="0"/>
              </a:rPr>
              <a:t>Ništa</a:t>
            </a:r>
            <a:r>
              <a:rPr lang="en-US" altLang="sr-Latn-RS" sz="1400" b="1">
                <a:latin typeface="Courier New" panose="02070309020205020404" pitchFamily="49" charset="0"/>
              </a:rPr>
              <a:t>          ¦ </a:t>
            </a:r>
            <a:r>
              <a:rPr lang="sr-Latn-CS" altLang="sr-Latn-RS" sz="1400" b="1">
                <a:latin typeface="Courier New" panose="02070309020205020404" pitchFamily="49" charset="0"/>
              </a:rPr>
              <a:t>Štampa znak </a:t>
            </a:r>
            <a:r>
              <a:rPr lang="en-US" altLang="sr-Latn-RS" sz="1400" b="1">
                <a:latin typeface="Courier New" panose="02070309020205020404" pitchFamily="49" charset="0"/>
              </a:rPr>
              <a:t>%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2B51FAA-7F79-7269-031F-E5BC31DEB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printf - primeri</a:t>
            </a:r>
            <a:endParaRPr lang="en-U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126CBD9-29FD-0075-A27B-B033F17E5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713788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 </a:t>
            </a:r>
            <a:r>
              <a:rPr lang="sr-Latn-C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--&gt;    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celobrojni: 356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 --&gt;     celobrojni:    356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%-6d\n",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--&gt;     celobrojni: 356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%+6d\n", 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 --&gt;     celobrojni:   +356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printf("celobrojni: %+6d\n", -</a:t>
            </a:r>
            <a:r>
              <a:rPr lang="sr-Latn-RS" altLang="sr-Latn-RS" sz="1400" b="1">
                <a:latin typeface="Courier New" panose="02070309020205020404" pitchFamily="49" charset="0"/>
              </a:rPr>
              <a:t>356</a:t>
            </a:r>
            <a:r>
              <a:rPr lang="en-US" altLang="sr-Latn-RS" sz="1400" b="1">
                <a:latin typeface="Courier New" panose="02070309020205020404" pitchFamily="49" charset="0"/>
              </a:rPr>
              <a:t>);   --&gt;     celobrojni:   -356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printf("realni: %f\n", 3.141);    --&gt; realni: 3.141000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printf("realni: %6.2f\n", 3.141); --&gt; realni:   3.14  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printf("realni: %e\n", 3.141);    --&gt; realni: 3.141000e+00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printf("realni: %6.2e\n", 3.141); --&gt; realni: 3.14e+00    </a:t>
            </a:r>
          </a:p>
          <a:p>
            <a:pPr eaLnBrk="1" hangingPunct="1"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System.out.</a:t>
            </a:r>
            <a:r>
              <a:rPr lang="en-US" altLang="sr-Latn-RS" sz="1400" b="1">
                <a:latin typeface="Courier New" panose="02070309020205020404" pitchFamily="49" charset="0"/>
              </a:rPr>
              <a:t>printf("realni: %g\n", 3.141);    --&gt; realni: 3.141</a:t>
            </a:r>
            <a:r>
              <a:rPr lang="sr-Latn-CS" altLang="sr-Latn-RS" sz="1400" b="1">
                <a:latin typeface="Courier New" panose="02070309020205020404" pitchFamily="49" charset="0"/>
              </a:rPr>
              <a:t>00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72AA21B1-A537-9DE4-C4B9-AD7CE883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6165850"/>
            <a:ext cx="2016125" cy="366713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PrntTest.java</a:t>
            </a:r>
            <a:endParaRPr lang="en-US" altLang="sr-Latn-R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20A126B-866F-08D1-17D2-EEBF2BEF5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Unos sa tastature</a:t>
            </a:r>
            <a:endParaRPr lang="en-US" altLang="sr-Latn-R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9526D34-C3E9-3C71-04AE-A1F4574ED0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System.in je ulazni tok: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BufferedReader in = new BufferedReader(new InputStreamReader(System.in));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String s = in.readLine();</a:t>
            </a:r>
            <a:r>
              <a:rPr lang="en-US" altLang="sr-Latn-RS" sz="2400" b="1">
                <a:latin typeface="Courier New" panose="02070309020205020404" pitchFamily="49" charset="0"/>
              </a:rPr>
              <a:t> 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/>
            <a:r>
              <a:rPr lang="sr-Latn-CS" altLang="sr-Latn-RS"/>
              <a:t>Alternativa je klasa Scanner koja ne učitava samo stringove: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Scanner sc = new Scanner(System.in);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String s </a:t>
            </a:r>
            <a:r>
              <a:rPr lang="en-US" altLang="sr-Latn-RS" sz="2000" b="1">
                <a:latin typeface="Courier New" panose="02070309020205020404" pitchFamily="49" charset="0"/>
              </a:rPr>
              <a:t>= sc.next</a:t>
            </a:r>
            <a:r>
              <a:rPr lang="sr-Latn-CS" altLang="sr-Latn-RS" sz="2000" b="1">
                <a:latin typeface="Courier New" panose="02070309020205020404" pitchFamily="49" charset="0"/>
              </a:rPr>
              <a:t>Line</a:t>
            </a:r>
            <a:r>
              <a:rPr lang="en-US" altLang="sr-Latn-RS" sz="2000" b="1">
                <a:latin typeface="Courier New" panose="02070309020205020404" pitchFamily="49" charset="0"/>
              </a:rPr>
              <a:t>(); 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int i = sc.nextInt();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sc.nextLine();</a:t>
            </a:r>
            <a:r>
              <a:rPr lang="en-US" altLang="sr-Latn-RS" sz="2000" i="1"/>
              <a:t> // kada citamo primitivne tipove, ne uklanja se ENTER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float f = sc.nextFloat();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sc.close();</a:t>
            </a: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8BC2FAD-2A07-F8F9-9891-E747C80C9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Unos drugih primitivnih tipova sa tastature</a:t>
            </a:r>
            <a:endParaRPr lang="en-US" altLang="sr-Latn-RS" sz="400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B5A8565-C4ED-80D6-16A9-6F1A12708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sr-Latn-CS" altLang="sr-Latn-RS"/>
              <a:t>Kraće je  klasom Scanner: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sr-Latn-RS" b="1">
                <a:latin typeface="Courier New" pitchFamily="49" charset="0"/>
              </a:rPr>
              <a:t>Scanner sc = new Scanner(System.in); </a:t>
            </a:r>
            <a:endParaRPr lang="sr-Latn-CS" altLang="sr-Latn-RS" b="1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itchFamily="49" charset="0"/>
              </a:rPr>
              <a:t>int i </a:t>
            </a:r>
            <a:r>
              <a:rPr lang="en-US" altLang="sr-Latn-RS" b="1">
                <a:latin typeface="Courier New" pitchFamily="49" charset="0"/>
              </a:rPr>
              <a:t>= sc.next</a:t>
            </a:r>
            <a:r>
              <a:rPr lang="sr-Latn-CS" altLang="sr-Latn-RS" b="1">
                <a:latin typeface="Courier New" pitchFamily="49" charset="0"/>
              </a:rPr>
              <a:t>Int</a:t>
            </a:r>
            <a:r>
              <a:rPr lang="en-US" altLang="sr-Latn-RS" b="1">
                <a:latin typeface="Courier New" pitchFamily="49" charset="0"/>
              </a:rPr>
              <a:t>();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sc.close();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sr-Latn-CS" altLang="sr-Latn-RS"/>
              <a:t>Ranije se koristila wrapper klasa i njena metoda parseXxx():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sr-Latn-RS" sz="2400" b="1">
                <a:latin typeface="Courier New" pitchFamily="49" charset="0"/>
              </a:rPr>
              <a:t>BufferedReader in = new BufferedReader(new InputStreamReader(System.in)); </a:t>
            </a:r>
            <a:endParaRPr lang="sr-Latn-CS" altLang="sr-Latn-RS" sz="2400" b="1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400" b="1">
                <a:latin typeface="Courier New" pitchFamily="49" charset="0"/>
              </a:rPr>
              <a:t>String </a:t>
            </a:r>
            <a:r>
              <a:rPr lang="en-US" altLang="sr-Latn-RS" sz="2400" b="1">
                <a:latin typeface="Courier New" pitchFamily="49" charset="0"/>
              </a:rPr>
              <a:t>s = in.readLine(); </a:t>
            </a:r>
            <a:endParaRPr lang="sr-Latn-CS" altLang="sr-Latn-RS" sz="2400" b="1"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sr-Latn-CS" altLang="sr-Latn-RS" sz="2400" b="1">
                <a:latin typeface="Courier New" pitchFamily="49" charset="0"/>
              </a:rPr>
              <a:t>int i = Integer.parseInt(s);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052AE7C-6509-885A-3F2D-A0DB94F19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Console</a:t>
            </a:r>
            <a:endParaRPr lang="en-US" altLang="sr-Latn-R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7B34185-EDB5-022C-D281-947720CA0A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Sistemska konzola: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Console c = System.console();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800"/>
              <a:t>Metode: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c.printf("format", promenljive)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c.readLine()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c.readLine("format", promenljive)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ispiše promenljive u zadatom formatu, pa učita jedan red teksta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c.readPassword()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čita šifru sa tastature, bez prikazivanja slova</a:t>
            </a:r>
            <a:endParaRPr lang="en-US" altLang="sr-Latn-RS" sz="2000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400"/>
              <a:t>c.readPassword("format", promenljive)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000"/>
              <a:t>ispiše promenljive u zadatom formatu, pa učita šifru sa tastature, bez prikazivanja slova</a:t>
            </a:r>
            <a:endParaRPr lang="en-US" altLang="sr-Latn-RS" sz="2000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04CA7AD8-7125-F89A-F879-7307A047E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6165850"/>
            <a:ext cx="2016125" cy="366713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800"/>
              <a:t>ConsoleTest.java</a:t>
            </a:r>
            <a:endParaRPr lang="en-US" altLang="sr-Latn-R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937</Words>
  <Application>Microsoft Office PowerPoint</Application>
  <PresentationFormat>On-screen Show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Tahoma</vt:lpstr>
      <vt:lpstr>Default Design</vt:lpstr>
      <vt:lpstr>Objektno Orijentisano Programiranje 1</vt:lpstr>
      <vt:lpstr>Tema</vt:lpstr>
      <vt:lpstr>Šta nam treba od prethodnog znanja?</vt:lpstr>
      <vt:lpstr>Ulazno izlazni podsistem</vt:lpstr>
      <vt:lpstr>Štampanje na ekran</vt:lpstr>
      <vt:lpstr>Štampanje na ekran</vt:lpstr>
      <vt:lpstr>printf - širina</vt:lpstr>
      <vt:lpstr>printf – tip - brojevi</vt:lpstr>
      <vt:lpstr>printf – tip - karakteri</vt:lpstr>
      <vt:lpstr>printf - primeri</vt:lpstr>
      <vt:lpstr>Unos sa tastature</vt:lpstr>
      <vt:lpstr>Unos drugih primitivnih tipova sa tastature</vt:lpstr>
      <vt:lpstr>Klasa Console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jezik Java</dc:title>
  <dc:creator>asdf asdf</dc:creator>
  <cp:lastModifiedBy>Jovana Vidaković</cp:lastModifiedBy>
  <cp:revision>104</cp:revision>
  <dcterms:created xsi:type="dcterms:W3CDTF">2009-03-02T09:18:12Z</dcterms:created>
  <dcterms:modified xsi:type="dcterms:W3CDTF">2024-06-18T14:29:55Z</dcterms:modified>
</cp:coreProperties>
</file>