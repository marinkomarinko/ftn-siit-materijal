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sldIdLst>
    <p:sldId id="256" r:id="rId2"/>
    <p:sldId id="323" r:id="rId3"/>
    <p:sldId id="324" r:id="rId4"/>
    <p:sldId id="259" r:id="rId5"/>
    <p:sldId id="267" r:id="rId6"/>
    <p:sldId id="260" r:id="rId7"/>
    <p:sldId id="261" r:id="rId8"/>
    <p:sldId id="293" r:id="rId9"/>
    <p:sldId id="320" r:id="rId10"/>
    <p:sldId id="262" r:id="rId11"/>
    <p:sldId id="294" r:id="rId12"/>
    <p:sldId id="319" r:id="rId13"/>
    <p:sldId id="263" r:id="rId14"/>
    <p:sldId id="264" r:id="rId15"/>
    <p:sldId id="265" r:id="rId16"/>
    <p:sldId id="266" r:id="rId17"/>
    <p:sldId id="268" r:id="rId18"/>
    <p:sldId id="269" r:id="rId19"/>
    <p:sldId id="270" r:id="rId20"/>
    <p:sldId id="295" r:id="rId21"/>
    <p:sldId id="321" r:id="rId22"/>
    <p:sldId id="272" r:id="rId23"/>
    <p:sldId id="322" r:id="rId24"/>
    <p:sldId id="273" r:id="rId25"/>
    <p:sldId id="297" r:id="rId26"/>
    <p:sldId id="301" r:id="rId27"/>
    <p:sldId id="300" r:id="rId28"/>
    <p:sldId id="274" r:id="rId29"/>
    <p:sldId id="302" r:id="rId30"/>
    <p:sldId id="298" r:id="rId31"/>
    <p:sldId id="296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3" r:id="rId40"/>
    <p:sldId id="303" r:id="rId41"/>
    <p:sldId id="304" r:id="rId42"/>
    <p:sldId id="305" r:id="rId43"/>
    <p:sldId id="306" r:id="rId44"/>
    <p:sldId id="288" r:id="rId45"/>
    <p:sldId id="307" r:id="rId46"/>
    <p:sldId id="308" r:id="rId47"/>
    <p:sldId id="309" r:id="rId48"/>
    <p:sldId id="310" r:id="rId49"/>
    <p:sldId id="311" r:id="rId50"/>
    <p:sldId id="285" r:id="rId51"/>
    <p:sldId id="312" r:id="rId52"/>
    <p:sldId id="313" r:id="rId53"/>
    <p:sldId id="289" r:id="rId54"/>
    <p:sldId id="314" r:id="rId55"/>
    <p:sldId id="315" r:id="rId56"/>
    <p:sldId id="316" r:id="rId57"/>
    <p:sldId id="317" r:id="rId58"/>
    <p:sldId id="318" r:id="rId59"/>
    <p:sldId id="282" r:id="rId60"/>
    <p:sldId id="284" r:id="rId61"/>
    <p:sldId id="286" r:id="rId62"/>
    <p:sldId id="287" r:id="rId63"/>
    <p:sldId id="290" r:id="rId64"/>
    <p:sldId id="291" r:id="rId65"/>
    <p:sldId id="292" r:id="rId6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216F4DA-916D-95CA-D646-9C7802F470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EED3BCE-FDE1-938F-5382-7EBC18B3ABC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ECCB6256-6D15-62D1-8611-3A08556108B3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4612C0B6-AA31-8F6C-9FA2-5396ECC2D12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60BEC73A-5AF9-78C2-F7FE-53DB65AB120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1C62A4C0-9024-90DF-A24F-0C949E8D92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189E5F7-8244-4818-B67E-C60B8F12879F}" type="slidenum">
              <a:rPr lang="en-US" altLang="sr-Latn-RS"/>
              <a:pPr>
                <a:defRPr/>
              </a:pPr>
              <a:t>‹#›</a:t>
            </a:fld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012EEA-B422-D917-D0B0-FDCE45A702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F9CF88-E012-AAA0-0D5D-76DA008942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5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FAF476-DAC4-2BB3-6CDC-AE191A7B09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4388" y="6237288"/>
            <a:ext cx="1511300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A3229FAF-74B9-4E9C-B233-1E8A5BBAECB6}" type="slidenum">
              <a:rPr lang="en-US" altLang="sr-Latn-RS" smtClean="0"/>
              <a:pPr algn="r" eaLnBrk="1" hangingPunct="1">
                <a:defRPr/>
              </a:pPr>
              <a:t>‹#›</a:t>
            </a:fld>
            <a:r>
              <a:rPr lang="sr-Latn-RS" altLang="sr-Latn-RS"/>
              <a:t>/65</a:t>
            </a:r>
            <a:endParaRPr lang="en-US" altLang="sr-Latn-R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A049E-23C0-D823-6AEB-13D281D8A0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AF18B-F185-0917-70F9-F921F5C807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3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846E5B-53E2-3BD4-019C-0FB76AB5A9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2518A5-3DC0-B6B5-1EE3-4A87C8E9B2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BBBF9A-EC7C-0624-9063-621AA73B1F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886DB-A2BA-4552-8A24-4BE6217C6C25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/18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94598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AE1C2-7278-0E9F-A43E-157E87289D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9358E-9321-A256-A15E-EEF6DB1952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89414-A7BE-CD40-15BD-AED2A93134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F1261-20B7-4B38-BE62-ABEA0BAE98F4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/18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62060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41B3F2-0AD5-AED2-6297-2247059F56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E7DFF41-25FD-FBED-A7DE-B27DA46C84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E5DF9C9-07A5-D9CD-B06F-BE97C810C6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8B4DC-8609-45CB-BAB8-159D3E8CC3FA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/18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23544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98C956D-4E07-69DE-76D4-C89BFB6566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16B558D-350A-007C-F63E-6686549E3D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FE0BB8-A17D-DD1D-AF5E-A6556681A0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4E943-47AD-4DE8-8A1F-3678118C5972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/18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582372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E25308F-4BAD-F178-6244-C59FE8F2F2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F4A1E2-3D78-E736-2C7F-91E363778B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6D8786-34FA-7192-57D4-86FD5A2CB5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F8F5A-2B31-4544-99E6-9B8C044246DE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/18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86325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29397-0D10-21E3-9D6E-679DE4C530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86020-60B3-46EE-2FCF-8F89F77D9B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01D03-69BB-EC1C-5CC0-46AF795053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06559-D5A3-442C-AD8C-6260D98DC535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/18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78115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86B32-6B54-2433-B38D-7BA947F337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21BD1-EBBA-5677-E3E0-5237543079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9787D-4749-FEB6-7434-0B609B60E2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CB1DF-1342-4F36-AD65-C26CE12C3E8B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/18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589320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A59649-63D7-A614-DEA4-02C0BF7300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2730CD-52D8-3384-91D6-EBD08BBD01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426F24-3482-013B-5771-0E35180142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8E412-3244-4148-96D1-863783A50F72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/18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16813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ED7B81-E328-21FD-6A8D-EC74E44546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55741F-523C-C49F-8ABA-5ECF559FDC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92D052-417D-30A7-B3B8-94A92AA456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7531E-3BCA-4560-9453-BD8844706671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/18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267463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5A3DE78-ACAB-A01D-29F1-A08E9111B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0A2EAC2-12A8-5796-A43D-868A861D61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text styles</a:t>
            </a:r>
          </a:p>
          <a:p>
            <a:pPr lvl="1"/>
            <a:r>
              <a:rPr lang="en-US" altLang="sr-Latn-RS"/>
              <a:t>Second level</a:t>
            </a:r>
          </a:p>
          <a:p>
            <a:pPr lvl="2"/>
            <a:r>
              <a:rPr lang="en-US" altLang="sr-Latn-RS"/>
              <a:t>Third level</a:t>
            </a:r>
          </a:p>
          <a:p>
            <a:pPr lvl="3"/>
            <a:r>
              <a:rPr lang="en-US" altLang="sr-Latn-RS"/>
              <a:t>Fourth level</a:t>
            </a:r>
          </a:p>
          <a:p>
            <a:pPr lvl="4"/>
            <a:r>
              <a:rPr lang="en-US" altLang="sr-Latn-R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B78931-1339-EBCF-BCA1-E83BB0DFDA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81BE97-5530-045F-34B8-91DDEB7711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29F8FF8-E928-988D-225B-47CA3BD386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534211B-C3F3-441A-96F9-0F821CDB9044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/34</a:t>
            </a:r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C44E8E7-BC30-D7B6-03B3-543F95F6E8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8153400" cy="1981200"/>
          </a:xfrm>
        </p:spPr>
        <p:txBody>
          <a:bodyPr/>
          <a:lstStyle/>
          <a:p>
            <a:pPr eaLnBrk="1" hangingPunct="1"/>
            <a:r>
              <a:rPr lang="sr-Latn-RS" altLang="sr-Latn-RS"/>
              <a:t>Objektno Orijentisano Programiranje 1</a:t>
            </a:r>
            <a:endParaRPr lang="en-US" altLang="sr-Latn-RS"/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5CECCC68-9FD1-87E9-3230-90DAFD95E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3789363"/>
            <a:ext cx="432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sr-Latn-RS" sz="2400">
                <a:latin typeface="Tahoma" panose="020B0604030504040204" pitchFamily="34" charset="0"/>
              </a:rPr>
              <a:t>Design patterns</a:t>
            </a:r>
            <a:endParaRPr lang="sr-Latn-CS" altLang="sr-Latn-R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043A469-0271-12AA-BCE9-007B6FCC1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Tema</a:t>
            </a:r>
            <a:endParaRPr lang="en-US" altLang="en-US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E22B6AD7-5C92-BECA-71E9-5A5207C19D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r>
              <a:rPr lang="sr-Latn-RS" altLang="en-US"/>
              <a:t>Design patterns – šabloni u objekno orijentisanom programiranju</a:t>
            </a:r>
          </a:p>
          <a:p>
            <a:r>
              <a:rPr lang="sr-Latn-RS" altLang="en-US"/>
              <a:t>Šabloni za kreiranje (creational patterns)</a:t>
            </a:r>
          </a:p>
          <a:p>
            <a:r>
              <a:rPr lang="sr-Latn-RS" altLang="en-US"/>
              <a:t>Strukturni šabloni (structural patterns)</a:t>
            </a:r>
          </a:p>
          <a:p>
            <a:r>
              <a:rPr lang="sr-Latn-RS" altLang="en-US"/>
              <a:t>Šabloni za ponašanje (behavioral patterns)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9E70CBB7-CF2E-0072-D323-54242C051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Šta nam treba od prethodnog znanja?</a:t>
            </a:r>
            <a:endParaRPr lang="en-US" altLang="en-U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698681F-5F96-A19C-1D69-C7DB12DFA7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Nasleđivanje</a:t>
            </a:r>
          </a:p>
          <a:p>
            <a:r>
              <a:rPr lang="sr-Latn-RS" altLang="en-US"/>
              <a:t>Apstraktne klase, interfejsi</a:t>
            </a:r>
          </a:p>
          <a:p>
            <a:r>
              <a:rPr lang="sr-Latn-RS" altLang="en-US"/>
              <a:t>Polimorfizam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C6E818F-9227-50D1-CAD5-ED334DA8D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Design patterns</a:t>
            </a:r>
            <a:endParaRPr lang="en-US" altLang="sr-Latn-R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7D8E993-2BCC-D830-D5FC-2F5A1E7140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08525"/>
          </a:xfrm>
        </p:spPr>
        <p:txBody>
          <a:bodyPr/>
          <a:lstStyle/>
          <a:p>
            <a:pPr eaLnBrk="1" hangingPunct="1"/>
            <a:r>
              <a:rPr lang="en-US" altLang="sr-Latn-RS"/>
              <a:t>Šabloni za rešavanje tipskih problema</a:t>
            </a:r>
            <a:endParaRPr lang="sr-Latn-RS" altLang="sr-Latn-RS"/>
          </a:p>
          <a:p>
            <a:pPr eaLnBrk="1" hangingPunct="1"/>
            <a:r>
              <a:rPr lang="sr-Latn-RS" altLang="sr-Latn-RS"/>
              <a:t>Knjiga: </a:t>
            </a:r>
            <a:r>
              <a:rPr lang="sr-Latn-RS" altLang="sr-Latn-RS" b="1"/>
              <a:t>"</a:t>
            </a:r>
            <a:r>
              <a:rPr lang="en-US" altLang="sr-Latn-RS" b="1"/>
              <a:t>Design Patterns: Elements of Reusable Object-Oriented Software</a:t>
            </a:r>
            <a:r>
              <a:rPr lang="sr-Latn-RS" altLang="sr-Latn-RS" b="1"/>
              <a:t>"</a:t>
            </a:r>
            <a:r>
              <a:rPr lang="sr-Latn-RS" altLang="sr-Latn-RS"/>
              <a:t>, </a:t>
            </a:r>
            <a:r>
              <a:rPr lang="en-US" altLang="sr-Latn-RS"/>
              <a:t>Ralph Johnson, John Vlissides, Richard Helm </a:t>
            </a:r>
            <a:r>
              <a:rPr lang="sr-Latn-RS" altLang="sr-Latn-RS"/>
              <a:t>i</a:t>
            </a:r>
            <a:r>
              <a:rPr lang="en-US" altLang="sr-Latn-RS"/>
              <a:t> Erich Gamma</a:t>
            </a:r>
          </a:p>
          <a:p>
            <a:pPr eaLnBrk="1" hangingPunct="1"/>
            <a:r>
              <a:rPr lang="en-US" altLang="sr-Latn-RS"/>
              <a:t>Vrste:</a:t>
            </a:r>
          </a:p>
          <a:p>
            <a:pPr lvl="1" eaLnBrk="1" hangingPunct="1"/>
            <a:r>
              <a:rPr lang="en-US" altLang="sr-Latn-RS"/>
              <a:t>za kreiranje (creational)</a:t>
            </a:r>
          </a:p>
          <a:p>
            <a:pPr lvl="1" eaLnBrk="1" hangingPunct="1"/>
            <a:r>
              <a:rPr lang="en-US" altLang="sr-Latn-RS"/>
              <a:t>strukturni (structural)</a:t>
            </a:r>
          </a:p>
          <a:p>
            <a:pPr lvl="1" eaLnBrk="1" hangingPunct="1"/>
            <a:r>
              <a:rPr lang="en-US" altLang="sr-Latn-RS"/>
              <a:t>za ponašanje (behavioral)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9301-B86F-D692-B8CE-7026C49F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šabloni za kreiranje</a:t>
            </a:r>
            <a:endParaRPr lang="en-US"/>
          </a:p>
        </p:txBody>
      </p:sp>
      <p:sp>
        <p:nvSpPr>
          <p:cNvPr id="18435" name="Text Placeholder 2">
            <a:extLst>
              <a:ext uri="{FF2B5EF4-FFF2-40B4-BE49-F238E27FC236}">
                <a16:creationId xmlns:a16="http://schemas.microsoft.com/office/drawing/2014/main" id="{1B92A9F4-E6C1-C751-8B30-57142DD87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 altLang="sr-Latn-R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CF131A2-61E9-9CB5-9A8C-A9A8D3D94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Šabloni za kreiranje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8E3C6DEC-C5D9-32E8-26FC-0B099E073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 b="1"/>
              <a:t>Singleton</a:t>
            </a:r>
          </a:p>
          <a:p>
            <a:pPr eaLnBrk="1" hangingPunct="1"/>
            <a:r>
              <a:rPr lang="en-US" altLang="sr-Latn-RS" b="1"/>
              <a:t>Factory</a:t>
            </a:r>
          </a:p>
          <a:p>
            <a:pPr eaLnBrk="1" hangingPunct="1"/>
            <a:r>
              <a:rPr lang="en-US" altLang="sr-Latn-RS"/>
              <a:t>Abstract factory</a:t>
            </a:r>
          </a:p>
          <a:p>
            <a:pPr eaLnBrk="1" hangingPunct="1"/>
            <a:r>
              <a:rPr lang="en-US" altLang="sr-Latn-RS"/>
              <a:t>Builder</a:t>
            </a:r>
          </a:p>
          <a:p>
            <a:pPr eaLnBrk="1" hangingPunct="1"/>
            <a:r>
              <a:rPr lang="en-US" altLang="sr-Latn-RS"/>
              <a:t>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2EF7F08-8A58-5576-C270-8C7A2780B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Singleton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5400A90-A4F1-ABC7-E059-1B1E987526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Garantuje da će postojati samo jedna instanca neke klase</a:t>
            </a:r>
          </a:p>
          <a:p>
            <a:pPr eaLnBrk="1" hangingPunct="1"/>
            <a:r>
              <a:rPr lang="en-US" altLang="sr-Latn-RS"/>
              <a:t>Ideja:</a:t>
            </a:r>
          </a:p>
          <a:p>
            <a:pPr lvl="1" eaLnBrk="1" hangingPunct="1"/>
            <a:r>
              <a:rPr lang="en-US" altLang="sr-Latn-RS"/>
              <a:t>da bismo sprečili da neko pozove konstruktor, napravićemo da bude </a:t>
            </a:r>
            <a:r>
              <a:rPr lang="en-US" altLang="sr-Latn-RS" b="1"/>
              <a:t>private</a:t>
            </a:r>
          </a:p>
          <a:p>
            <a:pPr lvl="1" eaLnBrk="1" hangingPunct="1"/>
            <a:r>
              <a:rPr lang="en-US" altLang="sr-Latn-RS"/>
              <a:t>napravićemo </a:t>
            </a:r>
            <a:r>
              <a:rPr lang="en-US" altLang="sr-Latn-RS" b="1"/>
              <a:t>public static</a:t>
            </a:r>
            <a:r>
              <a:rPr lang="en-US" altLang="sr-Latn-RS"/>
              <a:t> metodu koja će vratiti tu jedinu instancu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2AC3237E-F5E7-8FDD-3A87-E8E529ECF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05B10DC2-3C0E-066A-F0CB-376A259659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Singleton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400" b="1" u="sng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Singleton()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private static Singleton </a:t>
            </a: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instance = null;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400" b="1" u="sng">
                <a:latin typeface="Courier New" panose="02070309020205020404" pitchFamily="49" charset="0"/>
                <a:cs typeface="Courier New" panose="02070309020205020404" pitchFamily="49" charset="0"/>
              </a:rPr>
              <a:t>public static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Singleton </a:t>
            </a:r>
            <a:r>
              <a:rPr lang="sr-Latn-RS" altLang="sr-Latn-RS" sz="2400" b="1" u="sng">
                <a:latin typeface="Courier New" panose="02070309020205020404" pitchFamily="49" charset="0"/>
                <a:cs typeface="Courier New" panose="02070309020205020404" pitchFamily="49" charset="0"/>
              </a:rPr>
              <a:t>getInstance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instance == null) {</a:t>
            </a:r>
          </a:p>
          <a:p>
            <a:pPr marL="0" indent="0">
              <a:buFontTx/>
              <a:buNone/>
            </a:pP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      instance = new Singleton();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instance;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1A7822D9-6119-0C16-8647-5540DA9A7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4F9AB10-CB19-00EA-68A4-E9483FE640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0" indent="0">
              <a:buFontTx/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Singleton s1 = Singleton.</a:t>
            </a: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getInstance();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s1.hello();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Singleton s2 = Singleton.</a:t>
            </a: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getInstance();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s2.hello();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BCA343FB-F5DE-4B79-E606-D8F085C96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Factory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A67FE8B8-CDF4-5E06-3669-98C662506C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Predstavlja "fabriku" objekata neke klase</a:t>
            </a:r>
          </a:p>
          <a:p>
            <a:pPr eaLnBrk="1" hangingPunct="1"/>
            <a:r>
              <a:rPr lang="en-US" altLang="sr-Latn-RS"/>
              <a:t>Klijent ne instancira direktno objekte neke klase, već ih dobija iz fabrike</a:t>
            </a:r>
          </a:p>
          <a:p>
            <a:pPr lvl="1" eaLnBrk="1" hangingPunct="1"/>
            <a:r>
              <a:rPr lang="en-US" altLang="sr-Latn-RS"/>
              <a:t>SocketFactory, itd.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80D50427-D648-E002-96D4-536B2B402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2653DD45-7E78-9B8E-D09B-B595409C28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600200"/>
            <a:ext cx="8856662" cy="485298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FabrikaVozila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final int 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AUTOMOBIL = 0;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final int 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KAMION    = 1;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public static Vozilo kreirajVozilo(int tip)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switch (tip)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case 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AUTOMOBIL: return new Automobil();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case 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KAMION:    return new Kamion();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default:        return null;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D587917C-9006-9A42-4A52-3790615B3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7A6D8C2B-9597-41F6-9CA2-0E939CB651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578850" cy="51847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Vozilo auto = FabrikaVozila.kreirajVozilo(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FabrikaVozila.AUTOMOBIL);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auto.vozi();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Vozilo kamion = FabrikaVozila.kreirajVozilo(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FabrikaVozila.KAMION);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kamion.vozi();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2ADDDE8-255A-237D-8BF7-8057B78B8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Abstract factory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2FB56C88-8258-66DC-6569-773434025B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Predstavlja apstraktnu "fabriku" objekata neke klase</a:t>
            </a:r>
          </a:p>
          <a:p>
            <a:pPr eaLnBrk="1" hangingPunct="1"/>
            <a:r>
              <a:rPr lang="en-US" altLang="sr-Latn-RS"/>
              <a:t>Klijent prvo mora da dobije odgovarajuću fabriku, a onda da iz nje dobije traženi objekat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19A912E9-1A75-CB2E-8D83-D34C9E70E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Builder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047C5F3E-ADB9-7028-E002-F3A090B57E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08525"/>
          </a:xfrm>
        </p:spPr>
        <p:txBody>
          <a:bodyPr/>
          <a:lstStyle/>
          <a:p>
            <a:pPr eaLnBrk="1" hangingPunct="1"/>
            <a:r>
              <a:rPr lang="en-US" altLang="sr-Latn-RS"/>
              <a:t>Koristi se kada je potrebno napraviti instancu klase, ali i postaviti neke atribute ili pozvati odgovarajuće metode</a:t>
            </a:r>
          </a:p>
          <a:p>
            <a:pPr eaLnBrk="1" hangingPunct="1"/>
            <a:r>
              <a:rPr lang="en-US" altLang="sr-Latn-RS"/>
              <a:t>Umesto da klijent kreira objekat, pa ga onda podešava, Builder fabrika će to uraditi za njega</a:t>
            </a:r>
          </a:p>
          <a:p>
            <a:pPr eaLnBrk="1" hangingPunct="1"/>
            <a:r>
              <a:rPr lang="en-US" altLang="sr-Latn-RS"/>
              <a:t>Ako postoji više različitih klasa, koje se podešavaju na isti način, onda se koristi ovaj šablon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EDA80E8F-91FC-7278-043F-680EEDB42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Prototype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D5533D90-D1A1-6920-D5AC-63B6B157C1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Umesto da se klasa instancira, njen objekat se klonira</a:t>
            </a:r>
          </a:p>
          <a:p>
            <a:pPr lvl="1" eaLnBrk="1" hangingPunct="1"/>
            <a:r>
              <a:rPr lang="en-US" altLang="sr-Latn-RS"/>
              <a:t>izbegava se komplikovana inicijalizacija</a:t>
            </a:r>
          </a:p>
          <a:p>
            <a:pPr lvl="1" eaLnBrk="1" hangingPunct="1"/>
            <a:r>
              <a:rPr lang="en-US" altLang="sr-Latn-RS"/>
              <a:t>ako postoji više objekata iste klase, a različitog internog stanja, ovako se lakše prave</a:t>
            </a:r>
          </a:p>
          <a:p>
            <a:pPr lvl="2" eaLnBrk="1" hangingPunct="1"/>
            <a:r>
              <a:rPr lang="en-US" altLang="sr-Latn-RS"/>
              <a:t>naprave se unapred u fabrici prototipova, pa se onda kloniraju po potrebi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D871F4B8-3E78-DC47-5123-B8925C633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Clone u Javi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BFDE69D5-5B8C-3418-7EE6-3B267AB53E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800"/>
              <a:t>Ako klasa implementira interfejs </a:t>
            </a:r>
            <a:r>
              <a:rPr lang="en-US" altLang="sr-Latn-RS" sz="2800" b="1"/>
              <a:t>Cloneable</a:t>
            </a:r>
            <a:r>
              <a:rPr lang="en-US" altLang="sr-Latn-RS" sz="2800"/>
              <a:t>, onda mora da redefiniše metodu </a:t>
            </a:r>
            <a:r>
              <a:rPr lang="en-US" altLang="sr-Latn-RS" sz="2800" b="1"/>
              <a:t>clone()</a:t>
            </a:r>
          </a:p>
          <a:p>
            <a:r>
              <a:rPr lang="en-US" altLang="sr-Latn-RS" sz="2800"/>
              <a:t>Metoda </a:t>
            </a:r>
            <a:r>
              <a:rPr lang="en-US" altLang="sr-Latn-RS" sz="2800" b="1"/>
              <a:t>clone()</a:t>
            </a:r>
            <a:r>
              <a:rPr lang="en-US" altLang="sr-Latn-RS" sz="2800"/>
              <a:t> postoji u klasi </a:t>
            </a:r>
            <a:r>
              <a:rPr lang="en-US" altLang="sr-Latn-RS" sz="2800" b="1"/>
              <a:t>Object</a:t>
            </a:r>
            <a:r>
              <a:rPr lang="en-US" altLang="sr-Latn-RS" sz="2800"/>
              <a:t>, ali je </a:t>
            </a:r>
            <a:r>
              <a:rPr lang="en-US" altLang="sr-Latn-RS" sz="2800" b="1"/>
              <a:t>protected</a:t>
            </a:r>
          </a:p>
          <a:p>
            <a:r>
              <a:rPr lang="en-US" altLang="sr-Latn-RS" sz="2800"/>
              <a:t>Metoda </a:t>
            </a:r>
            <a:r>
              <a:rPr lang="en-US" altLang="sr-Latn-RS" sz="2800" b="1"/>
              <a:t>clone()</a:t>
            </a:r>
            <a:r>
              <a:rPr lang="en-US" altLang="sr-Latn-RS" sz="2800"/>
              <a:t> vraća kopiju originalnog objekta bajt po bajt</a:t>
            </a:r>
          </a:p>
          <a:p>
            <a:pPr lvl="1"/>
            <a:r>
              <a:rPr lang="sr-Latn-RS" altLang="sr-Latn-RS" sz="2400"/>
              <a:t>primitivni atributi se kopiraju bajt-po-bajt</a:t>
            </a:r>
          </a:p>
          <a:p>
            <a:pPr lvl="1"/>
            <a:r>
              <a:rPr lang="sr-Latn-RS" altLang="sr-Latn-RS" sz="2400"/>
              <a:t>neprimitivni </a:t>
            </a:r>
            <a:r>
              <a:rPr lang="en-US" altLang="sr-Latn-RS" sz="2400"/>
              <a:t>atributi </a:t>
            </a:r>
            <a:r>
              <a:rPr lang="sr-Latn-RS" altLang="sr-Latn-RS" sz="2400"/>
              <a:t>(reference) </a:t>
            </a:r>
            <a:r>
              <a:rPr lang="en-US" altLang="sr-Latn-RS" sz="2400"/>
              <a:t>u kopiji</a:t>
            </a:r>
            <a:r>
              <a:rPr lang="sr-Latn-RS" altLang="sr-Latn-RS" sz="2400"/>
              <a:t> </a:t>
            </a:r>
            <a:r>
              <a:rPr lang="en-US" altLang="sr-Latn-RS" sz="2400"/>
              <a:t>ukazuju na isti objekat kao i kod originala – shallow copy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CCA2-1457-AAE9-2377-7D5ACAAA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strukturni šabloni</a:t>
            </a:r>
            <a:endParaRPr lang="en-US"/>
          </a:p>
        </p:txBody>
      </p:sp>
      <p:sp>
        <p:nvSpPr>
          <p:cNvPr id="30723" name="Text Placeholder 2">
            <a:extLst>
              <a:ext uri="{FF2B5EF4-FFF2-40B4-BE49-F238E27FC236}">
                <a16:creationId xmlns:a16="http://schemas.microsoft.com/office/drawing/2014/main" id="{B92820DD-6801-1B58-BF73-388048F69C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 altLang="sr-Latn-R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1BFCEA04-2840-A610-A88E-6E821E0EBD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Strukturni šabloni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13602DF0-A645-A82A-825B-1239F343B3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b="1"/>
              <a:t>Fasada (Facade)</a:t>
            </a:r>
          </a:p>
          <a:p>
            <a:r>
              <a:rPr lang="en-US" altLang="sr-Latn-RS" b="1"/>
              <a:t>Adapter</a:t>
            </a:r>
          </a:p>
          <a:p>
            <a:r>
              <a:rPr lang="en-US" altLang="sr-Latn-RS"/>
              <a:t>Most (Bridge)</a:t>
            </a:r>
          </a:p>
          <a:p>
            <a:r>
              <a:rPr lang="en-US" altLang="sr-Latn-RS" i="1"/>
              <a:t>Kompozitni (Composite)</a:t>
            </a:r>
          </a:p>
          <a:p>
            <a:r>
              <a:rPr lang="en-US" altLang="sr-Latn-RS"/>
              <a:t>Dekorator (Decorator)</a:t>
            </a:r>
          </a:p>
          <a:p>
            <a:r>
              <a:rPr lang="en-US" altLang="sr-Latn-RS"/>
              <a:t>Flyweight</a:t>
            </a:r>
          </a:p>
          <a:p>
            <a:r>
              <a:rPr lang="en-US" altLang="sr-Latn-RS"/>
              <a:t>Proksi (Proxy)</a:t>
            </a:r>
          </a:p>
          <a:p>
            <a:pPr>
              <a:buFontTx/>
              <a:buNone/>
            </a:pPr>
            <a:endParaRPr lang="en-US" altLang="sr-Latn-R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4FF0AE8A-9EFA-8DD1-A138-E2E050841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Fasada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E33BB264-3259-F364-9299-3A20AFF2DD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Sakriva od klijenta kompleksnu strukturu klasa i njihovih poziva</a:t>
            </a:r>
          </a:p>
          <a:p>
            <a:r>
              <a:rPr lang="en-US" altLang="sr-Latn-RS"/>
              <a:t>Ako je potrebno da se instancira veći broj klasa i/ili da se pozove veći broj metoda tih klasa, to može da uradi fasada</a:t>
            </a:r>
          </a:p>
          <a:p>
            <a:pPr lvl="1"/>
            <a:r>
              <a:rPr lang="en-US" altLang="sr-Latn-RS"/>
              <a:t>klijent samo pozove metodu fasade, a ona odradi kompleksan posao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144213F7-5699-131B-A0B5-A88CEB6D6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EA56BAC3-1058-6D10-F111-A3537C4F59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Racunar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final int BOOT_ADRESA = 1024;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Procesor procesor = new Procesor();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Memorija memorija = new Memorija();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Disk     disk     = new Disk();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start()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disk.zavrti();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memorija.ucitajBootSektor(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disk.vratiBootSektor());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procesor.skociNa(BOOT_ADRESA, memorija);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B0E6E965-6DE3-C0F4-78AF-EB67C996D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1952FE6D-F15F-9344-DE33-287BB9D7FA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64185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Racunar racunar;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public Test()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racunar = new Racunar();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racunar.start();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 args[])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new Test();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0CA748C6-B089-4496-92F9-33353129B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Adapter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7D0C3126-3C9F-F2F9-888B-1E49296A4A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800"/>
              <a:t>Spaja dve klase</a:t>
            </a:r>
          </a:p>
          <a:p>
            <a:pPr lvl="1"/>
            <a:r>
              <a:rPr lang="en-US" altLang="sr-Latn-RS" sz="2400"/>
              <a:t>ne možemo da menjamo ni jednu klasu</a:t>
            </a:r>
          </a:p>
          <a:p>
            <a:r>
              <a:rPr lang="en-US" altLang="sr-Latn-RS" sz="2800"/>
              <a:t>Realizuje se kao klasa koja sa jedne strane izgleda kao jedna klasa (implementira interfejs ili nasleđuje tu klasu), a sa druge strane nasleđuje ili sadrži drugu klasu</a:t>
            </a:r>
          </a:p>
          <a:p>
            <a:r>
              <a:rPr lang="en-US" altLang="sr-Latn-RS" sz="2800"/>
              <a:t>Dve realizacije:</a:t>
            </a:r>
          </a:p>
          <a:p>
            <a:pPr lvl="1"/>
            <a:r>
              <a:rPr lang="en-US" altLang="sr-Latn-RS" sz="2400"/>
              <a:t>preko atributa (asocijacija i kompozicija)</a:t>
            </a:r>
          </a:p>
          <a:p>
            <a:pPr lvl="1"/>
            <a:r>
              <a:rPr lang="en-US" altLang="sr-Latn-RS" sz="2400"/>
              <a:t>upotrebom nasleđivanja (u slučaju jave: nasleđivanje i implementacija)</a:t>
            </a:r>
          </a:p>
          <a:p>
            <a:endParaRPr lang="en-US" altLang="sr-Latn-RS"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39191C47-50E6-3F43-CCD5-ABAA4AB15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175"/>
            <a:ext cx="8229600" cy="561975"/>
          </a:xfrm>
        </p:spPr>
        <p:txBody>
          <a:bodyPr/>
          <a:lstStyle/>
          <a:p>
            <a:r>
              <a:rPr lang="sr-Latn-RS" altLang="en-US"/>
              <a:t>Adapter</a:t>
            </a:r>
          </a:p>
        </p:txBody>
      </p:sp>
      <p:pic>
        <p:nvPicPr>
          <p:cNvPr id="36867" name="Content Placeholder 3">
            <a:extLst>
              <a:ext uri="{FF2B5EF4-FFF2-40B4-BE49-F238E27FC236}">
                <a16:creationId xmlns:a16="http://schemas.microsoft.com/office/drawing/2014/main" id="{7D38A802-BF0F-FF54-AEBC-C1AA9E7996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32138" y="889000"/>
            <a:ext cx="2879725" cy="5948363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D38E0F3B-ABA4-77B2-7846-87EDD14B04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Adapter preko atributa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096D8578-30B1-F587-08F7-A6A6C5CD26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Adapter implementira interfejs sa jedne strane, a drugu stranu sadrži kao atribut</a:t>
            </a:r>
          </a:p>
          <a:p>
            <a:pPr lvl="1"/>
            <a:r>
              <a:rPr lang="en-US" altLang="sr-Latn-RS"/>
              <a:t>poziv metode definisane interfejsom prevodi u poziv odgovarajuće metode atributa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A4DFC7CB-A38E-3374-5329-3181B70EC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Primer-atribut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3156405A-B9FE-26C1-F69F-DE32F0D9A9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USBTastatura {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public int vratiTaster();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Racunar {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USBTastatura tastatura;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testTastature() {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          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tastatura.vratiTaster());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5EBA00AC-3389-EF33-F345-5054769D6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sr-Latn-RS" altLang="sr-Latn-RS"/>
              <a:t>Primer-atribut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5C0AE38D-1829-1745-3F6B-7A1D875668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452596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PS2Tastatura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int vratiTaster()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System.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</a:t>
            </a:r>
          </a:p>
          <a:p>
            <a:pPr marL="0" indent="0">
              <a:buFontTx/>
              <a:buNone/>
            </a:pP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          "PS2 tastatura vraća taster.");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return 65;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Racunar racunar = new Racunar();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racunar.tastatura = </a:t>
            </a:r>
            <a:r>
              <a:rPr lang="sr-Latn-RS" altLang="sr-Latn-RS" sz="2000" b="1" u="sng">
                <a:latin typeface="Courier New" panose="02070309020205020404" pitchFamily="49" charset="0"/>
                <a:cs typeface="Courier New" panose="02070309020205020404" pitchFamily="49" charset="0"/>
              </a:rPr>
              <a:t>new PS2ToUsbAdapter(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</a:t>
            </a:r>
            <a:r>
              <a:rPr lang="sr-Latn-RS" altLang="sr-Latn-RS" sz="2000" b="1" u="sng">
                <a:latin typeface="Courier New" panose="02070309020205020404" pitchFamily="49" charset="0"/>
                <a:cs typeface="Courier New" panose="02070309020205020404" pitchFamily="49" charset="0"/>
              </a:rPr>
              <a:t>ps2tastatura);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racunar.testTastature();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D1E1553F-5E47-DC3F-4A74-694FF0C97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Primer-atribut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4E2FCC7C-D188-F32E-EE81-F3F924EFAF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PS2ToUsbAdapter implements USBTastatura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PS2Tastatura tastatura;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public PS2ToUsbAdapter(PS2Tastatura 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tastatura)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this.tastatura = tastatura;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public int vratiTaster()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return tastatura.vratiTaster();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AFEDCD79-4FE7-454C-B46A-FEB75795D1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Adapter preko nasleđivanja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D4ACB32C-70C9-541F-DB51-69E398EE4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Adapter implementira interfejs sa jedne strane, a nasleđuje klasu sa druge strane</a:t>
            </a:r>
          </a:p>
          <a:p>
            <a:pPr lvl="1"/>
            <a:r>
              <a:rPr lang="en-US" altLang="sr-Latn-RS"/>
              <a:t>nema višestrukog nasleđivanja</a:t>
            </a:r>
          </a:p>
          <a:p>
            <a:r>
              <a:rPr lang="en-US" altLang="sr-Latn-RS"/>
              <a:t>Poziv metode definisane interfejsom prosleđuje na poziv metode roditelja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960C1C89-F193-7745-95A4-2DA1FB996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Primer-nasleđivanje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9339E0FC-B5C2-3C4C-4EBE-E4F44D4F0F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USBTastatura {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public int vratiTaster();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Racunar {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USBTastatura tastatura;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testTastature() {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          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 tastatura.vratiTaster());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205D434E-77D7-11D0-9512-CF6945409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Primer-nasleđivanje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C9090894-F42D-CE2A-5A6D-7E790BA6A2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PS2Tastatura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int vratiTaster()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System.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</a:t>
            </a:r>
          </a:p>
          <a:p>
            <a:pPr marL="0" indent="0">
              <a:buFontTx/>
              <a:buNone/>
            </a:pP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          "PS2 tastatura vraća taster.");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return 65;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Racunar racunar = new Racunar();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racunar.tastatura = </a:t>
            </a:r>
            <a:r>
              <a:rPr lang="sr-Latn-RS" altLang="sr-Latn-RS" sz="2000" b="1" u="sng">
                <a:latin typeface="Courier New" panose="02070309020205020404" pitchFamily="49" charset="0"/>
                <a:cs typeface="Courier New" panose="02070309020205020404" pitchFamily="49" charset="0"/>
              </a:rPr>
              <a:t>new PS2ToUsbAdapter();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racunar.testTastature();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35925186-CF92-6473-10DD-730C6DC09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Primer-nasleđivanje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EA09530B-9671-0EB5-652E-7D27138E86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PS2ToUsbAdapter extends PS2Tastatura implements USBTastatura {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public int vratiTaster() {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return super.vratiTaster();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52B493BC-D3A5-8760-7DE1-235C090CE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Bridge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23BEF310-7EA2-E6F0-C6B9-C2ED1284B0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Za razdvajanje specifikacije i implementacije</a:t>
            </a:r>
          </a:p>
          <a:p>
            <a:r>
              <a:rPr lang="en-US" altLang="sr-Latn-RS"/>
              <a:t>I specifikacija i implementacija mogu da se dodatno nasleđuju i redefinišu, ali su nezavisni jedno od drugog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F754E2B7-26E8-A486-960C-ABF1AA3DB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Composite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A1CD9011-5F65-22BF-6981-FEB974E244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Predstavlja kompozitnu komponentu koja ima rekurzivnu hijerarhijsku internu strukturu</a:t>
            </a:r>
          </a:p>
          <a:p>
            <a:r>
              <a:rPr lang="en-US" altLang="sr-Latn-RS"/>
              <a:t>Poput stabla</a:t>
            </a:r>
          </a:p>
          <a:p>
            <a:pPr lvl="1"/>
            <a:r>
              <a:rPr lang="en-US" altLang="sr-Latn-RS"/>
              <a:t>svaki element je ili list, ili sadrži svoje podelemente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AAE46314-5E66-E23F-EBA5-DA80CAEDA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Decorator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83BC48A2-48D3-5FEF-2FF0-FD0631C9D8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800"/>
              <a:t>Dodavanje novih atributa ili metoda u nekoj klasi, ali ne preko nasleđivanja</a:t>
            </a:r>
          </a:p>
          <a:p>
            <a:pPr lvl="1"/>
            <a:r>
              <a:rPr lang="en-US" altLang="sr-Latn-RS" sz="2400"/>
              <a:t>ovako je moguće dinamički (run-time) proširiti funkcionalnost neke klase</a:t>
            </a:r>
          </a:p>
          <a:p>
            <a:r>
              <a:rPr lang="en-US" altLang="sr-Latn-RS" sz="2800"/>
              <a:t>Nova klasa ne nasleđuje klasu koju proširuje, već nasleđuje zajedničkog pretka, a sadrži u sebi (kao atribut) objekat klase koju proširuje</a:t>
            </a:r>
          </a:p>
          <a:p>
            <a:r>
              <a:rPr lang="en-US" altLang="sr-Latn-RS" sz="2800"/>
              <a:t>Primeri: DataInputStream, BufferedInputStream, JScrollPane u Javi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4A810AB-0995-AD3C-C91B-0A61201EA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FlyWeight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7DC17C61-D3AE-3F66-C5FB-3836E357F5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r>
              <a:rPr lang="en-US" altLang="sr-Latn-RS"/>
              <a:t>Koristi se kada imamo potrebu za velikim brojem objekata, ali je skupo da ih sve napravimo (potrošnja memorije, pre svega)</a:t>
            </a:r>
          </a:p>
          <a:p>
            <a:r>
              <a:rPr lang="en-US" altLang="sr-Latn-RS"/>
              <a:t>Umesto ručnog pravljenja velikog broja objekata, koristićemo već napravljene objekte (iz nekog repozitorijuma)</a:t>
            </a:r>
          </a:p>
          <a:p>
            <a:pPr lvl="1"/>
            <a:r>
              <a:rPr lang="en-US" altLang="sr-Latn-RS"/>
              <a:t>moguće samo ako se ne koriste svi istovremeno</a:t>
            </a:r>
          </a:p>
          <a:p>
            <a:pPr lvl="1"/>
            <a:r>
              <a:rPr lang="en-US" altLang="sr-Latn-RS"/>
              <a:t>ovih objekata ima značajno manje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A4E4BCB0-4B2A-65C2-7F9A-F20CC82CB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Proksi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A469AEFB-C2CE-500F-0A79-E79EF0D8C0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800"/>
              <a:t>Jednostavan predstavnik željene (kompleksne) klase</a:t>
            </a:r>
          </a:p>
          <a:p>
            <a:r>
              <a:rPr lang="en-US" altLang="sr-Latn-RS" sz="2800"/>
              <a:t>Klijent radi sa proksijem, a zapravo se izvršavaju metode u kompleksnom objektu</a:t>
            </a:r>
          </a:p>
          <a:p>
            <a:r>
              <a:rPr lang="en-US" altLang="sr-Latn-RS" sz="2800"/>
              <a:t>Nekad se kreiranje kompleksnog objekta odlaže, pa se koristi jednostavan predstavnik</a:t>
            </a:r>
          </a:p>
          <a:p>
            <a:r>
              <a:rPr lang="en-US" altLang="sr-Latn-RS" sz="2800"/>
              <a:t>Nekad su jednostavan i kompleksan</a:t>
            </a:r>
            <a:r>
              <a:rPr lang="sr-Latn-RS" altLang="sr-Latn-RS" sz="2800"/>
              <a:t> </a:t>
            </a:r>
            <a:r>
              <a:rPr lang="en-US" altLang="sr-Latn-RS" sz="2800"/>
              <a:t>predstavnik razdvojeni na različitim računarima</a:t>
            </a:r>
          </a:p>
          <a:p>
            <a:r>
              <a:rPr lang="en-US" altLang="sr-Latn-RS" sz="2800"/>
              <a:t>Primer: Java RMI (Remote Method Invocation) se zasniva na ovom konceptu</a:t>
            </a:r>
          </a:p>
          <a:p>
            <a:endParaRPr lang="en-US" altLang="sr-Latn-RS" sz="2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C68A-C517-5FA7-2C7E-5026AEED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šabloni za ponašanje</a:t>
            </a:r>
            <a:endParaRPr lang="en-US"/>
          </a:p>
        </p:txBody>
      </p:sp>
      <p:sp>
        <p:nvSpPr>
          <p:cNvPr id="51203" name="Text Placeholder 2">
            <a:extLst>
              <a:ext uri="{FF2B5EF4-FFF2-40B4-BE49-F238E27FC236}">
                <a16:creationId xmlns:a16="http://schemas.microsoft.com/office/drawing/2014/main" id="{EAEAC3A0-0688-538C-E1CB-BB1F111B4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 altLang="sr-Latn-R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BE05FA2C-E96E-2D83-4FF2-9F393B68A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Šabloni za ponašanje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345F9E25-80CA-3BA4-5D51-9062CB4AA9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400" b="1"/>
              <a:t>Komanda (Command)</a:t>
            </a:r>
            <a:endParaRPr lang="sr-Latn-RS" altLang="sr-Latn-RS" sz="2400" b="1"/>
          </a:p>
          <a:p>
            <a:r>
              <a:rPr lang="en-US" altLang="sr-Latn-RS" sz="2400" b="1"/>
              <a:t>Observer</a:t>
            </a:r>
            <a:endParaRPr lang="sr-Latn-RS" altLang="sr-Latn-RS" sz="2400" b="1"/>
          </a:p>
          <a:p>
            <a:r>
              <a:rPr lang="en-US" altLang="sr-Latn-RS" sz="2400" b="1"/>
              <a:t>Iterator</a:t>
            </a:r>
          </a:p>
          <a:p>
            <a:r>
              <a:rPr lang="en-US" altLang="sr-Latn-RS" sz="2400" b="1"/>
              <a:t>State</a:t>
            </a:r>
            <a:endParaRPr lang="sr-Latn-RS" altLang="sr-Latn-RS" sz="2400" b="1"/>
          </a:p>
          <a:p>
            <a:r>
              <a:rPr lang="en-US" altLang="sr-Latn-RS" sz="2400"/>
              <a:t>Lanac odgovornosti (Chain of Responsibility)</a:t>
            </a:r>
          </a:p>
          <a:p>
            <a:r>
              <a:rPr lang="en-US" altLang="sr-Latn-RS" sz="2400"/>
              <a:t>Interpreter</a:t>
            </a:r>
          </a:p>
          <a:p>
            <a:r>
              <a:rPr lang="en-US" altLang="sr-Latn-RS" sz="2400"/>
              <a:t>Mediator</a:t>
            </a:r>
          </a:p>
          <a:p>
            <a:r>
              <a:rPr lang="en-US" altLang="sr-Latn-RS" sz="2400"/>
              <a:t>Uspomena (Memento)</a:t>
            </a:r>
          </a:p>
          <a:p>
            <a:r>
              <a:rPr lang="en-US" altLang="sr-Latn-RS" sz="2400"/>
              <a:t>Strategy</a:t>
            </a:r>
          </a:p>
          <a:p>
            <a:r>
              <a:rPr lang="en-US" altLang="sr-Latn-RS" sz="2400"/>
              <a:t>Template Method</a:t>
            </a:r>
          </a:p>
          <a:p>
            <a:r>
              <a:rPr lang="en-US" altLang="sr-Latn-RS" sz="2400"/>
              <a:t>Visitor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D54C2367-6C50-FF36-B871-9EE325212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Command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1B457AFB-9866-83E7-C064-64D201EA40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400"/>
              <a:t>Predstavlja sistem za izvršavanje komandi, gde je svaka komanda predstavljena odgovarajućom klasom</a:t>
            </a:r>
          </a:p>
          <a:p>
            <a:r>
              <a:rPr lang="en-US" altLang="sr-Latn-RS" sz="2400"/>
              <a:t>Sve komande nasleđuju apstraktnu komandu, koja ima metodu execute()</a:t>
            </a:r>
          </a:p>
          <a:p>
            <a:r>
              <a:rPr lang="en-US" altLang="sr-Latn-RS" sz="2400"/>
              <a:t>Ako želimo da obezbedimo undo/redo funkcionalnost, moramo da implementiramo jednu od dve dodatne funkcionalnosti:</a:t>
            </a:r>
          </a:p>
          <a:p>
            <a:pPr lvl="1"/>
            <a:r>
              <a:rPr lang="en-US" altLang="sr-Latn-RS" sz="2000"/>
              <a:t>pre izvršenja svake komande, zapamtiti trenutno stanje (ponekad nepraktično – obrada slike ili filma)</a:t>
            </a:r>
          </a:p>
          <a:p>
            <a:pPr lvl="1"/>
            <a:r>
              <a:rPr lang="en-US" altLang="sr-Latn-RS" sz="2000"/>
              <a:t>zapamtiti izvršenu komandu u nekakvoj kolekciji i implementirati inverznu funkciju ove komande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9D03A75A-5F6D-A25F-B723-742305FBB2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054C20E6-71DB-006E-3044-AC6BFA4B41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Command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File currentDir;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List&lt;String&gt; parameters;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Command()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currentDir = new File(".");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parameters = new ArrayList&lt;String&gt;();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/** Izvršava komandu.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* Ako vrati &lt;b&gt;false&lt;/b&gt;, program će završiti.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it-IT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* @return da li da ostane u programu ili ne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*/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abstract boolean execute();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04FA7CB-B2AB-48E3-5F6B-E4697ECE1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13A1C056-6869-6836-DDA1-02187016C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DirCommand extends Command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public boolean execute()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for(File f : currentDir.listFiles())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  System.</a:t>
            </a: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out.println(f.getName());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return true;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B6F80F49-77F5-AF68-88C3-FAB9D9144D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FD7883DC-1338-4317-75BE-D2BFC2FBE9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ExitCommand extends Command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public boolean execute()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//System.exit(0);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return false;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5F3AAE2F-BC2D-E5B0-1681-4DF8800438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6E88EF3A-4AEF-B113-53ED-1CE5947917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5298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Parser parser = new Parser();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Scanner sc = new Scanner(System.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in);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System.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out.print("&gt;");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String line = sc.nextLine();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Command cmd = parser.parse(line);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if (cmd != null) {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if (cmd.execute() == false)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break;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 else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System.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out.println("Unknown command.");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sc.close();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68895AF4-8B3E-E6D6-8BE0-B3AAEE422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Observer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4D1C7D15-4695-00F3-65DF-F1CA2B4593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800"/>
              <a:t>Za nadgledanje promene stanja objekta</a:t>
            </a:r>
          </a:p>
          <a:p>
            <a:r>
              <a:rPr lang="en-US" altLang="sr-Latn-RS" sz="2800"/>
              <a:t>Kada god se stanje objekta promeni, obaveštava se posmatrač, koji se prethodno registrovao</a:t>
            </a:r>
          </a:p>
          <a:p>
            <a:r>
              <a:rPr lang="en-US" altLang="sr-Latn-RS" sz="2800"/>
              <a:t>Primer:</a:t>
            </a:r>
          </a:p>
          <a:p>
            <a:pPr lvl="1"/>
            <a:r>
              <a:rPr lang="en-US" altLang="sr-Latn-RS" sz="2400"/>
              <a:t>Swing GUI – svaka akcija korisničkog interfejsa ima odgovarajući observer, koji se zove </a:t>
            </a:r>
            <a:r>
              <a:rPr lang="en-US" altLang="sr-Latn-RS" sz="2400" i="1"/>
              <a:t>Listener</a:t>
            </a:r>
          </a:p>
        </p:txBody>
      </p:sp>
      <p:pic>
        <p:nvPicPr>
          <p:cNvPr id="58372" name="Picture 6" descr="http://upload.wikimedia.org/wikipedia/commons/thumb/8/8d/Observer.svg/500px-Observer.svg.png">
            <a:extLst>
              <a:ext uri="{FF2B5EF4-FFF2-40B4-BE49-F238E27FC236}">
                <a16:creationId xmlns:a16="http://schemas.microsoft.com/office/drawing/2014/main" id="{7D05A4D6-CB75-1937-4AB1-8631C7521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818063"/>
            <a:ext cx="453707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7A6BB689-BA8F-B583-CD9C-FE8DBE2174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Observer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998E46B6-D59E-FA96-760E-3DD8489A84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Objekat koji se nadgleda može da implementira Observable interfejs</a:t>
            </a:r>
          </a:p>
          <a:p>
            <a:pPr lvl="1"/>
            <a:r>
              <a:rPr lang="sr-Latn-RS" altLang="sr-Latn-RS"/>
              <a:t>sadrži metode za dodavanje/uklanjanje posmatrača</a:t>
            </a:r>
          </a:p>
          <a:p>
            <a:r>
              <a:rPr lang="sr-Latn-RS" altLang="sr-Latn-RS"/>
              <a:t>Objekat koji posmatra implementira interfejs Observer</a:t>
            </a:r>
          </a:p>
          <a:p>
            <a:pPr lvl="1"/>
            <a:r>
              <a:rPr lang="sr-Latn-RS" altLang="sr-Latn-RS"/>
              <a:t>sadrži metode koje bivaju pozvane kada se posmatra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7B14FBAF-C541-9CFF-58CF-D180C755B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82387961-8996-DBFA-F857-DCCFC6E1DA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Observable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register(Observer observer);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unregister(Observer observer);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Observer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void update(int newState);</a:t>
            </a:r>
          </a:p>
          <a:p>
            <a:pPr marL="0" indent="0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710DB80F-BB00-2737-3365-A3682B3C0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4F53EC4A-C368-59D9-B784-4A9F6AB896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514508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Timer implements Observable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List &lt;Observer&gt; observers;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Timer()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observers = new ArrayList&lt;Observer&gt;();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register(Observer observer)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observers.add(observer);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unregister(Observer observer)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observers.remove(observer);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FontTx/>
              <a:buNone/>
            </a:pPr>
            <a:endParaRPr lang="sr-Latn-R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0DEBD174-53B2-DB2F-A4AF-920378250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12DC747A-6276-B971-6E33-00BDE5E642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507365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@SuppressWarnings("static-access")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start()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int seconds = 0;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while(true)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try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Thread.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currentThread().sleep(1000);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seconds++;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for (Observer o : observers)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  o.update(seconds);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} catch (InterruptedException e)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  e.printStackTrace();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E267CE7B-A4F6-83DA-00A3-B4F11A74D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BEE809E4-6D9B-BE78-F6DC-E65740B854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Clock implements Observer {</a:t>
            </a:r>
          </a:p>
          <a:p>
            <a:pPr marL="0" indent="0">
              <a:buFontTx/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update(int newState)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System.</a:t>
            </a: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out.println(newState);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098E02AB-7173-FA32-4B3F-C238482DF2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Iterator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D7FB9406-EC4E-1546-2CB0-4B72E79289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Podržan u samom jeziku:</a:t>
            </a:r>
          </a:p>
          <a:p>
            <a:pPr lvl="1">
              <a:buFontTx/>
              <a:buNone/>
            </a:pPr>
            <a:r>
              <a:rPr lang="en-US" altLang="sr-Latn-RS"/>
              <a:t>for (Stavka s : stavke) ...</a:t>
            </a:r>
          </a:p>
          <a:p>
            <a:r>
              <a:rPr lang="en-US" altLang="sr-Latn-RS"/>
              <a:t>Kolekcije sadrže iteratore</a:t>
            </a:r>
          </a:p>
          <a:p>
            <a:pPr lvl="1">
              <a:buFontTx/>
              <a:buNone/>
            </a:pPr>
            <a:r>
              <a:rPr lang="en-US" altLang="sr-Latn-RS"/>
              <a:t>lista.iterator()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30B1B20D-3D71-5A7C-9E3D-F690B4E02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56DAED95-094A-3DFC-CC95-6336589258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Automobil[] niz = new Automobil[] {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new Automobil("Audi", "A8"),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new Automobil("Renault", "Laguna"),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new Automobil("Fiat", "Punto") };</a:t>
            </a:r>
          </a:p>
          <a:p>
            <a:pPr marL="0" indent="0">
              <a:buFontTx/>
              <a:buNone/>
            </a:pPr>
            <a:endParaRPr lang="sr-Latn-R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for (Automobil a : niz)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System.out.println(a);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D15606DD-D043-64BF-07C5-99BECF30B2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694F15E4-16A4-9E84-5E40-0F8769386E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504031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Collection&lt;Automobil&gt; kolekcija = new ArrayList&lt;Automobil&gt;();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kolekcija.add(new Automobil("Audi", "A8"));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kolekcija.add(new Automobil("Renault", "Laguna"));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kolekcija.add(new Automobil("Fiat", "Punto"));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Iterator&lt;Automobil&gt; iterator = kolekcija.iterator();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while (iterator.hasNext())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System.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out.println(iterator.next());</a:t>
            </a:r>
          </a:p>
          <a:p>
            <a:pPr marL="0" indent="0">
              <a:buFontTx/>
              <a:buNone/>
            </a:pPr>
            <a:endParaRPr lang="sr-Latn-R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kolekcija.add(new Automobil("VolksWagen", "Passat"));</a:t>
            </a:r>
          </a:p>
          <a:p>
            <a:pPr marL="0" indent="0">
              <a:buFontTx/>
              <a:buNone/>
            </a:pPr>
            <a:endParaRPr lang="sr-Latn-R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for (Automobil a : kolekcija)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System.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out.println(a);</a:t>
            </a:r>
          </a:p>
          <a:p>
            <a:pPr marL="0" indent="0">
              <a:buFontTx/>
              <a:buNone/>
            </a:pPr>
            <a:endParaRPr lang="sr-Latn-R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D4B79872-E16F-241D-D241-6C8E23C00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State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280B7757-D0BB-35F4-03B5-CDF968E5E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Programska realizacija automata stanja</a:t>
            </a:r>
          </a:p>
          <a:p>
            <a:r>
              <a:rPr lang="en-US" altLang="sr-Latn-RS"/>
              <a:t>Svako stanje je modelovano klasom</a:t>
            </a:r>
          </a:p>
          <a:p>
            <a:pPr lvl="1"/>
            <a:r>
              <a:rPr lang="en-US" altLang="sr-Latn-RS"/>
              <a:t>zajednički predak je ili klasa, ili interfejs</a:t>
            </a:r>
          </a:p>
          <a:p>
            <a:r>
              <a:rPr lang="en-US" altLang="sr-Latn-RS"/>
              <a:t>Svako stanje "zna" koje je sledeće stanje, u zavisnosti od ulaza</a:t>
            </a:r>
          </a:p>
        </p:txBody>
      </p:sp>
      <p:pic>
        <p:nvPicPr>
          <p:cNvPr id="67588" name="Picture 6" descr="http://upload.wikimedia.org/wikipedia/commons/thumb/e/e8/State_Design_Pattern_UML_Class_Diagram.svg/400px-State_Design_Pattern_UML_Class_Diagram.svg.png">
            <a:extLst>
              <a:ext uri="{FF2B5EF4-FFF2-40B4-BE49-F238E27FC236}">
                <a16:creationId xmlns:a16="http://schemas.microsoft.com/office/drawing/2014/main" id="{2234E458-7D97-2A7D-EB8C-F15BAD45A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4868863"/>
            <a:ext cx="38100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685D19C2-B9F0-3E71-6AE8-4219A43A3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BE1D0841-A54C-C21A-7D69-1DCD6D83E8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Test {</a:t>
            </a:r>
          </a:p>
          <a:p>
            <a:pPr marL="0" indent="0">
              <a:buFontTx/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Semafor semafor = new Semafor();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semafor.ukljuci();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041EF18A-7EDA-583F-8101-90A5AE1D6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635000"/>
          </a:xfrm>
        </p:spPr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93D00517-0CCE-0CB9-BEA2-308B94D03C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08050"/>
            <a:ext cx="8229600" cy="54737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Semafor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SemaforState stanje;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Semafor()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stanje = TrepcuceZuto.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getInstance();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ukljuci()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sleep();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stanje = stanje.ukljucio();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sleep();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n-NO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for (int i = 0; i &lt; 10; i++)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stanje = stanje.tajmerSeAktivirao();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 sleep();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stanje = stanje.iskljucio();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sleep();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D68CF541-2A26-C75A-073E-07CCC418CC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563562"/>
          </a:xfrm>
        </p:spPr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9D1C5572-A522-253F-2CDD-29D5BEFDD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6613"/>
            <a:ext cx="8507413" cy="547211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SemaforState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/** Kada se aktivira tajmer, vraća novo stanje. */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abstract SemaforState tajmerSeAktivirao();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/** Ako se uključio u ovom stanju, 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*  vraća novo stanje.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*/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abstract SemaforState ukljucio();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/** Ako se u bilo kom stanju iskljuci,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*  prelazi u trepcuce zuto.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*/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SemaforState iskljucio()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return TrepcuceZuto.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getInstance();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abstract void ispisStanja();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8CDA724C-54CE-8B4C-4117-4BFFEF158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635000"/>
          </a:xfrm>
        </p:spPr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EECDF750-1156-86D3-CCF1-67FE9CE4AE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08050"/>
            <a:ext cx="8229600" cy="521811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TrepcuceZuto extends SemaforState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SemaforState tajmerSeAktivirao()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// sledece stanje je zeleno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return Zeleno.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getInstance();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SemaforState ukljucio()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return Zeleno.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getInstance();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public void ispisStanja()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System.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out.println("TREPCUCE ZUTO");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D044A0FE-13B8-0619-65B5-DDA84D49DE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635000"/>
          </a:xfrm>
        </p:spPr>
        <p:txBody>
          <a:bodyPr/>
          <a:lstStyle/>
          <a:p>
            <a:r>
              <a:rPr lang="sr-Latn-RS" altLang="sr-Latn-RS"/>
              <a:t>Primer</a:t>
            </a:r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56585C68-90F2-1885-1C2C-AFA533B384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08050"/>
            <a:ext cx="8229600" cy="521811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Zeleno extends SemaforState {</a:t>
            </a:r>
            <a:endParaRPr lang="sr-Latn-R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SemaforState tajmerSeAktivirao()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// sledece stanje je 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trepćuće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zeleno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return TrepcuceZeleno.getInstance();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SemaforState ukljucio()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return this;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void ispisStanja() {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System.out.println("ZELENO");</a:t>
            </a:r>
          </a:p>
          <a:p>
            <a:pPr marL="0" indent="0"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A74579C0-85CE-9930-93DB-BFB66543C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Chain of Responsibility</a:t>
            </a:r>
          </a:p>
        </p:txBody>
      </p:sp>
      <p:sp>
        <p:nvSpPr>
          <p:cNvPr id="73731" name="Content Placeholder 2">
            <a:extLst>
              <a:ext uri="{FF2B5EF4-FFF2-40B4-BE49-F238E27FC236}">
                <a16:creationId xmlns:a16="http://schemas.microsoft.com/office/drawing/2014/main" id="{33744EB5-F334-8D1A-436C-80D6AC967B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Koristi se kada je potrebno da jedan zahtev obradi više učesnika</a:t>
            </a:r>
          </a:p>
          <a:p>
            <a:r>
              <a:rPr lang="en-US" altLang="sr-Latn-RS"/>
              <a:t>Svaki učesnik prosleđuje urađen posao do sledećeg učesnika</a:t>
            </a:r>
          </a:p>
          <a:p>
            <a:r>
              <a:rPr lang="en-US" altLang="sr-Latn-RS"/>
              <a:t>Učesnici ne moraju da budu poznati unapred</a:t>
            </a:r>
          </a:p>
          <a:p>
            <a:r>
              <a:rPr lang="en-US" altLang="sr-Latn-RS"/>
              <a:t>Primer: </a:t>
            </a:r>
          </a:p>
          <a:p>
            <a:pPr lvl="1"/>
            <a:r>
              <a:rPr lang="en-US" altLang="sr-Latn-RS"/>
              <a:t>digitalno potpisivanje i kriptovanje teksta</a:t>
            </a:r>
          </a:p>
          <a:p>
            <a:endParaRPr lang="en-US" altLang="sr-Latn-RS"/>
          </a:p>
        </p:txBody>
      </p:sp>
      <p:sp>
        <p:nvSpPr>
          <p:cNvPr id="73732" name="TextBox 1">
            <a:extLst>
              <a:ext uri="{FF2B5EF4-FFF2-40B4-BE49-F238E27FC236}">
                <a16:creationId xmlns:a16="http://schemas.microsoft.com/office/drawing/2014/main" id="{7CD17FD3-3156-9B15-B6F1-9199F5E05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237288"/>
            <a:ext cx="1368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en-US" sz="1800"/>
              <a:t>24.5</a:t>
            </a:r>
            <a:endParaRPr lang="en-US" altLang="en-US" sz="18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49AD485E-4617-5943-CC44-CE2EF7E9D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Interpreter</a:t>
            </a:r>
          </a:p>
        </p:txBody>
      </p:sp>
      <p:sp>
        <p:nvSpPr>
          <p:cNvPr id="74755" name="Content Placeholder 2">
            <a:extLst>
              <a:ext uri="{FF2B5EF4-FFF2-40B4-BE49-F238E27FC236}">
                <a16:creationId xmlns:a16="http://schemas.microsoft.com/office/drawing/2014/main" id="{2B652ABE-AFD6-4485-DEAF-BB9937CADB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400"/>
              <a:t>Kao što mu ime kaže, interpretira neki niz izraza u skladu sa gramatikom</a:t>
            </a:r>
          </a:p>
          <a:p>
            <a:r>
              <a:rPr lang="en-US" altLang="sr-Latn-RS" sz="2400"/>
              <a:t>Nije parser (prevodi tekst u neku memorijsku reprezentaciju), već izvršava izraze koji su već kreirani kao objekti odgovarajućih klasa (memorijska reprezentacija)</a:t>
            </a:r>
          </a:p>
          <a:p>
            <a:pPr lvl="1"/>
            <a:r>
              <a:rPr lang="en-US" altLang="sr-Latn-RS" sz="2000"/>
              <a:t>svaki objekat pose</a:t>
            </a:r>
            <a:r>
              <a:rPr lang="sr-Latn-RS" altLang="sr-Latn-RS" sz="2000"/>
              <a:t>d</a:t>
            </a:r>
            <a:r>
              <a:rPr lang="en-US" altLang="sr-Latn-RS" sz="2000"/>
              <a:t>uje internu logiku izvršavanja</a:t>
            </a:r>
          </a:p>
        </p:txBody>
      </p:sp>
      <p:pic>
        <p:nvPicPr>
          <p:cNvPr id="74756" name="Picture 6" descr="Interpreter UML class diagram.jpg">
            <a:extLst>
              <a:ext uri="{FF2B5EF4-FFF2-40B4-BE49-F238E27FC236}">
                <a16:creationId xmlns:a16="http://schemas.microsoft.com/office/drawing/2014/main" id="{0FECFD94-F73A-1B11-3DE3-C280AE382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4357688"/>
            <a:ext cx="5184775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CC8629D8-65AB-8E5F-2B7D-98820C8B08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Mediator</a:t>
            </a:r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D15E50CD-7DDF-7659-BADD-1CACD5BC67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83163"/>
          </a:xfrm>
        </p:spPr>
        <p:txBody>
          <a:bodyPr/>
          <a:lstStyle/>
          <a:p>
            <a:r>
              <a:rPr lang="en-US" altLang="sr-Latn-RS"/>
              <a:t>Ako je potrebno da veći broj objekata međusobno komunicira, ponekad je jednostavnije/isplativije da svi komuniciraju kroz centralno čvorište – mediator.</a:t>
            </a:r>
          </a:p>
          <a:p>
            <a:r>
              <a:rPr lang="en-US" altLang="sr-Latn-RS"/>
              <a:t>Primer: </a:t>
            </a:r>
          </a:p>
          <a:p>
            <a:pPr lvl="1"/>
            <a:r>
              <a:rPr lang="en-US" altLang="sr-Latn-RS"/>
              <a:t>dijalog za učitavanje datoteke: dugme Open je disable-ovano dok ne odaberemo datoteku</a:t>
            </a:r>
          </a:p>
          <a:p>
            <a:pPr lvl="1"/>
            <a:r>
              <a:rPr lang="en-US" altLang="sr-Latn-RS"/>
              <a:t>dijalog za odabir fonta: polje za prikaz teksta se podešava na osnovu odabranog fonta i njegovih svojstava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2126EBFC-A498-0C7D-D63E-1819287BA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Memento</a:t>
            </a:r>
          </a:p>
        </p:txBody>
      </p:sp>
      <p:sp>
        <p:nvSpPr>
          <p:cNvPr id="76803" name="Content Placeholder 2">
            <a:extLst>
              <a:ext uri="{FF2B5EF4-FFF2-40B4-BE49-F238E27FC236}">
                <a16:creationId xmlns:a16="http://schemas.microsoft.com/office/drawing/2014/main" id="{56430391-AC0B-EBC6-AF94-33C7B166A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r>
              <a:rPr lang="en-US" altLang="sr-Latn-RS"/>
              <a:t>Obezbeđuje mehanizam za pamćenje i restauraciju stanja aplikacije</a:t>
            </a:r>
          </a:p>
          <a:p>
            <a:pPr lvl="1"/>
            <a:r>
              <a:rPr lang="en-US" altLang="sr-Latn-RS"/>
              <a:t>osnova za undo/redo mehanizam</a:t>
            </a:r>
          </a:p>
          <a:p>
            <a:r>
              <a:rPr lang="en-US" altLang="sr-Latn-RS"/>
              <a:t>Kada je potrebno da se uradi "snapshot" stanja aplikacije, kreira se memento</a:t>
            </a:r>
          </a:p>
          <a:p>
            <a:pPr lvl="1"/>
            <a:r>
              <a:rPr lang="en-US" altLang="sr-Latn-RS"/>
              <a:t>to se obično radi prilikom menjanja stanja</a:t>
            </a:r>
          </a:p>
          <a:p>
            <a:r>
              <a:rPr lang="en-US" altLang="sr-Latn-RS"/>
              <a:t>Dve vrste implementacije:</a:t>
            </a:r>
          </a:p>
          <a:p>
            <a:pPr lvl="1"/>
            <a:r>
              <a:rPr lang="en-US" altLang="sr-Latn-RS" sz="2000"/>
              <a:t>pre izvršenja svake komande, zapamtiti trenutno stanje (ponekad nepraktično – obrada slike ili filma)</a:t>
            </a:r>
          </a:p>
          <a:p>
            <a:pPr lvl="1"/>
            <a:r>
              <a:rPr lang="en-US" altLang="sr-Latn-RS" sz="2000"/>
              <a:t>zapamtiti izvršenu komandu u nekakvoj kolekciji i implementirati inverznu funkciju ove komande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170B6707-6CAF-0BA7-3B24-17C8B2858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Strategy</a:t>
            </a:r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04420D24-2549-4464-2B0D-38956CEC2C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800"/>
              <a:t>Više različitih algoritama je implementirano u više klasa</a:t>
            </a:r>
          </a:p>
          <a:p>
            <a:pPr lvl="1"/>
            <a:r>
              <a:rPr lang="en-US" altLang="sr-Latn-RS" sz="2400"/>
              <a:t>moguće je koristiti bilo koji od njih, u toku rada programa</a:t>
            </a:r>
          </a:p>
          <a:p>
            <a:r>
              <a:rPr lang="en-US" altLang="sr-Latn-RS" sz="2800"/>
              <a:t>Primer:</a:t>
            </a:r>
          </a:p>
          <a:p>
            <a:pPr lvl="1"/>
            <a:r>
              <a:rPr lang="en-US" altLang="sr-Latn-RS" sz="2400"/>
              <a:t>snimanje u više različitih formata (Save As)</a:t>
            </a:r>
          </a:p>
          <a:p>
            <a:pPr lvl="1"/>
            <a:r>
              <a:rPr lang="en-US" altLang="sr-Latn-RS" sz="2400"/>
              <a:t>više različitih načina kriptovanja</a:t>
            </a:r>
          </a:p>
          <a:p>
            <a:endParaRPr lang="en-US" altLang="sr-Latn-RS" sz="2800"/>
          </a:p>
        </p:txBody>
      </p:sp>
      <p:pic>
        <p:nvPicPr>
          <p:cNvPr id="77828" name="Picture 2" descr="http://upload.wikimedia.org/wikipedia/commons/thumb/0/08/StrategyPatternClassDiagram.svg/400px-StrategyPatternClassDiagram.svg.png">
            <a:extLst>
              <a:ext uri="{FF2B5EF4-FFF2-40B4-BE49-F238E27FC236}">
                <a16:creationId xmlns:a16="http://schemas.microsoft.com/office/drawing/2014/main" id="{2080EF9F-1AA7-6813-B334-787CF1E82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5013325"/>
            <a:ext cx="381000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9092D7EC-B375-47FC-18DF-33C2027A5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Template method</a:t>
            </a:r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5938CC7F-0578-1D6C-B4A1-15CF5977C1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Definiše nacrt algoritma, gde se određeni delovi algoritma realizuju u klasama naslednicama, u redefinisanim metodama</a:t>
            </a:r>
          </a:p>
          <a:p>
            <a:endParaRPr lang="en-US" altLang="sr-Latn-RS"/>
          </a:p>
        </p:txBody>
      </p:sp>
      <p:pic>
        <p:nvPicPr>
          <p:cNvPr id="78852" name="Picture 2" descr="http://upload.wikimedia.org/wikipedia/commons/thumb/5/52/Template_Method_UML.svg/300px-Template_Method_UML.svg.png">
            <a:extLst>
              <a:ext uri="{FF2B5EF4-FFF2-40B4-BE49-F238E27FC236}">
                <a16:creationId xmlns:a16="http://schemas.microsoft.com/office/drawing/2014/main" id="{55DB7665-C217-701B-6753-CDBEF3190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3644900"/>
            <a:ext cx="285750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056A80D5-7C1E-09BF-C808-FB5CE127A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Visitor</a:t>
            </a:r>
          </a:p>
        </p:txBody>
      </p:sp>
      <p:sp>
        <p:nvSpPr>
          <p:cNvPr id="79875" name="Content Placeholder 2">
            <a:extLst>
              <a:ext uri="{FF2B5EF4-FFF2-40B4-BE49-F238E27FC236}">
                <a16:creationId xmlns:a16="http://schemas.microsoft.com/office/drawing/2014/main" id="{10B2FB5C-8143-D18F-BF2B-BC3C874F52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800"/>
              <a:t>Ako imamo operaciju koja bi trebalo da se izvede nad nekim objektom, Visitor omogućuje da se dodaju nove operacije nad takvim objektima</a:t>
            </a:r>
          </a:p>
          <a:p>
            <a:pPr lvl="1"/>
            <a:r>
              <a:rPr lang="en-US" altLang="sr-Latn-RS" sz="2400"/>
              <a:t>to se postiže tako što se napravi metoda accept, koja prima instancu Visitor klase</a:t>
            </a:r>
          </a:p>
        </p:txBody>
      </p:sp>
      <p:pic>
        <p:nvPicPr>
          <p:cNvPr id="79876" name="Picture 2" descr="http://upload.wikimedia.org/wikipedia/en/thumb/7/7f/VisitorClassDiagram.svg/300px-VisitorClassDiagram.svg.png">
            <a:extLst>
              <a:ext uri="{FF2B5EF4-FFF2-40B4-BE49-F238E27FC236}">
                <a16:creationId xmlns:a16="http://schemas.microsoft.com/office/drawing/2014/main" id="{E9D6C949-F1C4-8330-A2EF-7AD692898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4314825"/>
            <a:ext cx="28575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</TotalTime>
  <Words>2864</Words>
  <Application>Microsoft Office PowerPoint</Application>
  <PresentationFormat>On-screen Show (4:3)</PresentationFormat>
  <Paragraphs>514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Arial</vt:lpstr>
      <vt:lpstr>Tahoma</vt:lpstr>
      <vt:lpstr>Courier New</vt:lpstr>
      <vt:lpstr>Default Design</vt:lpstr>
      <vt:lpstr>Objektno Orijentisano Programiranje 1</vt:lpstr>
      <vt:lpstr>Tema</vt:lpstr>
      <vt:lpstr>Šta nam treba od prethodnog znanja?</vt:lpstr>
      <vt:lpstr>Design patterns</vt:lpstr>
      <vt:lpstr>šabloni za kreiranje</vt:lpstr>
      <vt:lpstr>Šabloni za kreiranje</vt:lpstr>
      <vt:lpstr>Singleton</vt:lpstr>
      <vt:lpstr>Primer</vt:lpstr>
      <vt:lpstr>Primer</vt:lpstr>
      <vt:lpstr>Factory</vt:lpstr>
      <vt:lpstr>Primer</vt:lpstr>
      <vt:lpstr>Primer</vt:lpstr>
      <vt:lpstr>Abstract factory</vt:lpstr>
      <vt:lpstr>Builder</vt:lpstr>
      <vt:lpstr>Prototype</vt:lpstr>
      <vt:lpstr>Clone u Javi</vt:lpstr>
      <vt:lpstr>strukturni šabloni</vt:lpstr>
      <vt:lpstr>Strukturni šabloni</vt:lpstr>
      <vt:lpstr>Fasada</vt:lpstr>
      <vt:lpstr>Primer</vt:lpstr>
      <vt:lpstr>Primer</vt:lpstr>
      <vt:lpstr>Adapter</vt:lpstr>
      <vt:lpstr>Adapter</vt:lpstr>
      <vt:lpstr>Adapter preko atributa</vt:lpstr>
      <vt:lpstr>Primer-atribut</vt:lpstr>
      <vt:lpstr>Primer-atribut</vt:lpstr>
      <vt:lpstr>Primer-atribut</vt:lpstr>
      <vt:lpstr>Adapter preko nasleđivanja</vt:lpstr>
      <vt:lpstr>Primer-nasleđivanje</vt:lpstr>
      <vt:lpstr>Primer-nasleđivanje</vt:lpstr>
      <vt:lpstr>Primer-nasleđivanje</vt:lpstr>
      <vt:lpstr>Bridge</vt:lpstr>
      <vt:lpstr>Composite</vt:lpstr>
      <vt:lpstr>Decorator</vt:lpstr>
      <vt:lpstr>FlyWeight</vt:lpstr>
      <vt:lpstr>Proksi</vt:lpstr>
      <vt:lpstr>šabloni za ponašanje</vt:lpstr>
      <vt:lpstr>Šabloni za ponašanje</vt:lpstr>
      <vt:lpstr>Command</vt:lpstr>
      <vt:lpstr>Primer</vt:lpstr>
      <vt:lpstr>Primer</vt:lpstr>
      <vt:lpstr>Primer</vt:lpstr>
      <vt:lpstr>Primer</vt:lpstr>
      <vt:lpstr>Observer</vt:lpstr>
      <vt:lpstr>Observer</vt:lpstr>
      <vt:lpstr>Primer</vt:lpstr>
      <vt:lpstr>Primer</vt:lpstr>
      <vt:lpstr>Primer</vt:lpstr>
      <vt:lpstr>Primer</vt:lpstr>
      <vt:lpstr>Iterator</vt:lpstr>
      <vt:lpstr>Primer</vt:lpstr>
      <vt:lpstr>Primer</vt:lpstr>
      <vt:lpstr>State</vt:lpstr>
      <vt:lpstr>Primer</vt:lpstr>
      <vt:lpstr>Primer</vt:lpstr>
      <vt:lpstr>Primer</vt:lpstr>
      <vt:lpstr>Primer</vt:lpstr>
      <vt:lpstr>Primer</vt:lpstr>
      <vt:lpstr>Chain of Responsibility</vt:lpstr>
      <vt:lpstr>Interpreter</vt:lpstr>
      <vt:lpstr>Mediator</vt:lpstr>
      <vt:lpstr>Memento</vt:lpstr>
      <vt:lpstr>Strategy</vt:lpstr>
      <vt:lpstr>Template method</vt:lpstr>
      <vt:lpstr>Visitor</vt:lpstr>
    </vt:vector>
  </TitlesOfParts>
  <Company>asdf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jezik Java</dc:title>
  <dc:creator>asdf asdf</dc:creator>
  <cp:lastModifiedBy>Jovana Vidaković</cp:lastModifiedBy>
  <cp:revision>213</cp:revision>
  <dcterms:created xsi:type="dcterms:W3CDTF">2009-03-02T09:18:12Z</dcterms:created>
  <dcterms:modified xsi:type="dcterms:W3CDTF">2024-06-18T21:23:22Z</dcterms:modified>
</cp:coreProperties>
</file>