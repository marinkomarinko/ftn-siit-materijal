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0" r:id="rId6"/>
    <p:sldId id="263" r:id="rId7"/>
    <p:sldId id="306" r:id="rId8"/>
    <p:sldId id="315" r:id="rId9"/>
    <p:sldId id="314" r:id="rId10"/>
    <p:sldId id="264" r:id="rId11"/>
    <p:sldId id="265" r:id="rId12"/>
    <p:sldId id="267" r:id="rId13"/>
    <p:sldId id="319" r:id="rId14"/>
    <p:sldId id="268" r:id="rId15"/>
    <p:sldId id="302" r:id="rId16"/>
    <p:sldId id="269" r:id="rId17"/>
    <p:sldId id="270" r:id="rId18"/>
    <p:sldId id="271" r:id="rId19"/>
    <p:sldId id="272" r:id="rId20"/>
    <p:sldId id="307" r:id="rId21"/>
    <p:sldId id="273" r:id="rId22"/>
    <p:sldId id="318" r:id="rId23"/>
    <p:sldId id="274" r:id="rId24"/>
    <p:sldId id="275" r:id="rId25"/>
    <p:sldId id="290" r:id="rId26"/>
    <p:sldId id="291" r:id="rId27"/>
    <p:sldId id="276" r:id="rId28"/>
    <p:sldId id="292" r:id="rId29"/>
    <p:sldId id="293" r:id="rId30"/>
    <p:sldId id="294" r:id="rId31"/>
    <p:sldId id="277" r:id="rId32"/>
    <p:sldId id="295" r:id="rId33"/>
    <p:sldId id="308" r:id="rId34"/>
    <p:sldId id="278" r:id="rId35"/>
    <p:sldId id="296" r:id="rId36"/>
    <p:sldId id="279" r:id="rId37"/>
    <p:sldId id="309" r:id="rId38"/>
    <p:sldId id="310" r:id="rId39"/>
    <p:sldId id="320" r:id="rId40"/>
    <p:sldId id="280" r:id="rId41"/>
    <p:sldId id="301" r:id="rId42"/>
    <p:sldId id="281" r:id="rId43"/>
    <p:sldId id="303" r:id="rId44"/>
    <p:sldId id="282" r:id="rId45"/>
    <p:sldId id="284" r:id="rId46"/>
    <p:sldId id="305" r:id="rId47"/>
    <p:sldId id="304" r:id="rId48"/>
    <p:sldId id="283" r:id="rId49"/>
    <p:sldId id="297" r:id="rId50"/>
    <p:sldId id="285" r:id="rId51"/>
    <p:sldId id="311" r:id="rId52"/>
    <p:sldId id="299" r:id="rId53"/>
    <p:sldId id="286" r:id="rId54"/>
    <p:sldId id="300" r:id="rId55"/>
    <p:sldId id="287" r:id="rId56"/>
    <p:sldId id="288" r:id="rId57"/>
    <p:sldId id="289" r:id="rId58"/>
    <p:sldId id="312" r:id="rId59"/>
    <p:sldId id="313" r:id="rId60"/>
    <p:sldId id="298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87767" autoAdjust="0"/>
  </p:normalViewPr>
  <p:slideViewPr>
    <p:cSldViewPr snapToGrid="0">
      <p:cViewPr varScale="1">
        <p:scale>
          <a:sx n="117" d="100"/>
          <a:sy n="117" d="100"/>
        </p:scale>
        <p:origin x="857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7AA2F7-605E-4CF5-B620-793E90D5D821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DAEE3B-5729-4B92-8CE9-9885B5D1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970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F71EA-252A-B9F8-E32B-99E9BAA345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02DFB-730B-8B60-3FE4-9FE476A08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6C8DE-B934-43C1-FC6E-606BABCA6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ED20D-F6CB-CF36-BDEF-38FE9BC60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64074-BD5C-B5C1-2F6F-825000F40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150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DAB6F-2F42-D911-CCB3-2C92868EF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EC9AA-DA4A-A942-3923-6C1610846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5915C-33EA-0588-EC20-10F9964C1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02774-1202-B3D4-0FF4-CE88F1D99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09FCBD-4958-8BA0-8DC7-2F0ACE8B6DEA}"/>
              </a:ext>
            </a:extLst>
          </p:cNvPr>
          <p:cNvSpPr txBox="1"/>
          <p:nvPr userDrawn="1"/>
        </p:nvSpPr>
        <p:spPr>
          <a:xfrm>
            <a:off x="8783053" y="6356350"/>
            <a:ext cx="2570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70023264-E2ED-4660-96E1-8F6FCDAEC5AB}" type="slidenum">
              <a:rPr lang="en-US" smtClean="0"/>
              <a:t>‹#›</a:t>
            </a:fld>
            <a:r>
              <a:rPr lang="sr-Latn-RS"/>
              <a:t>/60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299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DAB6F-2F42-D911-CCB3-2C92868EF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EC9AA-DA4A-A942-3923-6C1610846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5915C-33EA-0588-EC20-10F9964C1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02774-1202-B3D4-0FF4-CE88F1D99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09FCBD-4958-8BA0-8DC7-2F0ACE8B6DEA}"/>
              </a:ext>
            </a:extLst>
          </p:cNvPr>
          <p:cNvSpPr txBox="1"/>
          <p:nvPr userDrawn="1"/>
        </p:nvSpPr>
        <p:spPr>
          <a:xfrm>
            <a:off x="8783053" y="6356350"/>
            <a:ext cx="2570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70023264-E2ED-4660-96E1-8F6FCDAEC5AB}" type="slidenum">
              <a:rPr lang="en-US" smtClean="0"/>
              <a:t>‹#›</a:t>
            </a:fld>
            <a:r>
              <a:rPr lang="sr-Latn-RS"/>
              <a:t>/34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28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AE04A-526B-2FAE-DF3A-692E36730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03D7F4-05AC-C927-FA13-05B219AD6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33F76-8B02-27FA-A4AC-2370F1B74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BA8E5-0F73-A233-2CA1-FA78392B5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E75DD-21DD-4E10-3C7A-584739A2C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235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32034-5501-038E-8052-290E8A705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0FF63-EAF1-96AA-E549-63970C2011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6E5CE-D72A-BF8D-9569-80A8AB0406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9DBE52-0BDB-6404-630B-2A581F01E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433767-F0BA-AA81-FAB4-6BF762A7C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72A14-12DE-B7D1-527F-0E60D6078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347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C1FED-B9EB-E2E4-E2B7-6E01752F4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703AD-582B-F2BE-3DBA-84F703C59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A4BE7B-AB06-819E-FC01-8B7669E78F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90185A-B951-2053-8108-296F64CA5D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B9AC96-A571-489F-8636-3ADF8073B4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887BEB-F829-1D00-7EDF-1E18F4875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4340CD-A839-8A19-10E9-BD89A711A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0C6181-99EB-A136-76BA-3B17A79ED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457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BFFC0-DAC9-AFE1-0932-C4128CAB1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D120E5-34EC-8930-4D44-79F7A72FD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ADC8F-EA5C-2DDA-77CF-EFD22FC55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7BF2EE-769E-ACFE-4E6F-95C54CEDD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728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B4CED2-7605-1476-548B-C48DE08F0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91BDCC-D75D-3B0A-2C26-EB1119CAC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1B038-EF8A-A84C-07EF-3C049DFDA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94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3DD74-0832-E18C-825A-B050141A4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03500-98D3-6876-584B-4F418B1D0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671E63-7231-22C7-35FE-8E7920283E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6818BD-6652-35EE-7CEF-CF8AA99EB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03BF24-1928-5B57-40A7-7290018CD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8AF96-0896-F9D6-DD18-A3A633FE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96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3BFE1-F12C-2A7B-4D22-CB2BF96EC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1F13D3-5717-1DE3-C638-1E8DCB08CB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0863D-F4B3-BE1D-D6BE-205F32488D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62B1E6-A274-C8AB-2BED-D184A1E1A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C98F8-C0C7-6CCE-5D28-0CD9C75B5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3F3131-1DA3-D8C4-C4DB-BC13F12D5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35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8FDB5-948B-8FAE-6475-2C16A188F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73EE27-EF7F-D20F-D417-56055EDC71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14988-70BD-22BE-5581-DB3427A4C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83036-5ECB-F0E1-4FCB-C43F16588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998AD-C2DF-6D0B-61E0-D50338D82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483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8CE7E6-DA4F-7CD4-E903-82887969C3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C7286A-FB86-5AE0-C6F1-DA88B0E9FF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BE38A-B4B0-FD05-EED4-C749FAA38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ACC4D-25C3-D507-A5F1-E326DC7D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51190-3356-F6D3-9789-063C4E404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28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C09CC-7A7D-C592-22AC-2303DA7EE2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0D817-285B-B2C2-B73A-FCEADBC8DA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0917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1A07583-960C-AC9B-801D-601F864192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2812C9D-E296-688E-3C29-E848ADE271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794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9E7E85-213A-B927-E0C6-89AB0A146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7BB172-392E-34D0-47F2-FE86232A5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69B73-7734-E86A-4970-E6426F8BEF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8CC9C-BFE4-4386-8C54-B81E4330E6DB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64EE7-6507-A848-DC63-8009062A30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65272-511B-9FD4-D996-383466C9E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29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AD9D0711-7070-F22B-53C4-1B1E1670FC4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1676400"/>
            <a:ext cx="8153400" cy="1981200"/>
          </a:xfrm>
        </p:spPr>
        <p:txBody>
          <a:bodyPr/>
          <a:lstStyle/>
          <a:p>
            <a:pPr eaLnBrk="1" hangingPunct="1"/>
            <a:r>
              <a:rPr lang="sr-Latn-RS" altLang="sr-Latn-RS"/>
              <a:t>Objektno Orijentisano Programiranje 1</a:t>
            </a:r>
            <a:endParaRPr lang="en-US" altLang="sr-Latn-RS"/>
          </a:p>
        </p:txBody>
      </p:sp>
      <p:sp>
        <p:nvSpPr>
          <p:cNvPr id="16387" name="Text Box 3">
            <a:extLst>
              <a:ext uri="{FF2B5EF4-FFF2-40B4-BE49-F238E27FC236}">
                <a16:creationId xmlns:a16="http://schemas.microsoft.com/office/drawing/2014/main" id="{B44F71FD-B7C6-02A2-467A-2495C38093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9875" y="4652963"/>
            <a:ext cx="403225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ahoma" panose="020B0604030504040204" pitchFamily="34" charset="0"/>
              </a:rPr>
              <a:t>Uvod u programski jezik Java</a:t>
            </a:r>
            <a:endParaRPr lang="en-US" altLang="sr-Latn-RS" sz="2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635196E-713A-E514-8C31-4099F0426A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Uvod</a:t>
            </a:r>
            <a:endParaRPr lang="en-US" altLang="sr-Latn-RS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811B8D4-D8F3-4C86-F186-D63B3BE727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sr-Latn-CS" altLang="sr-Latn-RS"/>
              <a:t>Dr Milan Vidaković</a:t>
            </a:r>
          </a:p>
          <a:p>
            <a:pPr eaLnBrk="1" hangingPunct="1">
              <a:defRPr/>
            </a:pPr>
            <a:r>
              <a:rPr lang="sr-Latn-CS" altLang="sr-Latn-RS"/>
              <a:t>Preporučena literatura:</a:t>
            </a:r>
          </a:p>
          <a:p>
            <a:pPr marL="0" indent="0">
              <a:buNone/>
              <a:defRPr/>
            </a:pPr>
            <a:r>
              <a:rPr lang="sr-Latn-CS" altLang="sr-Latn-RS"/>
              <a:t>Java i objektno-orijentisano programiranje, </a:t>
            </a:r>
            <a:br>
              <a:rPr lang="sr-Latn-CS" altLang="sr-Latn-RS"/>
            </a:br>
            <a:r>
              <a:rPr lang="sr-Latn-CS" altLang="sr-Latn-RS"/>
              <a:t>Milan Vidaković, Branko Milosavljević, Goran Sladić i Branko Markoski</a:t>
            </a:r>
            <a:br>
              <a:rPr lang="sr-Latn-CS" altLang="sr-Latn-RS"/>
            </a:br>
            <a:r>
              <a:rPr lang="sr-Latn-CS" altLang="sr-Latn-RS"/>
              <a:t>FTN Izdavaštvo, ISBN 978-86-6022-022-8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3FA0480E-F972-B03D-A405-AF2674C54E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 sz="6000"/>
              <a:t>Programski jezik Java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DFD847-08ED-122E-BD7D-E6FE395BE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spcBef>
                <a:spcPct val="50000"/>
              </a:spcBef>
              <a:buSzPct val="80000"/>
              <a:buFont typeface="+mj-lt"/>
              <a:buAutoNum type="arabicPeriod"/>
            </a:pPr>
            <a:r>
              <a:rPr lang="sr-Latn-RS" altLang="sr-Latn-RS">
                <a:latin typeface="Tahoma" panose="020B0604030504040204" pitchFamily="34" charset="0"/>
              </a:rPr>
              <a:t>P</a:t>
            </a:r>
            <a:r>
              <a:rPr lang="en-US" altLang="sr-Latn-RS">
                <a:latin typeface="Tahoma" panose="020B0604030504040204" pitchFamily="34" charset="0"/>
              </a:rPr>
              <a:t>latforma za izvršavanje programa</a:t>
            </a:r>
            <a:endParaRPr lang="sr-Latn-RS" altLang="sr-Latn-RS">
              <a:latin typeface="Tahoma" panose="020B0604030504040204" pitchFamily="34" charset="0"/>
            </a:endParaRPr>
          </a:p>
          <a:p>
            <a:pPr marL="971550" lvl="1" indent="-514350">
              <a:spcBef>
                <a:spcPct val="50000"/>
              </a:spcBef>
              <a:buSzPct val="80000"/>
              <a:buFont typeface="+mj-lt"/>
              <a:buAutoNum type="arabicPeriod"/>
            </a:pPr>
            <a:r>
              <a:rPr lang="sr-Latn-RS" altLang="sr-Latn-RS">
                <a:latin typeface="Tahoma" panose="020B0604030504040204" pitchFamily="34" charset="0"/>
              </a:rPr>
              <a:t>Bajt-kod</a:t>
            </a:r>
          </a:p>
          <a:p>
            <a:pPr marL="971550" lvl="1" indent="-514350">
              <a:spcBef>
                <a:spcPct val="50000"/>
              </a:spcBef>
              <a:buSzPct val="80000"/>
              <a:buFont typeface="+mj-lt"/>
              <a:buAutoNum type="arabicPeriod"/>
            </a:pPr>
            <a:r>
              <a:rPr lang="sr-Latn-RS" altLang="sr-Latn-RS">
                <a:latin typeface="Tahoma" panose="020B0604030504040204" pitchFamily="34" charset="0"/>
              </a:rPr>
              <a:t>Virtualna mašina</a:t>
            </a:r>
            <a:endParaRPr lang="en-US" altLang="sr-Latn-RS">
              <a:latin typeface="Tahoma" panose="020B0604030504040204" pitchFamily="34" charset="0"/>
            </a:endParaRPr>
          </a:p>
          <a:p>
            <a:pPr marL="514350" indent="-514350">
              <a:spcBef>
                <a:spcPct val="50000"/>
              </a:spcBef>
              <a:buSzPct val="80000"/>
              <a:buFont typeface="+mj-lt"/>
              <a:buAutoNum type="arabicPeriod"/>
            </a:pPr>
            <a:r>
              <a:rPr lang="sr-Latn-RS" altLang="sr-Latn-RS">
                <a:latin typeface="Tahoma" panose="020B0604030504040204" pitchFamily="34" charset="0"/>
              </a:rPr>
              <a:t>P</a:t>
            </a:r>
            <a:r>
              <a:rPr lang="en-US" altLang="sr-Latn-RS">
                <a:latin typeface="Tahoma" panose="020B0604030504040204" pitchFamily="34" charset="0"/>
              </a:rPr>
              <a:t>rogramski jezik</a:t>
            </a:r>
            <a:endParaRPr lang="sr-Latn-RS" altLang="sr-Latn-RS">
              <a:latin typeface="Tahoma" panose="020B0604030504040204" pitchFamily="34" charset="0"/>
            </a:endParaRPr>
          </a:p>
          <a:p>
            <a:pPr marL="971550" lvl="1" indent="-514350">
              <a:spcBef>
                <a:spcPct val="50000"/>
              </a:spcBef>
              <a:buSzPct val="80000"/>
              <a:buFont typeface="+mj-lt"/>
              <a:buAutoNum type="arabicPeriod"/>
            </a:pPr>
            <a:r>
              <a:rPr lang="sr-Latn-RS" altLang="sr-Latn-RS">
                <a:latin typeface="Tahoma" panose="020B0604030504040204" pitchFamily="34" charset="0"/>
              </a:rPr>
              <a:t>Sintaksa</a:t>
            </a:r>
          </a:p>
          <a:p>
            <a:pPr marL="971550" lvl="1" indent="-514350">
              <a:spcBef>
                <a:spcPct val="50000"/>
              </a:spcBef>
              <a:buSzPct val="80000"/>
              <a:buFont typeface="+mj-lt"/>
              <a:buAutoNum type="arabicPeriod"/>
            </a:pPr>
            <a:r>
              <a:rPr lang="sr-Latn-RS" altLang="sr-Latn-RS">
                <a:latin typeface="Tahoma" panose="020B0604030504040204" pitchFamily="34" charset="0"/>
              </a:rPr>
              <a:t>Tipovi podataka</a:t>
            </a:r>
          </a:p>
          <a:p>
            <a:pPr marL="971550" lvl="1" indent="-514350">
              <a:spcBef>
                <a:spcPct val="50000"/>
              </a:spcBef>
              <a:buSzPct val="80000"/>
              <a:buFont typeface="+mj-lt"/>
              <a:buAutoNum type="arabicPeriod"/>
            </a:pPr>
            <a:r>
              <a:rPr lang="sr-Latn-RS" altLang="sr-Latn-RS">
                <a:latin typeface="Tahoma" panose="020B0604030504040204" pitchFamily="34" charset="0"/>
              </a:rPr>
              <a:t>Operatori</a:t>
            </a:r>
          </a:p>
          <a:p>
            <a:pPr marL="971550" lvl="1" indent="-514350">
              <a:spcBef>
                <a:spcPct val="50000"/>
              </a:spcBef>
              <a:buSzPct val="80000"/>
              <a:buFont typeface="+mj-lt"/>
              <a:buAutoNum type="arabicPeriod"/>
            </a:pPr>
            <a:r>
              <a:rPr lang="sr-Latn-RS" altLang="sr-Latn-RS">
                <a:latin typeface="Tahoma" panose="020B0604030504040204" pitchFamily="34" charset="0"/>
              </a:rPr>
              <a:t>Kontrola toka</a:t>
            </a:r>
            <a:endParaRPr lang="en-US" altLang="sr-Latn-RS">
              <a:latin typeface="Tahoma" panose="020B0604030504040204" pitchFamily="34" charset="0"/>
            </a:endParaRP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14A72F9B-362B-6A75-DD0A-883C0E6966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Java kao platforma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CDA1F071-5707-0A24-1074-6E829C1512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Dizajniran da što manje zavisi od specifičnih karakteristika konkretnog računarskog sistema</a:t>
            </a:r>
          </a:p>
          <a:p>
            <a:pPr eaLnBrk="1" hangingPunct="1"/>
            <a:r>
              <a:rPr lang="sr-Latn-CS" altLang="sr-Latn-RS"/>
              <a:t>Jednom napisan i </a:t>
            </a:r>
            <a:r>
              <a:rPr lang="sr-Latn-CS" altLang="sr-Latn-RS" i="1"/>
              <a:t>preveden</a:t>
            </a:r>
            <a:r>
              <a:rPr lang="sr-Latn-CS" altLang="sr-Latn-RS"/>
              <a:t> program se izvršava na bilo kojoj platformi koja podržava Javu</a:t>
            </a:r>
          </a:p>
          <a:p>
            <a:pPr eaLnBrk="1" hangingPunct="1"/>
            <a:r>
              <a:rPr lang="sr-Latn-CS" altLang="sr-Latn-RS"/>
              <a:t>Primena: </a:t>
            </a:r>
          </a:p>
          <a:p>
            <a:pPr lvl="1" eaLnBrk="1" hangingPunct="1"/>
            <a:r>
              <a:rPr lang="sr-Latn-CS" altLang="sr-Latn-RS"/>
              <a:t>serverske aplikacije (web serveri i sl.), </a:t>
            </a:r>
          </a:p>
          <a:p>
            <a:pPr lvl="1" eaLnBrk="1" hangingPunct="1"/>
            <a:r>
              <a:rPr lang="sr-Latn-CS" altLang="sr-Latn-RS"/>
              <a:t>desktop aplikacije, </a:t>
            </a:r>
          </a:p>
          <a:p>
            <a:pPr lvl="1" eaLnBrk="1" hangingPunct="1"/>
            <a:r>
              <a:rPr lang="sr-Latn-CS" altLang="sr-Latn-RS"/>
              <a:t>mobilne aplikacije (Android),</a:t>
            </a:r>
          </a:p>
          <a:p>
            <a:pPr lvl="1" eaLnBrk="1" hangingPunct="1"/>
            <a:r>
              <a:rPr lang="sr-Latn-CS" altLang="sr-Latn-RS"/>
              <a:t>smart kartice (platne kartice), itd.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3A835117-92BF-6C8F-035D-11611E08EF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Java kao platforma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E5950391-6982-6CB8-FE0A-7A553D7EA4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r-Latn-RS" altLang="sr-Latn-RS"/>
              <a:t>Rezultat kompajliranja je bajt-kod</a:t>
            </a:r>
          </a:p>
          <a:p>
            <a:pPr lvl="1"/>
            <a:r>
              <a:rPr lang="sr-Latn-RS" altLang="sr-Latn-RS"/>
              <a:t>Izvršava se u Java virtuelnoj mašini</a:t>
            </a:r>
            <a:endParaRPr lang="en-US" altLang="sr-Latn-RS"/>
          </a:p>
          <a:p>
            <a:pPr eaLnBrk="1" hangingPunct="1">
              <a:lnSpc>
                <a:spcPct val="90000"/>
              </a:lnSpc>
            </a:pPr>
            <a:r>
              <a:rPr lang="en-US" altLang="sr-Latn-RS"/>
              <a:t>Bajt-kod</a:t>
            </a:r>
            <a:endParaRPr lang="sr-Latn-CS" altLang="sr-Latn-RS"/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Specifikacija je dostupna – više implementacija kompajlera</a:t>
            </a:r>
            <a:endParaRPr lang="en-US" altLang="sr-Latn-RS"/>
          </a:p>
          <a:p>
            <a:pPr eaLnBrk="1" hangingPunct="1">
              <a:lnSpc>
                <a:spcPct val="90000"/>
              </a:lnSpc>
            </a:pPr>
            <a:r>
              <a:rPr lang="en-US" altLang="sr-Latn-RS"/>
              <a:t>Java virtuelna mašina (JVM)</a:t>
            </a:r>
            <a:endParaRPr lang="sr-Latn-CS" altLang="sr-Latn-RS"/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Specifikacija je dostupna – više implementacija JVM</a:t>
            </a:r>
          </a:p>
          <a:p>
            <a:pPr lvl="1"/>
            <a:r>
              <a:rPr lang="sr-Latn-CS" altLang="sr-Latn-RS"/>
              <a:t>Optimizacija: just in time compiler</a:t>
            </a:r>
            <a:endParaRPr lang="en-US" altLang="sr-Latn-RS"/>
          </a:p>
          <a:p>
            <a:pPr eaLnBrk="1" hangingPunct="1">
              <a:lnSpc>
                <a:spcPct val="90000"/>
              </a:lnSpc>
            </a:pP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97A3188D-BB7E-C3AB-5FDC-CE0F5DBE55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Java kao programski jezik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EC7C9A1C-6F8C-CE34-5EB8-1623CE7CB7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sr-Latn-RS"/>
              <a:t>Jezik opšte namene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Konkurentno, objektno-orijentisano programiranje</a:t>
            </a:r>
            <a:endParaRPr lang="en-US" altLang="sr-Latn-RS"/>
          </a:p>
          <a:p>
            <a:pPr eaLnBrk="1" hangingPunct="1">
              <a:lnSpc>
                <a:spcPct val="90000"/>
              </a:lnSpc>
            </a:pPr>
            <a:r>
              <a:rPr lang="en-US" altLang="sr-Latn-RS"/>
              <a:t>Literatura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sr-Latn-RS"/>
              <a:t>Referentna dokumentacija</a:t>
            </a:r>
            <a:r>
              <a:rPr lang="sr-Latn-CS" altLang="sr-Latn-RS"/>
              <a:t>: Java homepage</a:t>
            </a:r>
            <a:r>
              <a:rPr lang="en-US" altLang="sr-Latn-RS"/>
              <a:t> https://www.oracle.com/technetwork/java/index.html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sr-Latn-RS"/>
              <a:t>Preporučene knjige:</a:t>
            </a:r>
          </a:p>
          <a:p>
            <a:pPr lvl="2" eaLnBrk="1" hangingPunct="1">
              <a:lnSpc>
                <a:spcPct val="110000"/>
              </a:lnSpc>
            </a:pPr>
            <a:r>
              <a:rPr lang="sr-Latn-CS" altLang="sr-Latn-RS"/>
              <a:t>Vidaković, Milosavljević, Sladić, Markoski: </a:t>
            </a:r>
            <a:r>
              <a:rPr lang="sr-Latn-CS" altLang="sr-Latn-RS" i="1"/>
              <a:t>Java i Objektno-orijentisano programiranje</a:t>
            </a:r>
          </a:p>
          <a:p>
            <a:pPr lvl="2" eaLnBrk="1" hangingPunct="1">
              <a:lnSpc>
                <a:spcPct val="110000"/>
              </a:lnSpc>
            </a:pPr>
            <a:r>
              <a:rPr lang="sr-Latn-CS" altLang="sr-Latn-RS"/>
              <a:t>Bruce Eckel: </a:t>
            </a:r>
            <a:r>
              <a:rPr lang="en-US" altLang="sr-Latn-RS" i="1"/>
              <a:t>Thinking in Java</a:t>
            </a:r>
            <a:r>
              <a:rPr lang="en-US" altLang="sr-Latn-RS"/>
              <a:t>, http://www.</a:t>
            </a:r>
            <a:r>
              <a:rPr lang="sr-Latn-CS" altLang="sr-Latn-RS"/>
              <a:t>bruceeckel</a:t>
            </a:r>
            <a:r>
              <a:rPr lang="en-US" altLang="sr-Latn-RS"/>
              <a:t>.com</a:t>
            </a:r>
            <a:endParaRPr lang="sr-Latn-C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426CA243-D18F-D594-F8AF-BEC6D9535F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Sintaksa</a:t>
            </a:r>
            <a:endParaRPr lang="en-US" altLang="sr-Latn-RS"/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A5A5FD44-E2E2-E2C4-F1B2-5ADD500098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1193142" cy="4351338"/>
          </a:xfrm>
        </p:spPr>
        <p:txBody>
          <a:bodyPr/>
          <a:lstStyle/>
          <a:p>
            <a:r>
              <a:rPr lang="en-US" altLang="sr-Latn-RS"/>
              <a:t>Sve </a:t>
            </a:r>
            <a:r>
              <a:rPr lang="en-US" altLang="sr-Latn-RS" b="1"/>
              <a:t>ključne reči </a:t>
            </a:r>
            <a:r>
              <a:rPr lang="en-US" altLang="sr-Latn-RS"/>
              <a:t>programskog jezika Java se pišu </a:t>
            </a:r>
            <a:r>
              <a:rPr lang="en-US" altLang="sr-Latn-RS" b="1"/>
              <a:t>malim</a:t>
            </a:r>
            <a:r>
              <a:rPr lang="en-US" altLang="sr-Latn-RS"/>
              <a:t> slovima.</a:t>
            </a:r>
          </a:p>
          <a:p>
            <a:r>
              <a:rPr lang="en-US" altLang="sr-Latn-RS"/>
              <a:t>Svaki Java program se sastoji iz </a:t>
            </a:r>
            <a:r>
              <a:rPr lang="en-US" altLang="sr-Latn-RS" b="1"/>
              <a:t>deklaracije</a:t>
            </a:r>
            <a:r>
              <a:rPr lang="en-US" altLang="sr-Latn-RS"/>
              <a:t> </a:t>
            </a:r>
            <a:r>
              <a:rPr lang="en-US" altLang="sr-Latn-RS" b="1"/>
              <a:t>paketa</a:t>
            </a:r>
            <a:r>
              <a:rPr lang="en-US" altLang="sr-Latn-RS"/>
              <a:t>, </a:t>
            </a:r>
            <a:r>
              <a:rPr lang="en-US" altLang="sr-Latn-RS" b="1"/>
              <a:t>import</a:t>
            </a:r>
            <a:r>
              <a:rPr lang="en-US" altLang="sr-Latn-RS"/>
              <a:t> </a:t>
            </a:r>
            <a:r>
              <a:rPr lang="en-US" altLang="sr-Latn-RS" b="1"/>
              <a:t>sekcije</a:t>
            </a:r>
            <a:r>
              <a:rPr lang="en-US" altLang="sr-Latn-RS"/>
              <a:t>, </a:t>
            </a:r>
            <a:r>
              <a:rPr lang="en-US" altLang="sr-Latn-RS" b="1"/>
              <a:t>deklaracije</a:t>
            </a:r>
            <a:r>
              <a:rPr lang="sr-Latn-RS" altLang="sr-Latn-RS"/>
              <a:t> </a:t>
            </a:r>
            <a:r>
              <a:rPr lang="en-US" altLang="sr-Latn-RS" b="1"/>
              <a:t>atributa</a:t>
            </a:r>
            <a:r>
              <a:rPr lang="en-US" altLang="sr-Latn-RS"/>
              <a:t> i </a:t>
            </a:r>
            <a:r>
              <a:rPr lang="en-US" altLang="sr-Latn-RS" b="1"/>
              <a:t>definicije</a:t>
            </a:r>
            <a:r>
              <a:rPr lang="en-US" altLang="sr-Latn-RS"/>
              <a:t> </a:t>
            </a:r>
            <a:r>
              <a:rPr lang="en-US" altLang="sr-Latn-RS" b="1"/>
              <a:t>metoda</a:t>
            </a:r>
            <a:r>
              <a:rPr lang="en-US" altLang="sr-Latn-RS"/>
              <a:t>. Sva četiri dela su opciona.</a:t>
            </a:r>
          </a:p>
          <a:p>
            <a:r>
              <a:rPr lang="en-US" altLang="sr-Latn-RS" b="1"/>
              <a:t>Izrazi</a:t>
            </a:r>
            <a:r>
              <a:rPr lang="en-US" altLang="sr-Latn-RS"/>
              <a:t> u programskom jeziku Java se obično završavaju simbolom tačka</a:t>
            </a:r>
            <a:r>
              <a:rPr lang="sr-Latn-RS" altLang="sr-Latn-RS"/>
              <a:t>-</a:t>
            </a:r>
            <a:r>
              <a:rPr lang="en-US" altLang="sr-Latn-RS"/>
              <a:t>zarez</a:t>
            </a:r>
            <a:r>
              <a:rPr lang="sr-Latn-RS" altLang="sr-Latn-RS"/>
              <a:t> </a:t>
            </a:r>
            <a:r>
              <a:rPr lang="en-US" altLang="sr-Latn-RS"/>
              <a:t>’</a:t>
            </a:r>
            <a:r>
              <a:rPr lang="en-US" altLang="sr-Latn-RS" b="1"/>
              <a:t>;</a:t>
            </a:r>
            <a:r>
              <a:rPr lang="en-US" altLang="sr-Latn-RS"/>
              <a:t>’.</a:t>
            </a:r>
          </a:p>
          <a:p>
            <a:r>
              <a:rPr lang="pl-PL" altLang="sr-Latn-RS" b="1"/>
              <a:t>Programski</a:t>
            </a:r>
            <a:r>
              <a:rPr lang="pl-PL" altLang="sr-Latn-RS"/>
              <a:t> </a:t>
            </a:r>
            <a:r>
              <a:rPr lang="pl-PL" altLang="sr-Latn-RS" b="1"/>
              <a:t>blok</a:t>
            </a:r>
            <a:r>
              <a:rPr lang="pl-PL" altLang="sr-Latn-RS"/>
              <a:t> čine dve ili više naredbi ili izraza i on je ograđen </a:t>
            </a:r>
            <a:r>
              <a:rPr lang="pl-PL" altLang="sr-Latn-RS" b="1"/>
              <a:t>vitičastim</a:t>
            </a:r>
            <a:r>
              <a:rPr lang="pl-PL" altLang="sr-Latn-RS"/>
              <a:t> </a:t>
            </a:r>
            <a:r>
              <a:rPr lang="pl-PL" altLang="sr-Latn-RS" b="1"/>
              <a:t>zagradama</a:t>
            </a:r>
            <a:r>
              <a:rPr lang="pl-PL" altLang="sr-Latn-RS"/>
              <a:t>. </a:t>
            </a:r>
          </a:p>
          <a:p>
            <a:pPr lvl="1"/>
            <a:r>
              <a:rPr lang="pl-PL" altLang="sr-Latn-RS" sz="2000"/>
              <a:t>ako imamo samo jednu naredbu ili izraz, ne moramo </a:t>
            </a:r>
            <a:r>
              <a:rPr lang="en-US" altLang="sr-Latn-RS" sz="2000"/>
              <a:t>da je pišemo unutar vitičastih zagrada.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27295-25EB-FA88-AC11-938D21644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8099"/>
          </a:xfrm>
        </p:spPr>
        <p:txBody>
          <a:bodyPr/>
          <a:lstStyle/>
          <a:p>
            <a:r>
              <a:rPr lang="sr-Latn-RS"/>
              <a:t>Primer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35452-C9B4-7875-A3B9-6B72E1CE3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1420"/>
            <a:ext cx="10515600" cy="518009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package primer1;</a:t>
            </a:r>
          </a:p>
          <a:p>
            <a:pPr marL="0" indent="0">
              <a:buNone/>
            </a:pPr>
            <a:endParaRPr lang="en-U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import javax.swing.JFrame;</a:t>
            </a:r>
          </a:p>
          <a:p>
            <a:pPr marL="0" indent="0">
              <a:buNone/>
            </a:pPr>
            <a:endParaRPr lang="en-U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MainFrame extends JFrame {</a:t>
            </a:r>
          </a:p>
          <a:p>
            <a:pPr marL="0" indent="0">
              <a:buNone/>
            </a:pP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	private static final long serialVersionUID = 3473599216364696648L;</a:t>
            </a:r>
          </a:p>
          <a:p>
            <a:pPr marL="0" indent="0">
              <a:buNone/>
            </a:pP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	public MainFrame() {</a:t>
            </a:r>
          </a:p>
          <a:p>
            <a:pPr marL="0" indent="0">
              <a:buNone/>
            </a:pP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		setSize(300, 200);</a:t>
            </a:r>
          </a:p>
          <a:p>
            <a:pPr marL="0" indent="0">
              <a:buNone/>
            </a:pP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		setLocation(300, 300);</a:t>
            </a:r>
          </a:p>
          <a:p>
            <a:pPr marL="0" indent="0">
              <a:buNone/>
            </a:pP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		setTitle("My First GUI App");</a:t>
            </a:r>
          </a:p>
          <a:p>
            <a:pPr marL="0" indent="0">
              <a:buNone/>
            </a:pPr>
            <a:endParaRPr lang="en-U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		setVisible(true);</a:t>
            </a:r>
          </a:p>
          <a:p>
            <a:pPr marL="0" indent="0">
              <a:buNone/>
            </a:pP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	public static void main(String[] args) {</a:t>
            </a:r>
          </a:p>
          <a:p>
            <a:pPr marL="0" indent="0">
              <a:buNone/>
            </a:pP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		MainFrame mf = new MainFrame();</a:t>
            </a:r>
          </a:p>
          <a:p>
            <a:pPr marL="0" indent="0">
              <a:buNone/>
            </a:pP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49918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5A53BF5F-2440-186C-9D01-4FEE3C4764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Sintaksa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861DF997-2AE0-B1BD-5424-4DFBB0E806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l-PL" altLang="sr-Latn-RS"/>
              <a:t>Postoje dve vrste </a:t>
            </a:r>
            <a:r>
              <a:rPr lang="pl-PL" altLang="sr-Latn-RS" b="1"/>
              <a:t>komentara</a:t>
            </a:r>
            <a:r>
              <a:rPr lang="pl-PL" altLang="sr-Latn-RS"/>
              <a:t>: </a:t>
            </a:r>
            <a:r>
              <a:rPr lang="pl-PL" altLang="sr-Latn-RS" b="1"/>
              <a:t>jednolinijski</a:t>
            </a:r>
            <a:r>
              <a:rPr lang="pl-PL" altLang="sr-Latn-RS"/>
              <a:t> i </a:t>
            </a:r>
            <a:r>
              <a:rPr lang="pl-PL" altLang="sr-Latn-RS" b="1"/>
              <a:t>višelinijski</a:t>
            </a:r>
            <a:r>
              <a:rPr lang="pl-PL" altLang="sr-Latn-RS"/>
              <a:t>. </a:t>
            </a:r>
          </a:p>
          <a:p>
            <a:pPr lvl="1"/>
            <a:r>
              <a:rPr lang="pl-PL" altLang="sr-Latn-RS"/>
              <a:t>jednolinijski </a:t>
            </a:r>
            <a:r>
              <a:rPr lang="nb-NO" altLang="sr-Latn-RS"/>
              <a:t>komentari staju u jedan red i navode se nakon dvostruke kose crte:</a:t>
            </a:r>
          </a:p>
          <a:p>
            <a:pPr>
              <a:buFontTx/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// ovo je komentar</a:t>
            </a:r>
            <a:endParaRPr lang="sr-Latn-RS" altLang="sr-Latn-RS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sr-Latn-RS" altLang="sr-Latn-RS"/>
              <a:t>v</a:t>
            </a:r>
            <a:r>
              <a:rPr lang="en-US" altLang="sr-Latn-RS"/>
              <a:t>išelinijski komentari mogu da se pružaju u više</a:t>
            </a:r>
            <a:r>
              <a:rPr lang="sr-Latn-RS" altLang="sr-Latn-RS"/>
              <a:t> </a:t>
            </a:r>
            <a:r>
              <a:rPr lang="vi-VN" altLang="sr-Latn-RS"/>
              <a:t>redova i nalaze se između </a:t>
            </a:r>
            <a:r>
              <a:rPr lang="vi-VN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/*</a:t>
            </a:r>
            <a:r>
              <a:rPr lang="vi-VN" altLang="sr-Latn-RS"/>
              <a:t> i </a:t>
            </a:r>
            <a:r>
              <a:rPr lang="vi-VN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  <a:r>
              <a:rPr lang="vi-VN" altLang="sr-Latn-RS"/>
              <a:t> simbola. </a:t>
            </a:r>
            <a:endParaRPr lang="sr-Latn-RS" altLang="sr-Latn-RS"/>
          </a:p>
          <a:p>
            <a:r>
              <a:rPr lang="vi-VN" altLang="sr-Latn-RS"/>
              <a:t>Postoje i tzv. </a:t>
            </a:r>
            <a:r>
              <a:rPr lang="vi-VN" altLang="sr-Latn-RS" b="1"/>
              <a:t>JavaDoc</a:t>
            </a:r>
            <a:r>
              <a:rPr lang="vi-VN" altLang="sr-Latn-RS"/>
              <a:t> komentari,</a:t>
            </a:r>
            <a:r>
              <a:rPr lang="sr-Latn-RS" altLang="sr-Latn-RS"/>
              <a:t> </a:t>
            </a:r>
            <a:r>
              <a:rPr lang="vi-VN" altLang="sr-Latn-RS"/>
              <a:t>koji će biti opisani kasnije, a koji se navode između </a:t>
            </a:r>
            <a:br>
              <a:rPr lang="sr-Latn-RS" altLang="sr-Latn-RS"/>
            </a:br>
            <a:r>
              <a:rPr lang="vi-VN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/**</a:t>
            </a:r>
            <a:r>
              <a:rPr lang="vi-VN" altLang="sr-Latn-RS"/>
              <a:t> </a:t>
            </a:r>
            <a:r>
              <a:rPr lang="sr-Latn-RS" altLang="sr-Latn-RS"/>
              <a:t> </a:t>
            </a:r>
            <a:r>
              <a:rPr lang="vi-VN" altLang="sr-Latn-RS"/>
              <a:t>i</a:t>
            </a:r>
            <a:r>
              <a:rPr lang="sr-Latn-RS" altLang="sr-Latn-RS"/>
              <a:t>  </a:t>
            </a:r>
            <a:r>
              <a:rPr lang="vi-VN" altLang="sr-Latn-RS"/>
              <a:t> </a:t>
            </a:r>
            <a:r>
              <a:rPr lang="vi-VN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  <a:r>
              <a:rPr lang="sr-Latn-RS" altLang="sr-Latn-RS"/>
              <a:t> </a:t>
            </a:r>
            <a:r>
              <a:rPr lang="en-US" altLang="sr-Latn-RS"/>
              <a:t>simbola.</a:t>
            </a:r>
          </a:p>
          <a:p>
            <a:endParaRPr lang="sr-Latn-R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4A07C3A8-D7E6-D408-9A98-C0E7208174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Izvršavanje programa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9171197E-DF72-3861-5C62-82F2C96900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Metoda</a:t>
            </a:r>
            <a:r>
              <a:rPr lang="en-US" altLang="sr-Latn-RS"/>
              <a:t> </a:t>
            </a:r>
            <a:r>
              <a:rPr lang="en-US" altLang="sr-Latn-RS" b="1">
                <a:latin typeface="Courier New" panose="02070309020205020404" pitchFamily="49" charset="0"/>
              </a:rPr>
              <a:t>main()</a:t>
            </a:r>
            <a:br>
              <a:rPr lang="en-US" altLang="sr-Latn-RS"/>
            </a:br>
            <a:endParaRPr lang="en-US" altLang="sr-Latn-RS"/>
          </a:p>
          <a:p>
            <a:pPr eaLnBrk="1" hangingPunct="1">
              <a:buFontTx/>
              <a:buNone/>
            </a:pPr>
            <a:r>
              <a:rPr lang="sr-Latn-CS" altLang="sr-Latn-RS" sz="2400" b="1" u="sng">
                <a:latin typeface="Courier New" panose="02070309020205020404" pitchFamily="49" charset="0"/>
              </a:rPr>
              <a:t>Hello.java</a:t>
            </a:r>
          </a:p>
          <a:p>
            <a:pPr eaLnBrk="1" hangingPunct="1"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  class Hello {</a:t>
            </a:r>
          </a:p>
          <a:p>
            <a:pPr eaLnBrk="1" hangingPunct="1"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    </a:t>
            </a:r>
            <a:r>
              <a:rPr lang="sr-Latn-CS" altLang="sr-Latn-RS" sz="2400" b="1">
                <a:solidFill>
                  <a:srgbClr val="FF0000"/>
                </a:solidFill>
                <a:latin typeface="Courier New" panose="02070309020205020404" pitchFamily="49" charset="0"/>
              </a:rPr>
              <a:t>public</a:t>
            </a:r>
            <a:r>
              <a:rPr lang="sr-Latn-CS" altLang="sr-Latn-RS" sz="2400" b="1">
                <a:latin typeface="Courier New" panose="02070309020205020404" pitchFamily="49" charset="0"/>
              </a:rPr>
              <a:t> </a:t>
            </a:r>
            <a:r>
              <a:rPr lang="sr-Latn-CS" altLang="sr-Latn-RS" sz="2400" b="1">
                <a:solidFill>
                  <a:srgbClr val="00B050"/>
                </a:solidFill>
                <a:latin typeface="Courier New" panose="02070309020205020404" pitchFamily="49" charset="0"/>
              </a:rPr>
              <a:t>static</a:t>
            </a:r>
            <a:r>
              <a:rPr lang="sr-Latn-CS" altLang="sr-Latn-RS" sz="2400" b="1">
                <a:latin typeface="Courier New" panose="02070309020205020404" pitchFamily="49" charset="0"/>
              </a:rPr>
              <a:t> </a:t>
            </a:r>
            <a:r>
              <a:rPr lang="sr-Latn-CS" altLang="sr-Latn-RS" sz="2400" b="1">
                <a:solidFill>
                  <a:srgbClr val="00B0F0"/>
                </a:solidFill>
                <a:latin typeface="Courier New" panose="02070309020205020404" pitchFamily="49" charset="0"/>
              </a:rPr>
              <a:t>void</a:t>
            </a:r>
            <a:r>
              <a:rPr lang="sr-Latn-CS" altLang="sr-Latn-RS" sz="2400" b="1">
                <a:latin typeface="Courier New" panose="02070309020205020404" pitchFamily="49" charset="0"/>
              </a:rPr>
              <a:t> main(String args[]) {</a:t>
            </a:r>
          </a:p>
          <a:p>
            <a:pPr eaLnBrk="1" hangingPunct="1"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      System.out.println("Hello world!");</a:t>
            </a:r>
          </a:p>
          <a:p>
            <a:pPr eaLnBrk="1" hangingPunct="1"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    }</a:t>
            </a:r>
          </a:p>
          <a:p>
            <a:pPr eaLnBrk="1" hangingPunct="1"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  }</a:t>
            </a:r>
          </a:p>
          <a:p>
            <a:pPr eaLnBrk="1" hangingPunct="1"/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EB006F41-8206-2715-FC21-8C7E52C7C0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Prevođenje i pokretanje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2731A58A-F1BD-9F94-8A81-2090FD629A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sr-Latn-RS" sz="3200"/>
              <a:t>prevođenje:</a:t>
            </a:r>
            <a:br>
              <a:rPr lang="en-US" altLang="sr-Latn-RS" sz="3200"/>
            </a:br>
            <a:r>
              <a:rPr lang="sr-Latn-CS" altLang="sr-Latn-RS" b="1">
                <a:latin typeface="Courier New" panose="02070309020205020404" pitchFamily="49" charset="0"/>
              </a:rPr>
              <a:t>javac Hello.java</a:t>
            </a:r>
          </a:p>
          <a:p>
            <a:pPr eaLnBrk="1" hangingPunct="1">
              <a:lnSpc>
                <a:spcPct val="170000"/>
              </a:lnSpc>
            </a:pPr>
            <a:r>
              <a:rPr lang="en-US" altLang="sr-Latn-RS" sz="3200"/>
              <a:t>pokretanje:</a:t>
            </a:r>
            <a:br>
              <a:rPr lang="en-US" altLang="sr-Latn-RS" sz="3200"/>
            </a:br>
            <a:r>
              <a:rPr lang="sr-Latn-CS" altLang="sr-Latn-RS" b="1">
                <a:latin typeface="Courier New" panose="02070309020205020404" pitchFamily="49" charset="0"/>
              </a:rPr>
              <a:t>java Hello</a:t>
            </a:r>
          </a:p>
          <a:p>
            <a:pPr eaLnBrk="1" hangingPunct="1"/>
            <a:endParaRPr lang="en-US" altLang="sr-Latn-RS" sz="3200"/>
          </a:p>
        </p:txBody>
      </p:sp>
      <p:sp>
        <p:nvSpPr>
          <p:cNvPr id="25604" name="Text Box 4">
            <a:extLst>
              <a:ext uri="{FF2B5EF4-FFF2-40B4-BE49-F238E27FC236}">
                <a16:creationId xmlns:a16="http://schemas.microsoft.com/office/drawing/2014/main" id="{38A758E7-D4A2-996A-B6D7-DD517FE82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651" y="5300664"/>
            <a:ext cx="7896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[ </a:t>
            </a:r>
            <a:r>
              <a:rPr lang="sr-Latn-CS" altLang="sr-Latn-RS" sz="2000">
                <a:latin typeface="Tahoma" panose="020B0604030504040204" pitchFamily="34" charset="0"/>
              </a:rPr>
              <a:t>ovo važi sa standardni razvojni paket JDK (Java Development Kit)</a:t>
            </a:r>
            <a:r>
              <a:rPr lang="en-US" altLang="sr-Latn-RS" sz="2000">
                <a:latin typeface="Tahoma" panose="020B0604030504040204" pitchFamily="34" charset="0"/>
              </a:rPr>
              <a:t> ]</a:t>
            </a:r>
            <a:endParaRPr lang="en-GB" altLang="sr-Latn-RS" sz="20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  <p:bldP spid="2560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A09966E-9799-F47D-35BC-DFBFC0C798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986205"/>
          </a:xfrm>
        </p:spPr>
        <p:txBody>
          <a:bodyPr/>
          <a:lstStyle/>
          <a:p>
            <a:pPr eaLnBrk="1" hangingPunct="1"/>
            <a:r>
              <a:rPr lang="en-US" altLang="sr-Latn-RS"/>
              <a:t>Osnovni koncepti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B02B281C-1303-E346-1D61-55C0436856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653127"/>
            <a:ext cx="10515600" cy="4878302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sr-Latn-RS"/>
              <a:t>Tipovi podataka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sr-Latn-RS"/>
              <a:t>primitivni</a:t>
            </a:r>
            <a:r>
              <a:rPr lang="sr-Latn-CS" altLang="sr-Latn-RS"/>
              <a:t> tipovi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sr-Latn-RS"/>
              <a:t>kao lokalne promenljive i parametri metoda, </a:t>
            </a:r>
            <a:r>
              <a:rPr lang="sr-Latn-CS" altLang="sr-Latn-RS"/>
              <a:t>čuvaju se na steku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sr-Latn-CS" altLang="sr-Latn-RS"/>
              <a:t>kao parametri, uvek se prenose po vrednosti!</a:t>
            </a:r>
            <a:endParaRPr lang="en-US" altLang="sr-Latn-RS"/>
          </a:p>
          <a:p>
            <a:pPr lvl="1" eaLnBrk="1" hangingPunct="1">
              <a:lnSpc>
                <a:spcPct val="80000"/>
              </a:lnSpc>
              <a:defRPr/>
            </a:pPr>
            <a:r>
              <a:rPr lang="sr-Latn-RS" altLang="sr-Latn-RS"/>
              <a:t>klase</a:t>
            </a:r>
            <a:endParaRPr lang="sr-Latn-CS" altLang="sr-Latn-RS"/>
          </a:p>
          <a:p>
            <a:pPr lvl="2" eaLnBrk="1" hangingPunct="1">
              <a:lnSpc>
                <a:spcPct val="80000"/>
              </a:lnSpc>
              <a:defRPr/>
            </a:pPr>
            <a:r>
              <a:rPr lang="sr-Latn-CS" altLang="sr-Latn-RS"/>
              <a:t>instance klasa se zovu objekti i čuvaju se na heap-u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sr-Latn-CS" altLang="sr-Latn-RS"/>
              <a:t>postoje samo </a:t>
            </a:r>
            <a:r>
              <a:rPr lang="sr-Latn-CS" altLang="sr-Latn-RS" b="1" u="sng"/>
              <a:t>reference na objekte</a:t>
            </a:r>
            <a:r>
              <a:rPr lang="sr-Latn-CS" altLang="sr-Latn-RS"/>
              <a:t>, nikada se ne može pristupiti samom objektu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sr-Latn-RS"/>
              <a:t>kao lokalne promenljive i parametri metoda, </a:t>
            </a:r>
            <a:r>
              <a:rPr lang="sr-Latn-CS" altLang="sr-Latn-RS"/>
              <a:t>reference se čuvaju na steku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sr-Latn-CS" altLang="sr-Latn-RS"/>
              <a:t>Metode: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sr-Latn-CS" altLang="sr-Latn-RS"/>
              <a:t>funkcije i procedure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sr-Latn-CS" altLang="sr-Latn-RS"/>
              <a:t>sintaksa: </a:t>
            </a:r>
          </a:p>
          <a:p>
            <a:pPr marL="457200" lvl="1" indent="0">
              <a:lnSpc>
                <a:spcPct val="80000"/>
              </a:lnSpc>
              <a:buNone/>
              <a:defRPr/>
            </a:pPr>
            <a:r>
              <a:rPr lang="sr-Latn-CS" altLang="sr-Latn-RS" b="1">
                <a:latin typeface="Courier New" pitchFamily="49" charset="0"/>
                <a:cs typeface="Courier New" pitchFamily="49" charset="0"/>
              </a:rPr>
              <a:t>povratna_vrednost naziv(parametri){</a:t>
            </a:r>
          </a:p>
          <a:p>
            <a:pPr marL="457200" lvl="1" indent="0">
              <a:lnSpc>
                <a:spcPct val="80000"/>
              </a:lnSpc>
              <a:buNone/>
              <a:defRPr/>
            </a:pPr>
            <a:r>
              <a:rPr lang="sr-Latn-CS" altLang="sr-Latn-RS" b="1">
                <a:latin typeface="Courier New" pitchFamily="49" charset="0"/>
                <a:cs typeface="Courier New" pitchFamily="49" charset="0"/>
              </a:rPr>
              <a:t>...</a:t>
            </a:r>
          </a:p>
          <a:p>
            <a:pPr marL="457200" lvl="1" indent="0">
              <a:lnSpc>
                <a:spcPct val="80000"/>
              </a:lnSpc>
              <a:buNone/>
              <a:defRPr/>
            </a:pPr>
            <a:r>
              <a:rPr lang="sr-Latn-CS" altLang="sr-Latn-RS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5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57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63492-93DD-1042-A92C-3C8002B6C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Tipovi podataka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C8AC8-104A-ED0A-CDB9-43811ED677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707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C739C9D6-4352-A4F8-6065-9B1E8C6090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altLang="sr-Latn-RS"/>
              <a:t>Tipovi podataka</a:t>
            </a:r>
            <a:endParaRPr lang="en-US" altLang="sr-Latn-RS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B48966B6-FE66-8135-1A2B-93AD34018B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sr-Latn-RS"/>
              <a:t>Primitivni tipovi podataka</a:t>
            </a:r>
            <a:br>
              <a:rPr lang="en-US" altLang="sr-Latn-RS"/>
            </a:br>
            <a:br>
              <a:rPr lang="en-US" altLang="sr-Latn-RS"/>
            </a:br>
            <a:r>
              <a:rPr lang="en-US" altLang="sr-Latn-RS" sz="1700" b="1" u="sng">
                <a:latin typeface="Courier New" panose="02070309020205020404" pitchFamily="49" charset="0"/>
              </a:rPr>
              <a:t>Primitivni tip      Veličina    Minimum	     Maksimum</a:t>
            </a:r>
            <a:r>
              <a:rPr lang="en-US" altLang="sr-Latn-RS" sz="1700" b="1">
                <a:latin typeface="Courier New" panose="02070309020205020404" pitchFamily="49" charset="0"/>
              </a:rPr>
              <a:t>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1700" b="1">
                <a:latin typeface="Courier New" panose="02070309020205020404" pitchFamily="49" charset="0"/>
              </a:rPr>
              <a:t>   boolean              1-bit      –           –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1700" b="1">
                <a:latin typeface="Courier New" panose="02070309020205020404" pitchFamily="49" charset="0"/>
              </a:rPr>
              <a:t>   char                16-bit      Unicode 0   Unicode 2</a:t>
            </a:r>
            <a:r>
              <a:rPr lang="sr-Latn-CS" altLang="sr-Latn-RS" sz="1700" b="1" baseline="30000">
                <a:latin typeface="Courier New" panose="02070309020205020404" pitchFamily="49" charset="0"/>
              </a:rPr>
              <a:t>16</a:t>
            </a:r>
            <a:r>
              <a:rPr lang="en-US" altLang="sr-Latn-RS" sz="1700" b="1">
                <a:latin typeface="Courier New" panose="02070309020205020404" pitchFamily="49" charset="0"/>
              </a:rPr>
              <a:t>- 1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1700" b="1">
                <a:latin typeface="Courier New" panose="02070309020205020404" pitchFamily="49" charset="0"/>
              </a:rPr>
              <a:t>   byte                 8-bit      -128        +127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1700" b="1">
                <a:latin typeface="Courier New" panose="02070309020205020404" pitchFamily="49" charset="0"/>
              </a:rPr>
              <a:t>   short               16-bit      -2</a:t>
            </a:r>
            <a:r>
              <a:rPr lang="en-US" altLang="sr-Latn-RS" sz="1700" b="1" baseline="30000">
                <a:latin typeface="Courier New" panose="02070309020205020404" pitchFamily="49" charset="0"/>
              </a:rPr>
              <a:t>15             </a:t>
            </a:r>
            <a:r>
              <a:rPr lang="en-US" altLang="sr-Latn-RS" sz="1700" b="1">
                <a:latin typeface="Courier New" panose="02070309020205020404" pitchFamily="49" charset="0"/>
              </a:rPr>
              <a:t>+2</a:t>
            </a:r>
            <a:r>
              <a:rPr lang="en-US" altLang="sr-Latn-RS" sz="1700" b="1" baseline="30000">
                <a:latin typeface="Courier New" panose="02070309020205020404" pitchFamily="49" charset="0"/>
              </a:rPr>
              <a:t>15</a:t>
            </a:r>
            <a:r>
              <a:rPr lang="en-US" altLang="sr-Latn-RS" sz="1700" b="1">
                <a:latin typeface="Courier New" panose="02070309020205020404" pitchFamily="49" charset="0"/>
              </a:rPr>
              <a:t> – 1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1700" b="1">
                <a:latin typeface="Courier New" panose="02070309020205020404" pitchFamily="49" charset="0"/>
              </a:rPr>
              <a:t>   int                 32-bit      -2</a:t>
            </a:r>
            <a:r>
              <a:rPr lang="en-US" altLang="sr-Latn-RS" sz="1700" b="1" baseline="30000">
                <a:latin typeface="Courier New" panose="02070309020205020404" pitchFamily="49" charset="0"/>
              </a:rPr>
              <a:t>31             </a:t>
            </a:r>
            <a:r>
              <a:rPr lang="en-US" altLang="sr-Latn-RS" sz="1700" b="1">
                <a:latin typeface="Courier New" panose="02070309020205020404" pitchFamily="49" charset="0"/>
              </a:rPr>
              <a:t>+2</a:t>
            </a:r>
            <a:r>
              <a:rPr lang="en-US" altLang="sr-Latn-RS" sz="1700" b="1" baseline="30000">
                <a:latin typeface="Courier New" panose="02070309020205020404" pitchFamily="49" charset="0"/>
              </a:rPr>
              <a:t>31</a:t>
            </a:r>
            <a:r>
              <a:rPr lang="en-US" altLang="sr-Latn-RS" sz="1700" b="1">
                <a:latin typeface="Courier New" panose="02070309020205020404" pitchFamily="49" charset="0"/>
              </a:rPr>
              <a:t> – 1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1700" b="1">
                <a:latin typeface="Courier New" panose="02070309020205020404" pitchFamily="49" charset="0"/>
              </a:rPr>
              <a:t>   long                64-bit      -2</a:t>
            </a:r>
            <a:r>
              <a:rPr lang="en-US" altLang="sr-Latn-RS" sz="1700" b="1" baseline="30000">
                <a:latin typeface="Courier New" panose="02070309020205020404" pitchFamily="49" charset="0"/>
              </a:rPr>
              <a:t>63             </a:t>
            </a:r>
            <a:r>
              <a:rPr lang="en-US" altLang="sr-Latn-RS" sz="1700" b="1">
                <a:latin typeface="Courier New" panose="02070309020205020404" pitchFamily="49" charset="0"/>
              </a:rPr>
              <a:t>+2</a:t>
            </a:r>
            <a:r>
              <a:rPr lang="en-US" altLang="sr-Latn-RS" sz="1700" b="1" baseline="30000">
                <a:latin typeface="Courier New" panose="02070309020205020404" pitchFamily="49" charset="0"/>
              </a:rPr>
              <a:t>63</a:t>
            </a:r>
            <a:r>
              <a:rPr lang="en-US" altLang="sr-Latn-RS" sz="1700" b="1">
                <a:latin typeface="Courier New" panose="02070309020205020404" pitchFamily="49" charset="0"/>
              </a:rPr>
              <a:t> – 1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1700" b="1">
                <a:latin typeface="Courier New" panose="02070309020205020404" pitchFamily="49" charset="0"/>
              </a:rPr>
              <a:t>   float               32-bit      IEEE754     IEEE754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1700" b="1">
                <a:latin typeface="Courier New" panose="02070309020205020404" pitchFamily="49" charset="0"/>
              </a:rPr>
              <a:t>   double              64-bit      IEEE754     IEEE754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1700" b="1">
                <a:latin typeface="Courier New" panose="02070309020205020404" pitchFamily="49" charset="0"/>
              </a:rPr>
              <a:t>   void                 –           –           –	</a:t>
            </a:r>
            <a:endParaRPr lang="en-US" altLang="sr-Latn-RS" sz="1700" b="1"/>
          </a:p>
          <a:p>
            <a:pPr eaLnBrk="1" hangingPunct="1">
              <a:lnSpc>
                <a:spcPct val="90000"/>
              </a:lnSpc>
            </a:pP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B3D222CC-80CD-5FBB-B890-09E7A61916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Literali</a:t>
            </a:r>
            <a:endParaRPr lang="en-US" altLang="sr-Latn-RS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020E40AA-7315-6D49-5B17-01FE6F0D8E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sr-Latn-CS" altLang="sr-Latn-RS"/>
              <a:t>Celobrojni: </a:t>
            </a:r>
            <a:r>
              <a:rPr lang="sr-Latn-CS" altLang="sr-Latn-RS" sz="2400"/>
              <a:t> </a:t>
            </a:r>
            <a:r>
              <a:rPr lang="sr-Latn-CS" altLang="sr-Latn-RS" sz="2400" b="1">
                <a:latin typeface="Courier New" panose="02070309020205020404" pitchFamily="49" charset="0"/>
              </a:rPr>
              <a:t>2</a:t>
            </a:r>
            <a:r>
              <a:rPr lang="sr-Latn-CS" altLang="sr-Latn-RS" sz="2400" b="1"/>
              <a:t>, </a:t>
            </a:r>
            <a:r>
              <a:rPr lang="sr-Latn-CS" altLang="sr-Latn-RS" sz="2400" b="1">
                <a:latin typeface="Courier New" panose="02070309020205020404" pitchFamily="49" charset="0"/>
              </a:rPr>
              <a:t>2000000L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Realni: </a:t>
            </a:r>
            <a:r>
              <a:rPr lang="sr-Latn-CS" altLang="sr-Latn-RS" b="1">
                <a:latin typeface="Courier New" panose="02070309020205020404" pitchFamily="49" charset="0"/>
              </a:rPr>
              <a:t>3.14f, 3.14 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Heksadecimalni celobrojni: </a:t>
            </a:r>
            <a:r>
              <a:rPr lang="sr-Latn-CS" altLang="sr-Latn-RS" b="1">
                <a:latin typeface="Courier New" panose="02070309020205020404" pitchFamily="49" charset="0"/>
              </a:rPr>
              <a:t>0xF</a:t>
            </a:r>
            <a:r>
              <a:rPr lang="sr-Latn-CS" altLang="sr-Latn-RS"/>
              <a:t>, </a:t>
            </a:r>
            <a:r>
              <a:rPr lang="sr-Latn-CS" altLang="sr-Latn-RS" b="1">
                <a:latin typeface="Courier New" panose="02070309020205020404" pitchFamily="49" charset="0"/>
              </a:rPr>
              <a:t>0xFF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Oktalni celobrojni: </a:t>
            </a: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0123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Binarni celobrojni: </a:t>
            </a: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0b1001101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Boolean: </a:t>
            </a: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sr-Latn-CS" altLang="sr-Latn-RS"/>
              <a:t>, </a:t>
            </a: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Znakovni: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b="1"/>
              <a:t>’</a:t>
            </a:r>
            <a:r>
              <a:rPr lang="sr-Latn-CS" altLang="sr-Latn-RS" b="1">
                <a:latin typeface="Courier New" panose="02070309020205020404" pitchFamily="49" charset="0"/>
              </a:rPr>
              <a:t>a</a:t>
            </a:r>
            <a:r>
              <a:rPr lang="sr-Latn-CS" altLang="sr-Latn-RS" b="1"/>
              <a:t>’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b="1"/>
              <a:t>’</a:t>
            </a:r>
            <a:r>
              <a:rPr lang="sr-Latn-CS" altLang="sr-Latn-RS" b="1">
                <a:latin typeface="Courier New" panose="02070309020205020404" pitchFamily="49" charset="0"/>
              </a:rPr>
              <a:t>\n</a:t>
            </a:r>
            <a:r>
              <a:rPr lang="sr-Latn-CS" altLang="sr-Latn-RS" b="1"/>
              <a:t>’</a:t>
            </a:r>
            <a:endParaRPr lang="sr-Latn-CS" altLang="sr-Latn-RS"/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b="1"/>
              <a:t> ’</a:t>
            </a:r>
            <a:r>
              <a:rPr lang="sr-Latn-CS" altLang="sr-Latn-RS" b="1">
                <a:latin typeface="Courier New" panose="02070309020205020404" pitchFamily="49" charset="0"/>
              </a:rPr>
              <a:t>\xxx</a:t>
            </a:r>
            <a:r>
              <a:rPr lang="sr-Latn-CS" altLang="sr-Latn-RS" b="1"/>
              <a:t>’</a:t>
            </a:r>
            <a:r>
              <a:rPr lang="sr-Latn-CS" altLang="sr-Latn-RS"/>
              <a:t>, gde je </a:t>
            </a:r>
            <a:r>
              <a:rPr lang="sr-Latn-CS" altLang="sr-Latn-RS" b="1">
                <a:latin typeface="Courier New" panose="02070309020205020404" pitchFamily="49" charset="0"/>
              </a:rPr>
              <a:t>xxx</a:t>
            </a:r>
            <a:r>
              <a:rPr lang="sr-Latn-CS" altLang="sr-Latn-RS"/>
              <a:t> oktalni ASCII kod karaktera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String: </a:t>
            </a:r>
            <a:r>
              <a:rPr lang="sr-Latn-CS" altLang="sr-Latn-RS" b="1">
                <a:latin typeface="Courier New" panose="02070309020205020404" pitchFamily="49" charset="0"/>
              </a:rPr>
              <a:t>"ovo je tekst"</a:t>
            </a:r>
            <a:endParaRPr lang="en-US" altLang="sr-Latn-RS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8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99255C79-D778-C403-63E1-26EDB8296E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 sz="4000"/>
              <a:t>Deklaracija promenljive primitivnog tipa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F76EA5A6-3136-DFD3-91BC-060ECF2ED7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sr-Latn-RS"/>
              <a:t>Promenljiva se mo</a:t>
            </a:r>
            <a:r>
              <a:rPr lang="sr-Latn-CS" altLang="sr-Latn-RS"/>
              <a:t>že deklarisati u bilo kom bloku – ne mora na početku metode.</a:t>
            </a:r>
            <a:endParaRPr lang="en-US" altLang="sr-Latn-RS"/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int a;</a:t>
            </a:r>
          </a:p>
          <a:p>
            <a:pPr marL="0" indent="0">
              <a:lnSpc>
                <a:spcPct val="80000"/>
              </a:lnSpc>
              <a:buNone/>
              <a:defRPr/>
            </a:pPr>
            <a:endParaRPr lang="en-US" altLang="sr-Latn-RS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int a = 0;</a:t>
            </a:r>
          </a:p>
          <a:p>
            <a:pPr marL="0" indent="0">
              <a:lnSpc>
                <a:spcPct val="80000"/>
              </a:lnSpc>
              <a:buNone/>
              <a:defRPr/>
            </a:pPr>
            <a:endParaRPr lang="en-US" altLang="sr-Latn-RS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int a, b;</a:t>
            </a:r>
          </a:p>
          <a:p>
            <a:pPr marL="0" indent="0">
              <a:lnSpc>
                <a:spcPct val="80000"/>
              </a:lnSpc>
              <a:buNone/>
              <a:defRPr/>
            </a:pPr>
            <a:endParaRPr lang="en-US" altLang="sr-Latn-RS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int a = 0, b = 3;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19B90671-E8BA-A7F5-AF18-6BBEC000BD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Implicitna konverzija tipova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B86D1FE9-EA01-7491-1E28-C942EDEF0A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sr-Latn-RS"/>
              <a:t>Sa </a:t>
            </a:r>
            <a:r>
              <a:rPr lang="sr-Latn-RS" altLang="sr-Latn-RS"/>
              <a:t>"</a:t>
            </a:r>
            <a:r>
              <a:rPr lang="en-US" altLang="sr-Latn-RS"/>
              <a:t>u</a:t>
            </a:r>
            <a:r>
              <a:rPr lang="sr-Latn-CS" altLang="sr-Latn-RS"/>
              <a:t>žeg" ili "manjeg" tipa na "širi" ili "veći" tip.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Nema gubitka informacije jer "uži" tip podatka staje u "širi" tip podatka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Čime se dopuni "višak" bitova?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sr-Latn-RS"/>
              <a:t>Primer:</a:t>
            </a:r>
            <a:endParaRPr lang="sr-Latn-CS" altLang="sr-Latn-R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long a</a:t>
            </a:r>
            <a:r>
              <a:rPr lang="en-US" altLang="sr-Latn-RS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int i = 5;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a = i;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54A12D1F-4763-A4D6-C07E-2F58665A53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Eksplicitna konverzija tipova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3C6FAC32-809F-A0EE-BB1A-61547F01E1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Sa </a:t>
            </a:r>
            <a:r>
              <a:rPr lang="sr-Latn-CS" altLang="sr-Latn-RS"/>
              <a:t>"šireg" na "uži" tip podatka – posledica je gubljenje informacije.</a:t>
            </a:r>
          </a:p>
          <a:p>
            <a:pPr eaLnBrk="1" hangingPunct="1"/>
            <a:r>
              <a:rPr lang="sr-Latn-CS" altLang="sr-Latn-RS"/>
              <a:t>Primer: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long a = 5L</a:t>
            </a:r>
            <a:r>
              <a:rPr lang="en-US" altLang="sr-Latn-RS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int b = a;</a:t>
            </a:r>
          </a:p>
        </p:txBody>
      </p:sp>
      <p:sp>
        <p:nvSpPr>
          <p:cNvPr id="31748" name="AutoShape 4">
            <a:extLst>
              <a:ext uri="{FF2B5EF4-FFF2-40B4-BE49-F238E27FC236}">
                <a16:creationId xmlns:a16="http://schemas.microsoft.com/office/drawing/2014/main" id="{83FE7624-EDD4-DB75-57B5-AC49B6B5B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3722" y="3289676"/>
            <a:ext cx="2232025" cy="1008063"/>
          </a:xfrm>
          <a:prstGeom prst="wedgeRectCallout">
            <a:avLst>
              <a:gd name="adj1" fmla="val -120066"/>
              <a:gd name="adj2" fmla="val -15223"/>
            </a:avLst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sr-Latn-RS" sz="2400"/>
              <a:t>Gre</a:t>
            </a:r>
            <a:r>
              <a:rPr lang="sr-Latn-CS" altLang="sr-Latn-RS" sz="2400"/>
              <a:t>ška pri kompajliranju!</a:t>
            </a:r>
            <a:endParaRPr lang="en-US" altLang="sr-Latn-R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/>
      <p:bldP spid="3174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F53117B3-5188-BB6E-7358-1DC2B76041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Eksplicitna konverzija tipova</a:t>
            </a:r>
            <a:endParaRPr lang="en-US" altLang="sr-Latn-RS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C268128-99E2-E073-22E4-0A4A7A8CD6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Pravilna eksplicitna konverzija – upotreba </a:t>
            </a:r>
            <a:r>
              <a:rPr lang="sr-Latn-CS" altLang="sr-Latn-RS" b="1"/>
              <a:t>cast</a:t>
            </a:r>
            <a:r>
              <a:rPr lang="sr-Latn-CS" altLang="sr-Latn-RS"/>
              <a:t> operatora:</a:t>
            </a:r>
          </a:p>
          <a:p>
            <a:pPr eaLnBrk="1" hangingPunct="1"/>
            <a:r>
              <a:rPr lang="sr-Latn-CS" altLang="sr-Latn-RS"/>
              <a:t>Primer: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long a = 5L;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int b = (int)a;</a:t>
            </a:r>
            <a:endParaRPr lang="en-US" altLang="sr-Latn-RS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3914B09C-B5DA-9503-3CFD-5A066A8502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Konstante</a:t>
            </a:r>
            <a:endParaRPr lang="en-US" altLang="sr-Latn-R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30EFC-0FAB-E1C1-C16C-89D2FB3DB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sr-Latn-RS"/>
              <a:t>Promenljive čija vrednost se ne može menjati</a:t>
            </a:r>
          </a:p>
          <a:p>
            <a:pPr lvl="1">
              <a:defRPr/>
            </a:pPr>
            <a:r>
              <a:rPr lang="sr-Latn-RS"/>
              <a:t>zadaje se prilikom deklaracije</a:t>
            </a:r>
          </a:p>
          <a:p>
            <a:pPr>
              <a:defRPr/>
            </a:pPr>
            <a:r>
              <a:rPr lang="sr-Latn-RS"/>
              <a:t>Primer:</a:t>
            </a:r>
          </a:p>
          <a:p>
            <a:pPr marL="0" indent="0">
              <a:buNone/>
              <a:defRPr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final int </a:t>
            </a:r>
            <a:r>
              <a:rPr lang="sr-Latn-RS" b="1">
                <a:latin typeface="Courier New" pitchFamily="49" charset="0"/>
                <a:cs typeface="Courier New" pitchFamily="49" charset="0"/>
              </a:rPr>
              <a:t>A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 = 55;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0DE4C279-926D-3632-3128-36397666BD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Enumeracije</a:t>
            </a:r>
            <a:endParaRPr lang="en-US" altLang="sr-Latn-RS"/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CEEC52BD-8ED6-0FAB-49BC-88FA962612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Nabrojivi tipovi podataka (celobrojni)</a:t>
            </a:r>
          </a:p>
          <a:p>
            <a:pPr eaLnBrk="1" hangingPunct="1"/>
            <a:r>
              <a:rPr lang="en-US" altLang="sr-Latn-RS"/>
              <a:t>Primer:</a:t>
            </a:r>
          </a:p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enum Size {SMALL, MEDIUM, LARGE, EXTRA_LARGE};</a:t>
            </a:r>
          </a:p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Size s = Size.MEDIUM;</a:t>
            </a:r>
            <a:endParaRPr lang="sr-Latn-CS" altLang="sr-Latn-RS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enum Days {MON, TUE, WEN, THU, FRI, SAT, SUN};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Days d = Days.MON;</a:t>
            </a:r>
            <a:endParaRPr lang="en-US" altLang="sr-Latn-RS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93FE0-956C-3A95-CCDE-3CC8CC77C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Operatori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46EA08-87F0-B8B8-34D1-8612617DCD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0810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60932FD8-2761-C6BA-46DD-C3FEC31BF1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Operatori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F93346D7-BB3A-72EC-BA90-FD467CAE3D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sr-Latn-CS" altLang="sr-Latn-RS"/>
              <a:t>Aritmetički operatori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sr-Latn-CS" altLang="sr-Latn-RS"/>
              <a:t>Relacioni i logički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sr-Latn-CS" altLang="sr-Latn-RS"/>
              <a:t>Bit-operatori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sr-Latn-CS" altLang="sr-Latn-RS"/>
              <a:t>Operatori pomeranja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sr-Latn-CS" altLang="sr-Latn-RS"/>
              <a:t>Operator dodele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sr-Latn-CS" altLang="sr-Latn-RS"/>
              <a:t>Cast operator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CCD4FD26-85D3-BA96-CCF1-2B70A250EF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Aritmetički operatori</a:t>
            </a:r>
            <a:endParaRPr lang="en-US" altLang="sr-Latn-RS"/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334796F1-0BC6-6652-9BE7-D68E5231D1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Osnovne operacije</a:t>
            </a:r>
            <a:r>
              <a:rPr lang="sr-Latn-CS" altLang="sr-Latn-RS"/>
              <a:t>:</a:t>
            </a:r>
          </a:p>
          <a:p>
            <a:pPr eaLnBrk="1" hangingPunct="1">
              <a:buFontTx/>
              <a:buNone/>
            </a:pPr>
            <a:r>
              <a:rPr lang="sr-Latn-CS" altLang="sr-Latn-RS"/>
              <a:t>+, -, *, /, %</a:t>
            </a:r>
            <a:endParaRPr lang="en-US" altLang="sr-Latn-RS"/>
          </a:p>
          <a:p>
            <a:pPr eaLnBrk="1" hangingPunct="1"/>
            <a:r>
              <a:rPr lang="sr-Latn-CS" altLang="sr-Latn-RS"/>
              <a:t>Umesto x = x + 4</a:t>
            </a:r>
          </a:p>
          <a:p>
            <a:pPr eaLnBrk="1" hangingPunct="1">
              <a:buFontTx/>
              <a:buNone/>
            </a:pPr>
            <a:r>
              <a:rPr lang="sr-Latn-CS" altLang="sr-Latn-RS"/>
              <a:t>x += 4</a:t>
            </a:r>
          </a:p>
          <a:p>
            <a:pPr eaLnBrk="1" hangingPunct="1">
              <a:buFontTx/>
              <a:buNone/>
            </a:pPr>
            <a:endParaRPr lang="sr-Latn-CS" altLang="sr-Latn-RS"/>
          </a:p>
          <a:p>
            <a:pPr eaLnBrk="1" hangingPunct="1"/>
            <a:r>
              <a:rPr lang="sr-Latn-CS" altLang="sr-Latn-RS"/>
              <a:t>Automatski inkrement:  ++x  odn.  x++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4E215C8D-37D2-7BAA-C136-A692CA540D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Aritmetički operatori</a:t>
            </a:r>
            <a:endParaRPr lang="en-US" altLang="sr-Latn-RS"/>
          </a:p>
        </p:txBody>
      </p:sp>
      <p:graphicFrame>
        <p:nvGraphicFramePr>
          <p:cNvPr id="38943" name="Group 31">
            <a:extLst>
              <a:ext uri="{FF2B5EF4-FFF2-40B4-BE49-F238E27FC236}">
                <a16:creationId xmlns:a16="http://schemas.microsoft.com/office/drawing/2014/main" id="{EF446C5B-91FA-D0BB-E85E-74FA698BF7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7134069"/>
              </p:ext>
            </p:extLst>
          </p:nvPr>
        </p:nvGraphicFramePr>
        <p:xfrm>
          <a:off x="509377" y="2378074"/>
          <a:ext cx="9823794" cy="4114801"/>
        </p:xfrm>
        <a:graphic>
          <a:graphicData uri="http://schemas.openxmlformats.org/drawingml/2006/table">
            <a:tbl>
              <a:tblPr/>
              <a:tblGrid>
                <a:gridCol w="4260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2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7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Operator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Rezultat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x=y+2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Wingdings" pitchFamily="2" charset="2"/>
                        </a:rPr>
                        <a:t>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7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x=y-2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Wingdings" pitchFamily="2" charset="2"/>
                        </a:rPr>
                        <a:t>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x=y%2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Wingdings" pitchFamily="2" charset="2"/>
                        </a:rPr>
                        <a:t>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x=++y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Wingdings" pitchFamily="2" charset="2"/>
                        </a:rPr>
                        <a:t>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y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Wingdings" pitchFamily="2" charset="2"/>
                        </a:rPr>
                        <a:t>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x=y++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Wingdings" pitchFamily="2" charset="2"/>
                        </a:rPr>
                        <a:t>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5, y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Wingdings" pitchFamily="2" charset="2"/>
                        </a:rPr>
                        <a:t>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x=--y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Wingdings" pitchFamily="2" charset="2"/>
                        </a:rPr>
                        <a:t>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4, y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Wingdings" pitchFamily="2" charset="2"/>
                        </a:rPr>
                        <a:t>4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7891" name="Rectangle 3">
            <a:extLst>
              <a:ext uri="{FF2B5EF4-FFF2-40B4-BE49-F238E27FC236}">
                <a16:creationId xmlns:a16="http://schemas.microsoft.com/office/drawing/2014/main" id="{E45D3419-439A-C598-F4DE-550F6353AF6C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707196" y="1581056"/>
            <a:ext cx="4038600" cy="71375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sr-Latn-CS" altLang="sr-Latn-RS"/>
              <a:t>y = 5;</a:t>
            </a:r>
            <a:endParaRPr lang="en-US" altLang="sr-Latn-R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9508F4DE-AA6A-2C0D-E764-947C9E2AD4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Aritmetički operatori</a:t>
            </a:r>
            <a:endParaRPr lang="en-US" altLang="sr-Latn-RS"/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72FC49F8-EBB5-40E5-645F-D76FBF72AF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/>
              <a:t>x = 10;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/>
              <a:t>y = 5;</a:t>
            </a:r>
            <a:endParaRPr lang="en-US" altLang="sr-Latn-RS"/>
          </a:p>
        </p:txBody>
      </p:sp>
      <p:graphicFrame>
        <p:nvGraphicFramePr>
          <p:cNvPr id="39940" name="Group 4">
            <a:extLst>
              <a:ext uri="{FF2B5EF4-FFF2-40B4-BE49-F238E27FC236}">
                <a16:creationId xmlns:a16="http://schemas.microsoft.com/office/drawing/2014/main" id="{1B428763-1C96-4271-4003-EBD5A342FC1D}"/>
              </a:ext>
            </a:extLst>
          </p:cNvPr>
          <p:cNvGraphicFramePr>
            <a:graphicFrameLocks noGrp="1"/>
          </p:cNvGraphicFramePr>
          <p:nvPr/>
        </p:nvGraphicFramePr>
        <p:xfrm>
          <a:off x="2063750" y="2565401"/>
          <a:ext cx="6057900" cy="4114801"/>
        </p:xfrm>
        <a:graphic>
          <a:graphicData uri="http://schemas.openxmlformats.org/drawingml/2006/table">
            <a:tbl>
              <a:tblPr/>
              <a:tblGrid>
                <a:gridCol w="2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Operator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Isto kao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Rezultat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Wingdings" pitchFamily="2" charset="2"/>
                        </a:rPr>
                        <a:t>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+=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Wingdings" pitchFamily="2" charset="2"/>
                        </a:rPr>
                        <a:t>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15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-=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Wingdings" pitchFamily="2" charset="2"/>
                        </a:rPr>
                        <a:t>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5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*=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*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Wingdings" pitchFamily="2" charset="2"/>
                        </a:rPr>
                        <a:t>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/=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/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Wingdings" pitchFamily="2" charset="2"/>
                        </a:rPr>
                        <a:t>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2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%=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%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Wingdings" pitchFamily="2" charset="2"/>
                        </a:rPr>
                        <a:t>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C0617987-6082-4A67-13F5-D271BEC621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Relacioni i logički operatori</a:t>
            </a:r>
            <a:endParaRPr lang="en-US" altLang="sr-Latn-RS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5AE2982E-BDF9-A011-8F4B-9601B32F40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Relacioni: &lt;   &gt;  &lt;=   &gt;=   ==   !=</a:t>
            </a:r>
          </a:p>
          <a:p>
            <a:pPr eaLnBrk="1" hangingPunct="1"/>
            <a:r>
              <a:rPr lang="sr-Latn-CS" altLang="sr-Latn-RS"/>
              <a:t>Logički: &amp;&amp; (I),  ||  (ILI),  !  (NE)</a:t>
            </a:r>
          </a:p>
          <a:p>
            <a:pPr eaLnBrk="1" hangingPunct="1"/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CF3BDC14-7077-DB1C-5CC9-E8B93BDDE9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Relacioni operatori</a:t>
            </a:r>
            <a:endParaRPr lang="en-US" altLang="sr-Latn-RS"/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F3A981DC-85DA-D152-AA0A-0036B38ECF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sr-Latn-CS" altLang="sr-Latn-RS"/>
              <a:t>x = 5;</a:t>
            </a:r>
            <a:endParaRPr lang="en-US" altLang="sr-Latn-RS"/>
          </a:p>
        </p:txBody>
      </p:sp>
      <p:graphicFrame>
        <p:nvGraphicFramePr>
          <p:cNvPr id="40993" name="Group 33">
            <a:extLst>
              <a:ext uri="{FF2B5EF4-FFF2-40B4-BE49-F238E27FC236}">
                <a16:creationId xmlns:a16="http://schemas.microsoft.com/office/drawing/2014/main" id="{DCD9EB72-26C6-5D3B-3CB6-DFE4514D9B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3499365"/>
              </p:ext>
            </p:extLst>
          </p:nvPr>
        </p:nvGraphicFramePr>
        <p:xfrm>
          <a:off x="1613941" y="2555874"/>
          <a:ext cx="7993062" cy="3756026"/>
        </p:xfrm>
        <a:graphic>
          <a:graphicData uri="http://schemas.openxmlformats.org/drawingml/2006/table">
            <a:tbl>
              <a:tblPr/>
              <a:tblGrid>
                <a:gridCol w="2187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5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6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Operator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Rezultat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==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==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 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je netačno (false)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!=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!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8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je tačno (true)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 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je netačno (false)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&lt;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&lt;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 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je tačno (true)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&gt;=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 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je netačno (false)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&lt;=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&lt;=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 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je tačno (true)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FACCE7DA-C8B2-631A-D67C-CF026FDF8E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Logički operatori</a:t>
            </a:r>
            <a:endParaRPr lang="en-US" altLang="sr-Latn-RS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AD6AF6CA-961A-8EDF-C0F5-829C940F5E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Logički: </a:t>
            </a:r>
            <a:r>
              <a:rPr lang="sr-Latn-CS" altLang="sr-Latn-RS" b="1">
                <a:latin typeface="Courier New" panose="02070309020205020404" pitchFamily="49" charset="0"/>
              </a:rPr>
              <a:t>&amp;&amp;  ||  !</a:t>
            </a:r>
            <a:endParaRPr lang="sr-Latn-CS" altLang="sr-Latn-RS"/>
          </a:p>
          <a:p>
            <a:pPr eaLnBrk="1" hangingPunct="1"/>
            <a:r>
              <a:rPr lang="sr-Latn-CS" altLang="sr-Latn-RS"/>
              <a:t>Rezultat logičkih operatora je tačno (true) ili netačno (false)</a:t>
            </a:r>
          </a:p>
          <a:p>
            <a:pPr eaLnBrk="1" hangingPunct="1"/>
            <a:r>
              <a:rPr lang="sr-Latn-CS" altLang="sr-Latn-RS"/>
              <a:t>Operandi logičkih operatora su logički izrazi</a:t>
            </a:r>
            <a:endParaRPr lang="en-US" altLang="sr-Latn-RS"/>
          </a:p>
        </p:txBody>
      </p:sp>
      <p:graphicFrame>
        <p:nvGraphicFramePr>
          <p:cNvPr id="42065" name="Group 81">
            <a:extLst>
              <a:ext uri="{FF2B5EF4-FFF2-40B4-BE49-F238E27FC236}">
                <a16:creationId xmlns:a16="http://schemas.microsoft.com/office/drawing/2014/main" id="{A0E0E0C9-0C98-5938-9168-FCCDD50EC54C}"/>
              </a:ext>
            </a:extLst>
          </p:cNvPr>
          <p:cNvGraphicFramePr>
            <a:graphicFrameLocks noGrp="1"/>
          </p:cNvGraphicFramePr>
          <p:nvPr/>
        </p:nvGraphicFramePr>
        <p:xfrm>
          <a:off x="8256588" y="4221164"/>
          <a:ext cx="2266950" cy="1617663"/>
        </p:xfrm>
        <a:graphic>
          <a:graphicData uri="http://schemas.openxmlformats.org/drawingml/2006/table">
            <a:tbl>
              <a:tblPr/>
              <a:tblGrid>
                <a:gridCol w="1135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1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!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2052" name="Group 68">
            <a:extLst>
              <a:ext uri="{FF2B5EF4-FFF2-40B4-BE49-F238E27FC236}">
                <a16:creationId xmlns:a16="http://schemas.microsoft.com/office/drawing/2014/main" id="{FBF2CC82-CDE3-54B3-1F55-DF761A3B89BE}"/>
              </a:ext>
            </a:extLst>
          </p:cNvPr>
          <p:cNvGraphicFramePr>
            <a:graphicFrameLocks noGrp="1"/>
          </p:cNvGraphicFramePr>
          <p:nvPr/>
        </p:nvGraphicFramePr>
        <p:xfrm>
          <a:off x="1703389" y="4221164"/>
          <a:ext cx="2951163" cy="1617663"/>
        </p:xfrm>
        <a:graphic>
          <a:graphicData uri="http://schemas.openxmlformats.org/drawingml/2006/table">
            <a:tbl>
              <a:tblPr/>
              <a:tblGrid>
                <a:gridCol w="98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2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&amp;&amp;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2059" name="Group 75">
            <a:extLst>
              <a:ext uri="{FF2B5EF4-FFF2-40B4-BE49-F238E27FC236}">
                <a16:creationId xmlns:a16="http://schemas.microsoft.com/office/drawing/2014/main" id="{053D5875-9512-27A2-DD0E-F044AFEE2663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4221164"/>
          <a:ext cx="3313112" cy="1617663"/>
        </p:xfrm>
        <a:graphic>
          <a:graphicData uri="http://schemas.openxmlformats.org/drawingml/2006/table">
            <a:tbl>
              <a:tblPr/>
              <a:tblGrid>
                <a:gridCol w="11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3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||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3A533B3A-9D5B-A20E-3FAC-EFB4FBA9B3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Logički operatori</a:t>
            </a:r>
            <a:endParaRPr lang="en-US" altLang="sr-Latn-RS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A0B15458-A9A7-6B52-448B-F78D82BEC4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18377" y="1690688"/>
            <a:ext cx="10515600" cy="4351338"/>
          </a:xfrm>
          <a:noFill/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/>
              <a:t>x = 6;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/>
              <a:t>y = 3;</a:t>
            </a:r>
            <a:endParaRPr lang="en-US" altLang="sr-Latn-RS"/>
          </a:p>
        </p:txBody>
      </p:sp>
      <p:graphicFrame>
        <p:nvGraphicFramePr>
          <p:cNvPr id="43012" name="Group 4">
            <a:extLst>
              <a:ext uri="{FF2B5EF4-FFF2-40B4-BE49-F238E27FC236}">
                <a16:creationId xmlns:a16="http://schemas.microsoft.com/office/drawing/2014/main" id="{1C870BDB-384F-1EEA-D23E-B973D65E9A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249506"/>
              </p:ext>
            </p:extLst>
          </p:nvPr>
        </p:nvGraphicFramePr>
        <p:xfrm>
          <a:off x="1797990" y="2871703"/>
          <a:ext cx="8353425" cy="3678237"/>
        </p:xfrm>
        <a:graphic>
          <a:graphicData uri="http://schemas.openxmlformats.org/drawingml/2006/table">
            <a:tbl>
              <a:tblPr/>
              <a:tblGrid>
                <a:gridCol w="180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7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4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Operator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Objašnjenje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Primer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027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&amp;&amp;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konjukcija (and, i)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(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(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x &lt; 10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)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&amp;&amp; 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(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y &gt; 1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)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)</a:t>
                      </a:r>
                      <a:endParaRPr kumimoji="0" lang="sr-Latn-CS" sz="2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tačno (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true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)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027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||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disjunkcija (or, ili)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(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(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==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)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|| 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(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y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==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)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)</a:t>
                      </a:r>
                      <a:endParaRPr kumimoji="0" lang="sr-Latn-CS" sz="2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netačno (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false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)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027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!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negacija (not, ne)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!(x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==</a:t>
                      </a:r>
                      <a:r>
                        <a:rPr kumimoji="0" lang="sr-Latn-R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y) </a:t>
                      </a:r>
                      <a:endParaRPr kumimoji="0" lang="sr-Latn-CS" sz="2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tačno (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tru</a:t>
                      </a:r>
                      <a:r>
                        <a:rPr kumimoji="0" lang="sr-Latn-C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e)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E2BF20C5-F64E-D082-C69D-9B5E67218E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Bit operatori</a:t>
            </a:r>
            <a:endParaRPr lang="en-US" altLang="sr-Latn-RS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76AF5AA3-C6A5-B627-8423-A525E3083B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Logičko I nad bitovima: &amp;</a:t>
            </a:r>
          </a:p>
          <a:p>
            <a:pPr eaLnBrk="1" hangingPunct="1"/>
            <a:r>
              <a:rPr lang="sr-Latn-CS" altLang="sr-Latn-RS"/>
              <a:t>Logičko ILI nad bitovima: |</a:t>
            </a:r>
          </a:p>
          <a:p>
            <a:pPr eaLnBrk="1" hangingPunct="1"/>
            <a:r>
              <a:rPr lang="sr-Latn-CS" altLang="sr-Latn-RS"/>
              <a:t>Ekskluzivno ILI (XOR) nad bitovima: ^</a:t>
            </a:r>
          </a:p>
          <a:p>
            <a:pPr eaLnBrk="1" hangingPunct="1"/>
            <a:r>
              <a:rPr lang="sr-Latn-CS" altLang="sr-Latn-RS"/>
              <a:t>Logička negacija nad bitovima -</a:t>
            </a:r>
            <a:r>
              <a:rPr lang="sr-Latn-CS" altLang="sr-Latn-RS" u="sng"/>
              <a:t>unarni operator</a:t>
            </a:r>
            <a:r>
              <a:rPr lang="sr-Latn-CS" altLang="sr-Latn-RS"/>
              <a:t>: ~</a:t>
            </a:r>
          </a:p>
          <a:p>
            <a:pPr eaLnBrk="1" hangingPunct="1"/>
            <a:r>
              <a:rPr lang="sr-Latn-CS" altLang="sr-Latn-RS"/>
              <a:t>Kombinacija sa =:</a:t>
            </a:r>
          </a:p>
          <a:p>
            <a:pPr eaLnBrk="1" hangingPunct="1">
              <a:buFontTx/>
              <a:buNone/>
            </a:pPr>
            <a:r>
              <a:rPr lang="sr-Latn-CS" altLang="sr-Latn-RS"/>
              <a:t>&amp;=   |=   ^=  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1C760AD2-6788-11ED-280D-7615364053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Bit operatori</a:t>
            </a:r>
            <a:endParaRPr lang="en-US" altLang="sr-Latn-RS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A8A43D76-F0B9-2176-E76A-E78F40787E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sr-Latn-CS" altLang="sr-Latn-RS" b="1">
                <a:latin typeface="Courier New" pitchFamily="49" charset="0"/>
              </a:rPr>
              <a:t>a = 3;       // a=0000...00011 binarno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sr-Latn-CS" altLang="sr-Latn-RS" b="1">
                <a:latin typeface="Courier New" pitchFamily="49" charset="0"/>
              </a:rPr>
              <a:t>b = 6;       // b=0000...00110 binarno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sr-Latn-CS" altLang="sr-Latn-RS" b="1">
                <a:latin typeface="Courier New" pitchFamily="49" charset="0"/>
              </a:rPr>
              <a:t>c = a &amp; b;</a:t>
            </a:r>
          </a:p>
          <a:p>
            <a:pPr eaLnBrk="1" hangingPunct="1">
              <a:lnSpc>
                <a:spcPct val="90000"/>
              </a:lnSpc>
              <a:defRPr/>
            </a:pPr>
            <a:endParaRPr lang="sr-Latn-CS" altLang="sr-Latn-RS" b="1"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sr-Latn-CS" altLang="sr-Latn-RS" b="1">
                <a:latin typeface="Courier New" pitchFamily="49" charset="0"/>
              </a:rPr>
              <a:t>  ...000011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sr-Latn-CS" altLang="sr-Latn-RS" b="1">
                <a:latin typeface="Courier New" pitchFamily="49" charset="0"/>
              </a:rPr>
              <a:t>&amp; ...000110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sr-Latn-CS" altLang="sr-Latn-RS" b="1">
                <a:latin typeface="Courier New" pitchFamily="49" charset="0"/>
              </a:rPr>
              <a:t>-----------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sr-Latn-CS" altLang="sr-Latn-RS" b="1">
                <a:latin typeface="Courier New" pitchFamily="49" charset="0"/>
              </a:rPr>
              <a:t>  ...000010</a:t>
            </a:r>
          </a:p>
          <a:p>
            <a:pPr marL="0" indent="0">
              <a:buNone/>
              <a:defRPr/>
            </a:pPr>
            <a:endParaRPr lang="sr-Latn-CS" altLang="sr-Latn-RS" b="1">
              <a:latin typeface="Courier New" pitchFamily="49" charset="0"/>
            </a:endParaRPr>
          </a:p>
          <a:p>
            <a:pPr marL="0" indent="0">
              <a:buNone/>
              <a:defRPr/>
            </a:pPr>
            <a:r>
              <a:rPr lang="sr-Latn-CS" altLang="sr-Latn-RS" b="1">
                <a:latin typeface="Courier New" pitchFamily="49" charset="0"/>
              </a:rPr>
              <a:t>c </a:t>
            </a:r>
            <a:r>
              <a:rPr lang="sr-Latn-CS" altLang="sr-Latn-RS" b="1">
                <a:latin typeface="Courier New" pitchFamily="49" charset="0"/>
                <a:sym typeface="Wingdings" pitchFamily="2" charset="2"/>
              </a:rPr>
              <a:t> </a:t>
            </a:r>
            <a:r>
              <a:rPr lang="sr-Latn-CS" altLang="sr-Latn-RS" b="1">
                <a:latin typeface="Courier New" pitchFamily="49" charset="0"/>
              </a:rPr>
              <a:t>2 </a:t>
            </a:r>
            <a:r>
              <a:rPr lang="sr-Latn-CS" altLang="sr-Latn-RS" sz="2400" b="1">
                <a:latin typeface="Courier New" pitchFamily="49" charset="0"/>
              </a:rPr>
              <a:t>(u promenljivoj c se sada nalazi 2)</a:t>
            </a:r>
            <a:endParaRPr lang="en-US" altLang="sr-Latn-RS" b="1">
              <a:latin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3DDFF861-965C-F09F-AE37-72E01E5A9D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Bit operatori</a:t>
            </a:r>
            <a:endParaRPr lang="en-US" altLang="sr-Latn-R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C8F08-A598-25B3-71E1-D8081B42B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Ako su operandi bit operatora boolean vrednosti, tada ovi operatori postaju</a:t>
            </a:r>
            <a:r>
              <a:rPr lang="sr-Latn-RS"/>
              <a:t> </a:t>
            </a:r>
            <a:r>
              <a:rPr lang="en-US"/>
              <a:t>logički operatori:</a:t>
            </a:r>
          </a:p>
          <a:p>
            <a:pPr marL="0" indent="0">
              <a:buNone/>
              <a:defRPr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boolean rez11 = (a &gt; 3) &amp; (b &gt; 7);</a:t>
            </a:r>
          </a:p>
          <a:p>
            <a:pPr marL="0" indent="0">
              <a:buNone/>
              <a:defRPr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boolean rez12 = (a &gt; 3) &amp;&amp; (b &gt; 7);</a:t>
            </a:r>
          </a:p>
          <a:p>
            <a:pPr marL="0" indent="0">
              <a:buNone/>
              <a:defRPr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boolean rez21 = (a &gt; 3) | (b &gt; 7);</a:t>
            </a:r>
          </a:p>
          <a:p>
            <a:pPr marL="0" indent="0">
              <a:buNone/>
              <a:defRPr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boolean rez22 = (a &gt; 3) || (b &gt; 7);</a:t>
            </a:r>
          </a:p>
          <a:p>
            <a:pPr marL="0" indent="0">
              <a:buNone/>
              <a:defRPr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boolean rez3 = </a:t>
            </a:r>
            <a:r>
              <a:rPr lang="sr-Latn-RS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(a &gt; 3) ^ (b &gt; 7);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F44AE061-B84A-9E77-2AC9-3E2A868C2E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Operatori pomeranja</a:t>
            </a:r>
            <a:endParaRPr lang="en-US" altLang="sr-Latn-RS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81033F3D-0453-1D54-0B87-26EFFFE822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sr-Latn-CS" altLang="sr-Latn-RS"/>
              <a:t>Shift-ovanje (pomeranje):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a &gt;&gt; b </a:t>
            </a:r>
            <a:r>
              <a:rPr lang="sr-Latn-CS" altLang="sr-Latn-RS"/>
              <a:t>– pomera bitove u a za b mesta</a:t>
            </a:r>
          </a:p>
          <a:p>
            <a:pPr eaLnBrk="1" hangingPunct="1">
              <a:lnSpc>
                <a:spcPct val="80000"/>
              </a:lnSpc>
              <a:buFontTx/>
              <a:buChar char="-"/>
            </a:pPr>
            <a:r>
              <a:rPr lang="sr-Latn-CS" altLang="sr-Latn-RS"/>
              <a:t>ako je a pozitivan, ubacuje sa leve strane 0</a:t>
            </a:r>
          </a:p>
          <a:p>
            <a:pPr eaLnBrk="1" hangingPunct="1">
              <a:lnSpc>
                <a:spcPct val="80000"/>
              </a:lnSpc>
              <a:buFontTx/>
              <a:buChar char="-"/>
            </a:pPr>
            <a:r>
              <a:rPr lang="sr-Latn-CS" altLang="sr-Latn-RS"/>
              <a:t>ako je a negativan, ubacuje sa leve strane 1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a &lt;&lt; b</a:t>
            </a:r>
            <a:r>
              <a:rPr lang="sr-Latn-CS" altLang="sr-Latn-RS"/>
              <a:t> – pomera bitove u levo, ubacuje sa desne strane 0 i ne čuva znak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a &gt;&gt;&gt; b</a:t>
            </a:r>
            <a:r>
              <a:rPr lang="sr-Latn-CS" altLang="sr-Latn-RS"/>
              <a:t> – pomera bitove u a u desno za b mesta i ubacuje 0 bez obzira na znak promenljive </a:t>
            </a:r>
            <a:r>
              <a:rPr lang="sr-Latn-CS" altLang="sr-Latn-RS" b="1"/>
              <a:t>a</a:t>
            </a:r>
            <a:r>
              <a:rPr lang="sr-Latn-CS" altLang="sr-Latn-RS"/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/>
              <a:t>Rezultat pomeranja je 32-bitan, osim ako promenljiva koja prihvata rezultat nije long (tada je 64-bitan)!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4BC34A62-CCD1-9C88-8078-A0183F2E0D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Pomeranje</a:t>
            </a:r>
            <a:endParaRPr lang="en-US" altLang="sr-Latn-R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7A8E221A-6BA9-E240-3A47-2A805CD3D4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a = 3;      // a = 0000011 binarno</a:t>
            </a:r>
          </a:p>
          <a:p>
            <a:pPr marL="0" indent="0" eaLnBrk="1" hangingPunct="1"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b = a &lt;&lt; 2; // b = 0001100 binarno</a:t>
            </a:r>
          </a:p>
          <a:p>
            <a:pPr eaLnBrk="1" hangingPunct="1"/>
            <a:endParaRPr lang="sr-Latn-CS" altLang="sr-Latn-RS" b="1">
              <a:latin typeface="Courier New" panose="02070309020205020404" pitchFamily="49" charset="0"/>
            </a:endParaRPr>
          </a:p>
          <a:p>
            <a:pPr marL="0" indent="0" eaLnBrk="1" hangingPunct="1"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a = 7;      // a = 0000111 binarno</a:t>
            </a:r>
          </a:p>
          <a:p>
            <a:pPr marL="0" indent="0" eaLnBrk="1" hangingPunct="1"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b = a &gt;&gt; 2; // b = 0000001 binarno</a:t>
            </a:r>
            <a:endParaRPr lang="en-US" altLang="sr-Latn-RS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4FB5A650-BE00-8301-6E3D-108B12B370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Operator dodele</a:t>
            </a:r>
            <a:endParaRPr lang="en-US" altLang="sr-Latn-RS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55248668-76C4-1932-A969-8280201D95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Osim dodeljivanja literala,</a:t>
            </a:r>
            <a:r>
              <a:rPr lang="sr-Latn-RS"/>
              <a:t> </a:t>
            </a:r>
            <a:r>
              <a:rPr lang="en-US"/>
              <a:t>promenljivoj se može dodeliti vrednost druge promenljive, ili neki izraz:</a:t>
            </a:r>
          </a:p>
          <a:p>
            <a:pPr marL="0" indent="0">
              <a:buNone/>
              <a:defRPr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a = b;</a:t>
            </a:r>
          </a:p>
          <a:p>
            <a:pPr marL="0" indent="0">
              <a:buNone/>
              <a:defRPr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c = (d * 10) / e;</a:t>
            </a:r>
            <a:endParaRPr lang="sr-Latn-CS" b="1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defRPr/>
            </a:pPr>
            <a:r>
              <a:rPr lang="sr-Latn-CS"/>
              <a:t>Ako su operandi primitivni tipovi, kopira se sadržaj:</a:t>
            </a:r>
          </a:p>
          <a:p>
            <a:pPr eaLnBrk="1" hangingPunct="1">
              <a:buFontTx/>
              <a:buNone/>
              <a:defRPr/>
            </a:pPr>
            <a:r>
              <a:rPr lang="sr-Latn-CS" b="1">
                <a:latin typeface="Courier New" pitchFamily="49" charset="0"/>
              </a:rPr>
              <a:t>int i = 3, j = 6;</a:t>
            </a:r>
          </a:p>
          <a:p>
            <a:pPr eaLnBrk="1" hangingPunct="1">
              <a:buFontTx/>
              <a:buNone/>
              <a:defRPr/>
            </a:pPr>
            <a:r>
              <a:rPr lang="sr-Latn-CS" b="1">
                <a:latin typeface="Courier New" pitchFamily="49" charset="0"/>
              </a:rPr>
              <a:t>i = j;  // u i ubačeno 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7DA15F71-73BB-436E-8E3E-C4C0568498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Cast operator</a:t>
            </a:r>
            <a:endParaRPr lang="en-US" altLang="sr-Latn-R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9923D-3AF6-8400-A9F5-7D59C30B2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30080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Ako su promenljive različitog tipa, kompajler će probati da obavi prenos</a:t>
            </a:r>
            <a:r>
              <a:rPr lang="sr-Latn-RS"/>
              <a:t> </a:t>
            </a:r>
            <a:r>
              <a:rPr lang="pl-PL"/>
              <a:t>vrednosti iz jedne u drugu.</a:t>
            </a:r>
          </a:p>
          <a:p>
            <a:pPr marL="0" indent="0">
              <a:buNone/>
              <a:defRPr/>
            </a:pPr>
            <a:r>
              <a:rPr lang="pl-PL" sz="2400" b="1">
                <a:latin typeface="Courier New" panose="02070309020205020404" pitchFamily="49" charset="0"/>
                <a:cs typeface="Courier New" panose="02070309020205020404" pitchFamily="49" charset="0"/>
              </a:rPr>
              <a:t>int a = 4;</a:t>
            </a:r>
          </a:p>
          <a:p>
            <a:pPr marL="0" indent="0">
              <a:buNone/>
              <a:defRPr/>
            </a:pPr>
            <a:r>
              <a:rPr lang="pl-PL" sz="2400" b="1">
                <a:latin typeface="Courier New" panose="02070309020205020404" pitchFamily="49" charset="0"/>
                <a:cs typeface="Courier New" panose="02070309020205020404" pitchFamily="49" charset="0"/>
              </a:rPr>
              <a:t>double d = a;</a:t>
            </a:r>
          </a:p>
          <a:p>
            <a:pPr>
              <a:defRPr/>
            </a:pPr>
            <a:r>
              <a:rPr lang="sr-Latn-RS"/>
              <a:t>Problem sa </a:t>
            </a:r>
            <a:r>
              <a:rPr lang="sr-Latn-RS" b="1"/>
              <a:t>različitim</a:t>
            </a:r>
            <a:r>
              <a:rPr lang="sr-Latn-RS"/>
              <a:t> veličinama: </a:t>
            </a:r>
            <a:r>
              <a:rPr lang="en-US"/>
              <a:t>ako u promenljivu tipa </a:t>
            </a:r>
            <a:r>
              <a:rPr lang="en-US" b="1"/>
              <a:t>int</a:t>
            </a:r>
            <a:r>
              <a:rPr lang="en-US"/>
              <a:t> probamo</a:t>
            </a:r>
            <a:r>
              <a:rPr lang="sr-Latn-RS"/>
              <a:t> </a:t>
            </a:r>
            <a:r>
              <a:rPr lang="en-US"/>
              <a:t>da unesemo vrednost promenljive tipe </a:t>
            </a:r>
            <a:r>
              <a:rPr lang="en-US" b="1"/>
              <a:t>double</a:t>
            </a:r>
            <a:r>
              <a:rPr lang="en-US"/>
              <a:t>, kompajler će </a:t>
            </a:r>
            <a:r>
              <a:rPr lang="sr-Latn-RS"/>
              <a:t>prijaviti grešku:</a:t>
            </a:r>
          </a:p>
          <a:p>
            <a:pPr marL="0" indent="0">
              <a:buNone/>
              <a:defRPr/>
            </a:pPr>
            <a:r>
              <a:rPr lang="en-US" sz="2400" b="1">
                <a:latin typeface="Courier New" pitchFamily="49" charset="0"/>
                <a:cs typeface="Courier New" pitchFamily="49" charset="0"/>
              </a:rPr>
              <a:t>double d = 2.99;</a:t>
            </a:r>
          </a:p>
          <a:p>
            <a:pPr marL="0" indent="0">
              <a:buNone/>
              <a:defRPr/>
            </a:pPr>
            <a:r>
              <a:rPr lang="en-US" sz="2400" b="1">
                <a:latin typeface="Courier New" pitchFamily="49" charset="0"/>
                <a:cs typeface="Courier New" pitchFamily="49" charset="0"/>
              </a:rPr>
              <a:t>int a = d;</a:t>
            </a:r>
            <a:r>
              <a:rPr lang="sr-Latn-RS" sz="2400" b="1">
                <a:latin typeface="Courier New" pitchFamily="49" charset="0"/>
                <a:cs typeface="Courier New" pitchFamily="49" charset="0"/>
              </a:rPr>
              <a:t> // Greška! Promenljive a i d nisu iste veličine</a:t>
            </a:r>
          </a:p>
          <a:p>
            <a:pPr marL="0" indent="0">
              <a:buNone/>
              <a:defRPr/>
            </a:pPr>
            <a:r>
              <a:rPr lang="en-US" sz="2400" b="1">
                <a:latin typeface="Courier New" pitchFamily="49" charset="0"/>
                <a:cs typeface="Courier New" pitchFamily="49" charset="0"/>
              </a:rPr>
              <a:t>int a = </a:t>
            </a:r>
            <a:r>
              <a:rPr lang="sr-Latn-RS" sz="2400" b="1">
                <a:latin typeface="Courier New" pitchFamily="49" charset="0"/>
                <a:cs typeface="Courier New" pitchFamily="49" charset="0"/>
              </a:rPr>
              <a:t>(int)</a:t>
            </a:r>
            <a:r>
              <a:rPr lang="en-US" sz="2400" b="1">
                <a:latin typeface="Courier New" pitchFamily="49" charset="0"/>
                <a:cs typeface="Courier New" pitchFamily="49" charset="0"/>
              </a:rPr>
              <a:t>d;</a:t>
            </a:r>
            <a:endParaRPr lang="pl-PL" sz="2400" b="1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2EE16455-F302-E387-57B3-0958D211E0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Cast operator</a:t>
            </a:r>
            <a:endParaRPr lang="en-US" altLang="sr-Latn-R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A17C9-0EC9-5C07-EAF2-DFE81FA5A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sr-Latn-RS"/>
              <a:t>Ako probamo da smestimo "širi" tip u "uži", to bi </a:t>
            </a:r>
            <a:r>
              <a:rPr lang="en-US"/>
              <a:t>proizve</a:t>
            </a:r>
            <a:r>
              <a:rPr lang="sr-Latn-RS"/>
              <a:t>l</a:t>
            </a:r>
            <a:r>
              <a:rPr lang="en-US"/>
              <a:t>o grešku pri kompajliranju:</a:t>
            </a:r>
          </a:p>
          <a:p>
            <a:pPr marL="0" indent="0">
              <a:buNone/>
              <a:defRPr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long a = 44;</a:t>
            </a:r>
          </a:p>
          <a:p>
            <a:pPr marL="0" indent="0">
              <a:buNone/>
              <a:defRPr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int b = a;</a:t>
            </a:r>
            <a:r>
              <a:rPr lang="sr-Latn-RS" b="1">
                <a:latin typeface="Courier New" pitchFamily="49" charset="0"/>
                <a:cs typeface="Courier New" pitchFamily="49" charset="0"/>
              </a:rPr>
              <a:t> // Greška!</a:t>
            </a:r>
            <a:endParaRPr lang="en-US" b="1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/>
              <a:t>Kompajler ne može da smesti 64 bita u 32 bita i zbog toga prijavljuje</a:t>
            </a:r>
            <a:r>
              <a:rPr lang="sr-Latn-RS"/>
              <a:t> </a:t>
            </a:r>
            <a:r>
              <a:rPr lang="en-US"/>
              <a:t>grešku. </a:t>
            </a:r>
            <a:r>
              <a:rPr lang="sr-Latn-RS"/>
              <a:t>T</a:t>
            </a:r>
            <a:r>
              <a:rPr lang="en-US"/>
              <a:t>o </a:t>
            </a:r>
            <a:r>
              <a:rPr lang="sr-Latn-RS"/>
              <a:t>ćemo </a:t>
            </a:r>
            <a:r>
              <a:rPr lang="en-US"/>
              <a:t>postići upotrebom kast (cast) operatora:</a:t>
            </a:r>
          </a:p>
          <a:p>
            <a:pPr marL="0" indent="0">
              <a:buNone/>
              <a:defRPr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long a = 44;</a:t>
            </a:r>
          </a:p>
          <a:p>
            <a:pPr marL="0" indent="0">
              <a:buNone/>
              <a:defRPr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int b = (int)a;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F958A-CE39-EE19-AB46-B722AD8C3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Kontrola toka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956188-157E-0D47-74A1-BD48896418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4012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C6280900-B0E4-ECEA-5AEB-E4A073407F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Kontrola toka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58BCFB63-8243-2BC3-F353-777E016914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sr-Latn-CS" altLang="sr-Latn-RS" b="1">
                <a:latin typeface="Courier New" panose="02070309020205020404" pitchFamily="49" charset="0"/>
              </a:rPr>
              <a:t>if else</a:t>
            </a:r>
          </a:p>
          <a:p>
            <a:pPr eaLnBrk="1" hangingPunct="1"/>
            <a:r>
              <a:rPr lang="sr-Latn-CS" altLang="sr-Latn-RS" b="1">
                <a:latin typeface="Courier New" panose="02070309020205020404" pitchFamily="49" charset="0"/>
              </a:rPr>
              <a:t>switch</a:t>
            </a:r>
          </a:p>
          <a:p>
            <a:pPr eaLnBrk="1" hangingPunct="1"/>
            <a:r>
              <a:rPr lang="sr-Latn-CS" altLang="sr-Latn-RS" b="1">
                <a:latin typeface="Courier New" panose="02070309020205020404" pitchFamily="49" charset="0"/>
              </a:rPr>
              <a:t>for</a:t>
            </a:r>
          </a:p>
          <a:p>
            <a:pPr eaLnBrk="1" hangingPunct="1"/>
            <a:r>
              <a:rPr lang="sr-Latn-CS" altLang="sr-Latn-RS" b="1">
                <a:latin typeface="Courier New" panose="02070309020205020404" pitchFamily="49" charset="0"/>
              </a:rPr>
              <a:t>while</a:t>
            </a:r>
          </a:p>
          <a:p>
            <a:pPr eaLnBrk="1" hangingPunct="1"/>
            <a:r>
              <a:rPr lang="sr-Latn-CS" altLang="sr-Latn-RS" b="1">
                <a:latin typeface="Courier New" panose="02070309020205020404" pitchFamily="49" charset="0"/>
              </a:rPr>
              <a:t>do while</a:t>
            </a:r>
          </a:p>
          <a:p>
            <a:pPr eaLnBrk="1" hangingPunct="1"/>
            <a:r>
              <a:rPr lang="sr-Latn-CS" altLang="sr-Latn-RS" b="1">
                <a:latin typeface="Courier New" panose="02070309020205020404" pitchFamily="49" charset="0"/>
              </a:rPr>
              <a:t>break</a:t>
            </a:r>
          </a:p>
          <a:p>
            <a:pPr eaLnBrk="1" hangingPunct="1"/>
            <a:r>
              <a:rPr lang="sr-Latn-CS" altLang="sr-Latn-RS" b="1">
                <a:latin typeface="Courier New" panose="02070309020205020404" pitchFamily="49" charset="0"/>
              </a:rPr>
              <a:t>continue</a:t>
            </a:r>
          </a:p>
          <a:p>
            <a:pPr eaLnBrk="1" hangingPunct="1"/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4F4F0241-7DCE-5CA9-FE9A-0E28D4797B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if</a:t>
            </a:r>
            <a:endParaRPr lang="en-US" altLang="sr-Latn-RS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29F2696D-D063-9CD1-F683-C4F9871C25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sr-Latn-CS" altLang="sr-Latn-RS" b="1">
                <a:latin typeface="Courier New" pitchFamily="49" charset="0"/>
                <a:cs typeface="Courier New" pitchFamily="49" charset="0"/>
              </a:rPr>
              <a:t>if (uslov)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sr-Latn-CS" altLang="sr-Latn-RS" b="1">
                <a:latin typeface="Courier New" pitchFamily="49" charset="0"/>
                <a:cs typeface="Courier New" pitchFamily="49" charset="0"/>
              </a:rPr>
              <a:t>  akcija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sr-Latn-CS" altLang="sr-Latn-RS" b="1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sr-Latn-CS" altLang="sr-Latn-RS" b="1">
                <a:latin typeface="Courier New" pitchFamily="49" charset="0"/>
                <a:cs typeface="Courier New" pitchFamily="49" charset="0"/>
              </a:rPr>
              <a:t>if (uslov)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sr-Latn-CS" altLang="sr-Latn-RS" b="1">
                <a:latin typeface="Courier New" pitchFamily="49" charset="0"/>
                <a:cs typeface="Courier New" pitchFamily="49" charset="0"/>
              </a:rPr>
              <a:t>  akcija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sr-Latn-CS" altLang="sr-Latn-RS" b="1"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sr-Latn-CS" altLang="sr-Latn-RS" b="1">
                <a:latin typeface="Courier New" pitchFamily="49" charset="0"/>
                <a:cs typeface="Courier New" pitchFamily="49" charset="0"/>
              </a:rPr>
              <a:t>  druga_akcija</a:t>
            </a:r>
            <a:endParaRPr lang="en-US" altLang="sr-Latn-RS" b="1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sr-Latn-CS" altLang="sr-Latn-RS" b="1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endParaRPr lang="sr-Latn-CS" altLang="sr-Latn-RS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376A93-DA6D-B037-F956-8F0EA08AD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7438" y="1700213"/>
            <a:ext cx="3744912" cy="45259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sr-Latn-CS" altLang="sr-Latn-RS" sz="2800" b="1" kern="0">
                <a:latin typeface="Courier New" pitchFamily="49" charset="0"/>
                <a:cs typeface="Courier New" pitchFamily="49" charset="0"/>
              </a:rPr>
              <a:t>if (uslov1)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sr-Latn-CS" altLang="sr-Latn-RS" sz="2800" b="1" kern="0">
                <a:latin typeface="Courier New" pitchFamily="49" charset="0"/>
                <a:cs typeface="Courier New" pitchFamily="49" charset="0"/>
              </a:rPr>
              <a:t>  akcija1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sr-Latn-CS" altLang="sr-Latn-RS" sz="2800" b="1" kern="0">
                <a:latin typeface="Courier New" pitchFamily="49" charset="0"/>
                <a:cs typeface="Courier New" pitchFamily="49" charset="0"/>
              </a:rPr>
              <a:t>else if (uslov2)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sr-Latn-CS" altLang="sr-Latn-RS" sz="2800" b="1" kern="0">
                <a:latin typeface="Courier New" pitchFamily="49" charset="0"/>
                <a:cs typeface="Courier New" pitchFamily="49" charset="0"/>
              </a:rPr>
              <a:t>  akcija2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sr-Latn-CS" altLang="sr-Latn-RS" sz="2800" b="1" kern="0"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sr-Latn-CS" altLang="sr-Latn-RS" sz="2800" b="1" kern="0">
                <a:latin typeface="Courier New" pitchFamily="49" charset="0"/>
                <a:cs typeface="Courier New" pitchFamily="49" charset="0"/>
              </a:rPr>
              <a:t>  druga_akcija</a:t>
            </a:r>
            <a:endParaRPr lang="en-US" altLang="sr-Latn-RS" sz="2800" b="1" ker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sr-Latn-CS" altLang="sr-Latn-RS" sz="2800" b="1" kern="0"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sr-Latn-CS" altLang="sr-Latn-RS" sz="2800" b="1" kern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FD983CCA-71BC-CBCB-612C-D643DBE75B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if else</a:t>
            </a:r>
            <a:endParaRPr lang="en-US" altLang="sr-Latn-RS"/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229C89E9-D309-2E01-B0D8-A364C81EDA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int result = 0;</a:t>
            </a:r>
          </a:p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if(testval &gt; target)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  </a:t>
            </a:r>
            <a:r>
              <a:rPr lang="en-US" altLang="sr-Latn-RS" b="1">
                <a:latin typeface="Courier New" panose="02070309020205020404" pitchFamily="49" charset="0"/>
              </a:rPr>
              <a:t>result = -1;</a:t>
            </a:r>
          </a:p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else if(testval &lt; target)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  </a:t>
            </a:r>
            <a:r>
              <a:rPr lang="en-US" altLang="sr-Latn-RS" b="1">
                <a:latin typeface="Courier New" panose="02070309020205020404" pitchFamily="49" charset="0"/>
              </a:rPr>
              <a:t>result = +1;</a:t>
            </a:r>
          </a:p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else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  </a:t>
            </a:r>
            <a:r>
              <a:rPr lang="en-US" altLang="sr-Latn-RS" b="1">
                <a:latin typeface="Courier New" panose="02070309020205020404" pitchFamily="49" charset="0"/>
              </a:rPr>
              <a:t>result = 0; // match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2">
            <a:extLst>
              <a:ext uri="{FF2B5EF4-FFF2-40B4-BE49-F238E27FC236}">
                <a16:creationId xmlns:a16="http://schemas.microsoft.com/office/drawing/2014/main" id="{D7C14FCD-B5BB-553E-3D56-979F6CA752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if else</a:t>
            </a:r>
            <a:endParaRPr lang="en-US" altLang="sr-Latn-RS"/>
          </a:p>
        </p:txBody>
      </p:sp>
      <p:sp>
        <p:nvSpPr>
          <p:cNvPr id="55298" name="Content Placeholder 2">
            <a:extLst>
              <a:ext uri="{FF2B5EF4-FFF2-40B4-BE49-F238E27FC236}">
                <a16:creationId xmlns:a16="http://schemas.microsoft.com/office/drawing/2014/main" id="{C3342C11-4545-21C9-AFF6-D6515EAC63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if (bodovi &gt;= 9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ocena = 10;</a:t>
            </a:r>
          </a:p>
          <a:p>
            <a:pPr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else if (bodovi &gt;= 8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	ocena = 9;</a:t>
            </a:r>
          </a:p>
          <a:p>
            <a:pPr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else if (bodovi &gt;= 7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	ocena = 8;</a:t>
            </a:r>
          </a:p>
          <a:p>
            <a:pPr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else if (bodovi &gt;= 6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	ocena = 7;</a:t>
            </a:r>
          </a:p>
          <a:p>
            <a:pPr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else if (bodovi &gt;= 5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	ocena = 6;</a:t>
            </a:r>
          </a:p>
          <a:p>
            <a:pPr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else </a:t>
            </a:r>
          </a:p>
          <a:p>
            <a:pPr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	ocena = 5;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5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5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5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5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5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52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52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52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52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52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529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8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0D8D7EC7-B44F-A193-3354-23E0A51745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Uslovni operator</a:t>
            </a:r>
            <a:endParaRPr lang="en-US" altLang="sr-Latn-RS"/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FCFC3B01-F13C-6C6E-6915-B187C4D421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a = </a:t>
            </a:r>
            <a:r>
              <a:rPr lang="sr-Latn-CS" altLang="sr-Latn-RS" b="1">
                <a:solidFill>
                  <a:srgbClr val="FF0000"/>
                </a:solidFill>
                <a:latin typeface="Courier New" panose="02070309020205020404" pitchFamily="49" charset="0"/>
              </a:rPr>
              <a:t>(i &lt; 10)</a:t>
            </a:r>
            <a:r>
              <a:rPr lang="sr-Latn-CS" altLang="sr-Latn-RS" b="1">
                <a:latin typeface="Courier New" panose="02070309020205020404" pitchFamily="49" charset="0"/>
              </a:rPr>
              <a:t> ? </a:t>
            </a:r>
            <a:r>
              <a:rPr lang="sr-Latn-CS" altLang="sr-Latn-RS" b="1">
                <a:solidFill>
                  <a:schemeClr val="accent1"/>
                </a:solidFill>
                <a:latin typeface="Courier New" panose="02070309020205020404" pitchFamily="49" charset="0"/>
              </a:rPr>
              <a:t>i * 100 </a:t>
            </a:r>
            <a:r>
              <a:rPr lang="sr-Latn-CS" altLang="sr-Latn-RS" b="1">
                <a:latin typeface="Courier New" panose="02070309020205020404" pitchFamily="49" charset="0"/>
              </a:rPr>
              <a:t>: </a:t>
            </a:r>
            <a:r>
              <a:rPr lang="sr-Latn-CS" altLang="sr-Latn-RS" b="1">
                <a:solidFill>
                  <a:schemeClr val="accent6"/>
                </a:solidFill>
                <a:latin typeface="Courier New" panose="02070309020205020404" pitchFamily="49" charset="0"/>
              </a:rPr>
              <a:t>i * 10</a:t>
            </a:r>
            <a:r>
              <a:rPr lang="sr-Latn-CS" altLang="sr-Latn-RS" b="1">
                <a:latin typeface="Courier New" panose="02070309020205020404" pitchFamily="49" charset="0"/>
              </a:rPr>
              <a:t>;</a:t>
            </a:r>
          </a:p>
          <a:p>
            <a:pPr eaLnBrk="1" hangingPunct="1"/>
            <a:endParaRPr lang="sr-Latn-CS" altLang="sr-Latn-RS" b="1">
              <a:latin typeface="Courier New" panose="02070309020205020404" pitchFamily="49" charset="0"/>
            </a:endParaRPr>
          </a:p>
          <a:p>
            <a:pPr eaLnBrk="1" hangingPunct="1"/>
            <a:r>
              <a:rPr lang="sr-Latn-CS" altLang="sr-Latn-RS"/>
              <a:t>isto kao:</a:t>
            </a:r>
          </a:p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if </a:t>
            </a:r>
            <a:r>
              <a:rPr lang="en-US" altLang="sr-Latn-RS" b="1">
                <a:solidFill>
                  <a:srgbClr val="FF0000"/>
                </a:solidFill>
                <a:latin typeface="Courier New" panose="02070309020205020404" pitchFamily="49" charset="0"/>
              </a:rPr>
              <a:t>(i &lt; 10)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		a = </a:t>
            </a:r>
            <a:r>
              <a:rPr lang="en-US" altLang="sr-Latn-RS" b="1">
                <a:solidFill>
                  <a:schemeClr val="accent1"/>
                </a:solidFill>
                <a:latin typeface="Courier New" panose="02070309020205020404" pitchFamily="49" charset="0"/>
              </a:rPr>
              <a:t>i * 100</a:t>
            </a:r>
            <a:r>
              <a:rPr lang="en-US" altLang="sr-Latn-RS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else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    a =</a:t>
            </a:r>
            <a:r>
              <a:rPr lang="en-US" altLang="sr-Latn-RS" b="1">
                <a:latin typeface="Courier New" panose="02070309020205020404" pitchFamily="49" charset="0"/>
              </a:rPr>
              <a:t> </a:t>
            </a:r>
            <a:r>
              <a:rPr lang="en-US" altLang="sr-Latn-RS" b="1">
                <a:solidFill>
                  <a:schemeClr val="accent6"/>
                </a:solidFill>
                <a:latin typeface="Courier New" panose="02070309020205020404" pitchFamily="49" charset="0"/>
              </a:rPr>
              <a:t>i * 10</a:t>
            </a:r>
            <a:r>
              <a:rPr lang="en-US" altLang="sr-Latn-RS" b="1">
                <a:latin typeface="Courier New" panose="02070309020205020404" pitchFamily="49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6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8FE96842-0770-A01E-0FEC-8677A4810E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switch</a:t>
            </a:r>
            <a:endParaRPr lang="en-US" altLang="sr-Latn-RS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F5EB4F82-CAF9-8B11-7D0A-EC6A8D284E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r-Latn-CS" altLang="sr-Latn-RS"/>
              <a:t>Izraz u </a:t>
            </a: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switch()</a:t>
            </a:r>
            <a:r>
              <a:rPr lang="sr-Latn-CS" altLang="sr-Latn-RS"/>
              <a:t> izrazu mora da proizvede cel</a:t>
            </a:r>
            <a:r>
              <a:rPr lang="en-US" altLang="sr-Latn-RS"/>
              <a:t>o</a:t>
            </a:r>
            <a:r>
              <a:rPr lang="sr-Latn-CS" altLang="sr-Latn-RS"/>
              <a:t>brojnu vrednost ili string.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Ako ne proizvodi celobrojnu vrednost (ili string), ne može da se koristi </a:t>
            </a: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switch()</a:t>
            </a:r>
            <a:r>
              <a:rPr lang="sr-Latn-CS" altLang="sr-Latn-RS"/>
              <a:t>, </a:t>
            </a: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već if()</a:t>
            </a:r>
            <a:r>
              <a:rPr lang="sr-Latn-CS" altLang="sr-Latn-RS"/>
              <a:t>!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Ako se izostavi </a:t>
            </a: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break;</a:t>
            </a:r>
            <a:r>
              <a:rPr lang="sr-Latn-CS" altLang="sr-Latn-RS"/>
              <a:t> propašće u sledeći </a:t>
            </a: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case: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Kod </a:t>
            </a: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default:</a:t>
            </a:r>
            <a:r>
              <a:rPr lang="sr-Latn-CS" altLang="sr-Latn-RS"/>
              <a:t> izraza ne mora </a:t>
            </a: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break;</a:t>
            </a:r>
            <a:r>
              <a:rPr lang="sr-Latn-CS" altLang="sr-Latn-RS"/>
              <a:t> - to se podrazumeva.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B2F49654-219A-B8C3-2868-72FFD795E4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Primer</a:t>
            </a:r>
            <a:endParaRPr lang="en-US" altLang="sr-Latn-RS"/>
          </a:p>
        </p:txBody>
      </p:sp>
      <p:sp>
        <p:nvSpPr>
          <p:cNvPr id="58371" name="Content Placeholder 2">
            <a:extLst>
              <a:ext uri="{FF2B5EF4-FFF2-40B4-BE49-F238E27FC236}">
                <a16:creationId xmlns:a16="http://schemas.microsoft.com/office/drawing/2014/main" id="{BBCDA0C2-93CC-D05F-5712-A4EB0F1EE5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Tx/>
              <a:buNone/>
            </a:pPr>
            <a:r>
              <a:rPr lang="en-US" altLang="sr-Latn-RS" sz="2300" b="1">
                <a:latin typeface="Courier New" panose="02070309020205020404" pitchFamily="49" charset="0"/>
                <a:cs typeface="Courier New" panose="02070309020205020404" pitchFamily="49" charset="0"/>
              </a:rPr>
              <a:t>switch (ocena) {</a:t>
            </a:r>
          </a:p>
          <a:p>
            <a:pPr>
              <a:buFontTx/>
              <a:buNone/>
            </a:pPr>
            <a:r>
              <a:rPr lang="en-US" altLang="sr-Latn-RS" sz="2300" b="1">
                <a:latin typeface="Courier New" panose="02070309020205020404" pitchFamily="49" charset="0"/>
                <a:cs typeface="Courier New" panose="02070309020205020404" pitchFamily="49" charset="0"/>
              </a:rPr>
              <a:t>	case 5: System.out.println(“odlican”);</a:t>
            </a:r>
          </a:p>
          <a:p>
            <a:pPr>
              <a:buFontTx/>
              <a:buNone/>
            </a:pPr>
            <a:r>
              <a:rPr lang="en-US" altLang="sr-Latn-RS" sz="2300" b="1">
                <a:latin typeface="Courier New" panose="02070309020205020404" pitchFamily="49" charset="0"/>
                <a:cs typeface="Courier New" panose="02070309020205020404" pitchFamily="49" charset="0"/>
              </a:rPr>
              <a:t>			break;</a:t>
            </a:r>
          </a:p>
          <a:p>
            <a:pPr>
              <a:buFontTx/>
              <a:buNone/>
            </a:pPr>
            <a:r>
              <a:rPr lang="en-US" altLang="sr-Latn-RS" sz="2300" b="1">
                <a:latin typeface="Courier New" panose="02070309020205020404" pitchFamily="49" charset="0"/>
                <a:cs typeface="Courier New" panose="02070309020205020404" pitchFamily="49" charset="0"/>
              </a:rPr>
              <a:t>	case 4: System.out.println(“vrlo dobar”);</a:t>
            </a:r>
          </a:p>
          <a:p>
            <a:pPr>
              <a:buFontTx/>
              <a:buNone/>
            </a:pPr>
            <a:r>
              <a:rPr lang="en-US" altLang="sr-Latn-RS" sz="2300" b="1">
                <a:latin typeface="Courier New" panose="02070309020205020404" pitchFamily="49" charset="0"/>
                <a:cs typeface="Courier New" panose="02070309020205020404" pitchFamily="49" charset="0"/>
              </a:rPr>
              <a:t>			break;</a:t>
            </a:r>
          </a:p>
          <a:p>
            <a:pPr>
              <a:buFontTx/>
              <a:buNone/>
            </a:pPr>
            <a:r>
              <a:rPr lang="en-US" altLang="sr-Latn-RS" sz="2300" b="1">
                <a:latin typeface="Courier New" panose="02070309020205020404" pitchFamily="49" charset="0"/>
                <a:cs typeface="Courier New" panose="02070309020205020404" pitchFamily="49" charset="0"/>
              </a:rPr>
              <a:t>	case 3: System.out.println(“dobar”);</a:t>
            </a:r>
          </a:p>
          <a:p>
            <a:pPr>
              <a:buFontTx/>
              <a:buNone/>
            </a:pPr>
            <a:r>
              <a:rPr lang="en-US" altLang="sr-Latn-RS" sz="2300" b="1">
                <a:latin typeface="Courier New" panose="02070309020205020404" pitchFamily="49" charset="0"/>
                <a:cs typeface="Courier New" panose="02070309020205020404" pitchFamily="49" charset="0"/>
              </a:rPr>
              <a:t>			break;</a:t>
            </a:r>
          </a:p>
          <a:p>
            <a:pPr>
              <a:buFontTx/>
              <a:buNone/>
            </a:pPr>
            <a:r>
              <a:rPr lang="en-US" altLang="sr-Latn-RS" sz="2300" b="1">
                <a:latin typeface="Courier New" panose="02070309020205020404" pitchFamily="49" charset="0"/>
                <a:cs typeface="Courier New" panose="02070309020205020404" pitchFamily="49" charset="0"/>
              </a:rPr>
              <a:t>	case 2: System.out.println(“dovoljan”);</a:t>
            </a:r>
          </a:p>
          <a:p>
            <a:pPr>
              <a:buFontTx/>
              <a:buNone/>
            </a:pPr>
            <a:r>
              <a:rPr lang="en-US" altLang="sr-Latn-RS" sz="2300" b="1">
                <a:latin typeface="Courier New" panose="02070309020205020404" pitchFamily="49" charset="0"/>
                <a:cs typeface="Courier New" panose="02070309020205020404" pitchFamily="49" charset="0"/>
              </a:rPr>
              <a:t>			break;</a:t>
            </a:r>
          </a:p>
          <a:p>
            <a:pPr>
              <a:buFontTx/>
              <a:buNone/>
            </a:pPr>
            <a:r>
              <a:rPr lang="en-US" altLang="sr-Latn-RS" sz="2300" b="1">
                <a:latin typeface="Courier New" panose="02070309020205020404" pitchFamily="49" charset="0"/>
                <a:cs typeface="Courier New" panose="02070309020205020404" pitchFamily="49" charset="0"/>
              </a:rPr>
              <a:t>	case 1: System.out.println(“nedovoljan”);</a:t>
            </a:r>
          </a:p>
          <a:p>
            <a:pPr>
              <a:buFontTx/>
              <a:buNone/>
            </a:pPr>
            <a:r>
              <a:rPr lang="en-US" altLang="sr-Latn-RS" sz="2300" b="1">
                <a:latin typeface="Courier New" panose="02070309020205020404" pitchFamily="49" charset="0"/>
                <a:cs typeface="Courier New" panose="02070309020205020404" pitchFamily="49" charset="0"/>
              </a:rPr>
              <a:t>			break;</a:t>
            </a:r>
          </a:p>
          <a:p>
            <a:pPr>
              <a:buFontTx/>
              <a:buNone/>
            </a:pPr>
            <a:r>
              <a:rPr lang="en-US" altLang="sr-Latn-RS" sz="2300" b="1">
                <a:latin typeface="Courier New" panose="02070309020205020404" pitchFamily="49" charset="0"/>
                <a:cs typeface="Courier New" panose="02070309020205020404" pitchFamily="49" charset="0"/>
              </a:rPr>
              <a:t>	default: System.out.println(“nepostojeca ocena”);</a:t>
            </a:r>
          </a:p>
          <a:p>
            <a:pPr>
              <a:buFontTx/>
              <a:buNone/>
            </a:pPr>
            <a:r>
              <a:rPr lang="en-US" altLang="sr-Latn-RS" sz="23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8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8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83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83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83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83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6F58A9FF-D344-7AC3-2195-944488D2AC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Primer</a:t>
            </a:r>
            <a:r>
              <a:rPr lang="en-US" altLang="sr-Latn-RS"/>
              <a:t>, bez switch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8F55CB77-AA2C-1338-395A-6C0E902951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if (ocena == 5)</a:t>
            </a:r>
          </a:p>
          <a:p>
            <a:pPr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	System.out.println(“odlican”);</a:t>
            </a:r>
          </a:p>
          <a:p>
            <a:pPr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else if (ocena == 4)</a:t>
            </a:r>
          </a:p>
          <a:p>
            <a:pPr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	System.out.println(“vrlo dobar”);</a:t>
            </a:r>
          </a:p>
          <a:p>
            <a:pPr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else if (ocena == 3)</a:t>
            </a:r>
          </a:p>
          <a:p>
            <a:pPr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	System.out.println(“dobar”);</a:t>
            </a:r>
          </a:p>
          <a:p>
            <a:pPr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else if (ocena == 2)</a:t>
            </a:r>
          </a:p>
          <a:p>
            <a:pPr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	System.out.println(“dovoljan”);</a:t>
            </a:r>
          </a:p>
          <a:p>
            <a:pPr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else if (ocena == 1)</a:t>
            </a:r>
          </a:p>
          <a:p>
            <a:pPr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	System.out.println(“nedovoljan”);</a:t>
            </a:r>
          </a:p>
          <a:p>
            <a:pPr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else </a:t>
            </a:r>
          </a:p>
          <a:p>
            <a:pPr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	System.out.println(“nepostojeca ocena”);</a:t>
            </a:r>
          </a:p>
          <a:p>
            <a:pPr>
              <a:buFontTx/>
              <a:buNone/>
            </a:pPr>
            <a:endParaRPr lang="en-U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Tx/>
              <a:buNone/>
            </a:pPr>
            <a:endParaRPr lang="en-U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9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93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93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93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CB21C51B-21F8-2569-6EF4-666C4A0AED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Primer</a:t>
            </a:r>
            <a:endParaRPr lang="en-US" altLang="sr-Latn-RS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88B65FCA-53F5-8FC8-CB2C-5C406B55C7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switch(c)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  case 'a':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  case 'e':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  case 'i':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  case 'o':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  case 'u':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    System.out.println("</a:t>
            </a:r>
            <a:r>
              <a:rPr lang="sr-Latn-CS" altLang="sr-Latn-RS" sz="2400" b="1">
                <a:latin typeface="Courier New" panose="02070309020205020404" pitchFamily="49" charset="0"/>
              </a:rPr>
              <a:t>samoglasnik</a:t>
            </a:r>
            <a:r>
              <a:rPr lang="en-US" altLang="sr-Latn-RS" sz="2400" b="1">
                <a:latin typeface="Courier New" panose="02070309020205020404" pitchFamily="49" charset="0"/>
              </a:rPr>
              <a:t>");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    break;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default: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    System.out.println("</a:t>
            </a:r>
            <a:r>
              <a:rPr lang="sr-Latn-CS" altLang="sr-Latn-RS" sz="2400" b="1">
                <a:latin typeface="Courier New" panose="02070309020205020404" pitchFamily="49" charset="0"/>
              </a:rPr>
              <a:t>suglasnik</a:t>
            </a:r>
            <a:r>
              <a:rPr lang="en-US" altLang="sr-Latn-RS" sz="2400" b="1">
                <a:latin typeface="Courier New" panose="02070309020205020404" pitchFamily="49" charset="0"/>
              </a:rPr>
              <a:t>");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0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0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0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04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993B9F92-A9F7-DFDF-65D8-B91FB10F68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for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74783B5A-9825-8BF3-2420-1E13C29F6F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Za organizaciju petlji kod kojih se unapred zna koliko puta će se izvršiti telo ciklusa.</a:t>
            </a:r>
          </a:p>
          <a:p>
            <a:pPr eaLnBrk="1" hangingPunct="1"/>
            <a:r>
              <a:rPr lang="en-US" altLang="sr-Latn-RS"/>
              <a:t>Petlja sa po</a:t>
            </a:r>
            <a:r>
              <a:rPr lang="sr-Latn-CS" altLang="sr-Latn-RS"/>
              <a:t>četnom vrednošću, uslovom za kraj i blokom za korekciju.</a:t>
            </a:r>
          </a:p>
          <a:p>
            <a:pPr eaLnBrk="1" hangingPunct="1"/>
            <a:r>
              <a:rPr lang="sr-Latn-CS" altLang="sr-Latn-RS"/>
              <a:t>Opšta sintaksa: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for (</a:t>
            </a:r>
            <a:r>
              <a:rPr lang="sr-Latn-CS" altLang="sr-Latn-RS" b="1">
                <a:solidFill>
                  <a:srgbClr val="FF0000"/>
                </a:solidFill>
                <a:latin typeface="Courier New" panose="02070309020205020404" pitchFamily="49" charset="0"/>
              </a:rPr>
              <a:t>inicijalizacija</a:t>
            </a:r>
            <a:r>
              <a:rPr lang="sr-Latn-CS" altLang="sr-Latn-RS" b="1">
                <a:latin typeface="Courier New" panose="02070309020205020404" pitchFamily="49" charset="0"/>
              </a:rPr>
              <a:t>; </a:t>
            </a:r>
            <a:r>
              <a:rPr lang="sr-Latn-CS" altLang="sr-Latn-RS" b="1">
                <a:solidFill>
                  <a:schemeClr val="accent1"/>
                </a:solidFill>
                <a:latin typeface="Courier New" panose="02070309020205020404" pitchFamily="49" charset="0"/>
              </a:rPr>
              <a:t>uslov</a:t>
            </a:r>
            <a:r>
              <a:rPr lang="sr-Latn-CS" altLang="sr-Latn-RS" b="1">
                <a:latin typeface="Courier New" panose="02070309020205020404" pitchFamily="49" charset="0"/>
              </a:rPr>
              <a:t>; </a:t>
            </a:r>
            <a:r>
              <a:rPr lang="sr-Latn-CS" altLang="sr-Latn-RS" b="1">
                <a:solidFill>
                  <a:schemeClr val="accent6"/>
                </a:solidFill>
                <a:latin typeface="Courier New" panose="02070309020205020404" pitchFamily="49" charset="0"/>
              </a:rPr>
              <a:t>korekcija</a:t>
            </a:r>
            <a:r>
              <a:rPr lang="sr-Latn-CS" altLang="sr-Latn-RS" b="1">
                <a:latin typeface="Courier New" panose="02070309020205020404" pitchFamily="49" charset="0"/>
              </a:rPr>
              <a:t>)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  telo</a:t>
            </a:r>
            <a:endParaRPr lang="en-US" altLang="sr-Latn-RS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A951DAFB-8355-E892-E804-B4944DD038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968187"/>
          </a:xfrm>
        </p:spPr>
        <p:txBody>
          <a:bodyPr/>
          <a:lstStyle/>
          <a:p>
            <a:pPr eaLnBrk="1" hangingPunct="1"/>
            <a:r>
              <a:rPr lang="sr-Latn-CS" altLang="sr-Latn-RS"/>
              <a:t>for</a:t>
            </a:r>
            <a:endParaRPr lang="en-US" altLang="sr-Latn-RS"/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13C5E301-6FE8-03FE-71CA-DDF154BB1B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199" y="1490968"/>
            <a:ext cx="11242691" cy="5001908"/>
          </a:xfrm>
        </p:spPr>
        <p:txBody>
          <a:bodyPr>
            <a:normAutofit lnSpcReduction="10000"/>
          </a:bodyPr>
          <a:lstStyle/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for (</a:t>
            </a:r>
            <a:r>
              <a:rPr lang="sr-Latn-CS" altLang="sr-Latn-RS" b="1">
                <a:solidFill>
                  <a:srgbClr val="FF0000"/>
                </a:solidFill>
                <a:latin typeface="Courier New" panose="02070309020205020404" pitchFamily="49" charset="0"/>
              </a:rPr>
              <a:t>int i = 0</a:t>
            </a:r>
            <a:r>
              <a:rPr lang="sr-Latn-CS" altLang="sr-Latn-RS" b="1">
                <a:latin typeface="Courier New" panose="02070309020205020404" pitchFamily="49" charset="0"/>
              </a:rPr>
              <a:t>; </a:t>
            </a:r>
            <a:r>
              <a:rPr lang="sr-Latn-CS" altLang="sr-Latn-RS" b="1">
                <a:solidFill>
                  <a:schemeClr val="accent1"/>
                </a:solidFill>
                <a:latin typeface="Courier New" panose="02070309020205020404" pitchFamily="49" charset="0"/>
              </a:rPr>
              <a:t>i &lt; 10</a:t>
            </a:r>
            <a:r>
              <a:rPr lang="sr-Latn-CS" altLang="sr-Latn-RS" b="1">
                <a:latin typeface="Courier New" panose="02070309020205020404" pitchFamily="49" charset="0"/>
              </a:rPr>
              <a:t>; </a:t>
            </a:r>
            <a:r>
              <a:rPr lang="sr-Latn-CS" altLang="sr-Latn-RS" b="1">
                <a:solidFill>
                  <a:schemeClr val="accent6"/>
                </a:solidFill>
                <a:latin typeface="Courier New" panose="02070309020205020404" pitchFamily="49" charset="0"/>
              </a:rPr>
              <a:t>i++</a:t>
            </a:r>
            <a:r>
              <a:rPr lang="sr-Latn-CS" altLang="sr-Latn-RS" b="1">
                <a:latin typeface="Courier New" panose="02070309020205020404" pitchFamily="49" charset="0"/>
              </a:rPr>
              <a:t>)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  System.out.println(i);</a:t>
            </a:r>
          </a:p>
          <a:p>
            <a:pPr eaLnBrk="1" hangingPunct="1">
              <a:buFontTx/>
              <a:buNone/>
            </a:pPr>
            <a:br>
              <a:rPr lang="sr-Latn-RS" altLang="sr-Latn-RS" b="1">
                <a:latin typeface="Courier New" panose="02070309020205020404" pitchFamily="49" charset="0"/>
              </a:rPr>
            </a:br>
            <a:r>
              <a:rPr lang="nn-NO" altLang="sr-Latn-RS" b="1">
                <a:latin typeface="Courier New" panose="02070309020205020404" pitchFamily="49" charset="0"/>
              </a:rPr>
              <a:t>for (</a:t>
            </a:r>
            <a:r>
              <a:rPr lang="nn-NO" altLang="sr-Latn-RS" b="1">
                <a:solidFill>
                  <a:srgbClr val="FF0000"/>
                </a:solidFill>
                <a:latin typeface="Courier New" panose="02070309020205020404" pitchFamily="49" charset="0"/>
              </a:rPr>
              <a:t>int i = 10</a:t>
            </a:r>
            <a:r>
              <a:rPr lang="nn-NO" altLang="sr-Latn-RS" b="1">
                <a:latin typeface="Courier New" panose="02070309020205020404" pitchFamily="49" charset="0"/>
              </a:rPr>
              <a:t>; </a:t>
            </a:r>
            <a:r>
              <a:rPr lang="nn-NO" altLang="sr-Latn-RS" b="1">
                <a:solidFill>
                  <a:schemeClr val="accent1"/>
                </a:solidFill>
                <a:latin typeface="Courier New" panose="02070309020205020404" pitchFamily="49" charset="0"/>
              </a:rPr>
              <a:t>i &gt;= 1</a:t>
            </a:r>
            <a:r>
              <a:rPr lang="nn-NO" altLang="sr-Latn-RS" b="1">
                <a:latin typeface="Courier New" panose="02070309020205020404" pitchFamily="49" charset="0"/>
              </a:rPr>
              <a:t>; </a:t>
            </a:r>
            <a:r>
              <a:rPr lang="nn-NO" altLang="sr-Latn-RS" b="1">
                <a:solidFill>
                  <a:schemeClr val="accent6"/>
                </a:solidFill>
                <a:latin typeface="Courier New" panose="02070309020205020404" pitchFamily="49" charset="0"/>
              </a:rPr>
              <a:t>i--</a:t>
            </a:r>
            <a:r>
              <a:rPr lang="nn-NO" altLang="sr-Latn-RS" b="1">
                <a:latin typeface="Courier New" panose="02070309020205020404" pitchFamily="49" charset="0"/>
              </a:rPr>
              <a:t>)</a:t>
            </a:r>
          </a:p>
          <a:p>
            <a:pPr eaLnBrk="1" hangingPunct="1">
              <a:buFontTx/>
              <a:buNone/>
            </a:pPr>
            <a:r>
              <a:rPr lang="sr-Latn-RS" altLang="sr-Latn-RS" b="1">
                <a:latin typeface="Courier New" panose="02070309020205020404" pitchFamily="49" charset="0"/>
              </a:rPr>
              <a:t>  </a:t>
            </a:r>
            <a:r>
              <a:rPr lang="nn-NO" altLang="sr-Latn-RS" b="1">
                <a:latin typeface="Courier New" panose="02070309020205020404" pitchFamily="49" charset="0"/>
              </a:rPr>
              <a:t>System.out.println(i);</a:t>
            </a:r>
            <a:br>
              <a:rPr lang="sr-Latn-RS" altLang="sr-Latn-RS" b="1">
                <a:latin typeface="Courier New" panose="02070309020205020404" pitchFamily="49" charset="0"/>
              </a:rPr>
            </a:br>
            <a:endParaRPr lang="sr-Latn-CS" altLang="sr-Latn-RS" b="1">
              <a:latin typeface="Courier New" panose="02070309020205020404" pitchFamily="49" charset="0"/>
            </a:endParaRPr>
          </a:p>
          <a:p>
            <a:pPr eaLnBrk="1" hangingPunct="1"/>
            <a:r>
              <a:rPr lang="sr-Latn-CS" altLang="sr-Latn-RS"/>
              <a:t>može i višestruka inicijalizacija i step-statement:</a:t>
            </a:r>
          </a:p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for(</a:t>
            </a:r>
            <a:r>
              <a:rPr lang="en-US" altLang="sr-Latn-RS" b="1">
                <a:solidFill>
                  <a:srgbClr val="FF0000"/>
                </a:solidFill>
                <a:latin typeface="Courier New" panose="02070309020205020404" pitchFamily="49" charset="0"/>
              </a:rPr>
              <a:t>int i = 0</a:t>
            </a:r>
            <a:r>
              <a:rPr lang="en-US" altLang="sr-Latn-RS" b="1">
                <a:latin typeface="Courier New" panose="02070309020205020404" pitchFamily="49" charset="0"/>
              </a:rPr>
              <a:t>, </a:t>
            </a:r>
            <a:r>
              <a:rPr lang="en-US" altLang="sr-Latn-RS" b="1">
                <a:solidFill>
                  <a:srgbClr val="FF0000"/>
                </a:solidFill>
                <a:latin typeface="Courier New" panose="02070309020205020404" pitchFamily="49" charset="0"/>
              </a:rPr>
              <a:t>j = 1</a:t>
            </a:r>
            <a:r>
              <a:rPr lang="en-US" altLang="sr-Latn-RS" b="1">
                <a:latin typeface="Courier New" panose="02070309020205020404" pitchFamily="49" charset="0"/>
              </a:rPr>
              <a:t>;</a:t>
            </a:r>
            <a:r>
              <a:rPr lang="sr-Latn-RS" altLang="sr-Latn-RS" b="1">
                <a:latin typeface="Courier New" panose="02070309020205020404" pitchFamily="49" charset="0"/>
              </a:rPr>
              <a:t> </a:t>
            </a:r>
            <a:r>
              <a:rPr lang="en-US" altLang="sr-Latn-RS" b="1">
                <a:solidFill>
                  <a:schemeClr val="accent1"/>
                </a:solidFill>
                <a:latin typeface="Courier New" panose="02070309020205020404" pitchFamily="49" charset="0"/>
              </a:rPr>
              <a:t>i &lt; 10 &amp;&amp; j != 11</a:t>
            </a:r>
            <a:r>
              <a:rPr lang="en-US" altLang="sr-Latn-RS" b="1">
                <a:latin typeface="Courier New" panose="02070309020205020404" pitchFamily="49" charset="0"/>
              </a:rPr>
              <a:t>;</a:t>
            </a:r>
            <a:r>
              <a:rPr lang="en-US" altLang="sr-Latn-RS" b="1">
                <a:solidFill>
                  <a:schemeClr val="accent5"/>
                </a:solidFill>
                <a:latin typeface="Courier New" panose="02070309020205020404" pitchFamily="49" charset="0"/>
              </a:rPr>
              <a:t>i++, j++</a:t>
            </a:r>
            <a:r>
              <a:rPr lang="en-US" altLang="sr-Latn-RS" b="1">
                <a:latin typeface="Courier New" panose="02070309020205020404" pitchFamily="49" charset="0"/>
              </a:rPr>
              <a:t>)</a:t>
            </a:r>
            <a:br>
              <a:rPr lang="sr-Latn-RS" altLang="sr-Latn-RS" b="1">
                <a:latin typeface="Courier New" panose="02070309020205020404" pitchFamily="49" charset="0"/>
              </a:rPr>
            </a:br>
            <a:endParaRPr lang="sr-Latn-CS" altLang="sr-Latn-RS" b="1">
              <a:latin typeface="Courier New" panose="02070309020205020404" pitchFamily="49" charset="0"/>
            </a:endParaRPr>
          </a:p>
          <a:p>
            <a:pPr eaLnBrk="1" hangingPunct="1"/>
            <a:r>
              <a:rPr lang="sr-Latn-CS" altLang="sr-Latn-RS" u="sng"/>
              <a:t>oprez</a:t>
            </a:r>
            <a:r>
              <a:rPr lang="sr-Latn-CS" altLang="sr-Latn-RS"/>
              <a:t> (može da se ne završi):</a:t>
            </a:r>
          </a:p>
          <a:p>
            <a:pPr lvl="1"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for (</a:t>
            </a:r>
            <a:r>
              <a:rPr lang="sr-Latn-CS" altLang="sr-Latn-RS" b="1">
                <a:solidFill>
                  <a:srgbClr val="FF0000"/>
                </a:solidFill>
                <a:latin typeface="Courier New" panose="02070309020205020404" pitchFamily="49" charset="0"/>
              </a:rPr>
              <a:t>double x = 0</a:t>
            </a:r>
            <a:r>
              <a:rPr lang="sr-Latn-CS" altLang="sr-Latn-RS" b="1">
                <a:latin typeface="Courier New" panose="02070309020205020404" pitchFamily="49" charset="0"/>
              </a:rPr>
              <a:t>; </a:t>
            </a:r>
            <a:r>
              <a:rPr lang="sr-Latn-CS" altLang="sr-Latn-RS" b="1">
                <a:solidFill>
                  <a:schemeClr val="accent1"/>
                </a:solidFill>
                <a:latin typeface="Courier New" panose="02070309020205020404" pitchFamily="49" charset="0"/>
              </a:rPr>
              <a:t>x != 10</a:t>
            </a:r>
            <a:r>
              <a:rPr lang="sr-Latn-CS" altLang="sr-Latn-RS" b="1">
                <a:latin typeface="Courier New" panose="02070309020205020404" pitchFamily="49" charset="0"/>
              </a:rPr>
              <a:t>; </a:t>
            </a:r>
            <a:r>
              <a:rPr lang="sr-Latn-CS" altLang="sr-Latn-RS" b="1">
                <a:solidFill>
                  <a:schemeClr val="accent6"/>
                </a:solidFill>
                <a:latin typeface="Courier New" panose="02070309020205020404" pitchFamily="49" charset="0"/>
              </a:rPr>
              <a:t>x += 0.1</a:t>
            </a:r>
            <a:r>
              <a:rPr lang="sr-Latn-CS" altLang="sr-Latn-RS" b="1">
                <a:latin typeface="Courier New" panose="02070309020205020404" pitchFamily="49" charset="0"/>
              </a:rPr>
              <a:t>) ...</a:t>
            </a:r>
            <a:endParaRPr lang="en-US" altLang="sr-Latn-RS" b="1">
              <a:latin typeface="Courier New" panose="02070309020205020404" pitchFamily="49" charset="0"/>
            </a:endParaRPr>
          </a:p>
        </p:txBody>
      </p:sp>
      <p:sp>
        <p:nvSpPr>
          <p:cNvPr id="62468" name="TextBox 1">
            <a:extLst>
              <a:ext uri="{FF2B5EF4-FFF2-40B4-BE49-F238E27FC236}">
                <a16:creationId xmlns:a16="http://schemas.microsoft.com/office/drawing/2014/main" id="{5A440958-09CF-58D7-7BE1-EE31ED8CB3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2971800"/>
            <a:ext cx="9144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2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>
            <a:extLst>
              <a:ext uri="{FF2B5EF4-FFF2-40B4-BE49-F238E27FC236}">
                <a16:creationId xmlns:a16="http://schemas.microsoft.com/office/drawing/2014/main" id="{848530C8-96C0-46E8-73A0-5583CAEEEA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for each petlja</a:t>
            </a:r>
            <a:endParaRPr lang="en-US" altLang="sr-Latn-R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FED90-10A3-4F5F-EFB7-2D31D496C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Za iteriranje kroz nizove (i kolekcije, o čemu će biti više reči kasnije) koristi</a:t>
            </a:r>
            <a:r>
              <a:rPr lang="sr-Latn-RS"/>
              <a:t> </a:t>
            </a:r>
            <a:r>
              <a:rPr lang="en-US"/>
              <a:t>se for petlja za iteriranje</a:t>
            </a:r>
            <a:r>
              <a:rPr lang="sr-Latn-RS"/>
              <a:t> (for each petlja)</a:t>
            </a:r>
            <a:r>
              <a:rPr lang="en-US"/>
              <a:t> :</a:t>
            </a:r>
          </a:p>
          <a:p>
            <a:pPr marL="0" indent="0">
              <a:buNone/>
              <a:defRPr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promenljiva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 : </a:t>
            </a:r>
            <a:r>
              <a:rPr lang="en-US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niz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  <a:defRPr/>
            </a:pPr>
            <a:r>
              <a:rPr lang="sr-Latn-RS" b="1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telo</a:t>
            </a:r>
            <a:endParaRPr lang="sr-Latn-RS" b="1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sr-Latn-RS">
                <a:latin typeface="+mj-lt"/>
                <a:cs typeface="Courier New" pitchFamily="49" charset="0"/>
              </a:rPr>
              <a:t>Primer:</a:t>
            </a:r>
          </a:p>
          <a:p>
            <a:pPr marL="0" indent="0">
              <a:buNone/>
              <a:defRPr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double[] niz = {1.0, 2.78, 3.14};</a:t>
            </a:r>
          </a:p>
          <a:p>
            <a:pPr marL="0" indent="0">
              <a:buNone/>
              <a:defRPr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double el 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: </a:t>
            </a:r>
            <a:r>
              <a:rPr lang="en-US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niz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  <a:defRPr/>
            </a:pPr>
            <a:r>
              <a:rPr lang="sr-Latn-RS" b="1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System.out.println(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el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A007E6DC-2D38-4E8A-C8D7-AB1BA71143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while</a:t>
            </a:r>
            <a:endParaRPr lang="en-US" altLang="sr-Latn-RS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175697DB-C1C8-3AEA-E7E9-4C8DB655CC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Za cikličnu strukturu kod koje se samo zna uslov za prekid.</a:t>
            </a:r>
          </a:p>
          <a:p>
            <a:pPr eaLnBrk="1" hangingPunct="1"/>
            <a:r>
              <a:rPr lang="sr-Latn-CS" altLang="sr-Latn-RS"/>
              <a:t>Telo ciklusa ne mora ni jednom da se izvrši</a:t>
            </a:r>
          </a:p>
          <a:p>
            <a:pPr eaLnBrk="1" hangingPunct="1"/>
            <a:r>
              <a:rPr lang="sr-Latn-CS" altLang="sr-Latn-RS"/>
              <a:t>Opšta sintaksa: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while (uslov)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  telo</a:t>
            </a:r>
          </a:p>
          <a:p>
            <a:pPr eaLnBrk="1" hangingPunct="1"/>
            <a:r>
              <a:rPr lang="sr-Latn-CS" altLang="sr-Latn-RS"/>
              <a:t>Važno: izlaz iz petlje na false!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8AE05301-8F87-391D-88CF-164E3D34AD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while</a:t>
            </a:r>
            <a:endParaRPr lang="en-US" altLang="sr-Latn-RS"/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33619B77-A627-7918-C44E-FB9880C12C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int i = 0;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while (i &lt;= 10)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  System.out.println("Trenutno je " + i);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  i = i + 1;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Važno: izlaz iz petlje na false!</a:t>
            </a:r>
            <a:endParaRPr lang="en-US" altLang="sr-Latn-RS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9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BCE6B2E8-D621-A193-BA3C-CF58BA1004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do while</a:t>
            </a:r>
            <a:endParaRPr lang="en-US" altLang="sr-Latn-RS"/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B82D8922-19BE-EFE3-E757-C7A2306A35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r-Latn-CS" altLang="sr-Latn-RS"/>
              <a:t>Za cikličnu strukturu kod koje se samo zna uslov za prekid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Razlika u odnosu na while petlju je u tome što se telo ciklusa izvršava makar jednom.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Opšta sintaksa: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do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	telo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while (uslov);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Važno: izlaz iz petlje na false!</a:t>
            </a:r>
            <a:endParaRPr lang="en-US" altLang="sr-Latn-RS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F6F7DABB-73C8-0B42-501C-CAC2598B2D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do while</a:t>
            </a:r>
            <a:endParaRPr lang="en-US" altLang="sr-Latn-RS"/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BE0027B6-0911-6EAF-25E2-51F9725F69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int i = 0;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do {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  System.out.println(i++);</a:t>
            </a:r>
          </a:p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} </a:t>
            </a:r>
            <a:r>
              <a:rPr lang="sr-Latn-CS" altLang="sr-Latn-RS" b="1">
                <a:latin typeface="Courier New" panose="02070309020205020404" pitchFamily="49" charset="0"/>
              </a:rPr>
              <a:t>while (i &lt; 10);</a:t>
            </a:r>
          </a:p>
          <a:p>
            <a:pPr eaLnBrk="1" hangingPunct="1"/>
            <a:r>
              <a:rPr lang="sr-Latn-CS" altLang="sr-Latn-RS"/>
              <a:t>Važno: izlaz iz petlje na false!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7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A1D07E95-60F2-B793-5C04-98564EDFF2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break i continue</a:t>
            </a:r>
            <a:endParaRPr lang="en-US" altLang="sr-Latn-RS"/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408AC8D2-E618-60DC-C0DF-7977493868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break – prekida telo tekuće ciklične strukture (ili case: dela) i izlazi iz nje.</a:t>
            </a:r>
          </a:p>
          <a:p>
            <a:pPr eaLnBrk="1" hangingPunct="1"/>
            <a:r>
              <a:rPr lang="sr-Latn-CS" altLang="sr-Latn-RS"/>
              <a:t>continue – prekida telo tekuće ciklične strukture i ot</a:t>
            </a:r>
            <a:r>
              <a:rPr lang="en-US" altLang="sr-Latn-RS"/>
              <a:t>p</a:t>
            </a:r>
            <a:r>
              <a:rPr lang="sr-Latn-CS" altLang="sr-Latn-RS"/>
              <a:t>očinje sledeću iteraciju petlje.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A5A33576-DD16-976B-F5B4-E0401A009A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break i continue</a:t>
            </a:r>
            <a:endParaRPr lang="en-US" altLang="sr-Latn-RS"/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A1D90093-CF6C-9919-03B5-9E9C142932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for(int i = 0; i &lt; 10; i++) {</a:t>
            </a:r>
            <a:endParaRPr lang="sr-Latn-CS" altLang="sr-Latn-RS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  </a:t>
            </a:r>
            <a:r>
              <a:rPr lang="en-US" altLang="sr-Latn-RS" b="1">
                <a:latin typeface="Courier New" panose="02070309020205020404" pitchFamily="49" charset="0"/>
              </a:rPr>
              <a:t>if (i</a:t>
            </a:r>
            <a:r>
              <a:rPr lang="sr-Latn-RS" altLang="sr-Latn-RS" b="1">
                <a:latin typeface="Courier New" panose="02070309020205020404" pitchFamily="49" charset="0"/>
              </a:rPr>
              <a:t> </a:t>
            </a:r>
            <a:r>
              <a:rPr lang="en-US" altLang="sr-Latn-RS" b="1">
                <a:latin typeface="Courier New" panose="02070309020205020404" pitchFamily="49" charset="0"/>
              </a:rPr>
              <a:t>==</a:t>
            </a:r>
            <a:r>
              <a:rPr lang="sr-Latn-RS" altLang="sr-Latn-RS" b="1">
                <a:latin typeface="Courier New" panose="02070309020205020404" pitchFamily="49" charset="0"/>
              </a:rPr>
              <a:t> </a:t>
            </a:r>
            <a:r>
              <a:rPr lang="en-US" altLang="sr-Latn-RS" b="1">
                <a:latin typeface="Courier New" panose="02070309020205020404" pitchFamily="49" charset="0"/>
              </a:rPr>
              <a:t>7)</a:t>
            </a:r>
            <a:r>
              <a:rPr lang="sr-Latn-CS" altLang="sr-Latn-RS" b="1">
                <a:latin typeface="Courier New" panose="02070309020205020404" pitchFamily="49" charset="0"/>
              </a:rPr>
              <a:t> </a:t>
            </a:r>
            <a:r>
              <a:rPr lang="en-US" altLang="sr-Latn-RS" b="1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   </a:t>
            </a:r>
            <a:r>
              <a:rPr lang="en-US" altLang="sr-Latn-RS" b="1">
                <a:latin typeface="Courier New" panose="02070309020205020404" pitchFamily="49" charset="0"/>
              </a:rPr>
              <a:t>break;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  </a:t>
            </a:r>
            <a:r>
              <a:rPr lang="en-US" altLang="sr-Latn-RS" b="1">
                <a:latin typeface="Courier New" panose="02070309020205020404" pitchFamily="49" charset="0"/>
              </a:rPr>
              <a:t>}</a:t>
            </a:r>
            <a:endParaRPr lang="sr-Latn-CS" altLang="sr-Latn-RS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  if (i == 2)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    continue;</a:t>
            </a:r>
            <a:endParaRPr lang="en-US" altLang="sr-Latn-RS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  System.out.println</a:t>
            </a:r>
            <a:r>
              <a:rPr lang="en-US" altLang="sr-Latn-RS" b="1">
                <a:latin typeface="Courier New" panose="02070309020205020404" pitchFamily="49" charset="0"/>
              </a:rPr>
              <a:t>("</a:t>
            </a:r>
            <a:r>
              <a:rPr lang="sr-Latn-CS" altLang="sr-Latn-RS" b="1">
                <a:latin typeface="Courier New" panose="02070309020205020404" pitchFamily="49" charset="0"/>
              </a:rPr>
              <a:t>Broj je:</a:t>
            </a:r>
            <a:r>
              <a:rPr lang="en-US" altLang="sr-Latn-RS" b="1">
                <a:latin typeface="Courier New" panose="02070309020205020404" pitchFamily="49" charset="0"/>
              </a:rPr>
              <a:t>" + i);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9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9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9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>
            <a:extLst>
              <a:ext uri="{FF2B5EF4-FFF2-40B4-BE49-F238E27FC236}">
                <a16:creationId xmlns:a16="http://schemas.microsoft.com/office/drawing/2014/main" id="{05D53E9F-700E-4819-B916-1EE6E4C654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break i continue</a:t>
            </a:r>
            <a:endParaRPr lang="en-US" altLang="sr-Latn-RS"/>
          </a:p>
        </p:txBody>
      </p:sp>
      <p:sp>
        <p:nvSpPr>
          <p:cNvPr id="70659" name="Content Placeholder 2">
            <a:extLst>
              <a:ext uri="{FF2B5EF4-FFF2-40B4-BE49-F238E27FC236}">
                <a16:creationId xmlns:a16="http://schemas.microsoft.com/office/drawing/2014/main" id="{A2E061E2-985F-667B-6C96-BDEB3E7D87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int i = 0;</a:t>
            </a:r>
          </a:p>
          <a:p>
            <a:pPr marL="0" indent="0"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System.out.println("Broj je:" + i);</a:t>
            </a:r>
          </a:p>
          <a:p>
            <a:pPr marL="0" indent="0"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while (i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++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if (i == 7) {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break;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if (i == 2)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continue;</a:t>
            </a: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System.out.println("Broj je:" + i);</a:t>
            </a: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0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06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06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>
            <a:extLst>
              <a:ext uri="{FF2B5EF4-FFF2-40B4-BE49-F238E27FC236}">
                <a16:creationId xmlns:a16="http://schemas.microsoft.com/office/drawing/2014/main" id="{0CD7076F-1201-4D60-2159-2C289BFEF2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break i continue</a:t>
            </a:r>
            <a:endParaRPr lang="en-US" altLang="sr-Latn-RS"/>
          </a:p>
        </p:txBody>
      </p:sp>
      <p:sp>
        <p:nvSpPr>
          <p:cNvPr id="71683" name="Content Placeholder 2">
            <a:extLst>
              <a:ext uri="{FF2B5EF4-FFF2-40B4-BE49-F238E27FC236}">
                <a16:creationId xmlns:a16="http://schemas.microsoft.com/office/drawing/2014/main" id="{A93E6B3C-05D7-02AB-9F9C-BE36136A38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int i = 0;</a:t>
            </a:r>
          </a:p>
          <a:p>
            <a:pPr marL="0" indent="0">
              <a:buNone/>
            </a:pP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do {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if (i == 7) {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break;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if (i == 2)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continue;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System.out.println("Broj je:" + i);</a:t>
            </a:r>
          </a:p>
          <a:p>
            <a:pPr marL="0" indent="0">
              <a:buNone/>
            </a:pP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} while (i++ &lt; </a:t>
            </a: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1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E0A0B701-6F16-E80A-9658-662C2B1107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Izlaz iz ugnježdene petlje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D9E43BB9-6FA5-E283-F312-B5B1E48140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for (...)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  for (...)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 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    ...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    if (uslov)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      break;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}</a:t>
            </a:r>
            <a:endParaRPr lang="sr-Latn-CS" altLang="sr-Latn-RS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3035</Words>
  <Application>Microsoft Office PowerPoint</Application>
  <PresentationFormat>Widescreen</PresentationFormat>
  <Paragraphs>531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7" baseType="lpstr">
      <vt:lpstr>Aptos</vt:lpstr>
      <vt:lpstr>Arial</vt:lpstr>
      <vt:lpstr>Calibri</vt:lpstr>
      <vt:lpstr>Calibri Light</vt:lpstr>
      <vt:lpstr>Courier New</vt:lpstr>
      <vt:lpstr>Tahoma</vt:lpstr>
      <vt:lpstr>Office Theme</vt:lpstr>
      <vt:lpstr>Objektno Orijentisano Programiranje 1</vt:lpstr>
      <vt:lpstr>Uvod</vt:lpstr>
      <vt:lpstr>Programski jezik Java</vt:lpstr>
      <vt:lpstr>Java kao platforma</vt:lpstr>
      <vt:lpstr>Java kao platforma</vt:lpstr>
      <vt:lpstr>Java kao programski jezik</vt:lpstr>
      <vt:lpstr>Sintaksa</vt:lpstr>
      <vt:lpstr>Primer</vt:lpstr>
      <vt:lpstr>Sintaksa</vt:lpstr>
      <vt:lpstr>Izvršavanje programa</vt:lpstr>
      <vt:lpstr>Prevođenje i pokretanje</vt:lpstr>
      <vt:lpstr>Osnovni koncepti</vt:lpstr>
      <vt:lpstr>Tipovi podataka</vt:lpstr>
      <vt:lpstr>Tipovi podataka</vt:lpstr>
      <vt:lpstr>Literali</vt:lpstr>
      <vt:lpstr>Deklaracija promenljive primitivnog tipa</vt:lpstr>
      <vt:lpstr>Implicitna konverzija tipova</vt:lpstr>
      <vt:lpstr>Eksplicitna konverzija tipova</vt:lpstr>
      <vt:lpstr>Eksplicitna konverzija tipova</vt:lpstr>
      <vt:lpstr>Konstante</vt:lpstr>
      <vt:lpstr>Enumeracije</vt:lpstr>
      <vt:lpstr>Operatori</vt:lpstr>
      <vt:lpstr>Operatori</vt:lpstr>
      <vt:lpstr>Aritmetički operatori</vt:lpstr>
      <vt:lpstr>Aritmetički operatori</vt:lpstr>
      <vt:lpstr>Aritmetički operatori</vt:lpstr>
      <vt:lpstr>Relacioni i logički operatori</vt:lpstr>
      <vt:lpstr>Relacioni operatori</vt:lpstr>
      <vt:lpstr>Logički operatori</vt:lpstr>
      <vt:lpstr>Logički operatori</vt:lpstr>
      <vt:lpstr>Bit operatori</vt:lpstr>
      <vt:lpstr>Bit operatori</vt:lpstr>
      <vt:lpstr>Bit operatori</vt:lpstr>
      <vt:lpstr>Operatori pomeranja</vt:lpstr>
      <vt:lpstr>Pomeranje</vt:lpstr>
      <vt:lpstr>Operator dodele</vt:lpstr>
      <vt:lpstr>Cast operator</vt:lpstr>
      <vt:lpstr>Cast operator</vt:lpstr>
      <vt:lpstr>Kontrola toka</vt:lpstr>
      <vt:lpstr>Kontrola toka</vt:lpstr>
      <vt:lpstr>if</vt:lpstr>
      <vt:lpstr>if else</vt:lpstr>
      <vt:lpstr>if else</vt:lpstr>
      <vt:lpstr>Uslovni operator</vt:lpstr>
      <vt:lpstr>switch</vt:lpstr>
      <vt:lpstr>Primer</vt:lpstr>
      <vt:lpstr>Primer, bez switch</vt:lpstr>
      <vt:lpstr>Primer</vt:lpstr>
      <vt:lpstr>for</vt:lpstr>
      <vt:lpstr>for</vt:lpstr>
      <vt:lpstr>for each petlja</vt:lpstr>
      <vt:lpstr>while</vt:lpstr>
      <vt:lpstr>while</vt:lpstr>
      <vt:lpstr>do while</vt:lpstr>
      <vt:lpstr>do while</vt:lpstr>
      <vt:lpstr>break i continue</vt:lpstr>
      <vt:lpstr>break i continue</vt:lpstr>
      <vt:lpstr>break i continue</vt:lpstr>
      <vt:lpstr>break i continue</vt:lpstr>
      <vt:lpstr>Izlaz iz ugnježdene petlje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Inženjerstvo softvera za Internet-Web of Things</dc:title>
  <dc:creator>Milan Vidaković</dc:creator>
  <cp:lastModifiedBy>Jovana Vidaković</cp:lastModifiedBy>
  <cp:revision>216</cp:revision>
  <dcterms:created xsi:type="dcterms:W3CDTF">2023-06-19T19:18:07Z</dcterms:created>
  <dcterms:modified xsi:type="dcterms:W3CDTF">2025-06-21T05:25:15Z</dcterms:modified>
</cp:coreProperties>
</file>