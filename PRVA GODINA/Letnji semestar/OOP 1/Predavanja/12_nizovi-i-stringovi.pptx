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34" r:id="rId3"/>
    <p:sldId id="336" r:id="rId4"/>
    <p:sldId id="278" r:id="rId5"/>
    <p:sldId id="279" r:id="rId6"/>
    <p:sldId id="291" r:id="rId7"/>
    <p:sldId id="293" r:id="rId8"/>
    <p:sldId id="292" r:id="rId9"/>
    <p:sldId id="331" r:id="rId10"/>
    <p:sldId id="339" r:id="rId11"/>
    <p:sldId id="330" r:id="rId12"/>
    <p:sldId id="323" r:id="rId13"/>
    <p:sldId id="324" r:id="rId14"/>
    <p:sldId id="325" r:id="rId15"/>
    <p:sldId id="337" r:id="rId16"/>
    <p:sldId id="326" r:id="rId17"/>
    <p:sldId id="327" r:id="rId18"/>
    <p:sldId id="332" r:id="rId19"/>
    <p:sldId id="338" r:id="rId20"/>
    <p:sldId id="318" r:id="rId21"/>
    <p:sldId id="319" r:id="rId22"/>
    <p:sldId id="333" r:id="rId23"/>
    <p:sldId id="320" r:id="rId24"/>
    <p:sldId id="321" r:id="rId25"/>
    <p:sldId id="32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7767" autoAdjust="0"/>
  </p:normalViewPr>
  <p:slideViewPr>
    <p:cSldViewPr snapToGrid="0">
      <p:cViewPr varScale="1">
        <p:scale>
          <a:sx n="117" d="100"/>
          <a:sy n="117" d="100"/>
        </p:scale>
        <p:origin x="8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AA2F7-605E-4CF5-B620-793E90D5D821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AEE3B-5729-4B92-8CE9-9885B5D1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7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AEE3B-5729-4B92-8CE9-9885B5D190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5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71EA-252A-B9F8-E32B-99E9BAA34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02DFB-730B-8B60-3FE4-9FE476A08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C8DE-B934-43C1-FC6E-606BABCA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D20D-F6CB-CF36-BDEF-38FE9BC6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4074-BD5C-B5C1-2F6F-825000F4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/34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E04A-526B-2FAE-DF3A-692E3673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3D7F4-05AC-C927-FA13-05B219AD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33F76-8B02-27FA-A4AC-2370F1B7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A8E5-0F73-A233-2CA1-FA78392B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75DD-21DD-4E10-3C7A-584739A2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3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2034-5501-038E-8052-290E8A70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FF63-EAF1-96AA-E549-63970C201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6E5CE-D72A-BF8D-9569-80A8AB04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DBE52-0BDB-6404-630B-2A581F01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33767-F0BA-AA81-FAB4-6BF762A7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72A14-12DE-B7D1-527F-0E60D607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4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1FED-B9EB-E2E4-E2B7-6E01752F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03AD-582B-F2BE-3DBA-84F703C59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4BE7B-AB06-819E-FC01-8B7669E78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0185A-B951-2053-8108-296F64CA5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9AC96-A571-489F-8636-3ADF8073B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87BEB-F829-1D00-7EDF-1E18F487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340CD-A839-8A19-10E9-BD89A711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C6181-99EB-A136-76BA-3B17A79E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FFC0-DAC9-AFE1-0932-C4128CAB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120E5-34EC-8930-4D44-79F7A72F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ADC8F-EA5C-2DDA-77CF-EFD22FC5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BF2EE-769E-ACFE-4E6F-95C54CED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2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4CED2-7605-1476-548B-C48DE08F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1BDCC-D75D-3B0A-2C26-EB1119CA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1B038-EF8A-A84C-07EF-3C049DFD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DD74-0832-E18C-825A-B050141A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3500-98D3-6876-584B-4F418B1D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71E63-7231-22C7-35FE-8E7920283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18BD-6652-35EE-7CEF-CF8AA99E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3BF24-1928-5B57-40A7-7290018C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8AF96-0896-F9D6-DD18-A3A633FE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9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BFE1-F12C-2A7B-4D22-CB2BF96E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F13D3-5717-1DE3-C638-1E8DCB08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0863D-F4B3-BE1D-D6BE-205F32488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B1E6-A274-C8AB-2BED-D184A1E1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C98F8-C0C7-6CCE-5D28-0CD9C75B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F3131-1DA3-D8C4-C4DB-BC13F12D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3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FDB5-948B-8FAE-6475-2C16A188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3EE27-EF7F-D20F-D417-56055EDC7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14988-70BD-22BE-5581-DB3427A4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3036-5ECB-F0E1-4FCB-C43F1658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998AD-C2DF-6D0B-61E0-D50338D8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83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CE7E6-DA4F-7CD4-E903-82887969C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7286A-FB86-5AE0-C6F1-DA88B0E9F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E38A-B4B0-FD05-EED4-C749FAA3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CC4D-25C3-D507-A5F1-E326DC7D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1190-3356-F6D3-9789-063C4E40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C09CC-7A7D-C592-22AC-2303DA7EE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0D817-285B-B2C2-B73A-FCEADBC8D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91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A07583-960C-AC9B-801D-601F8641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2812C9D-E296-688E-3C29-E848ADE271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9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E7E85-213A-B927-E0C6-89AB0A14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BB172-392E-34D0-47F2-FE86232A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69B73-7734-E86A-4970-E6426F8BE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8CC9C-BFE4-4386-8C54-B81E4330E6DB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4EE7-6507-A848-DC63-8009062A3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65272-511B-9FD4-D996-383466C9E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949EBA8-A76F-9AF1-3A40-E764369550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4AFD2418-E37E-16D7-E636-47337795B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4005263"/>
            <a:ext cx="5688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ahoma" panose="020B0604030504040204" pitchFamily="34" charset="0"/>
              </a:rPr>
              <a:t>Nizovi i Stringovi</a:t>
            </a:r>
            <a:endParaRPr lang="en-U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8C87BD5-0B03-B35A-DAF8-4281BC026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936B1F55-98BA-C656-DEF4-F7AC8608FB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Kako se prave nizovi?</a:t>
            </a:r>
          </a:p>
          <a:p>
            <a:r>
              <a:rPr lang="sr-Latn-RS" altLang="en-US"/>
              <a:t>Kako se pristupa nizovima za pisanje i čitanje?</a:t>
            </a:r>
          </a:p>
          <a:p>
            <a:r>
              <a:rPr lang="sr-Latn-RS" altLang="en-US"/>
              <a:t>Višedimenzionalni nizovi</a:t>
            </a:r>
          </a:p>
          <a:p>
            <a:r>
              <a:rPr lang="sr-Latn-RS" altLang="en-US"/>
              <a:t>Stringovi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59A8B68-99C9-6EED-C3B1-7EF415521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Šta nam treba od prethodnog znanja?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5A1F708-FA86-9BBF-2E55-FC51DD3247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Tipovi podataka</a:t>
            </a:r>
          </a:p>
          <a:p>
            <a:r>
              <a:rPr lang="sr-Latn-RS" altLang="en-US"/>
              <a:t>Operatori</a:t>
            </a:r>
          </a:p>
          <a:p>
            <a:r>
              <a:rPr lang="sr-Latn-RS" altLang="en-US"/>
              <a:t>Petlje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E833FF3-5551-B585-D5AC-197E1C417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Nizovi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7402F2A-A107-3A1A-7464-9F320AFE8C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int[] a; // još uvek nije napravljen niz!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 = new int[5]; // niz od 5 nula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>
                <a:latin typeface="Tahoma" panose="020B0604030504040204" pitchFamily="34" charset="0"/>
                <a:cs typeface="Tahoma" panose="020B0604030504040204" pitchFamily="34" charset="0"/>
              </a:rPr>
              <a:t>ili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 = new int[5]; // niz od 5 nula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>
                <a:latin typeface="Tahoma" panose="020B0604030504040204" pitchFamily="34" charset="0"/>
                <a:cs typeface="Tahoma" panose="020B0604030504040204" pitchFamily="34" charset="0"/>
              </a:rPr>
              <a:t>Deklaracija i inicijalizacija: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 = { 10, 21, 53, 884, 1235 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AD5335C-8AAA-3B38-8EBC-A17CC010C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 </a:t>
            </a:r>
            <a:r>
              <a:rPr lang="sr-Latn-CS" altLang="sr-Latn-RS" baseline="-25000"/>
              <a:t>1/3</a:t>
            </a:r>
            <a:endParaRPr lang="en-US" altLang="sr-Latn-RS" baseline="-250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2903670-0ECD-49D7-26B2-92002BEDF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6148" name="Line 4">
            <a:extLst>
              <a:ext uri="{FF2B5EF4-FFF2-40B4-BE49-F238E27FC236}">
                <a16:creationId xmlns:a16="http://schemas.microsoft.com/office/drawing/2014/main" id="{8FFB593D-DA43-2763-BD7F-E8A6F78053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Line 5">
            <a:extLst>
              <a:ext uri="{FF2B5EF4-FFF2-40B4-BE49-F238E27FC236}">
                <a16:creationId xmlns:a16="http://schemas.microsoft.com/office/drawing/2014/main" id="{60140F55-0771-6C60-C440-232393557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0" name="AutoShape 6">
            <a:extLst>
              <a:ext uri="{FF2B5EF4-FFF2-40B4-BE49-F238E27FC236}">
                <a16:creationId xmlns:a16="http://schemas.microsoft.com/office/drawing/2014/main" id="{99659590-83B4-2FC5-7C43-575C7C97F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5995B7A3-C54C-E2B4-21DF-FCC01AB12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9534ACF1-EB89-2C22-701D-D27860171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A9DD5E7E-FAE7-8BA3-380D-772646456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6154" name="Text Box 22">
            <a:extLst>
              <a:ext uri="{FF2B5EF4-FFF2-40B4-BE49-F238E27FC236}">
                <a16:creationId xmlns:a16="http://schemas.microsoft.com/office/drawing/2014/main" id="{6FC2546A-2EB8-176D-E04A-919A5D37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5949950"/>
            <a:ext cx="626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1F172EE-1EA7-434C-EA75-27A724B77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 </a:t>
            </a:r>
            <a:r>
              <a:rPr lang="sr-Latn-CS" altLang="sr-Latn-RS" baseline="-25000"/>
              <a:t>2/3</a:t>
            </a:r>
            <a:endParaRPr lang="en-US" altLang="sr-Latn-RS" baseline="-250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499A7E6-2C5E-DF90-7845-FB9D18506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00DB402B-4087-5C66-830A-F9D9D8792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F2124EFE-7FB5-7F60-733F-063E688945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AutoShape 6">
            <a:extLst>
              <a:ext uri="{FF2B5EF4-FFF2-40B4-BE49-F238E27FC236}">
                <a16:creationId xmlns:a16="http://schemas.microsoft.com/office/drawing/2014/main" id="{5E6E0F54-E3FD-E27F-19E5-66580A807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8B0EA470-B92C-7DBC-5195-E624DE457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B5A3D78C-4BB1-31AE-8E76-FF0F4E1C4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07423895-7043-1959-4ABA-23C26D90F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7178" name="Line 10">
            <a:extLst>
              <a:ext uri="{FF2B5EF4-FFF2-40B4-BE49-F238E27FC236}">
                <a16:creationId xmlns:a16="http://schemas.microsoft.com/office/drawing/2014/main" id="{6FD26F2E-902D-028E-A387-639D3B6E15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80D95195-329B-2D05-33A3-CF63F9A39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66EBC351-7285-17DA-AA0C-7361C3A6E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1D48F03F-2AC4-2A06-E574-35CAE5203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E59A4AC4-9A82-3585-2448-5EA39122A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FE139492-3DD1-EDE9-0A2B-E10C64ABD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70E0D3D9-1811-D2EE-5B51-91041EA1C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7185" name="Text Box 17">
            <a:extLst>
              <a:ext uri="{FF2B5EF4-FFF2-40B4-BE49-F238E27FC236}">
                <a16:creationId xmlns:a16="http://schemas.microsoft.com/office/drawing/2014/main" id="{F5FD3AE0-8AC4-7B2E-A8E0-367AFC978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7186" name="Text Box 18">
            <a:extLst>
              <a:ext uri="{FF2B5EF4-FFF2-40B4-BE49-F238E27FC236}">
                <a16:creationId xmlns:a16="http://schemas.microsoft.com/office/drawing/2014/main" id="{5289C038-99A7-B212-F5F0-27B971CA7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7187" name="Text Box 19">
            <a:extLst>
              <a:ext uri="{FF2B5EF4-FFF2-40B4-BE49-F238E27FC236}">
                <a16:creationId xmlns:a16="http://schemas.microsoft.com/office/drawing/2014/main" id="{677DB72D-508E-8F4E-DDE4-891115FE1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7188" name="Text Box 20">
            <a:extLst>
              <a:ext uri="{FF2B5EF4-FFF2-40B4-BE49-F238E27FC236}">
                <a16:creationId xmlns:a16="http://schemas.microsoft.com/office/drawing/2014/main" id="{23F3B21D-EE26-CA7D-98F4-30759062B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7189" name="Text Box 21">
            <a:extLst>
              <a:ext uri="{FF2B5EF4-FFF2-40B4-BE49-F238E27FC236}">
                <a16:creationId xmlns:a16="http://schemas.microsoft.com/office/drawing/2014/main" id="{65E58377-A883-D1FB-492C-C84CA295D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7190" name="Text Box 22">
            <a:extLst>
              <a:ext uri="{FF2B5EF4-FFF2-40B4-BE49-F238E27FC236}">
                <a16:creationId xmlns:a16="http://schemas.microsoft.com/office/drawing/2014/main" id="{BFCBF984-6906-0BFB-8E9C-15EE388E7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5949950"/>
            <a:ext cx="756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 = new int[5]; 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7C953E8-4C56-7A8B-9C18-E96492E85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 </a:t>
            </a:r>
            <a:r>
              <a:rPr lang="sr-Latn-CS" altLang="sr-Latn-RS" baseline="-25000"/>
              <a:t>3/3</a:t>
            </a:r>
            <a:endParaRPr lang="en-US" altLang="sr-Latn-RS" baseline="-2500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D08D22F-7F73-32EE-BB23-50AC428A2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196" name="Line 4">
            <a:extLst>
              <a:ext uri="{FF2B5EF4-FFF2-40B4-BE49-F238E27FC236}">
                <a16:creationId xmlns:a16="http://schemas.microsoft.com/office/drawing/2014/main" id="{97CD1951-2EDF-704A-947E-F1A825CC14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B11A9E11-C844-FA7B-E492-E947132A40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AutoShape 6">
            <a:extLst>
              <a:ext uri="{FF2B5EF4-FFF2-40B4-BE49-F238E27FC236}">
                <a16:creationId xmlns:a16="http://schemas.microsoft.com/office/drawing/2014/main" id="{A0F543DC-4EB9-6C03-67FD-4DA190F9B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199" name="Text Box 7">
            <a:extLst>
              <a:ext uri="{FF2B5EF4-FFF2-40B4-BE49-F238E27FC236}">
                <a16:creationId xmlns:a16="http://schemas.microsoft.com/office/drawing/2014/main" id="{5B9F7C85-223C-5324-1F81-68FD3F527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12FF6291-5639-38F5-E5B4-200A452CA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E6A5376A-73AC-C10C-3E01-1FCEACB0A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F89FBCD0-509A-9735-1813-98A5B3E06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F287894A-13D0-1C7D-7855-E15A67667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850C86AC-CE38-0C39-08F9-8ABEA7BF3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62E8287E-3C43-0201-BFFA-257990A91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F765E0D8-36BC-A910-AF6F-7B6767F5F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8E141EE4-63B8-53DA-C13A-338A26B45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20657C45-DACE-77B0-5D97-C8E8ED884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8209" name="Text Box 17">
            <a:extLst>
              <a:ext uri="{FF2B5EF4-FFF2-40B4-BE49-F238E27FC236}">
                <a16:creationId xmlns:a16="http://schemas.microsoft.com/office/drawing/2014/main" id="{513C001B-680B-127C-7A11-4E8CCA0BF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5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8210" name="Text Box 18">
            <a:extLst>
              <a:ext uri="{FF2B5EF4-FFF2-40B4-BE49-F238E27FC236}">
                <a16:creationId xmlns:a16="http://schemas.microsoft.com/office/drawing/2014/main" id="{BADB8847-F933-7730-6695-62511047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644900"/>
            <a:ext cx="356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-3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8211" name="Text Box 19">
            <a:extLst>
              <a:ext uri="{FF2B5EF4-FFF2-40B4-BE49-F238E27FC236}">
                <a16:creationId xmlns:a16="http://schemas.microsoft.com/office/drawing/2014/main" id="{412C9F67-4BE7-872D-08B4-122C5C9C0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36449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8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8212" name="Text Box 20">
            <a:extLst>
              <a:ext uri="{FF2B5EF4-FFF2-40B4-BE49-F238E27FC236}">
                <a16:creationId xmlns:a16="http://schemas.microsoft.com/office/drawing/2014/main" id="{F42FDA70-3BD5-1C86-B3EB-3CA927A6A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1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8213" name="Text Box 21">
            <a:extLst>
              <a:ext uri="{FF2B5EF4-FFF2-40B4-BE49-F238E27FC236}">
                <a16:creationId xmlns:a16="http://schemas.microsoft.com/office/drawing/2014/main" id="{867A48B4-6BEE-91A4-6B83-5EDEB4E8E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644900"/>
            <a:ext cx="3898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10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8214" name="Text Box 22">
            <a:extLst>
              <a:ext uri="{FF2B5EF4-FFF2-40B4-BE49-F238E27FC236}">
                <a16:creationId xmlns:a16="http://schemas.microsoft.com/office/drawing/2014/main" id="{FF9035FA-51A6-6D1F-F78A-809A96970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5949950"/>
            <a:ext cx="784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a[0]=5; a[1]=-3; a[2]=8; a[3]=1; a[4]=10;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6E3E633-7D00-E9E5-082F-9BE9F5959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Nizovi primitivnih tipova</a:t>
            </a:r>
            <a:endParaRPr lang="en-U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5875C45-5281-F4EF-4568-71ABAF0FB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508501"/>
            <a:ext cx="647700" cy="3587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8AFE5946-6D47-A2C5-8D51-8DD9D32B6A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3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97921CE0-60AA-300B-972A-0E80769308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500439"/>
            <a:ext cx="0" cy="13684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2" name="AutoShape 6">
            <a:extLst>
              <a:ext uri="{FF2B5EF4-FFF2-40B4-BE49-F238E27FC236}">
                <a16:creationId xmlns:a16="http://schemas.microsoft.com/office/drawing/2014/main" id="{C3742E95-E268-2E21-2F6A-22B511CEA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6" y="2276475"/>
            <a:ext cx="4537075" cy="2952750"/>
          </a:xfrm>
          <a:prstGeom prst="roundRect">
            <a:avLst>
              <a:gd name="adj" fmla="val 16667"/>
            </a:avLst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2A74FF94-B196-914D-B1BC-BAA89E3E5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5373688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heap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F94E0780-1662-2E78-DC15-3EC5AA420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50133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imes New Roman" panose="02020603050405020304" pitchFamily="18" charset="0"/>
              </a:rPr>
              <a:t>stek</a:t>
            </a:r>
            <a:endParaRPr lang="en-US" altLang="sr-Latn-RS" sz="2400">
              <a:latin typeface="Times New Roman" panose="02020603050405020304" pitchFamily="18" charset="0"/>
            </a:endParaRP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ADACF6C1-2718-531E-7290-6B645105C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4437063"/>
            <a:ext cx="43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a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9226" name="Line 10">
            <a:extLst>
              <a:ext uri="{FF2B5EF4-FFF2-40B4-BE49-F238E27FC236}">
                <a16:creationId xmlns:a16="http://schemas.microsoft.com/office/drawing/2014/main" id="{EEB685E0-16FA-B91E-F32A-326C1B52AB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3933825"/>
            <a:ext cx="2592388" cy="7191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75A4E8D6-38B8-4BC4-0DAE-DFDF95D94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3644901"/>
            <a:ext cx="2519362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BCA0F615-4A46-47BB-54AD-F7C02119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49A4EED3-BF31-C725-DF98-2AA7DB6C7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5B358C22-0689-CE0B-987A-3B8B3E05C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3644901"/>
            <a:ext cx="503238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252B1220-62BC-B0BC-9C16-1DCBFD210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4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32" name="Rectangle 16">
            <a:extLst>
              <a:ext uri="{FF2B5EF4-FFF2-40B4-BE49-F238E27FC236}">
                <a16:creationId xmlns:a16="http://schemas.microsoft.com/office/drawing/2014/main" id="{17F80C19-5611-509B-D97A-E4C4C6591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589" y="3644901"/>
            <a:ext cx="503237" cy="360363"/>
          </a:xfrm>
          <a:prstGeom prst="rect">
            <a:avLst/>
          </a:prstGeom>
          <a:noFill/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9233" name="Text Box 17">
            <a:extLst>
              <a:ext uri="{FF2B5EF4-FFF2-40B4-BE49-F238E27FC236}">
                <a16:creationId xmlns:a16="http://schemas.microsoft.com/office/drawing/2014/main" id="{44D29023-6348-7C0D-8D27-F06D7FB71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5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9234" name="Text Box 18">
            <a:extLst>
              <a:ext uri="{FF2B5EF4-FFF2-40B4-BE49-F238E27FC236}">
                <a16:creationId xmlns:a16="http://schemas.microsoft.com/office/drawing/2014/main" id="{58F67BC6-C3D7-8880-507E-0415C153A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3644900"/>
            <a:ext cx="356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-3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9235" name="Text Box 19">
            <a:extLst>
              <a:ext uri="{FF2B5EF4-FFF2-40B4-BE49-F238E27FC236}">
                <a16:creationId xmlns:a16="http://schemas.microsoft.com/office/drawing/2014/main" id="{B4433E0B-2F87-35D9-A2ED-AD7F4B006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8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9236" name="Text Box 20">
            <a:extLst>
              <a:ext uri="{FF2B5EF4-FFF2-40B4-BE49-F238E27FC236}">
                <a16:creationId xmlns:a16="http://schemas.microsoft.com/office/drawing/2014/main" id="{987BCD39-C137-9D28-F8C8-AC7F18E85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644900"/>
            <a:ext cx="2872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RS" altLang="sr-Latn-RS" sz="1600">
                <a:latin typeface="Times New Roman" panose="02020603050405020304" pitchFamily="18" charset="0"/>
              </a:rPr>
              <a:t>1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716E0D2-3B15-C297-B818-43E8F1E41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644900"/>
            <a:ext cx="3898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imes New Roman" panose="02020603050405020304" pitchFamily="18" charset="0"/>
              </a:rPr>
              <a:t>10</a:t>
            </a:r>
            <a:endParaRPr lang="en-US" altLang="sr-Latn-RS" sz="1600">
              <a:latin typeface="Times New Roman" panose="02020603050405020304" pitchFamily="18" charset="0"/>
            </a:endParaRPr>
          </a:p>
        </p:txBody>
      </p:sp>
      <p:sp>
        <p:nvSpPr>
          <p:cNvPr id="9238" name="Text Box 22">
            <a:extLst>
              <a:ext uri="{FF2B5EF4-FFF2-40B4-BE49-F238E27FC236}">
                <a16:creationId xmlns:a16="http://schemas.microsoft.com/office/drawing/2014/main" id="{75271CA7-2225-6591-58E4-7550EC06F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5949950"/>
            <a:ext cx="626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a[] = { 5, -3, 8, 1, 10 };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  <p:sp>
        <p:nvSpPr>
          <p:cNvPr id="9239" name="Text Box 23">
            <a:extLst>
              <a:ext uri="{FF2B5EF4-FFF2-40B4-BE49-F238E27FC236}">
                <a16:creationId xmlns:a16="http://schemas.microsoft.com/office/drawing/2014/main" id="{71EB0C03-64AA-54EB-C538-886FEEE83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1484313"/>
            <a:ext cx="6265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/>
              <a:t>jednim potezom</a:t>
            </a:r>
            <a:endParaRPr lang="en-US" altLang="sr-Latn-R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DA378A3-28D1-26A1-1B69-0259EECAB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Iteriranje kroz nizove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4BE32-8056-E898-451A-B81620F1F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Klasična for petlja: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int niz[] = {1, 2, 3, 4};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sr-Latn-R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 = 0; </a:t>
            </a:r>
            <a:r>
              <a:rPr lang="sr-Latn-R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 &lt; niz.</a:t>
            </a:r>
            <a:r>
              <a:rPr lang="sr-Latn-R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; </a:t>
            </a:r>
            <a:r>
              <a:rPr lang="sr-Latn-R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System.out.println(niz</a:t>
            </a:r>
            <a:r>
              <a:rPr lang="sr-Latn-R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[i]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sr-Latn-RS"/>
              <a:t>for-each petlja: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int niz[] = {1, 2, 3, 4};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sr-Latn-R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el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 : niz)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System.out.println(</a:t>
            </a:r>
            <a:r>
              <a:rPr lang="sr-Latn-R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el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endParaRPr lang="sr-Latn-RS"/>
          </a:p>
          <a:p>
            <a:pPr>
              <a:defRPr/>
            </a:pPr>
            <a:endParaRPr 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8095-0991-6744-19C8-0FE47685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Višedimenzionalni nizovi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18DF7-07DC-89BA-C3EF-FA494053F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87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0D31F56-D184-50B7-DBC6-B863F17BB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Višedimenzionalni nizovi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82A4A83-F7B8-F408-5771-26C56DC480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int a[][] = { {1, 2, 3 },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             {4, 5, 6 } 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int a[][] = new int[2][3];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int a[][] = new int[2][];</a:t>
            </a:r>
            <a:br>
              <a:rPr lang="sr-Latn-CS" altLang="sr-Latn-RS" b="1">
                <a:latin typeface="Courier New" panose="02070309020205020404" pitchFamily="49" charset="0"/>
              </a:rPr>
            </a:br>
            <a:r>
              <a:rPr lang="sr-Latn-CS" altLang="sr-Latn-RS" b="1">
                <a:latin typeface="Courier New" panose="02070309020205020404" pitchFamily="49" charset="0"/>
              </a:rPr>
              <a:t>for(int 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sr-Latn-CS" altLang="sr-Latn-RS" b="1">
                <a:latin typeface="Courier New" panose="02070309020205020404" pitchFamily="49" charset="0"/>
              </a:rPr>
              <a:t> = 0; 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sr-Latn-CS" altLang="sr-Latn-RS" b="1">
                <a:latin typeface="Courier New" panose="02070309020205020404" pitchFamily="49" charset="0"/>
              </a:rPr>
              <a:t> &lt; a.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length</a:t>
            </a:r>
            <a:r>
              <a:rPr lang="sr-Latn-CS" altLang="sr-Latn-RS" b="1">
                <a:latin typeface="Courier New" panose="02070309020205020404" pitchFamily="49" charset="0"/>
              </a:rPr>
              <a:t>; 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sr-Latn-CS" altLang="sr-Latn-RS" b="1">
                <a:latin typeface="Courier New" panose="02070309020205020404" pitchFamily="49" charset="0"/>
              </a:rPr>
              <a:t>++) {</a:t>
            </a:r>
            <a:br>
              <a:rPr lang="sr-Latn-CS" altLang="sr-Latn-RS" b="1">
                <a:latin typeface="Courier New" panose="02070309020205020404" pitchFamily="49" charset="0"/>
              </a:rPr>
            </a:br>
            <a:r>
              <a:rPr lang="sr-Latn-CS" altLang="sr-Latn-RS" b="1">
                <a:latin typeface="Courier New" panose="02070309020205020404" pitchFamily="49" charset="0"/>
              </a:rPr>
              <a:t>  a</a:t>
            </a:r>
            <a:r>
              <a:rPr lang="sr-Latn-CS" altLang="sr-Latn-RS" b="1">
                <a:solidFill>
                  <a:schemeClr val="accent1"/>
                </a:solidFill>
                <a:latin typeface="Courier New" panose="02070309020205020404" pitchFamily="49" charset="0"/>
              </a:rPr>
              <a:t>[i]</a:t>
            </a:r>
            <a:r>
              <a:rPr lang="sr-Latn-CS" altLang="sr-Latn-RS" b="1">
                <a:latin typeface="Courier New" panose="02070309020205020404" pitchFamily="49" charset="0"/>
              </a:rPr>
              <a:t> = new int[3];</a:t>
            </a:r>
            <a:br>
              <a:rPr lang="sr-Latn-CS" altLang="sr-Latn-RS" b="1">
                <a:latin typeface="Courier New" panose="02070309020205020404" pitchFamily="49" charset="0"/>
              </a:rPr>
            </a:br>
            <a:r>
              <a:rPr lang="sr-Latn-CS" altLang="sr-Latn-RS" b="1">
                <a:latin typeface="Courier New" panose="02070309020205020404" pitchFamily="49" charset="0"/>
              </a:rPr>
              <a:t>}</a:t>
            </a:r>
            <a:endParaRPr lang="en-US" altLang="sr-Latn-R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116261AD-FFFA-DA96-D7E0-D1989A0EE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Višedimenzionalni nizovi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51960-B938-761B-2A7E-BEF26077B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Višedimenzionalni nizovi se predstavljaju kao nizovi nizova</a:t>
            </a:r>
            <a:endParaRPr lang="sr-Latn-RS"/>
          </a:p>
          <a:p>
            <a:pPr marL="0" indent="0">
              <a:buNone/>
              <a:defRPr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int[][] a = { {1, 2, 3}, {4, 5, 6} };</a:t>
            </a:r>
            <a:endParaRPr lang="sr-Latn-RS" sz="24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endParaRPr lang="en-US" sz="2400" b="1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2292" name="Picture 2">
            <a:extLst>
              <a:ext uri="{FF2B5EF4-FFF2-40B4-BE49-F238E27FC236}">
                <a16:creationId xmlns:a16="http://schemas.microsoft.com/office/drawing/2014/main" id="{3E163500-07CF-9308-4A5B-D49DAF0A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522664"/>
            <a:ext cx="762000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00E69D6-3D6B-0439-DFC1-6A6472BC1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Višedimenzionalni nizovi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7717-8059-B834-A1E9-EE6433CC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Višedimenzionalni niz se može kreirati i na sledeći način:</a:t>
            </a:r>
            <a:endParaRPr lang="sr-Latn-RS" b="1"/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int[][] a = new int[2][3];</a:t>
            </a:r>
            <a:endParaRPr lang="sr-Latn-RS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/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DEB5F51B-CC60-C44D-39FF-E66CFB65A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4" y="3573463"/>
            <a:ext cx="783907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030A3AF-61F2-3A0A-E3FE-CD7F59BCC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Višedimenzionalni nizovi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A3247-0DC4-AE0D-1748-15E76720D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Dvodimenzionalni niz se može kreirati i postupno: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int[][] a = new int[2][];</a:t>
            </a:r>
          </a:p>
          <a:p>
            <a:pPr marL="0" indent="0">
              <a:buNone/>
              <a:defRPr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D3994C0-FFE3-B16E-432F-31E7C9195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79708"/>
              </p:ext>
            </p:extLst>
          </p:nvPr>
        </p:nvGraphicFramePr>
        <p:xfrm>
          <a:off x="661847" y="3561936"/>
          <a:ext cx="9210675" cy="318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211462" imgH="3180902" progId="">
                  <p:embed/>
                </p:oleObj>
              </mc:Choice>
              <mc:Fallback>
                <p:oleObj r:id="rId2" imgW="9211462" imgH="3180902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1847" y="3561936"/>
                        <a:ext cx="9210675" cy="318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3759949-D153-2B3B-E834-359820F822CC}"/>
              </a:ext>
            </a:extLst>
          </p:cNvPr>
          <p:cNvSpPr/>
          <p:nvPr/>
        </p:nvSpPr>
        <p:spPr>
          <a:xfrm>
            <a:off x="3423369" y="3079851"/>
            <a:ext cx="5621533" cy="612648"/>
          </a:xfrm>
          <a:prstGeom prst="wedgeRoundRectCallout">
            <a:avLst>
              <a:gd name="adj1" fmla="val -28940"/>
              <a:gd name="adj2" fmla="val 11470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Sadržaj ovih ćelija nije broj nego referenca na niz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030A3AF-61F2-3A0A-E3FE-CD7F59BCC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Višedimenzionalni nizovi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A3247-0DC4-AE0D-1748-15E76720D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Dvodimenzionalni niz se može kreirati i postupno: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int[][] a = new int[2][];</a:t>
            </a:r>
          </a:p>
          <a:p>
            <a:pPr marL="0" indent="0">
              <a:buNone/>
              <a:defRPr/>
            </a:pPr>
            <a:r>
              <a:rPr lang="nn-NO" b="1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 = 0; 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 &lt; a.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; 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a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[i]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= new int[3];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155A2DF-C822-02DE-0847-3D21360BF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59942"/>
            <a:ext cx="783907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1107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502B515-24A3-F0CC-43A9-0EB33373E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Višedimenzionalni nizovi</a:t>
            </a:r>
            <a:endParaRPr lang="en-U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C1DEC-70A1-F32B-71FC-3D173F111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M</a:t>
            </a:r>
            <a:r>
              <a:rPr lang="en-US" err="1"/>
              <a:t>oguće</a:t>
            </a:r>
            <a:r>
              <a:rPr lang="en-US"/>
              <a:t> </a:t>
            </a:r>
            <a:r>
              <a:rPr lang="en-US" err="1"/>
              <a:t>napraviti</a:t>
            </a:r>
            <a:r>
              <a:rPr lang="en-US"/>
              <a:t> </a:t>
            </a:r>
            <a:r>
              <a:rPr lang="en-US" err="1"/>
              <a:t>dvodimenzionalni</a:t>
            </a:r>
            <a:r>
              <a:rPr lang="sr-Latn-RS"/>
              <a:t> </a:t>
            </a:r>
            <a:r>
              <a:rPr lang="en-US" err="1"/>
              <a:t>niz</a:t>
            </a:r>
            <a:r>
              <a:rPr lang="en-US"/>
              <a:t> </a:t>
            </a:r>
            <a:r>
              <a:rPr lang="en-US" err="1"/>
              <a:t>koji</a:t>
            </a:r>
            <a:r>
              <a:rPr lang="en-US"/>
              <a:t> </a:t>
            </a:r>
            <a:r>
              <a:rPr lang="en-US" err="1"/>
              <a:t>ima</a:t>
            </a:r>
            <a:r>
              <a:rPr lang="en-US"/>
              <a:t> </a:t>
            </a:r>
            <a:r>
              <a:rPr lang="en-US" err="1"/>
              <a:t>različit</a:t>
            </a:r>
            <a:r>
              <a:rPr lang="en-US"/>
              <a:t> </a:t>
            </a:r>
            <a:r>
              <a:rPr lang="en-US" err="1"/>
              <a:t>broj</a:t>
            </a:r>
            <a:r>
              <a:rPr lang="en-US"/>
              <a:t> </a:t>
            </a:r>
            <a:r>
              <a:rPr lang="en-US" err="1"/>
              <a:t>kolona</a:t>
            </a:r>
            <a:r>
              <a:rPr lang="en-US"/>
              <a:t> u </a:t>
            </a:r>
            <a:r>
              <a:rPr lang="en-US" err="1"/>
              <a:t>svakoj</a:t>
            </a:r>
            <a:r>
              <a:rPr lang="en-US"/>
              <a:t> </a:t>
            </a:r>
            <a:r>
              <a:rPr lang="en-US" err="1"/>
              <a:t>vrsti</a:t>
            </a:r>
            <a:r>
              <a:rPr lang="sr-Latn-RS"/>
              <a:t>:</a:t>
            </a:r>
          </a:p>
          <a:p>
            <a:pPr marL="0" indent="0">
              <a:buNone/>
              <a:defRPr/>
            </a:pPr>
            <a:r>
              <a:rPr lang="en-US" b="1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[][]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aa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[3][];</a:t>
            </a:r>
          </a:p>
          <a:p>
            <a:pPr marL="0" indent="0">
              <a:buNone/>
              <a:defRPr/>
            </a:pPr>
            <a:r>
              <a:rPr lang="nn-NO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 = 0; 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 &lt; aa.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; </a:t>
            </a:r>
            <a:r>
              <a:rPr lang="nn-NO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nn-NO" b="1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aa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+ 1];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=</a:t>
            </a:r>
            <a:r>
              <a:rPr lang="sr-Latn-RS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0; </a:t>
            </a:r>
            <a:r>
              <a:rPr lang="en-US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aa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aa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[j]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*10 + </a:t>
            </a:r>
            <a:r>
              <a:rPr lang="en-US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5364" name="TextBox 3">
            <a:extLst>
              <a:ext uri="{FF2B5EF4-FFF2-40B4-BE49-F238E27FC236}">
                <a16:creationId xmlns:a16="http://schemas.microsoft.com/office/drawing/2014/main" id="{E5B5A4AC-9BF1-F953-47E8-91873D6A3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5522914"/>
            <a:ext cx="273685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800"/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800"/>
              <a:t>10 11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800"/>
              <a:t>20 21 22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3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9D61F2A-89CC-B57E-7EBA-BCA48614E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Višedimenzionalni nizovi</a:t>
            </a:r>
            <a:endParaRPr lang="en-US" altLang="sr-Latn-RS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AC43A250-3E32-010A-7653-AB75BD969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1" y="2846388"/>
            <a:ext cx="8677275" cy="310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A4DA1680-02FE-CF4D-DC2E-B56C390EB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4000"/>
              <a:t>Iteriranje kroz višedimenzionalne nizove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20BD-DFD3-271E-E702-75DEEBDD0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Klasična for petlja:</a:t>
            </a:r>
          </a:p>
          <a:p>
            <a:pPr marL="0" indent="0">
              <a:buNone/>
              <a:defRPr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int[][] a = { {1, 2, 3}, {4, 5, 6} };</a:t>
            </a:r>
            <a:endParaRPr lang="sr-Latn-RS" sz="24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sr-Latn-RS" sz="2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 = 0; </a:t>
            </a:r>
            <a:r>
              <a:rPr lang="sr-Latn-RS" sz="2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 &lt; a.</a:t>
            </a:r>
            <a:r>
              <a:rPr lang="sr-Latn-RS" sz="2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sr-Latn-RS" sz="2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for (int </a:t>
            </a:r>
            <a:r>
              <a:rPr lang="sr-Latn-RS" sz="2400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 = 0; </a:t>
            </a:r>
            <a:r>
              <a:rPr lang="sr-Latn-RS" sz="2400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 &lt; a[i].</a:t>
            </a:r>
            <a:r>
              <a:rPr lang="sr-Latn-RS" sz="2400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sr-Latn-RS" sz="2400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  System.out.println(a</a:t>
            </a:r>
            <a:r>
              <a:rPr lang="sr-Latn-RS" sz="2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[i]</a:t>
            </a:r>
            <a:r>
              <a:rPr lang="sr-Latn-RS" sz="2400" b="1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[j]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System.out.println();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  <a:defRPr/>
            </a:pPr>
            <a:endParaRPr lang="sr-Latn-RS" sz="2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08FD2-D53B-4E41-6CDA-0A7F0B4C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Stringovi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80002-E1BE-9264-451D-14B0DC0A0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37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169B9B9-1F79-7D2C-5638-513502D01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Klasa </a:t>
            </a:r>
            <a:r>
              <a:rPr lang="sr-Latn-CS" altLang="sr-Latn-RS" b="1">
                <a:latin typeface="Courier New" panose="02070309020205020404" pitchFamily="49" charset="0"/>
              </a:rPr>
              <a:t>String</a:t>
            </a:r>
            <a:endParaRPr lang="en-GB" altLang="sr-Latn-RS" b="1">
              <a:latin typeface="Courier New" panose="02070309020205020404" pitchFamily="49" charset="0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86E0DB6-C0D2-4C6F-ED0C-2923FB37CC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825625"/>
            <a:ext cx="10981433" cy="43513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Niz karaktera je podržan klasom </a:t>
            </a:r>
            <a:r>
              <a:rPr lang="sr-Latn-CS" altLang="sr-Latn-RS" sz="2400" b="1"/>
              <a:t>String</a:t>
            </a:r>
            <a:r>
              <a:rPr lang="en-US" altLang="sr-Latn-RS" sz="2400"/>
              <a:t>. </a:t>
            </a:r>
            <a:endParaRPr lang="sr-Latn-RS" altLang="sr-Latn-RS" sz="2400"/>
          </a:p>
          <a:p>
            <a:pPr eaLnBrk="1" hangingPunct="1">
              <a:lnSpc>
                <a:spcPct val="90000"/>
              </a:lnSpc>
            </a:pPr>
            <a:r>
              <a:rPr lang="en-US" altLang="sr-Latn-RS" sz="2400"/>
              <a:t>String </a:t>
            </a:r>
            <a:r>
              <a:rPr lang="en-US" altLang="sr-Latn-RS" sz="2400" b="1"/>
              <a:t>nije</a:t>
            </a:r>
            <a:r>
              <a:rPr lang="en-US" altLang="sr-Latn-RS" sz="2400"/>
              <a:t> samo niz karaktera – on je klasa!</a:t>
            </a:r>
            <a:endParaRPr lang="sr-Latn-CS" altLang="sr-Latn-RS" sz="24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Objekti klase </a:t>
            </a:r>
            <a:r>
              <a:rPr lang="sr-Latn-CS" altLang="sr-Latn-RS" sz="2400" b="1"/>
              <a:t>String</a:t>
            </a:r>
            <a:r>
              <a:rPr lang="sr-Latn-CS" altLang="sr-Latn-RS" sz="2400"/>
              <a:t> se ne mogu menjati (</a:t>
            </a:r>
            <a:r>
              <a:rPr lang="sr-Latn-CS" altLang="sr-Latn-RS" sz="2400" i="1"/>
              <a:t>immutable</a:t>
            </a:r>
            <a:r>
              <a:rPr lang="sr-Latn-CS" altLang="sr-Latn-RS" sz="2400"/>
              <a:t>)!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Reprezentativne metode: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length()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charAt(i)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indexOf(s)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substring(a,b), </a:t>
            </a:r>
            <a:r>
              <a:rPr lang="en-US" altLang="sr-Latn-RS" sz="2000"/>
              <a:t>str.</a:t>
            </a:r>
            <a:r>
              <a:rPr lang="sr-Latn-CS" altLang="sr-Latn-RS" sz="2000"/>
              <a:t>substring(a)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equals(s), </a:t>
            </a:r>
            <a:r>
              <a:rPr lang="en-US" altLang="sr-Latn-RS" sz="2000"/>
              <a:t>str.</a:t>
            </a:r>
            <a:r>
              <a:rPr lang="sr-Latn-CS" altLang="sr-Latn-RS" sz="2000"/>
              <a:t> equalsIgnoreCase(s) – </a:t>
            </a:r>
            <a:r>
              <a:rPr lang="sr-Latn-CS" altLang="sr-Latn-RS" sz="2000" b="1" u="sng"/>
              <a:t>ne koristiti ==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startsWith(</a:t>
            </a:r>
            <a:r>
              <a:rPr lang="en-US" altLang="sr-Latn-RS" sz="2000"/>
              <a:t>s</a:t>
            </a:r>
            <a:r>
              <a:rPr lang="sr-Latn-CS" altLang="sr-Latn-RS" sz="2000"/>
              <a:t>)</a:t>
            </a:r>
            <a:endParaRPr lang="en-GB" altLang="sr-Latn-R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3950DAB-DA33-E318-8B5B-CB72A3AE6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03288"/>
          </a:xfrm>
        </p:spPr>
        <p:txBody>
          <a:bodyPr/>
          <a:lstStyle/>
          <a:p>
            <a:pPr eaLnBrk="1" hangingPunct="1"/>
            <a:r>
              <a:rPr lang="en-US" altLang="sr-Latn-RS"/>
              <a:t>Klasa </a:t>
            </a:r>
            <a:r>
              <a:rPr lang="en-US" altLang="sr-Latn-RS" b="1">
                <a:latin typeface="Courier New" panose="02070309020205020404" pitchFamily="49" charset="0"/>
              </a:rPr>
              <a:t>String</a:t>
            </a:r>
            <a:endParaRPr lang="en-US" altLang="sr-Latn-R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A1AA70F-67A3-163F-9618-C3C6ECDA6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31507"/>
            <a:ext cx="10515600" cy="5207126"/>
          </a:xfrm>
        </p:spPr>
        <p:txBody>
          <a:bodyPr>
            <a:normAutofit fontScale="85000" lnSpcReduction="20000"/>
          </a:bodyPr>
          <a:lstStyle/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class </a:t>
            </a:r>
            <a:r>
              <a:rPr lang="en-US" altLang="sr-Latn-RS" sz="1600" b="1">
                <a:latin typeface="Courier New" panose="02070309020205020404" pitchFamily="49" charset="0"/>
              </a:rPr>
              <a:t>String</a:t>
            </a:r>
            <a:r>
              <a:rPr lang="sr-Latn-CS" altLang="sr-Latn-RS" sz="1600" b="1">
                <a:latin typeface="Courier New" panose="02070309020205020404" pitchFamily="49" charset="0"/>
              </a:rPr>
              <a:t>Test {</a:t>
            </a:r>
            <a:br>
              <a:rPr lang="sr-Latn-CS" altLang="sr-Latn-RS" sz="1600" b="1">
                <a:latin typeface="Courier New" panose="02070309020205020404" pitchFamily="49" charset="0"/>
              </a:rPr>
            </a:b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public static void main(String args[]) {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</a:t>
            </a:r>
            <a:r>
              <a:rPr lang="sr-Latn-CS" altLang="sr-Latn-RS" sz="1600" b="1">
                <a:latin typeface="Courier New" panose="02070309020205020404" pitchFamily="49" charset="0"/>
              </a:rPr>
              <a:t>String s1 = "Ovo je";</a:t>
            </a: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String s2 = "je string";</a:t>
            </a: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System.out.println(s1.</a:t>
            </a: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substring</a:t>
            </a:r>
            <a:r>
              <a:rPr lang="sr-Latn-CS" altLang="sr-Latn-RS" sz="1600" b="1">
                <a:latin typeface="Courier New" panose="02070309020205020404" pitchFamily="49" charset="0"/>
              </a:rPr>
              <a:t>(2));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karakter na zadatoj poziciji</a:t>
            </a:r>
            <a:endParaRPr lang="sr-Latn-C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	    System.out.println(s2.</a:t>
            </a: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charAt</a:t>
            </a:r>
            <a:r>
              <a:rPr lang="sr-Latn-CS" altLang="sr-Latn-RS" sz="1600" b="1">
                <a:latin typeface="Courier New" panose="02070309020205020404" pitchFamily="49" charset="0"/>
              </a:rPr>
              <a:t>(3));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pore</a:t>
            </a: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đenje po jednakosti</a:t>
            </a: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	    System.out.println(s1.</a:t>
            </a: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equals</a:t>
            </a:r>
            <a:r>
              <a:rPr lang="sr-Latn-CS" altLang="sr-Latn-RS" sz="1600" b="1">
                <a:latin typeface="Courier New" panose="02070309020205020404" pitchFamily="49" charset="0"/>
              </a:rPr>
              <a:t>(s2));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pozicija zadatog podstringa</a:t>
            </a: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	    System.out.println(s1.</a:t>
            </a: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indexOf</a:t>
            </a:r>
            <a:r>
              <a:rPr lang="sr-Latn-CS" altLang="sr-Latn-RS" sz="1600" b="1">
                <a:latin typeface="Courier New" panose="02070309020205020404" pitchFamily="49" charset="0"/>
              </a:rPr>
              <a:t>("je"));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dužina stringa</a:t>
            </a: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	    System.out.println(s2.</a:t>
            </a: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length</a:t>
            </a:r>
            <a:r>
              <a:rPr lang="sr-Latn-CS" altLang="sr-Latn-RS" sz="1600" b="1">
                <a:latin typeface="Courier New" panose="02070309020205020404" pitchFamily="49" charset="0"/>
              </a:rPr>
              <a:t>());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skidanje whitespace-ova sa poč. i kraja</a:t>
            </a: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	    System.out.println(s1.</a:t>
            </a: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trim</a:t>
            </a:r>
            <a:r>
              <a:rPr lang="sr-Latn-CS" altLang="sr-Latn-RS" sz="1600" b="1">
                <a:latin typeface="Courier New" panose="02070309020205020404" pitchFamily="49" charset="0"/>
              </a:rPr>
              <a:t>());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provera da li string počinje podstringom</a:t>
            </a:r>
          </a:p>
          <a:p>
            <a:pPr indent="-3175">
              <a:lnSpc>
                <a:spcPct val="80000"/>
              </a:lnSpc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	    System.out.println(s2.</a:t>
            </a: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startsWith</a:t>
            </a:r>
            <a:r>
              <a:rPr lang="sr-Latn-CS" altLang="sr-Latn-RS" sz="1600" b="1">
                <a:latin typeface="Courier New" panose="02070309020205020404" pitchFamily="49" charset="0"/>
              </a:rPr>
              <a:t>("je"));</a:t>
            </a:r>
          </a:p>
          <a:p>
            <a:pPr indent="-3175">
              <a:lnSpc>
                <a:spcPct val="80000"/>
              </a:lnSpc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sr-Latn-CS" altLang="sr-Latn-RS" sz="1600" b="1">
                <a:latin typeface="Courier New" panose="02070309020205020404" pitchFamily="49" charset="0"/>
              </a:rPr>
              <a:t>}</a:t>
            </a:r>
            <a:br>
              <a:rPr lang="sr-Latn-CS" altLang="sr-Latn-RS" sz="1600" b="1">
                <a:latin typeface="Courier New" panose="02070309020205020404" pitchFamily="49" charset="0"/>
              </a:rPr>
            </a:br>
            <a:r>
              <a:rPr lang="sr-Latn-CS" altLang="sr-Latn-RS" sz="16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94296EE7-36D0-2329-F572-1839B84CE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1465" y="5337965"/>
            <a:ext cx="1512888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23B37F34-9D60-7C0B-2F25-4C4497111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1009" y="5827689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5DA7C17C-3DBD-B35E-DDDA-E04FE4297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953" y="4806114"/>
            <a:ext cx="1295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0CFCE09B-97C7-2DC3-6B01-A2826914A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9166" y="4293234"/>
            <a:ext cx="8651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Line 9">
            <a:extLst>
              <a:ext uri="{FF2B5EF4-FFF2-40B4-BE49-F238E27FC236}">
                <a16:creationId xmlns:a16="http://schemas.microsoft.com/office/drawing/2014/main" id="{200AE9A6-DF75-A19E-BB4A-FA75EA288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1828" y="3792914"/>
            <a:ext cx="11525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10">
            <a:extLst>
              <a:ext uri="{FF2B5EF4-FFF2-40B4-BE49-F238E27FC236}">
                <a16:creationId xmlns:a16="http://schemas.microsoft.com/office/drawing/2014/main" id="{7EB3E636-6B22-F322-475A-4ED3AF377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7365" y="3334720"/>
            <a:ext cx="1296988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11">
            <a:extLst>
              <a:ext uri="{FF2B5EF4-FFF2-40B4-BE49-F238E27FC236}">
                <a16:creationId xmlns:a16="http://schemas.microsoft.com/office/drawing/2014/main" id="{A9F84085-B59B-D999-4E30-BFC98460C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672" y="2784850"/>
            <a:ext cx="863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B786CD-CB0F-433A-87DD-4D256BE72E51}"/>
              </a:ext>
            </a:extLst>
          </p:cNvPr>
          <p:cNvSpPr txBox="1"/>
          <p:nvPr/>
        </p:nvSpPr>
        <p:spPr>
          <a:xfrm>
            <a:off x="6968359" y="3184638"/>
            <a:ext cx="276038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800" b="1"/>
              <a:t>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/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1754E-2F2A-AC8A-A3E8-556382AD8E1D}"/>
              </a:ext>
            </a:extLst>
          </p:cNvPr>
          <p:cNvSpPr txBox="1"/>
          <p:nvPr/>
        </p:nvSpPr>
        <p:spPr>
          <a:xfrm>
            <a:off x="6977367" y="3673939"/>
            <a:ext cx="631391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800" b="1"/>
              <a:t>false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1FE25-D2EC-299F-4711-91185FD4217B}"/>
              </a:ext>
            </a:extLst>
          </p:cNvPr>
          <p:cNvSpPr txBox="1"/>
          <p:nvPr/>
        </p:nvSpPr>
        <p:spPr>
          <a:xfrm>
            <a:off x="6964543" y="4153034"/>
            <a:ext cx="301686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800" b="1"/>
              <a:t>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12C0A-64B2-68AF-55D5-080AAE8E319C}"/>
              </a:ext>
            </a:extLst>
          </p:cNvPr>
          <p:cNvSpPr txBox="1"/>
          <p:nvPr/>
        </p:nvSpPr>
        <p:spPr>
          <a:xfrm>
            <a:off x="6977367" y="4665829"/>
            <a:ext cx="301686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800" b="1"/>
              <a:t>9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CBFF2-1E7F-E457-F85A-A7E7D24A7662}"/>
              </a:ext>
            </a:extLst>
          </p:cNvPr>
          <p:cNvSpPr txBox="1"/>
          <p:nvPr/>
        </p:nvSpPr>
        <p:spPr>
          <a:xfrm>
            <a:off x="6977367" y="5182893"/>
            <a:ext cx="798104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800" b="1"/>
              <a:t>Ovo je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0BD13-68CC-F57D-4292-298C6C9F7976}"/>
              </a:ext>
            </a:extLst>
          </p:cNvPr>
          <p:cNvSpPr txBox="1"/>
          <p:nvPr/>
        </p:nvSpPr>
        <p:spPr>
          <a:xfrm>
            <a:off x="6960696" y="5477961"/>
            <a:ext cx="585417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800" b="1"/>
              <a:t>true</a:t>
            </a:r>
            <a:endParaRPr lang="en-US" altLang="sr-Latn-RS" sz="1800" b="1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7794E-8823-5721-819E-A8A59CE85C9A}"/>
              </a:ext>
            </a:extLst>
          </p:cNvPr>
          <p:cNvSpPr txBox="1"/>
          <p:nvPr/>
        </p:nvSpPr>
        <p:spPr>
          <a:xfrm>
            <a:off x="6874353" y="1999618"/>
            <a:ext cx="1651414" cy="319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/>
              <a:t>Ispis na konzoli: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AE911-BD00-C873-F255-BA4AB03E4BB2}"/>
              </a:ext>
            </a:extLst>
          </p:cNvPr>
          <p:cNvSpPr txBox="1"/>
          <p:nvPr/>
        </p:nvSpPr>
        <p:spPr>
          <a:xfrm>
            <a:off x="6938270" y="2588041"/>
            <a:ext cx="905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sr-Latn-RS" sz="1800" b="1"/>
              <a:t>o je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94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945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945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  <p:bldP spid="19461" grpId="0" animBg="1"/>
      <p:bldP spid="19462" grpId="0" animBg="1"/>
      <p:bldP spid="19463" grpId="0" animBg="1"/>
      <p:bldP spid="19464" grpId="0" animBg="1"/>
      <p:bldP spid="19465" grpId="0" animBg="1"/>
      <p:bldP spid="19466" grpId="0" animBg="1"/>
      <p:bldP spid="19467" grpId="0" animBg="1"/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23F1DAD-C4FB-0A68-9794-42D11954D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CS" altLang="sr-Latn-RS" sz="4000"/>
              <a:t>Redefinisa</a:t>
            </a:r>
            <a:r>
              <a:rPr lang="en-US" altLang="sr-Latn-RS" sz="4000"/>
              <a:t>n</a:t>
            </a:r>
            <a:r>
              <a:rPr lang="sr-Latn-CS" altLang="sr-Latn-RS" sz="4000"/>
              <a:t> + operator sa stringovima</a:t>
            </a:r>
            <a:endParaRPr lang="sr-Latn-RS" altLang="sr-Latn-R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EBE51-D94E-CD62-8222-B47CADF52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Ovaj operator radi spajanje stringova:</a:t>
            </a:r>
          </a:p>
          <a:p>
            <a:pPr marL="0" indent="0">
              <a:buNone/>
              <a:defRPr/>
            </a:pPr>
            <a:r>
              <a:rPr lang="sr-Latn-CS" b="1">
                <a:latin typeface="Courier New" pitchFamily="49" charset="0"/>
              </a:rPr>
              <a:t>String a = "Prvi";</a:t>
            </a:r>
          </a:p>
          <a:p>
            <a:pPr marL="0" indent="0">
              <a:buNone/>
              <a:defRPr/>
            </a:pPr>
            <a:r>
              <a:rPr lang="sr-Latn-CS" b="1">
                <a:latin typeface="Courier New" pitchFamily="49" charset="0"/>
              </a:rPr>
              <a:t>String b = "Drugi";</a:t>
            </a:r>
          </a:p>
          <a:p>
            <a:pPr marL="0" indent="0">
              <a:buNone/>
              <a:defRPr/>
            </a:pPr>
            <a:r>
              <a:rPr lang="sr-Latn-CS" b="1">
                <a:latin typeface="Courier New" pitchFamily="49" charset="0"/>
              </a:rPr>
              <a:t>String c = a + b;</a:t>
            </a:r>
            <a:endParaRPr lang="sr-Latn-RS"/>
          </a:p>
          <a:p>
            <a:pPr>
              <a:defRPr/>
            </a:pPr>
            <a:r>
              <a:rPr lang="sr-Latn-RS"/>
              <a:t>String c ima tekst: "</a:t>
            </a:r>
            <a:r>
              <a:rPr lang="sr-Latn-CS" b="1">
                <a:latin typeface="Courier New" pitchFamily="49" charset="0"/>
              </a:rPr>
              <a:t>PrviDrugi"</a:t>
            </a:r>
            <a:endParaRPr 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77F2333-CD02-F366-EA23-B522D990A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Redefinisa</a:t>
            </a:r>
            <a:r>
              <a:rPr lang="en-US" altLang="sr-Latn-RS" sz="4000"/>
              <a:t>n</a:t>
            </a:r>
            <a:r>
              <a:rPr lang="sr-Latn-CS" altLang="sr-Latn-RS" sz="4000"/>
              <a:t> + operator sa stringovima</a:t>
            </a:r>
            <a:endParaRPr lang="en-US" altLang="sr-Latn-RS" sz="40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2441BA5-9E6B-417C-8B05-6CC32E8083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4585" y="1825625"/>
            <a:ext cx="11481801" cy="4351338"/>
          </a:xfrm>
        </p:spPr>
        <p:txBody>
          <a:bodyPr/>
          <a:lstStyle/>
          <a:p>
            <a:pPr eaLnBrk="1" hangingPunct="1">
              <a:defRPr/>
            </a:pPr>
            <a:r>
              <a:rPr lang="sr-Latn-CS"/>
              <a:t>Ako je jedan od operanada klase String, ceo izraz je string!</a:t>
            </a:r>
          </a:p>
          <a:p>
            <a:pPr eaLnBrk="1" hangingPunct="1">
              <a:buFontTx/>
              <a:buNone/>
              <a:defRPr/>
            </a:pPr>
            <a:r>
              <a:rPr lang="sr-Latn-CS" b="1">
                <a:latin typeface="Courier New" pitchFamily="49" charset="0"/>
              </a:rPr>
              <a:t>String a = "Vrednost i je: " + i;</a:t>
            </a:r>
            <a:endParaRPr lang="en-US" b="1">
              <a:latin typeface="Courier New" pitchFamily="49" charset="0"/>
            </a:endParaRPr>
          </a:p>
          <a:p>
            <a:pPr eaLnBrk="1" hangingPunct="1">
              <a:defRPr/>
            </a:pPr>
            <a:r>
              <a:rPr lang="sr-Latn-RS"/>
              <a:t>Drugi operand se konvertuje u string (pravi se njegova string reprezentacija):</a:t>
            </a:r>
          </a:p>
          <a:p>
            <a:pPr marL="0" indent="0"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int i = 5;</a:t>
            </a:r>
          </a:p>
          <a:p>
            <a:pPr eaLnBrk="1" hangingPunct="1">
              <a:buFontTx/>
              <a:buNone/>
              <a:defRPr/>
            </a:pPr>
            <a:r>
              <a:rPr lang="sr-Latn-CS" b="1">
                <a:latin typeface="Courier New" pitchFamily="49" charset="0"/>
                <a:cs typeface="Courier New" pitchFamily="49" charset="0"/>
              </a:rPr>
              <a:t>String a = "Vrednost i je: " + i;</a:t>
            </a:r>
            <a:endParaRPr lang="en-US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0AE08C1E-5C12-092E-FD4C-9F7A418686AE}"/>
              </a:ext>
            </a:extLst>
          </p:cNvPr>
          <p:cNvSpPr/>
          <p:nvPr/>
        </p:nvSpPr>
        <p:spPr>
          <a:xfrm>
            <a:off x="6954845" y="4990911"/>
            <a:ext cx="3106182" cy="1468445"/>
          </a:xfrm>
          <a:prstGeom prst="wedgeRoundRectCallout">
            <a:avLst>
              <a:gd name="adj1" fmla="val -36060"/>
              <a:gd name="adj2" fmla="val -9670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b="1">
                <a:latin typeface="Courier New" pitchFamily="49" charset="0"/>
                <a:cs typeface="Courier New" pitchFamily="49" charset="0"/>
              </a:rPr>
              <a:t>5 </a:t>
            </a:r>
            <a:r>
              <a:rPr lang="sr-Latn-RS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 "5"</a:t>
            </a:r>
          </a:p>
          <a:p>
            <a:pPr algn="ctr"/>
            <a:r>
              <a:rPr lang="sr-Latn-RS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broj 5 prelazi u string "5"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87F2359-7BC7-9224-B880-C183EB4AC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Metoda split() klase </a:t>
            </a:r>
            <a:r>
              <a:rPr lang="en-US" altLang="sr-Latn-RS" b="1">
                <a:latin typeface="Courier New" panose="02070309020205020404" pitchFamily="49" charset="0"/>
              </a:rPr>
              <a:t>String</a:t>
            </a:r>
            <a:endParaRPr lang="sr-Latn-CS" altLang="sr-Latn-RS" b="1">
              <a:latin typeface="Courier New" panose="02070309020205020404" pitchFamily="49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1A018DF-9F38-47A1-FB00-13E324112D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"cepa" osnovni string na niz stringova po zadatom šablonu</a:t>
            </a:r>
          </a:p>
          <a:p>
            <a:pPr lvl="1" eaLnBrk="1" hangingPunct="1"/>
            <a:r>
              <a:rPr lang="sr-Latn-CS" altLang="sr-Latn-RS"/>
              <a:t>originalni string se ne menja</a:t>
            </a:r>
          </a:p>
          <a:p>
            <a:pPr lvl="1" eaLnBrk="1" hangingPunct="1"/>
            <a:r>
              <a:rPr lang="sr-Latn-CS" altLang="sr-Latn-RS"/>
              <a:t>p</a:t>
            </a:r>
            <a:r>
              <a:rPr lang="en-US" altLang="sr-Latn-RS"/>
              <a:t>arametar je regularni izraz</a:t>
            </a:r>
            <a:endParaRPr lang="sr-Latn-RS" altLang="sr-Latn-RS"/>
          </a:p>
          <a:p>
            <a:pPr lvl="1" eaLnBrk="1" hangingPunct="1"/>
            <a:r>
              <a:rPr lang="sr-Latn-RS" altLang="sr-Latn-RS"/>
              <a:t>rezultat je niz stringova na koje je „pocepan“ originalni string</a:t>
            </a:r>
            <a:endParaRPr lang="sr-Latn-CS" altLang="sr-Latn-RS"/>
          </a:p>
          <a:p>
            <a:pPr eaLnBrk="1" hangingPunct="1"/>
            <a:r>
              <a:rPr lang="en-US" altLang="sr-Latn-RS"/>
              <a:t>Poziv: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String[] rez = s.split(“regex”);</a:t>
            </a:r>
          </a:p>
          <a:p>
            <a:pPr eaLnBrk="1" hangingPunct="1"/>
            <a:r>
              <a:rPr lang="sr-Latn-CS" altLang="sr-Latn-RS"/>
              <a:t>Primer: 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String s = "ja sam svetski mega car";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String[] </a:t>
            </a:r>
            <a:r>
              <a:rPr lang="sr-Latn-CS" altLang="sr-Latn-RS" b="1">
                <a:solidFill>
                  <a:schemeClr val="accent2"/>
                </a:solidFill>
                <a:latin typeface="Courier New" panose="02070309020205020404" pitchFamily="49" charset="0"/>
              </a:rPr>
              <a:t>rez</a:t>
            </a:r>
            <a:r>
              <a:rPr lang="sr-Latn-CS" altLang="sr-Latn-RS" b="1">
                <a:latin typeface="Courier New" panose="02070309020205020404" pitchFamily="49" charset="0"/>
              </a:rPr>
              <a:t> = s.split(" ");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DDBFB87-D632-587F-8061-699C032F7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Metoda split() klase </a:t>
            </a:r>
            <a:r>
              <a:rPr lang="sr-Latn-CS" altLang="sr-Latn-RS" b="1">
                <a:latin typeface="Courier New" panose="02070309020205020404" pitchFamily="49" charset="0"/>
              </a:rPr>
              <a:t>String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91BBC6E-DE90-1007-6F7C-6D7174ACE5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class SplitTest {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public static void main(String args[]) {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String text = "Ovo je probni tekst";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String[] 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tokens</a:t>
            </a:r>
            <a:r>
              <a:rPr lang="sr-Latn-CS" altLang="sr-Latn-RS" sz="2000" b="1">
                <a:latin typeface="Courier New" panose="02070309020205020404" pitchFamily="49" charset="0"/>
              </a:rPr>
              <a:t> = text.split(" ");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for (int i = 0; i &lt; 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tokens</a:t>
            </a:r>
            <a:r>
              <a:rPr lang="sr-Latn-CS" altLang="sr-Latn-RS" sz="2000" b="1">
                <a:latin typeface="Courier New" panose="02070309020205020404" pitchFamily="49" charset="0"/>
              </a:rPr>
              <a:t>.length; i++)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System.out.println(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tokens</a:t>
            </a:r>
            <a:r>
              <a:rPr lang="sr-Latn-CS" altLang="sr-Latn-RS" sz="2000" b="1">
                <a:latin typeface="Courier New" panose="02070309020205020404" pitchFamily="49" charset="0"/>
              </a:rPr>
              <a:t>[i]);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1176</Words>
  <Application>Microsoft Office PowerPoint</Application>
  <PresentationFormat>Widescreen</PresentationFormat>
  <Paragraphs>183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Calibri Light</vt:lpstr>
      <vt:lpstr>Courier New</vt:lpstr>
      <vt:lpstr>Tahoma</vt:lpstr>
      <vt:lpstr>Times New Roman</vt:lpstr>
      <vt:lpstr>Office Theme</vt:lpstr>
      <vt:lpstr>Objektno Orijentisano Programiranje 1</vt:lpstr>
      <vt:lpstr>Tema</vt:lpstr>
      <vt:lpstr>Šta nam treba od prethodnog znanja?</vt:lpstr>
      <vt:lpstr>Nizovi</vt:lpstr>
      <vt:lpstr>Nizovi primitivnih tipova 1/3</vt:lpstr>
      <vt:lpstr>Nizovi primitivnih tipova 2/3</vt:lpstr>
      <vt:lpstr>Nizovi primitivnih tipova 3/3</vt:lpstr>
      <vt:lpstr>Nizovi primitivnih tipova</vt:lpstr>
      <vt:lpstr>Iteriranje kroz nizove</vt:lpstr>
      <vt:lpstr>Višedimenzionalni nizovi</vt:lpstr>
      <vt:lpstr>Višedimenzionalni nizovi</vt:lpstr>
      <vt:lpstr>Višedimenzionalni nizovi</vt:lpstr>
      <vt:lpstr>Višedimenzionalni nizovi</vt:lpstr>
      <vt:lpstr>Višedimenzionalni nizovi</vt:lpstr>
      <vt:lpstr>Višedimenzionalni nizovi</vt:lpstr>
      <vt:lpstr>Višedimenzionalni nizovi</vt:lpstr>
      <vt:lpstr>Višedimenzionalni nizovi</vt:lpstr>
      <vt:lpstr>Iteriranje kroz višedimenzionalne nizove</vt:lpstr>
      <vt:lpstr>Stringovi</vt:lpstr>
      <vt:lpstr>Klasa String</vt:lpstr>
      <vt:lpstr>Klasa String</vt:lpstr>
      <vt:lpstr>Redefinisan + operator sa stringovima</vt:lpstr>
      <vt:lpstr>Redefinisan + operator sa stringovima</vt:lpstr>
      <vt:lpstr>Metoda split() klase String</vt:lpstr>
      <vt:lpstr>Metoda split() klase String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Inženjerstvo softvera za Internet-Web of Things</dc:title>
  <dc:creator>Milan Vidaković</dc:creator>
  <cp:lastModifiedBy>Jovana Vidaković</cp:lastModifiedBy>
  <cp:revision>238</cp:revision>
  <dcterms:created xsi:type="dcterms:W3CDTF">2023-06-19T19:18:07Z</dcterms:created>
  <dcterms:modified xsi:type="dcterms:W3CDTF">2025-06-21T05:13:59Z</dcterms:modified>
</cp:coreProperties>
</file>