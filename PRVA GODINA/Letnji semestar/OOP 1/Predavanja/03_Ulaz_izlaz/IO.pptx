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316" r:id="rId3"/>
    <p:sldId id="321" r:id="rId4"/>
    <p:sldId id="279" r:id="rId5"/>
    <p:sldId id="280" r:id="rId6"/>
    <p:sldId id="281" r:id="rId7"/>
    <p:sldId id="317" r:id="rId8"/>
    <p:sldId id="282" r:id="rId9"/>
    <p:sldId id="315" r:id="rId10"/>
    <p:sldId id="285" r:id="rId11"/>
    <p:sldId id="283" r:id="rId12"/>
    <p:sldId id="318" r:id="rId13"/>
    <p:sldId id="286" r:id="rId14"/>
    <p:sldId id="288" r:id="rId15"/>
    <p:sldId id="287" r:id="rId16"/>
    <p:sldId id="295" r:id="rId17"/>
    <p:sldId id="297" r:id="rId18"/>
    <p:sldId id="289" r:id="rId19"/>
    <p:sldId id="290" r:id="rId20"/>
    <p:sldId id="309" r:id="rId21"/>
    <p:sldId id="310" r:id="rId22"/>
    <p:sldId id="311" r:id="rId23"/>
    <p:sldId id="312" r:id="rId24"/>
    <p:sldId id="313" r:id="rId25"/>
    <p:sldId id="291" r:id="rId26"/>
    <p:sldId id="292" r:id="rId27"/>
    <p:sldId id="298" r:id="rId28"/>
    <p:sldId id="299" r:id="rId29"/>
    <p:sldId id="319" r:id="rId30"/>
    <p:sldId id="300" r:id="rId31"/>
    <p:sldId id="301" r:id="rId32"/>
    <p:sldId id="302" r:id="rId33"/>
    <p:sldId id="320" r:id="rId34"/>
    <p:sldId id="303" r:id="rId35"/>
    <p:sldId id="304" r:id="rId36"/>
    <p:sldId id="305" r:id="rId37"/>
    <p:sldId id="306" r:id="rId38"/>
    <p:sldId id="308" r:id="rId39"/>
    <p:sldId id="314" r:id="rId40"/>
    <p:sldId id="273" r:id="rId41"/>
    <p:sldId id="274" r:id="rId42"/>
    <p:sldId id="275" r:id="rId43"/>
    <p:sldId id="276" r:id="rId44"/>
    <p:sldId id="277" r:id="rId45"/>
    <p:sldId id="278" r:id="rId46"/>
    <p:sldId id="307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7DB68F5-98E2-5D73-0C0D-0A99EBEA59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685F357-8617-22CC-F55C-6BF1FCE5BEB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BC28695-BB74-CBD1-2CE5-9C54C97012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DA5692CB-F052-68CA-AB84-26B2BC12A17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780DAE23-C10F-998C-0399-1F511CB7956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09F0A48F-539D-9DDA-0E3C-AD577AE05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6DAA1C3-6264-4A60-8673-7425FEB837B6}" type="slidenum">
              <a:rPr lang="en-US" altLang="sr-Latn-RS"/>
              <a:pPr>
                <a:defRPr/>
              </a:pPr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9658EC-14C7-8ED4-1F5B-DA84C69E36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091107-C63C-1390-343A-7B54C25B33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59C768-1808-04A3-DDC2-A3488EA4A5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473F7-4E4E-421F-AB5C-7CE65F3EAA7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6963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D1AECC-3BE4-2A43-152B-B419BCA6BD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43663" y="6308725"/>
            <a:ext cx="23050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6D824177-6F03-4F68-800C-C2E04AC0843C}" type="slidenum">
              <a:rPr lang="sr-Latn-RS" altLang="sr-Latn-RS" smtClean="0"/>
              <a:pPr algn="r" eaLnBrk="1" hangingPunct="1">
                <a:defRPr/>
              </a:pPr>
              <a:t>‹#›</a:t>
            </a:fld>
            <a:r>
              <a:rPr lang="sr-Latn-RS" altLang="sr-Latn-RS"/>
              <a:t>/46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F35D-A70B-0905-9AC2-E160BA0514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A5F63-122E-59EE-BDF6-398CED353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13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96075C-A779-5583-DBC4-8F543C9F5C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4D47CC-9F0F-B6E7-C568-821F5B9811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7757A9-052F-E050-6E6A-11BFB8727E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82EFD-ED31-4390-8722-D5989F422D0E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76169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ACDDC-84F5-A09B-0C18-7C8B067AA6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C5BD1B-79F7-4372-CE9F-63215FC292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BB23F7-2586-78DB-A0B1-E38AB960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756F5-5D8F-4DA6-8C72-F3BF9D7753B7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81366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656F559-B1A7-B181-1755-258D2E798F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0D8F333-E756-85AF-1545-56EC58CF2A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B1AFAC-8197-A5AF-AF73-1E97C6F359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CD838-3824-4F78-84E4-624E08EAB902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75372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4E88DF2-CFDC-BC6D-A799-4AD1BE1FD0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E67B4F-EFE9-C9F2-56C4-20A2BEE18F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CB8066-B564-97C3-5C70-06C3AB3859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4EA73-273D-4151-AB5A-73F2C94425F3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9912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4717466-B6FD-3D08-D5F3-34FA5A9E61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337990-5DE3-9B8A-0B37-7E59E06B64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99CE9F1-38ED-7FCC-CC4A-1C813EF11F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0132F-9C82-4095-8986-7B646E922207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0264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449A0-4303-1E11-AC75-FB5AA09B94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81CFF-AFC0-038C-DDAF-D04C645E09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799B8-5D31-85A3-FDB4-F5CD13FFE4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9004E-7043-48EA-B225-79E46E905F26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05259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26E683-83DE-354C-F01A-DD7D680DEE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74F1E5-23B7-B221-D6CE-00A890C50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B30B1-6437-DB7E-6F52-9096C62D48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A7D74-C0B9-4C92-90E7-646D021BFCD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08201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CD5735-7425-2FD3-AA05-DB067C20FC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F36CC6-AE93-C8D9-9E6F-044B304456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B1E84C-EDCB-FCD9-CCA2-2D6DC64A34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CD7F5-BF6F-4556-9104-399D8AD19243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19516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0E8EAE-0E78-CDE1-4A1C-AB8E330828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5BBF34-1BF8-D884-2755-0F553C3B9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6E741B-6AF5-A684-9D27-5F34860F2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9F5D5-8F69-4432-84EB-A0D661EF3B16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485896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FDE4C2-EF10-AFA8-8897-D96543C4D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17F46CF-169B-4D6E-05D5-45E0311BB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DFF72F6-DC03-7AA3-F4C8-39F0D8A5D2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A2AC22-1716-DEC9-F6B3-714B4DE1FD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9EB20A0-E153-3988-A4D5-E990A17DE5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9E39A13-C366-46E0-96B5-DCA4CE48A8D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7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0F9D1BC-03D5-436E-DA8D-730A4184DE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59E31600-B3E7-3A08-45AD-B6B1EC9AB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789363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sr-Latn-RS" sz="2400">
                <a:latin typeface="Tahoma" panose="020B0604030504040204" pitchFamily="34" charset="0"/>
              </a:rPr>
              <a:t>Ulazno izlazni podsistem</a:t>
            </a:r>
            <a:endParaRPr lang="sr-Latn-C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30811E6-4297-0F49-14B0-8CC23133E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B4728183-0F30-460B-C4DA-9A62A424F9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Rad sa datotekama</a:t>
            </a:r>
          </a:p>
          <a:p>
            <a:pPr lvl="1"/>
            <a:r>
              <a:rPr lang="sr-Latn-RS" altLang="en-US"/>
              <a:t>Rad sa binarnim datotekama</a:t>
            </a:r>
          </a:p>
          <a:p>
            <a:pPr lvl="1"/>
            <a:r>
              <a:rPr lang="sr-Latn-RS" altLang="en-US"/>
              <a:t>Rad sa tekstualnim datotekama</a:t>
            </a:r>
          </a:p>
          <a:p>
            <a:r>
              <a:rPr lang="sr-Latn-RS" altLang="en-US"/>
              <a:t>Snimanje/učitavanje objekata (serijalizacija)</a:t>
            </a:r>
          </a:p>
          <a:p>
            <a:r>
              <a:rPr lang="sr-Latn-RS" altLang="en-US"/>
              <a:t>Rad sa Zip arhivama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32EFDD3-DFE6-A1D0-2DD4-0985AA59A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treba od prethodnog znanja?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C5068109-2490-E201-8D34-AB6F546E9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Tipovi podataka</a:t>
            </a:r>
          </a:p>
          <a:p>
            <a:r>
              <a:rPr lang="sr-Latn-RS" altLang="en-US"/>
              <a:t>Pisanje po ekranu</a:t>
            </a:r>
          </a:p>
          <a:p>
            <a:r>
              <a:rPr lang="sr-Latn-RS" altLang="en-US"/>
              <a:t>Čitanje tastature</a:t>
            </a:r>
          </a:p>
          <a:p>
            <a:endParaRPr lang="sr-Latn-RS" altLang="en-US"/>
          </a:p>
          <a:p>
            <a:r>
              <a:rPr lang="sr-Latn-RS" altLang="en-US">
                <a:solidFill>
                  <a:srgbClr val="FF0000"/>
                </a:solidFill>
              </a:rPr>
              <a:t>U čemu je razlika između binarnih i tekstualnih datoteka?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46A4E53-1FBD-5D5C-5B21-F2E1DC63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497888" cy="990600"/>
          </a:xfrm>
        </p:spPr>
        <p:txBody>
          <a:bodyPr/>
          <a:lstStyle/>
          <a:p>
            <a:pPr eaLnBrk="1" hangingPunct="1"/>
            <a:r>
              <a:rPr lang="sr-Latn-CS" altLang="sr-Latn-RS" sz="5400"/>
              <a:t>Ulazno izlazni podsistem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FADCC2B5-DDC2-1C50-2D10-1705728DF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636713"/>
            <a:ext cx="73914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SzPct val="80000"/>
            </a:pPr>
            <a:r>
              <a:rPr lang="en-US" altLang="sr-Latn-RS" sz="2400"/>
              <a:t>standardna biblioteka za ulazno/izlazne operacije</a:t>
            </a:r>
            <a:endParaRPr lang="sr-Latn-CS" altLang="sr-Latn-RS" sz="2400"/>
          </a:p>
          <a:p>
            <a:pPr>
              <a:spcBef>
                <a:spcPct val="50000"/>
              </a:spcBef>
              <a:buSzPct val="80000"/>
            </a:pPr>
            <a:r>
              <a:rPr lang="sr-Latn-CS" altLang="sr-Latn-RS" sz="2400"/>
              <a:t>izvorišta/odredišta: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memorija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fajl sistem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mrežne konekcije</a:t>
            </a:r>
          </a:p>
          <a:p>
            <a:pPr>
              <a:spcBef>
                <a:spcPct val="50000"/>
              </a:spcBef>
              <a:buSzPct val="80000"/>
            </a:pPr>
            <a:r>
              <a:rPr lang="sr-Latn-CS" altLang="sr-Latn-RS" sz="2400"/>
              <a:t>oslanja se na tokove (streams) i čitače/pisače (reader/writer)</a:t>
            </a:r>
          </a:p>
          <a:p>
            <a:pPr>
              <a:spcBef>
                <a:spcPct val="50000"/>
              </a:spcBef>
              <a:buSzPct val="80000"/>
            </a:pPr>
            <a:r>
              <a:rPr lang="sr-Latn-CS" altLang="sr-Latn-RS" sz="2400"/>
              <a:t>nezavisno od tokova/čitača postoji i RandomAccessFile klasa i File klasa</a:t>
            </a:r>
            <a:endParaRPr lang="en-US" altLang="sr-Latn-R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CC60017-5EBC-6DB2-DC60-6B3F6986B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File klasa</a:t>
            </a:r>
            <a:endParaRPr lang="en-US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0DC2FFD-2AA9-DA0A-94E2-58349E03D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za manipulaciju datotekama i direktorijumima:</a:t>
            </a:r>
          </a:p>
          <a:p>
            <a:pPr lvl="1" eaLnBrk="1" hangingPunct="1"/>
            <a:r>
              <a:rPr lang="sr-Latn-CS" altLang="sr-Latn-RS"/>
              <a:t>kreiranje datoteka i direktorijuma</a:t>
            </a:r>
          </a:p>
          <a:p>
            <a:pPr lvl="1" eaLnBrk="1" hangingPunct="1"/>
            <a:r>
              <a:rPr lang="sr-Latn-CS" altLang="sr-Latn-RS"/>
              <a:t>brisanje datoteka i direktorijuma</a:t>
            </a:r>
          </a:p>
          <a:p>
            <a:pPr lvl="1" eaLnBrk="1" hangingPunct="1"/>
            <a:r>
              <a:rPr lang="sr-Latn-CS" altLang="sr-Latn-RS"/>
              <a:t>pristup atributima datoteka i direktorijuma</a:t>
            </a:r>
          </a:p>
          <a:p>
            <a:pPr lvl="1" eaLnBrk="1" hangingPunct="1"/>
            <a:r>
              <a:rPr lang="sr-Latn-CS" altLang="sr-Latn-RS"/>
              <a:t>modifikacija naziva i atributa datoteka i direktorijuma</a:t>
            </a:r>
            <a:endParaRPr lang="en-US" altLang="sr-Latn-RS"/>
          </a:p>
          <a:p>
            <a:pPr eaLnBrk="1" hangingPunct="1"/>
            <a:endParaRPr lang="en-US" altLang="sr-Latn-RS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B4BFA3CC-421F-49F5-7988-137E564F5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primer01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1282ECF-7A29-C728-F807-91EE21739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sr-Latn-CS" altLang="sr-Latn-RS"/>
              <a:t>File klasa</a:t>
            </a:r>
            <a:endParaRPr lang="en-U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801B3D5-2B4A-5FB2-2D39-660B492FF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052513"/>
            <a:ext cx="8229600" cy="51847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File f = new  File("pera.txt");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File f = new  File(".");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File f = new File("C:\\Windows");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File f2 = new File(f1, "pera");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File f2 = new File(f1, "..");</a:t>
            </a:r>
          </a:p>
          <a:p>
            <a:pPr eaLnBrk="1" hangingPunct="1">
              <a:lnSpc>
                <a:spcPct val="90000"/>
              </a:lnSpc>
            </a:pPr>
            <a:endParaRPr lang="sr-Latn-CS" altLang="sr-Latn-RS" sz="28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if(f.exists()) ...			File.separatorChar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if(f.isDirectory()) ...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f.createNewfile();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f.getCanonicalPath();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f.listRoots();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f.listFiles();</a:t>
            </a:r>
            <a:endParaRPr lang="en-US" altLang="sr-Latn-R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1461-226A-2339-C38E-E06BFEC6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Rad sa binarnim datotekama</a:t>
            </a:r>
            <a:endParaRPr lang="en-US"/>
          </a:p>
        </p:txBody>
      </p:sp>
      <p:sp>
        <p:nvSpPr>
          <p:cNvPr id="10243" name="Text Placeholder 2">
            <a:extLst>
              <a:ext uri="{FF2B5EF4-FFF2-40B4-BE49-F238E27FC236}">
                <a16:creationId xmlns:a16="http://schemas.microsoft.com/office/drawing/2014/main" id="{64D81B73-F0BD-CA7C-15D6-B0AB76836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5C2A36-612B-2BB7-620F-8242A13E0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Tokovi (streams)</a:t>
            </a:r>
            <a:endParaRPr lang="en-US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170ED53-1E2F-7977-3FEB-2CA80D4C2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 sz="2800"/>
              <a:t>bazirani na bajtovima</a:t>
            </a:r>
          </a:p>
          <a:p>
            <a:pPr lvl="1" eaLnBrk="1" hangingPunct="1"/>
            <a:r>
              <a:rPr lang="en-US" altLang="sr-Latn-RS" sz="2400"/>
              <a:t>prenos jednog bajta</a:t>
            </a:r>
          </a:p>
          <a:p>
            <a:pPr lvl="1" eaLnBrk="1" hangingPunct="1"/>
            <a:r>
              <a:rPr lang="en-US" altLang="sr-Latn-RS" sz="2400"/>
              <a:t>prenos niza bajtova</a:t>
            </a:r>
          </a:p>
          <a:p>
            <a:pPr eaLnBrk="1" hangingPunct="1"/>
            <a:r>
              <a:rPr lang="sr-Latn-CS" altLang="sr-Latn-RS" sz="2800"/>
              <a:t>omogućuju prenos podataka:</a:t>
            </a:r>
            <a:endParaRPr lang="en-US" altLang="sr-Latn-RS" sz="2800"/>
          </a:p>
          <a:p>
            <a:pPr lvl="1" eaLnBrk="1" hangingPunct="1"/>
            <a:r>
              <a:rPr lang="sr-Latn-CS" altLang="sr-Latn-RS" sz="2400"/>
              <a:t>datoteke (FileInputStream, FileOutputStream)</a:t>
            </a:r>
          </a:p>
          <a:p>
            <a:pPr lvl="1" eaLnBrk="1" hangingPunct="1"/>
            <a:r>
              <a:rPr lang="sr-Latn-CS" altLang="sr-Latn-RS" sz="2400"/>
              <a:t>niza bajtova (ByteArrayInputStream, ByteArrayOutputStream)</a:t>
            </a:r>
          </a:p>
          <a:p>
            <a:pPr lvl="1" eaLnBrk="1" hangingPunct="1"/>
            <a:r>
              <a:rPr lang="sr-Latn-CS" altLang="sr-Latn-RS" sz="2400"/>
              <a:t>sek</a:t>
            </a:r>
            <a:r>
              <a:rPr lang="en-US" altLang="sr-Latn-RS" sz="2400"/>
              <a:t>v</a:t>
            </a:r>
            <a:r>
              <a:rPr lang="sr-Latn-CS" altLang="sr-Latn-RS" sz="2400"/>
              <a:t>ence drugih tokova (SequenceInputStream)</a:t>
            </a:r>
          </a:p>
          <a:p>
            <a:pPr lvl="1" eaLnBrk="1" hangingPunct="1"/>
            <a:r>
              <a:rPr lang="sr-Latn-CS" altLang="sr-Latn-RS" sz="2400"/>
              <a:t>itd.</a:t>
            </a:r>
            <a:endParaRPr lang="en-US" altLang="sr-Latn-R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274261-008D-ABBA-D152-621867F19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Tokovi (streams)</a:t>
            </a:r>
            <a:endParaRPr lang="sr-Latn-CS" altLang="sr-Latn-RS" baseline="-2500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17461EB-D9A9-8664-9B89-17817F973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Metode u tokovima:</a:t>
            </a:r>
          </a:p>
          <a:p>
            <a:pPr lvl="1" eaLnBrk="1" hangingPunct="1"/>
            <a:r>
              <a:rPr lang="en-US" altLang="sr-Latn-RS"/>
              <a:t>read() – </a:t>
            </a:r>
            <a:r>
              <a:rPr lang="sr-Latn-CS" altLang="sr-Latn-RS"/>
              <a:t>čita jedan bajt iz toka</a:t>
            </a:r>
          </a:p>
          <a:p>
            <a:pPr lvl="1" eaLnBrk="1" hangingPunct="1"/>
            <a:r>
              <a:rPr lang="sr-Latn-CS" altLang="sr-Latn-RS"/>
              <a:t>read(byte[]) – čita niz bajtova</a:t>
            </a:r>
          </a:p>
          <a:p>
            <a:pPr lvl="1" eaLnBrk="1" hangingPunct="1"/>
            <a:r>
              <a:rPr lang="sr-Latn-CS" altLang="sr-Latn-RS"/>
              <a:t>skip(long n) – preskače zadati broj bajtova</a:t>
            </a:r>
          </a:p>
          <a:p>
            <a:pPr lvl="1" eaLnBrk="1" hangingPunct="1"/>
            <a:r>
              <a:rPr lang="sr-Latn-CS" altLang="sr-Latn-RS"/>
              <a:t>available() – vraća broj raspoloživih bajtova iz toka koji se mogu pročitati pre blokiranja sledećeg čitanja</a:t>
            </a:r>
          </a:p>
          <a:p>
            <a:pPr lvl="1" eaLnBrk="1" hangingPunct="1"/>
            <a:r>
              <a:rPr lang="sr-Latn-CS" altLang="sr-Latn-RS"/>
              <a:t>close() – zatvara tok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BF80651-673C-72BD-092C-642F06A59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Tokovi (streams)</a:t>
            </a:r>
            <a:endParaRPr lang="en-US" altLang="sr-Latn-RS" baseline="-2500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517C1D1-39FE-3567-46B1-9780EAF2D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981200"/>
            <a:ext cx="8893175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Primer upotrebe – kopiranje sadržaja datoteke: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byte[] </a:t>
            </a:r>
            <a:r>
              <a:rPr lang="sr-Latn-CS" altLang="sr-Latn-RS" sz="2000" b="1">
                <a:latin typeface="Courier New" panose="02070309020205020404" pitchFamily="49" charset="0"/>
              </a:rPr>
              <a:t>buffer</a:t>
            </a:r>
            <a:r>
              <a:rPr lang="en-US" altLang="sr-Latn-RS" sz="2000" b="1">
                <a:latin typeface="Courier New" panose="02070309020205020404" pitchFamily="49" charset="0"/>
              </a:rPr>
              <a:t> = new byte[</a:t>
            </a:r>
            <a:r>
              <a:rPr lang="sr-Latn-CS" altLang="sr-Latn-RS" sz="2000" b="1">
                <a:latin typeface="Courier New" panose="02070309020205020404" pitchFamily="49" charset="0"/>
              </a:rPr>
              <a:t>BUFFER</a:t>
            </a:r>
            <a:r>
              <a:rPr lang="en-US" altLang="sr-Latn-RS" sz="2000" b="1">
                <a:latin typeface="Courier New" panose="02070309020205020404" pitchFamily="49" charset="0"/>
              </a:rPr>
              <a:t>_LENGTH];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while((read=in.read(buffer, 0,BUFFER_LENGTH)) != -1)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// obrada u</a:t>
            </a:r>
            <a:r>
              <a:rPr lang="sr-Latn-CS" altLang="sr-Latn-RS" sz="2000" b="1">
                <a:latin typeface="Courier New" panose="02070309020205020404" pitchFamily="49" charset="0"/>
              </a:rPr>
              <a:t>čitanog niza bajtova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out.write(buffer, 0, read);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158801EE-5728-1E47-E74B-7BD5B5658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6237312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primer03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A566C87-3D34-5FBE-0F23-9A9A5727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Tokovi (streams)</a:t>
            </a:r>
            <a:endParaRPr lang="en-US" altLang="sr-Latn-R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F96A060-4B8C-513B-7B01-0997D64A0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osmišljeni kao mehanizam koji omogućuje unificiran pristup podacima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isti k</a:t>
            </a:r>
            <a:r>
              <a:rPr lang="en-US" altLang="sr-Latn-RS" sz="2400"/>
              <a:t>ô</a:t>
            </a:r>
            <a:r>
              <a:rPr lang="sr-Latn-CS" altLang="sr-Latn-RS" sz="2400"/>
              <a:t>d se koristi za čitanje/pisanje iz</a:t>
            </a:r>
            <a:r>
              <a:rPr lang="en-US" altLang="sr-Latn-RS" sz="2400"/>
              <a:t>,</a:t>
            </a:r>
            <a:r>
              <a:rPr lang="sr-Latn-CS" altLang="sr-Latn-RS" sz="2400"/>
              <a:t> </a:t>
            </a:r>
            <a:r>
              <a:rPr lang="en-US" altLang="sr-Latn-RS" sz="2400"/>
              <a:t>na primer, </a:t>
            </a:r>
            <a:r>
              <a:rPr lang="sr-Latn-CS" altLang="sr-Latn-RS" sz="2400"/>
              <a:t>datoteke ili mrežne konekcije</a:t>
            </a:r>
            <a:endParaRPr lang="en-US" altLang="sr-Latn-RS" sz="24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koncept filtera - donose dodatnu funkcionalnost tokovima: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prenos primitivnih </a:t>
            </a:r>
            <a:r>
              <a:rPr lang="en-US" altLang="sr-Latn-RS" sz="2000"/>
              <a:t>tipova</a:t>
            </a:r>
            <a:r>
              <a:rPr lang="sr-Latn-CS" altLang="sr-Latn-RS" sz="2000"/>
              <a:t> na mašinski nezavisan način (DataInputStream, DataOutputStream)</a:t>
            </a:r>
            <a:endParaRPr lang="en-US" altLang="sr-Latn-RS" sz="2000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baferizovan prenos podataka (BufferedInputStream, BufferedOutputStream)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prenos objekata (ObjectInputStream, ObjectOutputStream)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formatiranje podataka (PrintStream)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održavanje čeksuma nad podacima (CheckedOutputStream)	 CRC32 , Adler32</a:t>
            </a:r>
            <a:endParaRPr lang="en-US" altLang="sr-Latn-RS" sz="2000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77E64F6B-E45A-AF95-E098-F819C1DD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6237312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primer02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21A4-89F0-D3A8-4D4A-D4D65DE7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Rad sa tekstualnim datotekama</a:t>
            </a:r>
            <a:endParaRPr lang="en-US"/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53F0490F-4023-7304-CAB2-7EF4E4E41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8D8EAAD-4B58-3025-D392-B1BFD566D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26C0FB-F79D-45A1-B6FF-D89ABF9B5C66}" type="slidenum">
              <a:rPr lang="en-US" altLang="sr-Latn-RS" smtClean="0"/>
              <a:pPr/>
              <a:t>12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D9F068B-218A-1DAB-5323-830ECAE35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Čitači/pisači (readers/writers)</a:t>
            </a:r>
            <a:r>
              <a:rPr lang="en-US" altLang="sr-Latn-RS" sz="4000"/>
              <a:t> </a:t>
            </a:r>
            <a:r>
              <a:rPr lang="en-US" altLang="sr-Latn-RS" sz="4000" baseline="-25000"/>
              <a:t>1/</a:t>
            </a:r>
            <a:r>
              <a:rPr lang="sr-Latn-CS" altLang="sr-Latn-RS" sz="4000" baseline="-25000"/>
              <a:t>3</a:t>
            </a:r>
            <a:endParaRPr lang="en-US" altLang="sr-Latn-RS" sz="40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13BE88E-E0DF-5DAE-3C9F-A08A608BE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Ispravljaju </a:t>
            </a:r>
            <a:r>
              <a:rPr lang="en-US" altLang="sr-Latn-RS" sz="2800"/>
              <a:t>problem sa</a:t>
            </a:r>
            <a:r>
              <a:rPr lang="sr-Latn-CS" altLang="sr-Latn-RS" sz="2800"/>
              <a:t> toko</a:t>
            </a:r>
            <a:r>
              <a:rPr lang="en-US" altLang="sr-Latn-RS" sz="2800"/>
              <a:t>vima</a:t>
            </a:r>
            <a:r>
              <a:rPr lang="sr-Latn-CS" altLang="sr-Latn-RS" sz="2800"/>
              <a:t> – slabu podršku Unicode rasporedu:</a:t>
            </a:r>
            <a:endParaRPr lang="en-US" altLang="sr-Latn-RS" sz="2800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400"/>
              <a:t>tokovi ne prenose dobro Unicode stringove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400"/>
              <a:t>poseban problem predstavljaju različite hardverske platforme (</a:t>
            </a:r>
            <a:r>
              <a:rPr lang="sr-Latn-CS" altLang="sr-Latn-RS" sz="2400" i="1"/>
              <a:t>l</a:t>
            </a:r>
            <a:r>
              <a:rPr lang="en-US" altLang="sr-Latn-RS" sz="2400" i="1"/>
              <a:t>ittle</a:t>
            </a:r>
            <a:r>
              <a:rPr lang="sr-Latn-CS" altLang="sr-Latn-RS" sz="2400" i="1"/>
              <a:t>-endian</a:t>
            </a:r>
            <a:r>
              <a:rPr lang="sr-Latn-CS" altLang="sr-Latn-RS" sz="2400"/>
              <a:t>, </a:t>
            </a:r>
            <a:r>
              <a:rPr lang="sr-Latn-CS" altLang="sr-Latn-RS" sz="2400" i="1"/>
              <a:t>big-endian</a:t>
            </a:r>
            <a:r>
              <a:rPr lang="sr-Latn-CS" altLang="sr-Latn-RS" sz="24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Čitači/pisači ne zamenjuju tokove – oni ih dopunjuju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Čitači/pisači se koriste kada je potrebno preneti Unicode stringove ili karaktere – u ostalim situacijama koriste se tokovi</a:t>
            </a:r>
            <a:endParaRPr lang="en-US" altLang="sr-Latn-R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553D8A9-9944-285F-75FB-3D49BAEE6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Čitači/pisači (readers/writers)</a:t>
            </a:r>
            <a:r>
              <a:rPr lang="en-US" altLang="sr-Latn-RS" sz="4000"/>
              <a:t> </a:t>
            </a:r>
            <a:r>
              <a:rPr lang="sr-Latn-CS" altLang="sr-Latn-RS" sz="4000" baseline="-25000"/>
              <a:t>2</a:t>
            </a:r>
            <a:r>
              <a:rPr lang="en-US" altLang="sr-Latn-RS" sz="4000" baseline="-25000"/>
              <a:t>/</a:t>
            </a:r>
            <a:r>
              <a:rPr lang="sr-Latn-CS" altLang="sr-Latn-RS" sz="4000" baseline="-25000"/>
              <a:t>3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2C96D6D-80A7-8516-A0AF-9FB1FDC4C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34350" cy="4114800"/>
          </a:xfrm>
        </p:spPr>
        <p:txBody>
          <a:bodyPr/>
          <a:lstStyle/>
          <a:p>
            <a:pPr eaLnBrk="1" hangingPunct="1"/>
            <a:r>
              <a:rPr lang="en-US" altLang="sr-Latn-RS"/>
              <a:t>Metode u </a:t>
            </a:r>
            <a:r>
              <a:rPr lang="sr-Latn-CS" altLang="sr-Latn-RS"/>
              <a:t>čitačima</a:t>
            </a:r>
            <a:r>
              <a:rPr lang="en-US" altLang="sr-Latn-RS"/>
              <a:t>:</a:t>
            </a:r>
          </a:p>
          <a:p>
            <a:pPr lvl="1" eaLnBrk="1" hangingPunct="1"/>
            <a:r>
              <a:rPr lang="en-US" altLang="sr-Latn-RS"/>
              <a:t>read() – </a:t>
            </a:r>
            <a:r>
              <a:rPr lang="sr-Latn-CS" altLang="sr-Latn-RS"/>
              <a:t>čita jedan karakter iz toka</a:t>
            </a:r>
          </a:p>
          <a:p>
            <a:pPr lvl="1" eaLnBrk="1" hangingPunct="1"/>
            <a:r>
              <a:rPr lang="sr-Latn-CS" altLang="sr-Latn-RS"/>
              <a:t>read(char[]) – čita niz karaktera</a:t>
            </a:r>
          </a:p>
          <a:p>
            <a:pPr lvl="1" eaLnBrk="1" hangingPunct="1"/>
            <a:r>
              <a:rPr lang="sr-Latn-CS" altLang="sr-Latn-RS"/>
              <a:t>skip(long n) – preskače zadati broj karaktera</a:t>
            </a:r>
          </a:p>
          <a:p>
            <a:pPr lvl="1" eaLnBrk="1" hangingPunct="1"/>
            <a:r>
              <a:rPr lang="sr-Latn-CS" altLang="sr-Latn-RS"/>
              <a:t>close() – zatvara čitač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A2108F0-A7F1-D90C-8630-23C6966F59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28775"/>
            <a:ext cx="9144000" cy="4525963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Omogućuju prenos karaktera iz/u:</a:t>
            </a:r>
            <a:endParaRPr lang="en-US" altLang="sr-Latn-RS" sz="2800"/>
          </a:p>
          <a:p>
            <a:pPr lvl="1" eaLnBrk="1" hangingPunct="1"/>
            <a:r>
              <a:rPr lang="sr-Latn-CS" altLang="sr-Latn-RS" sz="2400"/>
              <a:t>datoteke (FileReader/FileWriter)</a:t>
            </a:r>
          </a:p>
          <a:p>
            <a:pPr lvl="1" eaLnBrk="1" hangingPunct="1"/>
            <a:r>
              <a:rPr lang="sr-Latn-CS" altLang="sr-Latn-RS" sz="2400"/>
              <a:t>druge nizove karaktera (CharArrayReader/CharArrayWriter)</a:t>
            </a:r>
            <a:endParaRPr lang="en-US" altLang="sr-Latn-RS" sz="2400"/>
          </a:p>
          <a:p>
            <a:pPr lvl="1" eaLnBrk="1" hangingPunct="1"/>
            <a:r>
              <a:rPr lang="sr-Latn-CS" altLang="sr-Latn-RS" sz="2400"/>
              <a:t>stringove (StringReader/StringWriter)</a:t>
            </a:r>
            <a:endParaRPr lang="en-US" altLang="sr-Latn-RS" sz="2400"/>
          </a:p>
          <a:p>
            <a:pPr eaLnBrk="1" hangingPunct="1"/>
            <a:r>
              <a:rPr lang="sr-Latn-CS" altLang="sr-Latn-RS" sz="2800"/>
              <a:t>Klase za spregu tokova i čitača/pisača – InputStreamReader, OutputStreamWriter:</a:t>
            </a:r>
          </a:p>
          <a:p>
            <a:pPr lvl="1" eaLnBrk="1" hangingPunct="1">
              <a:buFontTx/>
              <a:buNone/>
            </a:pPr>
            <a:r>
              <a:rPr lang="sr-Latn-CS" altLang="sr-Latn-RS" sz="2400"/>
              <a:t>	BufferedReader in = new BufferedReader(</a:t>
            </a:r>
          </a:p>
          <a:p>
            <a:pPr lvl="1" eaLnBrk="1" hangingPunct="1">
              <a:buFontTx/>
              <a:buNone/>
            </a:pPr>
            <a:r>
              <a:rPr lang="sr-Latn-CS" altLang="sr-Latn-RS" sz="2400"/>
              <a:t>		new InputStreamReader(System.in));</a:t>
            </a:r>
            <a:endParaRPr lang="en-US" altLang="sr-Latn-RS" sz="2400"/>
          </a:p>
          <a:p>
            <a:pPr eaLnBrk="1" hangingPunct="1"/>
            <a:endParaRPr lang="en-US" altLang="sr-Latn-RS" sz="280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E6D678F-ADE0-8FB2-371D-E2FDBB6D3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sr-Latn-CS" altLang="sr-Latn-RS" sz="4000"/>
              <a:t>Čitači/pisači (readers/writers)</a:t>
            </a:r>
            <a:r>
              <a:rPr lang="en-US" altLang="sr-Latn-RS" sz="4000"/>
              <a:t> </a:t>
            </a:r>
            <a:r>
              <a:rPr lang="sr-Latn-RS" altLang="sr-Latn-RS" sz="4000" baseline="-25000"/>
              <a:t>3</a:t>
            </a:r>
            <a:r>
              <a:rPr lang="en-US" altLang="sr-Latn-RS" sz="4000" baseline="-25000"/>
              <a:t>/</a:t>
            </a:r>
            <a:r>
              <a:rPr lang="sr-Latn-CS" altLang="sr-Latn-RS" sz="4000" baseline="-25000"/>
              <a:t>3</a:t>
            </a:r>
            <a:endParaRPr lang="en-US" altLang="sr-Latn-RS" sz="4000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5BB63164-198A-CEFC-2390-FE5785423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6092825"/>
            <a:ext cx="201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primer04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A96F076-90B3-445F-4841-40A599582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Čitanje/pisanje stringova</a:t>
            </a:r>
            <a:endParaRPr lang="en-US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164D8A0-A179-434F-5369-A8238E4C9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Koriste se klase BufferedReader i PrintWriter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 b="1"/>
              <a:t>BufferedReader</a:t>
            </a:r>
            <a:r>
              <a:rPr lang="sr-Latn-CS" altLang="sr-Latn-RS" sz="2400"/>
              <a:t> ima metodu </a:t>
            </a:r>
            <a:r>
              <a:rPr lang="sr-Latn-CS" altLang="sr-Latn-RS" sz="2400" b="1" i="1"/>
              <a:t>readLine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 b="1"/>
              <a:t>PrintWriter</a:t>
            </a:r>
            <a:r>
              <a:rPr lang="sr-Latn-CS" altLang="sr-Latn-RS" sz="2400"/>
              <a:t> ima metodu </a:t>
            </a:r>
            <a:r>
              <a:rPr lang="sr-Latn-CS" altLang="sr-Latn-RS" sz="2400" b="1" i="1"/>
              <a:t>println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Primer: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BufferedReader in = new BufferedReader(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new FileReader("</a:t>
            </a:r>
            <a:r>
              <a:rPr lang="en-US" altLang="sr-Latn-RS" sz="2400" b="1">
                <a:solidFill>
                  <a:srgbClr val="000000"/>
                </a:solidFill>
                <a:latin typeface="Courier New" panose="02070309020205020404" pitchFamily="49" charset="0"/>
              </a:rPr>
              <a:t>testReaderWriter.dat</a:t>
            </a:r>
            <a:r>
              <a:rPr lang="sr-Latn-RS" altLang="sr-Latn-RS" sz="2400" b="1">
                <a:solidFill>
                  <a:srgbClr val="000000"/>
                </a:solidFill>
                <a:latin typeface="Courier New" panose="02070309020205020404" pitchFamily="49" charset="0"/>
              </a:rPr>
              <a:t>")</a:t>
            </a:r>
            <a:r>
              <a:rPr lang="en-US" altLang="sr-Latn-RS" sz="2400" b="1">
                <a:latin typeface="Courier New" panose="02070309020205020404" pitchFamily="49" charset="0"/>
              </a:rPr>
              <a:t>);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String s2;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while((s2 = in.readLine()) !=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System.out.println(s2);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in.close();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35C68F9-3F7C-7D9D-84D9-9DD002BA9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Sprežne klase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4E75-22F8-FBD9-2FF0-DBF0A0B3C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InputStreamReader i OutputStreamWriter služe za ručno sprezanje tokova i čitača/pisača</a:t>
            </a:r>
          </a:p>
          <a:p>
            <a:pPr>
              <a:defRPr/>
            </a:pPr>
            <a:r>
              <a:rPr lang="sr-Latn-RS"/>
              <a:t>Primer: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BufferedReader in = new BufferedReader(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new InputStreamReader(new FileInputStream(</a:t>
            </a:r>
            <a:endParaRPr lang="sr-Latn-CS" sz="2400" b="1">
              <a:solidFill>
                <a:srgbClr val="0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"testReaderWriter.dat"),</a:t>
            </a:r>
            <a:r>
              <a:rPr lang="sr-Latn-CS" sz="2400" b="1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"UTF</a:t>
            </a:r>
            <a:r>
              <a:rPr lang="sr-Latn-RS" sz="2400" b="1">
                <a:solidFill>
                  <a:srgbClr val="000000"/>
                </a:solidFill>
                <a:latin typeface="Courier New" pitchFamily="49" charset="0"/>
              </a:rPr>
              <a:t>-</a:t>
            </a: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16"));</a:t>
            </a:r>
            <a:endParaRPr lang="sr-Latn-CS" sz="2400" b="1">
              <a:solidFill>
                <a:srgbClr val="0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String s2;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while((s2 = in.readLine()) != null) {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  System.out.println(s2);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endParaRPr lang="sr-Latn-R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BFD5643-6139-CC5C-0EE3-D85AEF43B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Zaklj</a:t>
            </a:r>
            <a:r>
              <a:rPr lang="en-US" altLang="sr-Latn-RS"/>
              <a:t>u</a:t>
            </a:r>
            <a:r>
              <a:rPr lang="sr-Latn-CS" altLang="sr-Latn-RS"/>
              <a:t>čak</a:t>
            </a:r>
            <a:endParaRPr lang="en-US" altLang="sr-Latn-R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917A8EE-EB05-7C60-6060-1552A366F9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Podaci se u čitaju iz ulaznih tokova, a pišu u izlazne tokove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Iz programa se retko radi direktno sa bajtovima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400"/>
              <a:t>zato se tokovi ugrađuju u Filter klase koje imaju odgovarajuće metode za čitanje/pisanje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400"/>
              <a:t>zato imamo tokove objekata, tokove primitivnih tipova itd.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Ako radimo sa karakterima/stringovima, koristimo čitače i pisače</a:t>
            </a:r>
            <a:endParaRPr lang="en-US" altLang="sr-Latn-R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ACCD42E-0A5A-4D5B-18C6-CFAEFAD88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Štampanje teksta</a:t>
            </a:r>
            <a:endParaRPr lang="en-US" altLang="sr-Latn-R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3EEA966-54E8-C739-5AAC-7B8433AA4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PrintWriter može da „gađa“ konzolu ili datoteku: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System.out.println(“Poruka”);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out.println(“Poruka”);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/>
              <a:t>Ispis se može i formatirati: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System.out.printf(“%.2f %d”, (10000.0 / 3), 5);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out.printf(“%.2f %d”, (10000.0 / 3), 5);</a:t>
            </a:r>
          </a:p>
          <a:p>
            <a:pPr eaLnBrk="1" hangingPunct="1"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F94C539-986B-8B05-45E1-08ECEDB25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Formatirano štampanje</a:t>
            </a:r>
            <a:endParaRPr lang="en-US" altLang="sr-Latn-R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8F4F438-D33C-6D52-8E97-5E759851D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85225" cy="4525963"/>
          </a:xfrm>
        </p:spPr>
        <p:txBody>
          <a:bodyPr/>
          <a:lstStyle/>
          <a:p>
            <a:pPr eaLnBrk="1" hangingPunct="1"/>
            <a:r>
              <a:rPr lang="sr-Latn-CS" altLang="sr-Latn-RS"/>
              <a:t>Metoda </a:t>
            </a:r>
            <a:r>
              <a:rPr lang="sr-Latn-CS" altLang="sr-Latn-RS" b="1">
                <a:latin typeface="Courier New" panose="02070309020205020404" pitchFamily="49" charset="0"/>
              </a:rPr>
              <a:t>printf</a:t>
            </a:r>
          </a:p>
          <a:p>
            <a:pPr eaLnBrk="1" hangingPunct="1"/>
            <a:r>
              <a:rPr lang="sr-Latn-CS" altLang="sr-Latn-RS"/>
              <a:t>Prvi parametar je specifikator formata ispisa, a ostali parametri su varijable čija se vrednost štampa.</a:t>
            </a:r>
          </a:p>
          <a:p>
            <a:pPr eaLnBrk="1" hangingPunct="1"/>
            <a:r>
              <a:rPr lang="sr-Latn-CS" altLang="sr-Latn-RS"/>
              <a:t>Specifikator formata: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%[prefiks][širina][.preciznost]tip</a:t>
            </a:r>
          </a:p>
          <a:p>
            <a:pPr eaLnBrk="1" hangingPunct="1"/>
            <a:r>
              <a:rPr lang="sr-Latn-CS" altLang="sr-Latn-RS" sz="2400"/>
              <a:t>Prefiks: + ili –</a:t>
            </a:r>
          </a:p>
          <a:p>
            <a:pPr lvl="1" eaLnBrk="1" hangingPunct="1"/>
            <a:r>
              <a:rPr lang="sr-Latn-CS" altLang="sr-Latn-RS" sz="2000"/>
              <a:t>kada je +, rezultat prikazuje i znak (i pozitivan i negativan)</a:t>
            </a:r>
          </a:p>
          <a:p>
            <a:pPr lvl="1" eaLnBrk="1" hangingPunct="1"/>
            <a:r>
              <a:rPr lang="sr-Latn-CS" altLang="sr-Latn-RS" sz="2000"/>
              <a:t>kada je -, rezultat je poravnat na levu stranu</a:t>
            </a:r>
          </a:p>
          <a:p>
            <a:pPr eaLnBrk="1" hangingPunct="1"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/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6DB271C-6B60-CBE6-E29D-9F799AD039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- širina</a:t>
            </a:r>
            <a:endParaRPr lang="en-US" altLang="sr-Latn-R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63AD3AB-C0EC-C48F-CBAC-C87371805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000"/>
              <a:t>Definiše broj cifara</a:t>
            </a:r>
          </a:p>
          <a:p>
            <a:pPr eaLnBrk="1" hangingPunct="1">
              <a:lnSpc>
                <a:spcPct val="90000"/>
              </a:lnSpc>
            </a:pPr>
            <a:endParaRPr lang="sr-Latn-CS" altLang="sr-Latn-R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</a:t>
            </a: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[</a:t>
            </a:r>
            <a:r>
              <a:rPr lang="sr-Latn-CS" altLang="sr-Latn-RS" sz="1400" b="1">
                <a:latin typeface="Courier New" panose="02070309020205020404" pitchFamily="49" charset="0"/>
              </a:rPr>
              <a:t>širina</a:t>
            </a:r>
            <a:r>
              <a:rPr lang="en-US" altLang="sr-Latn-RS" sz="1400" b="1">
                <a:latin typeface="Courier New" panose="02070309020205020404" pitchFamily="49" charset="0"/>
              </a:rPr>
              <a:t>]¦ Kako utiče na preciznost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---------+--------------------------------------------------------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n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zadati broj cifara.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0n    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zadati broj cifara. 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Ako broj nema toliko cifara, sa leve se popunjava nulama.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' 'n  | Štampa zadati broj cifara, sa leve popunjava razmacima.</a:t>
            </a:r>
          </a:p>
          <a:p>
            <a:pPr eaLnBrk="1" hangingPunct="1">
              <a:lnSpc>
                <a:spcPct val="90000"/>
              </a:lnSpc>
            </a:pPr>
            <a:endParaRPr lang="en-US" altLang="sr-Latn-RS" sz="1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69BA934-BB9A-9848-1FC8-143D1A8F4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– tip - brojevi</a:t>
            </a:r>
            <a:endParaRPr lang="en-US" altLang="sr-Latn-R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02EC924-7CFF-2BF8-F446-6FDABCF2B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1378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Tip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Očekivan ulaz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Format rezultat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  <a:r>
              <a:rPr lang="sr-Latn-CS" altLang="sr-Latn-RS" sz="1400" b="1">
                <a:latin typeface="Courier New" panose="02070309020205020404" pitchFamily="49" charset="0"/>
              </a:rPr>
              <a:t>---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</a:t>
            </a:r>
            <a:r>
              <a:rPr lang="sr-Latn-CS" altLang="sr-Latn-RS" sz="1400" b="1">
                <a:latin typeface="Courier New" panose="02070309020205020404" pitchFamily="49" charset="0"/>
              </a:rPr>
              <a:t>Brojevi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  <a:r>
              <a:rPr lang="sr-Latn-CS" altLang="sr-Latn-RS" sz="1400" b="1">
                <a:latin typeface="Courier New" panose="02070309020205020404" pitchFamily="49" charset="0"/>
              </a:rPr>
              <a:t>---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b</a:t>
            </a:r>
            <a:r>
              <a:rPr lang="en-US" altLang="sr-Latn-RS" sz="1400" b="1">
                <a:latin typeface="Courier New" panose="02070309020205020404" pitchFamily="49" charset="0"/>
              </a:rPr>
              <a:t>  ¦ </a:t>
            </a:r>
            <a:r>
              <a:rPr lang="sr-Latn-CS" altLang="sr-Latn-RS" sz="1400" b="1">
                <a:latin typeface="Courier New" panose="02070309020205020404" pitchFamily="49" charset="0"/>
              </a:rPr>
              <a:t>Boolean</a:t>
            </a:r>
            <a:r>
              <a:rPr lang="en-US" altLang="sr-Latn-RS" sz="1400" b="1">
                <a:latin typeface="Courier New" panose="02070309020205020404" pitchFamily="49" charset="0"/>
              </a:rPr>
              <a:t>  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Boolean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d  ¦ Integer        ¦ Signed decimal integer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o  ¦ Integer        ¦ Unsigned octal integer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u  ¦ Integer        ¦ Unsigned decimal integer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</a:t>
            </a:r>
            <a:r>
              <a:rPr lang="sr-Latn-CS" altLang="sr-Latn-RS" sz="1400" b="1">
                <a:latin typeface="Courier New" panose="02070309020205020404" pitchFamily="49" charset="0"/>
              </a:rPr>
              <a:t>h,x</a:t>
            </a:r>
            <a:r>
              <a:rPr lang="en-US" altLang="sr-Latn-RS" sz="1400" b="1">
                <a:latin typeface="Courier New" panose="02070309020205020404" pitchFamily="49" charset="0"/>
              </a:rPr>
              <a:t>¦ Integer        ¦ Unsigned hexadecimal int (with a, b, c, d, e, f)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</a:t>
            </a:r>
            <a:r>
              <a:rPr lang="sr-Latn-CS" altLang="sr-Latn-RS" sz="1400" b="1">
                <a:latin typeface="Courier New" panose="02070309020205020404" pitchFamily="49" charset="0"/>
              </a:rPr>
              <a:t>H,X</a:t>
            </a:r>
            <a:r>
              <a:rPr lang="en-US" altLang="sr-Latn-RS" sz="1400" b="1">
                <a:latin typeface="Courier New" panose="02070309020205020404" pitchFamily="49" charset="0"/>
              </a:rPr>
              <a:t>¦ Integer        ¦ Unsigned hexadecimal int (with A, B, C, D, E, F)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f  ¦ Floating point ¦ Signed value </a:t>
            </a:r>
            <a:r>
              <a:rPr lang="sr-Latn-CS" altLang="sr-Latn-RS" sz="1400" b="1">
                <a:latin typeface="Courier New" panose="02070309020205020404" pitchFamily="49" charset="0"/>
              </a:rPr>
              <a:t>oblika</a:t>
            </a:r>
            <a:r>
              <a:rPr lang="en-US" altLang="sr-Latn-RS" sz="1400" b="1">
                <a:latin typeface="Courier New" panose="02070309020205020404" pitchFamily="49" charset="0"/>
              </a:rPr>
              <a:t> [-]dddd.dddd.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e  ¦ Floating point ¦ Signed value </a:t>
            </a:r>
            <a:r>
              <a:rPr lang="sr-Latn-CS" altLang="sr-Latn-RS" sz="1400" b="1">
                <a:latin typeface="Courier New" panose="02070309020205020404" pitchFamily="49" charset="0"/>
              </a:rPr>
              <a:t>oblika</a:t>
            </a:r>
            <a:r>
              <a:rPr lang="en-US" altLang="sr-Latn-RS" sz="1400" b="1">
                <a:latin typeface="Courier New" panose="02070309020205020404" pitchFamily="49" charset="0"/>
              </a:rPr>
              <a:t> [-]d.dddd or e[+/-]ddd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g  ¦ Floating point ¦ </a:t>
            </a:r>
            <a:r>
              <a:rPr lang="sr-Latn-CS" altLang="sr-Latn-RS" sz="1400" b="1">
                <a:latin typeface="Courier New" panose="02070309020205020404" pitchFamily="49" charset="0"/>
              </a:rPr>
              <a:t>Kraći zapis od %f i %e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E  ¦ Floating point ¦ </a:t>
            </a:r>
            <a:r>
              <a:rPr lang="sr-Latn-CS" altLang="sr-Latn-RS" sz="1400" b="1">
                <a:latin typeface="Courier New" panose="02070309020205020404" pitchFamily="49" charset="0"/>
              </a:rPr>
              <a:t>Isto kao </a:t>
            </a:r>
            <a:r>
              <a:rPr lang="en-US" altLang="sr-Latn-RS" sz="1400" b="1">
                <a:latin typeface="Courier New" panose="02070309020205020404" pitchFamily="49" charset="0"/>
              </a:rPr>
              <a:t>e; </a:t>
            </a:r>
            <a:r>
              <a:rPr lang="sr-Latn-CS" altLang="sr-Latn-RS" sz="1400" b="1">
                <a:latin typeface="Courier New" panose="02070309020205020404" pitchFamily="49" charset="0"/>
              </a:rPr>
              <a:t>samo ima ‘</a:t>
            </a:r>
            <a:r>
              <a:rPr lang="en-US" altLang="sr-Latn-RS" sz="1400" b="1">
                <a:latin typeface="Courier New" panose="02070309020205020404" pitchFamily="49" charset="0"/>
              </a:rPr>
              <a:t>E</a:t>
            </a:r>
            <a:r>
              <a:rPr lang="sr-Latn-CS" altLang="sr-Latn-RS" sz="1400" b="1">
                <a:latin typeface="Courier New" panose="02070309020205020404" pitchFamily="49" charset="0"/>
              </a:rPr>
              <a:t>’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za eksponent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G  ¦ Floating point ¦ </a:t>
            </a:r>
            <a:r>
              <a:rPr lang="sr-Latn-CS" altLang="sr-Latn-RS" sz="1400" b="1">
                <a:latin typeface="Courier New" panose="02070309020205020404" pitchFamily="49" charset="0"/>
              </a:rPr>
              <a:t>Isto kao </a:t>
            </a:r>
            <a:r>
              <a:rPr lang="en-US" altLang="sr-Latn-RS" sz="1400" b="1">
                <a:latin typeface="Courier New" panose="02070309020205020404" pitchFamily="49" charset="0"/>
              </a:rPr>
              <a:t>e; </a:t>
            </a:r>
            <a:r>
              <a:rPr lang="sr-Latn-CS" altLang="sr-Latn-RS" sz="1400" b="1">
                <a:latin typeface="Courier New" panose="02070309020205020404" pitchFamily="49" charset="0"/>
              </a:rPr>
              <a:t>samo ima ‘</a:t>
            </a:r>
            <a:r>
              <a:rPr lang="en-US" altLang="sr-Latn-RS" sz="1400" b="1">
                <a:latin typeface="Courier New" panose="02070309020205020404" pitchFamily="49" charset="0"/>
              </a:rPr>
              <a:t>E</a:t>
            </a:r>
            <a:r>
              <a:rPr lang="sr-Latn-CS" altLang="sr-Latn-RS" sz="1400" b="1">
                <a:latin typeface="Courier New" panose="02070309020205020404" pitchFamily="49" charset="0"/>
              </a:rPr>
              <a:t>’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za eksponent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ako je e format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  <a:r>
              <a:rPr lang="sr-Latn-CS" altLang="sr-Latn-RS" sz="1400" b="1">
                <a:latin typeface="Courier New" panose="02070309020205020404" pitchFamily="49" charset="0"/>
              </a:rPr>
              <a:t>---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9B3C10D-28EA-10B0-1B34-353314327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– tip - karakteri</a:t>
            </a:r>
            <a:endParaRPr lang="en-US" altLang="sr-Latn-R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0704C3D-6971-570B-EE0D-57CF38D64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Tip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Očekivan ulaz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Format rezultat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</a:t>
            </a:r>
            <a:r>
              <a:rPr lang="sr-Latn-CS" altLang="sr-Latn-RS" sz="1400" b="1">
                <a:latin typeface="Courier New" panose="02070309020205020404" pitchFamily="49" charset="0"/>
              </a:rPr>
              <a:t>Karakteri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c  ¦ Character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Jedno slovo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s  ¦ String </a:t>
            </a:r>
            <a:r>
              <a:rPr lang="sr-Latn-CS" altLang="sr-Latn-RS" sz="1400" b="1">
                <a:latin typeface="Courier New" panose="02070309020205020404" pitchFamily="49" charset="0"/>
              </a:rPr>
              <a:t>        </a:t>
            </a:r>
            <a:r>
              <a:rPr lang="en-US" altLang="sr-Latn-RS" sz="1400" b="1">
                <a:latin typeface="Courier New" panose="02070309020205020404" pitchFamily="49" charset="0"/>
              </a:rPr>
              <a:t>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string do kraja ili do zadatog broja slova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%  ¦ </a:t>
            </a:r>
            <a:r>
              <a:rPr lang="sr-Latn-CS" altLang="sr-Latn-RS" sz="1400" b="1">
                <a:latin typeface="Courier New" panose="02070309020205020404" pitchFamily="49" charset="0"/>
              </a:rPr>
              <a:t>Ništa</a:t>
            </a:r>
            <a:r>
              <a:rPr lang="en-US" altLang="sr-Latn-RS" sz="1400" b="1">
                <a:latin typeface="Courier New" panose="02070309020205020404" pitchFamily="49" charset="0"/>
              </a:rPr>
              <a:t>    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znak </a:t>
            </a:r>
            <a:r>
              <a:rPr lang="en-US" altLang="sr-Latn-RS" sz="1400" b="1">
                <a:latin typeface="Courier New" panose="02070309020205020404" pitchFamily="49" charset="0"/>
              </a:rPr>
              <a:t>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CBEA183-76C7-C626-B45F-3BDA9B8EE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- primeri</a:t>
            </a:r>
            <a:endParaRPr lang="en-US" altLang="sr-Latn-R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F2B5B9A-DF72-278C-9DFC-6BF423530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13788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 </a:t>
            </a:r>
            <a:r>
              <a:rPr lang="sr-Latn-C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--&gt;    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celobrojni: 356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%6d\n",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 --&gt;     celobrojni:    356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%-6d\n",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--&gt;     celobrojni: 356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%+6d\n",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--&gt;     celobrojni:   +356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%+6d\n", -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--&gt;     celobrojni:   -356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printf("razlomljeni: %f\n", 3.141);    --&gt; razlomljeni: 3.141000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printf("razlomljeni: %6.2f\n", 3.141); --&gt; razlomljeni:   3.14  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printf("razlomljeni: %e\n", 3.141);    --&gt; razlomljeni: 3.141000e+00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printf("razlomljeni: %6.2e\n", 3.141); --&gt; razlomljeni: 3.14e+00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printf("razlomljeni: %g\n", 3.141);    --&gt; razlomljeni: 3.141</a:t>
            </a:r>
            <a:r>
              <a:rPr lang="sr-Latn-CS" altLang="sr-Latn-RS" sz="1400" b="1">
                <a:latin typeface="Courier New" panose="02070309020205020404" pitchFamily="49" charset="0"/>
              </a:rPr>
              <a:t>00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409804B-99A1-7D97-1C7A-7DA45E8B0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Unos sa tastature</a:t>
            </a:r>
            <a:endParaRPr lang="en-US" altLang="sr-Latn-R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D7DF4DB-7C67-5ED3-8569-B3753EE440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System.in je ulazni tok: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BufferedReader in = new BufferedReader( new InputStreamReader(System.in)); 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String s = in.readLine();</a:t>
            </a:r>
            <a:r>
              <a:rPr lang="en-US" altLang="sr-Latn-RS" sz="2400" b="1">
                <a:latin typeface="Courier New" panose="02070309020205020404" pitchFamily="49" charset="0"/>
              </a:rPr>
              <a:t> 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/>
              <a:t>Alternativa je klasa Scanner koja ne učitava samo stringove: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Scanner sc = new Scanner(System.in); 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String s </a:t>
            </a:r>
            <a:r>
              <a:rPr lang="en-US" altLang="sr-Latn-RS" sz="2000" b="1">
                <a:latin typeface="Courier New" panose="02070309020205020404" pitchFamily="49" charset="0"/>
              </a:rPr>
              <a:t>= sc.next</a:t>
            </a:r>
            <a:r>
              <a:rPr lang="sr-Latn-CS" altLang="sr-Latn-RS" sz="2000" b="1">
                <a:latin typeface="Courier New" panose="02070309020205020404" pitchFamily="49" charset="0"/>
              </a:rPr>
              <a:t>Line</a:t>
            </a:r>
            <a:r>
              <a:rPr lang="en-US" altLang="sr-Latn-RS" sz="2000" b="1">
                <a:latin typeface="Courier New" panose="02070309020205020404" pitchFamily="49" charset="0"/>
              </a:rPr>
              <a:t>(); 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int i = sc.nextInt();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sc.nextLine(); // posle čitanja primitivnih tipova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float f = sc.nextFloat();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sc.close();</a:t>
            </a: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EAD6EDD-EC48-5EEB-3705-AA8E56D72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Unos drugih primitivnih tipova sa tastature</a:t>
            </a:r>
            <a:endParaRPr lang="en-US" altLang="sr-Latn-RS" sz="400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A13383A-7B3A-EA8A-9507-684B3BE80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Koristi se wrapper klasa i njena metoda parseXxx():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BufferedReader in = new BufferedReader( new InputStreamReader(System.in)); 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String </a:t>
            </a:r>
            <a:r>
              <a:rPr lang="en-US" altLang="sr-Latn-RS" sz="2400" b="1">
                <a:latin typeface="Courier New" panose="02070309020205020404" pitchFamily="49" charset="0"/>
              </a:rPr>
              <a:t>s = in.readLine(); 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i = Integer.parseInt(s);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Kraće je  klasom Scanner: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Scanner sc = new Scanner(System.in); 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i </a:t>
            </a:r>
            <a:r>
              <a:rPr lang="en-US" altLang="sr-Latn-RS" sz="2400" b="1">
                <a:latin typeface="Courier New" panose="02070309020205020404" pitchFamily="49" charset="0"/>
              </a:rPr>
              <a:t>= sc.next</a:t>
            </a:r>
            <a:r>
              <a:rPr lang="sr-Latn-CS" altLang="sr-Latn-RS" sz="2400" b="1">
                <a:latin typeface="Courier New" panose="02070309020205020404" pitchFamily="49" charset="0"/>
              </a:rPr>
              <a:t>Int</a:t>
            </a:r>
            <a:r>
              <a:rPr lang="en-US" altLang="sr-Latn-RS" sz="2400" b="1">
                <a:latin typeface="Courier New" panose="02070309020205020404" pitchFamily="49" charset="0"/>
              </a:rPr>
              <a:t>();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74D08ACC-F919-5FC6-3A9D-E5233AC0A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Klasa Scanner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F8C7CE1F-97F8-776F-5AA1-9892E17B4C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Klasa Scanner služi za unos stringova i primitivnih tipova iz tekstualnih </a:t>
            </a:r>
            <a:r>
              <a:rPr lang="pl-PL" altLang="sr-Latn-RS"/>
              <a:t>ulaza. </a:t>
            </a:r>
          </a:p>
          <a:p>
            <a:r>
              <a:rPr lang="pl-PL" altLang="sr-Latn-RS"/>
              <a:t>Ona radi kao jednostavan parser teksta koji je u stanju da iz tekstualnog </a:t>
            </a:r>
            <a:r>
              <a:rPr lang="sr-Latn-RS" altLang="sr-Latn-RS"/>
              <a:t>ulaza izdvoji stringove po nekom obrascu. </a:t>
            </a:r>
          </a:p>
          <a:p>
            <a:r>
              <a:rPr lang="sr-Latn-RS" altLang="sr-Latn-RS"/>
              <a:t>Nakon izdvajanja stringa, </a:t>
            </a:r>
            <a:r>
              <a:rPr lang="pl-PL" altLang="sr-Latn-RS"/>
              <a:t>u stanju je da konvertuje taj string u traženi primitivni tip.</a:t>
            </a:r>
            <a:endParaRPr lang="sr-Latn-RS" altLang="sr-Latn-R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3EC1094B-E5E9-FB25-466E-A7D64B6C7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Klasa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39CC8-BFA1-1E95-A795-11C57ACD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Scanner sc = new Scanner(System.in);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System.out.print("Unesite string:");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String s = sc.nextLine();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System.out.print("Unesite int:");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int i = sc.nextInt();</a:t>
            </a:r>
          </a:p>
          <a:p>
            <a:pPr marL="0" indent="0">
              <a:buFontTx/>
              <a:buNone/>
              <a:defRPr/>
            </a:pPr>
            <a:r>
              <a:rPr lang="sr-Latn-RS" sz="2400" b="1" i="1">
                <a:latin typeface="Courier New" pitchFamily="49" charset="0"/>
                <a:cs typeface="Courier New" pitchFamily="49" charset="0"/>
              </a:rPr>
              <a:t>// kada čitamo primitivne tipove, </a:t>
            </a:r>
          </a:p>
          <a:p>
            <a:pPr marL="0" indent="0">
              <a:buFontTx/>
              <a:buNone/>
              <a:defRPr/>
            </a:pPr>
            <a:r>
              <a:rPr lang="sr-Latn-RS" sz="2400" b="1" i="1">
                <a:latin typeface="Courier New" pitchFamily="49" charset="0"/>
                <a:cs typeface="Courier New" pitchFamily="49" charset="0"/>
              </a:rPr>
              <a:t>// ne uklanja se ENTER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sc.nextLine();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System.out.println(s + ", " + i);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sc.close();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C334-925A-DE15-6495-3830B914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Serijalizacija</a:t>
            </a:r>
            <a:endParaRPr lang="en-US"/>
          </a:p>
        </p:txBody>
      </p:sp>
      <p:sp>
        <p:nvSpPr>
          <p:cNvPr id="32771" name="Text Placeholder 2">
            <a:extLst>
              <a:ext uri="{FF2B5EF4-FFF2-40B4-BE49-F238E27FC236}">
                <a16:creationId xmlns:a16="http://schemas.microsoft.com/office/drawing/2014/main" id="{0953F023-63B3-4A43-BFA7-D7483F13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BE3C31A5-C5E2-9159-30AD-410FAB4D50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B3D0CE-AD13-4C0B-BEDE-44A6753FDA15}" type="slidenum">
              <a:rPr lang="en-US" altLang="sr-Latn-RS" smtClean="0"/>
              <a:pPr/>
              <a:t>29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6AEEAE1-AD5E-FE2E-0F2B-587861551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Serijalizacija objekata</a:t>
            </a:r>
            <a:endParaRPr lang="en-US" altLang="sr-Latn-R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ACF6115-6652-E1EE-01C3-0D290C38A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153400" cy="4546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Serijalizacija objekta – prevođenje objekta u niz bajtova i njegova rekonstrukcuja iz niza u “živ” objekat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Serijalizovan niz bajtova se može snimiti u datoteku ili poslati preko mreže – i jedno i drugo upotrebom tokova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Prilikom serijalizacije, serijalizuju se osim samog objekta i njegovi atributi – stablo serijalizovanih objekata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Da bi se neki objekat serijalizovao: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potrebno je da implementira </a:t>
            </a:r>
            <a:r>
              <a:rPr lang="sr-Latn-CS" altLang="sr-Latn-RS" sz="2000" b="1">
                <a:latin typeface="Courier New" panose="02070309020205020404" pitchFamily="49" charset="0"/>
              </a:rPr>
              <a:t>java.io.Serializable</a:t>
            </a:r>
            <a:r>
              <a:rPr lang="sr-Latn-CS" altLang="sr-Latn-RS" sz="2000"/>
              <a:t> interfejs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da su atributi i parametri metoda takođe serijalizabilni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Primitivni tipovi su serijalizabilni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Većina bibliotečkih klasa je serijalizabilna</a:t>
            </a:r>
            <a:endParaRPr lang="en-US" altLang="sr-Latn-RS" sz="2400"/>
          </a:p>
        </p:txBody>
      </p:sp>
      <p:sp>
        <p:nvSpPr>
          <p:cNvPr id="33796" name="TextBox 1">
            <a:extLst>
              <a:ext uri="{FF2B5EF4-FFF2-40B4-BE49-F238E27FC236}">
                <a16:creationId xmlns:a16="http://schemas.microsoft.com/office/drawing/2014/main" id="{459D9519-9574-DF3F-3C5C-5D2B614E4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6092825"/>
            <a:ext cx="2016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2800"/>
              <a:t>primer05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9A2A6D1E-3101-9FBC-0A37-90431A8F7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Serijalizacija objekata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B664-E85D-3009-6B41-97798F67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FontTx/>
              <a:buNone/>
              <a:defRPr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public class Automobil implements java.io.Serializable {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public Automobil() {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  upaljen = false;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public void upali() {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  upaljen = true;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public boolean radi() {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  return upaljen;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  private boolean upaljen;</a:t>
            </a:r>
          </a:p>
          <a:p>
            <a:pPr marL="0" indent="0">
              <a:buFontTx/>
              <a:buNone/>
              <a:defRPr/>
            </a:pPr>
            <a:r>
              <a:rPr lang="sr-Latn-RS" sz="18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B989CD91-1CAD-1E1F-22B3-8A09DE0F0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Serijalizacija objekata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E9D4DA0D-5440-9964-8EEA-750CED429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l-PL" altLang="sr-Latn-RS"/>
              <a:t>U Javi postoji ključna reč </a:t>
            </a:r>
            <a:r>
              <a:rPr lang="pl-PL" altLang="sr-Latn-RS" b="1" i="1"/>
              <a:t>transient</a:t>
            </a:r>
            <a:r>
              <a:rPr lang="pl-PL" altLang="sr-Latn-RS"/>
              <a:t> koja se može staviti uz atribut, a ona </a:t>
            </a:r>
            <a:r>
              <a:rPr lang="sr-Latn-RS" altLang="sr-Latn-RS"/>
              <a:t>označava da vrednost atributa ne bude preneta postupkom serijalizacije.</a:t>
            </a:r>
          </a:p>
          <a:p>
            <a:r>
              <a:rPr lang="sr-Latn-RS" altLang="sr-Latn-RS"/>
              <a:t>Ako ovu ključnu reč stavimo uz atribut koji je primitivni tip, po rekonstrukciji </a:t>
            </a:r>
            <a:r>
              <a:rPr lang="pl-PL" altLang="sr-Latn-RS"/>
              <a:t>objekta, u njemu će biti podrazumevana vrednost za taj tip (nula za int, </a:t>
            </a:r>
            <a:r>
              <a:rPr lang="sr-Latn-RS" altLang="sr-Latn-RS"/>
              <a:t>na primer), a </a:t>
            </a:r>
            <a:r>
              <a:rPr lang="sr-Latn-RS" altLang="sr-Latn-RS" b="1" i="1"/>
              <a:t>null</a:t>
            </a:r>
            <a:r>
              <a:rPr lang="sr-Latn-RS" altLang="sr-Latn-RS"/>
              <a:t> literal za reference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7F50-DC4B-0E25-DE26-AEB2ED38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Rad sa arhivama</a:t>
            </a:r>
            <a:endParaRPr lang="en-US"/>
          </a:p>
        </p:txBody>
      </p:sp>
      <p:sp>
        <p:nvSpPr>
          <p:cNvPr id="36867" name="Text Placeholder 2">
            <a:extLst>
              <a:ext uri="{FF2B5EF4-FFF2-40B4-BE49-F238E27FC236}">
                <a16:creationId xmlns:a16="http://schemas.microsoft.com/office/drawing/2014/main" id="{503CFF66-6985-10F3-5BC9-A41D084E17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D0D41C41-4122-04EB-FBBD-87D6751768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CC7632-5FB8-4564-8140-183B5732903E}" type="slidenum">
              <a:rPr lang="en-US" altLang="sr-Latn-RS" smtClean="0"/>
              <a:pPr/>
              <a:t>33</a:t>
            </a:fld>
            <a:r>
              <a:rPr lang="sr-Latn-CS" altLang="sr-Latn-RS"/>
              <a:t>/24</a:t>
            </a:r>
            <a:endParaRPr lang="en-US" altLang="sr-Latn-R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FCA1262-363A-5E58-AB3C-5D1C93EFC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Rad sa arhivama</a:t>
            </a:r>
            <a:endParaRPr lang="en-US" altLang="sr-Latn-R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A59C334-7F88-BF5A-21D7-4D860D2E4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 sz="2800"/>
              <a:t>Šta su arhive?</a:t>
            </a:r>
          </a:p>
          <a:p>
            <a:pPr eaLnBrk="1" hangingPunct="1"/>
            <a:r>
              <a:rPr lang="sr-Latn-CS" altLang="sr-Latn-RS" sz="2800"/>
              <a:t>Podržan rad sa GZip i Zip formatima arhiva</a:t>
            </a:r>
            <a:endParaRPr lang="en-US" altLang="sr-Latn-RS" sz="2800"/>
          </a:p>
          <a:p>
            <a:pPr eaLnBrk="1" hangingPunct="1"/>
            <a:r>
              <a:rPr lang="sr-Latn-CS" altLang="sr-Latn-RS" sz="2800"/>
              <a:t>Klase koje podržavaju rad sa arhivama:</a:t>
            </a:r>
          </a:p>
          <a:p>
            <a:pPr lvl="1" eaLnBrk="1" hangingPunct="1"/>
            <a:r>
              <a:rPr lang="sr-Latn-CS" altLang="sr-Latn-RS" sz="2400"/>
              <a:t>GZipInputStream, GZipOutputStream</a:t>
            </a:r>
          </a:p>
          <a:p>
            <a:pPr lvl="1" eaLnBrk="1" hangingPunct="1"/>
            <a:r>
              <a:rPr lang="sr-Latn-CS" altLang="sr-Latn-RS" sz="2400"/>
              <a:t>ZipInputStream, ZipOutputStream</a:t>
            </a:r>
          </a:p>
          <a:p>
            <a:pPr lvl="1" eaLnBrk="1" hangingPunct="1"/>
            <a:r>
              <a:rPr lang="sr-Latn-CS" altLang="sr-Latn-RS" sz="2400"/>
              <a:t>ZipFile – za pojednostavljeno čitanje i ekstrakciju zip arhiva</a:t>
            </a:r>
          </a:p>
          <a:p>
            <a:pPr lvl="1" eaLnBrk="1" hangingPunct="1"/>
            <a:r>
              <a:rPr lang="sr-Latn-CS" altLang="sr-Latn-RS" sz="2400"/>
              <a:t>ZipEntry</a:t>
            </a:r>
            <a:r>
              <a:rPr lang="sr-Latn-RS" altLang="sr-Latn-RS" sz="2400"/>
              <a:t> – reprezentuje kompresovanu datoteku u arhivi</a:t>
            </a:r>
            <a:endParaRPr lang="en-US" altLang="sr-Latn-RS" sz="2400"/>
          </a:p>
        </p:txBody>
      </p:sp>
      <p:sp>
        <p:nvSpPr>
          <p:cNvPr id="37892" name="TextBox 1">
            <a:extLst>
              <a:ext uri="{FF2B5EF4-FFF2-40B4-BE49-F238E27FC236}">
                <a16:creationId xmlns:a16="http://schemas.microsoft.com/office/drawing/2014/main" id="{D743E970-BB30-A7C4-3B42-CBB159B13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6237312"/>
            <a:ext cx="2663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2800"/>
              <a:t>primer06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BCA6195A-85D2-FF4E-C15A-AFCD53F6F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Pravljenje arhive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A60FBC40-8A61-E628-922A-E1F5B839D1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412875"/>
            <a:ext cx="8928100" cy="47529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// Kreiramo arhivu "test.zip"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ZipOutputStream out = new ZipOutputStream(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new FileOutputStream("test.zip"));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// Pripremimo se za citanje datoteke koju cemo zapakovati.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BufferedInputStream fin = new BufferedInputStream(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new FileInputStream("ZipTest1.java"));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// Ubacivanje datoteke u arhivu pocinje metodom putNextEntry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out.putNextEntry(new ZipEntry("ZipTest1.java"));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// Posle toga moramo da datoteku iscitamo i smestimo u arhivu.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read;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while ((read = fin.read(buffer, 0, BUFFER_LENGTH)) != -1)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out.write(buffer, 0, read);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out.close();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fin.close();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5B8666AB-DF46-19EA-9AF3-9594AB986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Čitanje iz arhive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B9BDCDD1-F228-7F7F-C384-30ACBE63A0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713788" cy="47085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ZipInputStream in =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new ZipInputStream(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new FileInputStream("test.zip"));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ZipEntry zipEntry;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// Prolazimo kroz sve datoteke u arhivi.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while ((zipEntry = in.getNextEntry()) != null)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System.out.println("Extracting file: " + 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zipEntry.getName());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int read;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while ((read = in.read(buffer, 0, BUFFER_LENGTH)) != -1)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String s = new String(buffer, 0, read, "UTF8");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System.out.println(s);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in.close();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5F3F6EE6-AC4B-6FC3-748A-8F346C210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Klasa ZipFile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06C89C69-0F8C-4DCE-5ED0-9A783483A9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713788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ZipFile zf = new ZipFile("test.zip");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ZipEntry e = zf.getEntry("ZipTest.java");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InputStream in = zf.getInputStream(e);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read;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byte[] buffer = new byte [BUFFER_LENGTH];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while ((read = in.read(buffer, 0, BUFFER_LENGTH)) != -1)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String s = new String(buffer, 0, read, "UTF8");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System.out.println(s);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in.close();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zf.close();</a:t>
            </a:r>
          </a:p>
          <a:p>
            <a:pPr marL="0" indent="0">
              <a:buFontTx/>
              <a:buNone/>
            </a:pPr>
            <a:endParaRPr lang="sr-Latn-R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9E7AEF4-870D-B211-F783-8285DE347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Console</a:t>
            </a:r>
            <a:endParaRPr lang="en-US" altLang="sr-Latn-R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FD74635-F7EE-CD94-09AC-3EF2D35F0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Sistemska konzola: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Console c = System.console();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Metode: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c.printf("format", promenljive)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c.readLine()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c.readLine("format", promenljive)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ispiše promenljive u zadatom formatu, pa učita jedan red teksta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c.readPassword()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čita šifru sa tastature, bez prikazivanja slova</a:t>
            </a:r>
            <a:endParaRPr lang="en-US" altLang="sr-Latn-RS" sz="2000"/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c.readPassword("format", promenljive)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ispiše promenljive u zadatom formatu, pa učita šifru sa tastature, bez prikazivanja slova</a:t>
            </a:r>
            <a:endParaRPr lang="en-US" altLang="sr-Latn-RS" sz="2000"/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55EE8FE8-CF2E-260B-5737-86B303835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6126163"/>
            <a:ext cx="2016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/>
              <a:t>primer07</a:t>
            </a:r>
            <a:endParaRPr lang="en-US" altLang="sr-Latn-RS"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0232-AC85-2051-D56D-4DDF4D12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Case Study</a:t>
            </a:r>
          </a:p>
        </p:txBody>
      </p:sp>
      <p:sp>
        <p:nvSpPr>
          <p:cNvPr id="43011" name="Text Placeholder 2">
            <a:extLst>
              <a:ext uri="{FF2B5EF4-FFF2-40B4-BE49-F238E27FC236}">
                <a16:creationId xmlns:a16="http://schemas.microsoft.com/office/drawing/2014/main" id="{A91FB931-E80A-3EE3-1A79-E1E64F54C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761BE92-EFF7-0B48-9681-B07EB62FA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Case Study – INI datoteke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3F8239D-48F6-D31E-4322-834DF647B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INI datoteke – Windows sistem za sme</a:t>
            </a:r>
            <a:r>
              <a:rPr lang="sr-Latn-CS" altLang="sr-Latn-RS"/>
              <a:t>štanje parametara programa</a:t>
            </a:r>
          </a:p>
          <a:p>
            <a:pPr eaLnBrk="1" hangingPunct="1"/>
            <a:r>
              <a:rPr lang="sr-Latn-CS" altLang="sr-Latn-RS"/>
              <a:t>tekstualne datoteke</a:t>
            </a:r>
          </a:p>
          <a:p>
            <a:pPr eaLnBrk="1" hangingPunct="1"/>
            <a:r>
              <a:rPr lang="sr-Latn-CS" altLang="sr-Latn-RS"/>
              <a:t>struktura:</a:t>
            </a:r>
          </a:p>
          <a:p>
            <a:pPr lvl="1" eaLnBrk="1" hangingPunct="1"/>
            <a:r>
              <a:rPr lang="sr-Latn-CS" altLang="sr-Latn-RS"/>
              <a:t>sekcije</a:t>
            </a:r>
          </a:p>
          <a:p>
            <a:pPr lvl="2" eaLnBrk="1" hangingPunct="1"/>
            <a:r>
              <a:rPr lang="sr-Latn-CS" altLang="sr-Latn-RS"/>
              <a:t>parovi (ključ, vrednost)</a:t>
            </a:r>
            <a:endParaRPr lang="en-US" altLang="sr-Latn-RS"/>
          </a:p>
          <a:p>
            <a:pPr lvl="1" eaLnBrk="1" hangingPunct="1"/>
            <a:r>
              <a:rPr lang="en-US" altLang="sr-Latn-RS"/>
              <a:t>komentari-redovi koji po</a:t>
            </a:r>
            <a:r>
              <a:rPr lang="sr-Latn-CS" altLang="sr-Latn-RS"/>
              <a:t>činju znakom ‘;’</a:t>
            </a:r>
            <a:endParaRPr lang="en-US" altLang="sr-Latn-RS"/>
          </a:p>
        </p:txBody>
      </p:sp>
      <p:sp>
        <p:nvSpPr>
          <p:cNvPr id="44036" name="TextBox 1">
            <a:extLst>
              <a:ext uri="{FF2B5EF4-FFF2-40B4-BE49-F238E27FC236}">
                <a16:creationId xmlns:a16="http://schemas.microsoft.com/office/drawing/2014/main" id="{A62176B8-B429-B229-8406-3943301B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6237288"/>
            <a:ext cx="2663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2800"/>
              <a:t>primer08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5018FEC-5742-00C3-BB13-958B2C2BA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INI datoteke - primer</a:t>
            </a:r>
            <a:endParaRPr lang="en-US" altLang="sr-Latn-R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ECC4A94-47DE-E6CD-C412-41AB412EC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/>
              <a:t>[General]</a:t>
            </a:r>
          </a:p>
          <a:p>
            <a:pPr eaLnBrk="1" hangingPunct="1">
              <a:buFontTx/>
              <a:buNone/>
            </a:pPr>
            <a:r>
              <a:rPr lang="en-US" altLang="sr-Latn-RS"/>
              <a:t>; naslov prozora</a:t>
            </a:r>
          </a:p>
          <a:p>
            <a:pPr eaLnBrk="1" hangingPunct="1">
              <a:buFontTx/>
              <a:buNone/>
            </a:pPr>
            <a:r>
              <a:rPr lang="en-US" altLang="sr-Latn-RS"/>
              <a:t>Title = Naslov</a:t>
            </a:r>
          </a:p>
          <a:p>
            <a:pPr eaLnBrk="1" hangingPunct="1">
              <a:buFontTx/>
              <a:buNone/>
            </a:pPr>
            <a:endParaRPr lang="en-US" altLang="sr-Latn-RS"/>
          </a:p>
          <a:p>
            <a:pPr eaLnBrk="1" hangingPunct="1">
              <a:buFontTx/>
              <a:buNone/>
            </a:pPr>
            <a:r>
              <a:rPr lang="en-US" altLang="sr-Latn-RS"/>
              <a:t>; x koordinata prozora</a:t>
            </a:r>
          </a:p>
          <a:p>
            <a:pPr eaLnBrk="1" hangingPunct="1">
              <a:buFontTx/>
              <a:buNone/>
            </a:pPr>
            <a:r>
              <a:rPr lang="en-US" altLang="sr-Latn-RS"/>
              <a:t>x = 100</a:t>
            </a:r>
          </a:p>
          <a:p>
            <a:pPr eaLnBrk="1" hangingPunct="1">
              <a:buFontTx/>
              <a:buNone/>
            </a:pPr>
            <a:endParaRPr lang="en-US" altLang="sr-Latn-R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386EB20-577A-7985-1A64-51A67E6AB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Test aplikacija</a:t>
            </a:r>
            <a:endParaRPr lang="en-US" altLang="sr-Latn-R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D00904B-9672-6F01-F974-6967ECD07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600200"/>
            <a:ext cx="89281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TestIni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TestIni()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INIFile ini = new INIFile("test.ini");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String title = ini.getString("General", "Title","nemaaaaa");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int x = ini.getInt("General", "x", -1);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System.out.println("Title: " + title);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System.out.println("x: " + x);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new TestIni();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F344F3C-0536-F4BE-DDC4-72829B1DF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sr-Latn-RS"/>
              <a:t>INIFile klasa</a:t>
            </a:r>
            <a:endParaRPr lang="en-US" altLang="sr-Latn-R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A8F147C-5D95-EABE-86DE-425AA1B46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772400" cy="52562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import java.io.*;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import java.net.URL;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import java.util.*;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class INIFile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/**  Hash mapa koja sadrzi kategorije (sekcije). Hash kljuc je naziv kategorije (string),</a:t>
            </a:r>
            <a:r>
              <a:rPr lang="sr-Latn-CS" altLang="sr-Latn-RS" sz="1600" b="1">
                <a:latin typeface="Courier New" panose="02070309020205020404" pitchFamily="49" charset="0"/>
              </a:rPr>
              <a:t> </a:t>
            </a:r>
            <a:r>
              <a:rPr lang="en-US" altLang="sr-Latn-RS" sz="1600" b="1">
                <a:latin typeface="Courier New" panose="02070309020205020404" pitchFamily="49" charset="0"/>
              </a:rPr>
              <a:t>a vrednost je hash mapa koja sadrzi parove (parametar, vrednost).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private HashMap&lt;String, HashMap&lt;String, String&gt;&gt; categories = new HashMap&lt;String, HashMap&lt;String, String&gt;&gt;();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public INIFile(String filename)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BufferedReader in =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in = new BufferedReader(new FileReader(filename));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readINI(in);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in.close();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} catch (Exception 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e.printStackTrace();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7DD0022-EB78-3DA8-2BAA-A05F0252D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8913"/>
            <a:ext cx="8208962" cy="64531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private void readINI(BufferedReader in)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String line, key, value; StringTokenizer st; int pos;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String currentCategory = "default";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HashMap&lt;String, String&gt; currentMap = new HashMap&lt;String, String&gt;();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categories.put(currentCategory, currentMap);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while ((line = in.readLine()) !=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line = line.trim();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if (line.equals("") || line.indexOf(';') == 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  continue;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if (line.charAt(0) == '[')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  currentCategory = line.substring(1, line.length()-1);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  currentMap = new HashMap&lt;String, String&gt;();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  categories.put(currentCategory, currentMap);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} 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  String[] keyValue = line.split("=");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        </a:t>
            </a:r>
            <a:r>
              <a:rPr lang="en-US" altLang="sr-Latn-RS" sz="1600" b="1">
                <a:latin typeface="Courier New" panose="02070309020205020404" pitchFamily="49" charset="0"/>
              </a:rPr>
              <a:t>if (keyValue.length &gt; 0)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          </a:t>
            </a:r>
            <a:r>
              <a:rPr lang="en-US" altLang="sr-Latn-RS" sz="1600" b="1">
                <a:latin typeface="Courier New" panose="02070309020205020404" pitchFamily="49" charset="0"/>
              </a:rPr>
              <a:t>key = keyValue[0].trim();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          </a:t>
            </a:r>
            <a:r>
              <a:rPr lang="en-US" altLang="sr-Latn-RS" sz="1600" b="1">
                <a:latin typeface="Courier New" panose="02070309020205020404" pitchFamily="49" charset="0"/>
              </a:rPr>
              <a:t>value = keyValue[1].trim();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          </a:t>
            </a:r>
            <a:r>
              <a:rPr lang="en-US" altLang="sr-Latn-RS" sz="1600" b="1">
                <a:latin typeface="Courier New" panose="02070309020205020404" pitchFamily="49" charset="0"/>
              </a:rPr>
              <a:t>currentMap.put(key, value);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 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} catch (Exception ex)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ex.printStackTrace();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B668F32-B737-C4B2-A721-A59678891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496300" cy="5876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</a:rPr>
              <a:t>/**  Vraca vrednost datog parametra u obliku stringa.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*  @param category Kategorija (sekcija) u kojoj se nalazi parametar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*  @param key Naziv parametra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*  @return String koji sadrzi vrednost parametra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String getString(String category, String key, String defaultValue)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HashMap&lt;String, String&gt; hm = categories.get(category);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if (hm ==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	return defaultValue;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	String value = hm.get(key);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	if (value !=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		return 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	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		return defaultValue;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D66E08E6-3D80-C7CB-7576-BB429FE7A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49275"/>
            <a:ext cx="8229600" cy="61198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/**  Vraca vrednost datog parametra u obliku integera.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*  @param category Kategorija (sekcija) u kojoj se nalazi parametar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*  @param key Naziv parametra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*  @return Integer vrednost parametra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public int getInt(String category, String key, int defaultValue)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HashMap&lt;String, String&gt; hm = categories.get(category);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if (hm ==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return defaultValue;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String value = hm.get(key);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if (value ==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	return defaultValue;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	return (Integer.parseInt(value));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} catch (NumberFormatException ex)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	ex.printStackTrace();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	return defaultValue;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}</a:t>
            </a:r>
            <a:endParaRPr lang="sr-Latn-RS" altLang="sr-Latn-R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3233</Words>
  <Application>Microsoft Office PowerPoint</Application>
  <PresentationFormat>On-screen Show (4:3)</PresentationFormat>
  <Paragraphs>444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Courier New</vt:lpstr>
      <vt:lpstr>Tahoma</vt:lpstr>
      <vt:lpstr>Default Design</vt:lpstr>
      <vt:lpstr>Objektno orijentisano programiranje 1</vt:lpstr>
      <vt:lpstr>Tema</vt:lpstr>
      <vt:lpstr>Šta nam treba od prethodnog znanja?</vt:lpstr>
      <vt:lpstr>Ulazno izlazni podsistem</vt:lpstr>
      <vt:lpstr>File klasa</vt:lpstr>
      <vt:lpstr>File klasa</vt:lpstr>
      <vt:lpstr>Rad sa binarnim datotekama</vt:lpstr>
      <vt:lpstr>Tokovi (streams)</vt:lpstr>
      <vt:lpstr>Tokovi (streams)</vt:lpstr>
      <vt:lpstr>Tokovi (streams)</vt:lpstr>
      <vt:lpstr>Tokovi (streams)</vt:lpstr>
      <vt:lpstr>Rad sa tekstualnim datotekama</vt:lpstr>
      <vt:lpstr>Čitači/pisači (readers/writers) 1/3</vt:lpstr>
      <vt:lpstr>Čitači/pisači (readers/writers) 2/3</vt:lpstr>
      <vt:lpstr>Čitači/pisači (readers/writers) 3/3</vt:lpstr>
      <vt:lpstr>Čitanje/pisanje stringova</vt:lpstr>
      <vt:lpstr>Sprežne klase</vt:lpstr>
      <vt:lpstr>Zaključak</vt:lpstr>
      <vt:lpstr>Štampanje teksta</vt:lpstr>
      <vt:lpstr>Formatirano štampanje</vt:lpstr>
      <vt:lpstr>printf - širina</vt:lpstr>
      <vt:lpstr>printf – tip - brojevi</vt:lpstr>
      <vt:lpstr>printf – tip - karakteri</vt:lpstr>
      <vt:lpstr>printf - primeri</vt:lpstr>
      <vt:lpstr>Unos sa tastature</vt:lpstr>
      <vt:lpstr>Unos drugih primitivnih tipova sa tastature</vt:lpstr>
      <vt:lpstr>Klasa Scanner</vt:lpstr>
      <vt:lpstr>Klasa Scanner</vt:lpstr>
      <vt:lpstr>Serijalizacija</vt:lpstr>
      <vt:lpstr>Serijalizacija objekata</vt:lpstr>
      <vt:lpstr>Serijalizacija objekata</vt:lpstr>
      <vt:lpstr>Serijalizacija objekata</vt:lpstr>
      <vt:lpstr>Rad sa arhivama</vt:lpstr>
      <vt:lpstr>Rad sa arhivama</vt:lpstr>
      <vt:lpstr>Pravljenje arhive</vt:lpstr>
      <vt:lpstr>Čitanje iz arhive</vt:lpstr>
      <vt:lpstr>Klasa ZipFile</vt:lpstr>
      <vt:lpstr>Klasa Console</vt:lpstr>
      <vt:lpstr>Case Study</vt:lpstr>
      <vt:lpstr>Case Study – INI datoteke</vt:lpstr>
      <vt:lpstr>INI datoteke - primer</vt:lpstr>
      <vt:lpstr>Test aplikacija</vt:lpstr>
      <vt:lpstr>INIFile klasa</vt:lpstr>
      <vt:lpstr>PowerPoint Presentation</vt:lpstr>
      <vt:lpstr>PowerPoint Presentation</vt:lpstr>
      <vt:lpstr>PowerPoint Presentation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jezik Java</dc:title>
  <dc:creator>asdf asdf</dc:creator>
  <cp:lastModifiedBy>Jovana Vidaković</cp:lastModifiedBy>
  <cp:revision>100</cp:revision>
  <dcterms:created xsi:type="dcterms:W3CDTF">2009-03-02T09:18:12Z</dcterms:created>
  <dcterms:modified xsi:type="dcterms:W3CDTF">2024-06-18T21:16:54Z</dcterms:modified>
</cp:coreProperties>
</file>